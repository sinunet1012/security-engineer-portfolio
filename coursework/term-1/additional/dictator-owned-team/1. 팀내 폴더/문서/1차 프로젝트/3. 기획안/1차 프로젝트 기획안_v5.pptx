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8" r:id="rId2"/>
    <p:sldId id="259" r:id="rId3"/>
    <p:sldId id="260" r:id="rId4"/>
    <p:sldId id="277" r:id="rId5"/>
    <p:sldId id="267" r:id="rId6"/>
    <p:sldId id="263" r:id="rId7"/>
    <p:sldId id="265" r:id="rId8"/>
    <p:sldId id="282" r:id="rId9"/>
    <p:sldId id="268" r:id="rId10"/>
    <p:sldId id="275" r:id="rId11"/>
    <p:sldId id="280" r:id="rId12"/>
    <p:sldId id="281" r:id="rId13"/>
    <p:sldId id="283" r:id="rId14"/>
    <p:sldId id="269" r:id="rId15"/>
    <p:sldId id="270" r:id="rId16"/>
    <p:sldId id="271" r:id="rId17"/>
    <p:sldId id="284" r:id="rId18"/>
    <p:sldId id="272" r:id="rId19"/>
    <p:sldId id="261" r:id="rId20"/>
    <p:sldId id="273" r:id="rId21"/>
    <p:sldId id="274" r:id="rId22"/>
    <p:sldId id="264" r:id="rId23"/>
  </p:sldIdLst>
  <p:sldSz cx="12192000" cy="6858000"/>
  <p:notesSz cx="6858000" cy="9144000"/>
  <p:embeddedFontLst>
    <p:embeddedFont>
      <p:font typeface="HG꼬딕씨 40g" panose="02020603020101020101" pitchFamily="18" charset="-127"/>
      <p:regular r:id="rId25"/>
    </p:embeddedFont>
    <p:embeddedFont>
      <p:font typeface="HG꼬딕씨 60g" panose="02020603020101020101" pitchFamily="18" charset="-127"/>
      <p:regular r:id="rId26"/>
    </p:embeddedFont>
    <p:embeddedFont>
      <p:font typeface="HG꼬딕씨 80g" panose="02020603020101020101" pitchFamily="18" charset="-127"/>
      <p:regular r:id="rId27"/>
    </p:embeddedFont>
    <p:embeddedFont>
      <p:font typeface="맑은 고딕" panose="020B0503020000020004" pitchFamily="50" charset="-127"/>
      <p:regular r:id="rId28"/>
      <p:bold r:id="rId2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DE9FF"/>
    <a:srgbClr val="75D1FF"/>
    <a:srgbClr val="ACDEDA"/>
    <a:srgbClr val="005D91"/>
    <a:srgbClr val="00F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56" autoAdjust="0"/>
    <p:restoredTop sz="96279" autoAdjust="0"/>
  </p:normalViewPr>
  <p:slideViewPr>
    <p:cSldViewPr snapToGrid="0">
      <p:cViewPr varScale="1">
        <p:scale>
          <a:sx n="109" d="100"/>
          <a:sy n="109" d="100"/>
        </p:scale>
        <p:origin x="35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B30103-7A0D-44A1-9D40-E5A0F1045153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5153E-8BE3-45E4-AEDB-B7CB7D75E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604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사진 </a:t>
            </a:r>
            <a:r>
              <a:rPr lang="ko-KR" altLang="en-US" dirty="0" err="1"/>
              <a:t>수정해야함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5153E-8BE3-45E4-AEDB-B7CB7D75E55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013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72774-F90F-1023-26F2-CD0B3FA4A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14A4DE-BFC1-E065-04E8-9A6A4B7EB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649660-EE78-418E-B5EE-EE30A017C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사진 </a:t>
            </a:r>
            <a:r>
              <a:rPr lang="ko-KR" altLang="en-US" dirty="0" err="1"/>
              <a:t>수정해야함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DBF99A-5470-9025-267E-EF4D3E38E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5153E-8BE3-45E4-AEDB-B7CB7D75E55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582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57CF1-5A4A-91DA-D9B0-EA0FC1218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B61748-1896-9A1C-465C-BFB508B0D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BE7BE0-7CC2-35F9-1D6E-14118CFC1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사진 </a:t>
            </a:r>
            <a:r>
              <a:rPr lang="ko-KR" altLang="en-US" dirty="0" err="1"/>
              <a:t>수정해야함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F3039D-6D79-A786-F7DF-7293F8ED4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5153E-8BE3-45E4-AEDB-B7CB7D75E55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810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8E056-B50E-6E17-13BF-9314D5274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01EEB3-AAE0-1A59-504C-4AD5A11476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294049-28DC-9A2D-9DAA-1DD14EC21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사진 </a:t>
            </a:r>
            <a:r>
              <a:rPr lang="ko-KR" altLang="en-US" dirty="0" err="1"/>
              <a:t>수정해야함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CDFD25-2BE3-7AE7-7295-EE21C0D7C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5153E-8BE3-45E4-AEDB-B7CB7D75E55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512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C52E95B6-871F-7B75-2ECB-5508A94AFB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17E6D19-FEC4-C150-6C80-BF5B03DE0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375" y="809626"/>
            <a:ext cx="9823450" cy="1172256"/>
          </a:xfrm>
          <a:noFill/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ko-KR" altLang="en-US" sz="54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F580DD3-F150-D9B5-B6DC-31CA2AC94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8164E-5849-4ABC-BE61-15B5892682E8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C3283C-2A72-B0F4-E7E3-A6479C175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091452-08FF-EDCB-6C60-69AFB6DF4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5B2D-8AB5-4CA1-9C78-42B72E28B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230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985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F0FE5306-AD1F-0D40-8E64-E6684E8C95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57927" y="925821"/>
            <a:ext cx="5114924" cy="5006358"/>
          </a:xfrm>
          <a:prstGeom prst="roundRect">
            <a:avLst>
              <a:gd name="adj" fmla="val 5632"/>
            </a:avLst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566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직사각형 828">
            <a:extLst>
              <a:ext uri="{FF2B5EF4-FFF2-40B4-BE49-F238E27FC236}">
                <a16:creationId xmlns:a16="http://schemas.microsoft.com/office/drawing/2014/main" id="{FF8D8E15-FEAE-77AC-4A8F-1456EE09035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5538615-FC6A-6734-D29C-E5D5BD533BC7}"/>
              </a:ext>
            </a:extLst>
          </p:cNvPr>
          <p:cNvSpPr/>
          <p:nvPr userDrawn="1"/>
        </p:nvSpPr>
        <p:spPr>
          <a:xfrm>
            <a:off x="209550" y="184999"/>
            <a:ext cx="11601450" cy="983841"/>
          </a:xfrm>
          <a:prstGeom prst="round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00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90701776-22FD-54EF-A5FA-4ACCCD6C2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lang="ko-KR" altLang="en-US" sz="320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ctr">
              <a:lnSpc>
                <a:spcPct val="100000"/>
              </a:lnSpc>
            </a:pPr>
            <a:r>
              <a:rPr lang="ko-KR" altLang="en-US"/>
              <a:t>마스터 제목 스타일 편집</a:t>
            </a:r>
          </a:p>
        </p:txBody>
      </p:sp>
      <p:sp>
        <p:nvSpPr>
          <p:cNvPr id="4" name="텍스트 개체 틀 8">
            <a:extLst>
              <a:ext uri="{FF2B5EF4-FFF2-40B4-BE49-F238E27FC236}">
                <a16:creationId xmlns:a16="http://schemas.microsoft.com/office/drawing/2014/main" id="{5E9B604B-F87B-E0ED-FD04-77771E4D4A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7023" y="1447800"/>
            <a:ext cx="11177954" cy="5215550"/>
          </a:xfr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>
            <a:no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buNone/>
              <a:defRPr lang="en-US" sz="1050" kern="1200" dirty="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endParaRPr lang="en-US" dirty="0"/>
          </a:p>
        </p:txBody>
      </p:sp>
      <p:grpSp>
        <p:nvGrpSpPr>
          <p:cNvPr id="828" name="그룹 827">
            <a:extLst>
              <a:ext uri="{FF2B5EF4-FFF2-40B4-BE49-F238E27FC236}">
                <a16:creationId xmlns:a16="http://schemas.microsoft.com/office/drawing/2014/main" id="{83E31766-2D7D-8E19-DDC3-1EC0E9D01F9F}"/>
              </a:ext>
            </a:extLst>
          </p:cNvPr>
          <p:cNvGrpSpPr/>
          <p:nvPr userDrawn="1"/>
        </p:nvGrpSpPr>
        <p:grpSpPr>
          <a:xfrm>
            <a:off x="10500390" y="186760"/>
            <a:ext cx="1308489" cy="971953"/>
            <a:chOff x="10172731" y="43496"/>
            <a:chExt cx="1497331" cy="1112226"/>
          </a:xfrm>
        </p:grpSpPr>
        <p:pic>
          <p:nvPicPr>
            <p:cNvPr id="171" name="그림 170">
              <a:extLst>
                <a:ext uri="{FF2B5EF4-FFF2-40B4-BE49-F238E27FC236}">
                  <a16:creationId xmlns:a16="http://schemas.microsoft.com/office/drawing/2014/main" id="{DF8FD337-E5DD-C0A0-F287-B1BA0C47F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29245" y="191663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72" name="그림 171">
              <a:extLst>
                <a:ext uri="{FF2B5EF4-FFF2-40B4-BE49-F238E27FC236}">
                  <a16:creationId xmlns:a16="http://schemas.microsoft.com/office/drawing/2014/main" id="{73B44FBF-A334-EA18-C9E4-7AFC0E9A7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29245" y="756108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73" name="그림 172">
              <a:extLst>
                <a:ext uri="{FF2B5EF4-FFF2-40B4-BE49-F238E27FC236}">
                  <a16:creationId xmlns:a16="http://schemas.microsoft.com/office/drawing/2014/main" id="{29E8A354-429C-86C7-62CD-070AE69CC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29245" y="812552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74" name="그림 173">
              <a:extLst>
                <a:ext uri="{FF2B5EF4-FFF2-40B4-BE49-F238E27FC236}">
                  <a16:creationId xmlns:a16="http://schemas.microsoft.com/office/drawing/2014/main" id="{A5889C0F-7E94-F422-E9E2-02707FB19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47968" y="114052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83" name="그림 182">
              <a:extLst>
                <a:ext uri="{FF2B5EF4-FFF2-40B4-BE49-F238E27FC236}">
                  <a16:creationId xmlns:a16="http://schemas.microsoft.com/office/drawing/2014/main" id="{156F044A-F173-09A6-DB62-CD5FFACD2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619746" y="191663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84" name="그림 183">
              <a:extLst>
                <a:ext uri="{FF2B5EF4-FFF2-40B4-BE49-F238E27FC236}">
                  <a16:creationId xmlns:a16="http://schemas.microsoft.com/office/drawing/2014/main" id="{4CB9A1E8-940F-C262-2606-2628321A2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19746" y="544441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85" name="그림 184">
              <a:extLst>
                <a:ext uri="{FF2B5EF4-FFF2-40B4-BE49-F238E27FC236}">
                  <a16:creationId xmlns:a16="http://schemas.microsoft.com/office/drawing/2014/main" id="{C6B8089E-5418-FE7A-2104-111B8E999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739690" y="114052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86" name="그림 185">
              <a:extLst>
                <a:ext uri="{FF2B5EF4-FFF2-40B4-BE49-F238E27FC236}">
                  <a16:creationId xmlns:a16="http://schemas.microsoft.com/office/drawing/2014/main" id="{30709220-9500-C5C1-9A69-A9D29408F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739690" y="43496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45E4A611-74C2-EA8D-8E25-A19AD4A95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339415" y="600885"/>
              <a:ext cx="330646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99" name="그림 198">
              <a:extLst>
                <a:ext uri="{FF2B5EF4-FFF2-40B4-BE49-F238E27FC236}">
                  <a16:creationId xmlns:a16="http://schemas.microsoft.com/office/drawing/2014/main" id="{128011CA-6970-7E20-D694-2D30B4DFA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064247" y="544441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200" name="그림 199">
              <a:extLst>
                <a:ext uri="{FF2B5EF4-FFF2-40B4-BE49-F238E27FC236}">
                  <a16:creationId xmlns:a16="http://schemas.microsoft.com/office/drawing/2014/main" id="{5B1F4BCB-D240-0AA1-EBD5-4EBF724F0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064247" y="551495"/>
              <a:ext cx="605815" cy="8313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201" name="그림 200">
              <a:extLst>
                <a:ext uri="{FF2B5EF4-FFF2-40B4-BE49-F238E27FC236}">
                  <a16:creationId xmlns:a16="http://schemas.microsoft.com/office/drawing/2014/main" id="{00DC47CE-797F-5807-E09E-E7B2A855A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064247" y="50552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sp>
          <p:nvSpPr>
            <p:cNvPr id="347" name="자유형: 도형 346">
              <a:extLst>
                <a:ext uri="{FF2B5EF4-FFF2-40B4-BE49-F238E27FC236}">
                  <a16:creationId xmlns:a16="http://schemas.microsoft.com/office/drawing/2014/main" id="{D00204EA-3BD5-F784-385B-F369C9C2FFF7}"/>
                </a:ext>
              </a:extLst>
            </p:cNvPr>
            <p:cNvSpPr/>
            <p:nvPr/>
          </p:nvSpPr>
          <p:spPr>
            <a:xfrm>
              <a:off x="10405293" y="1010757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8" name="자유형: 도형 347">
              <a:extLst>
                <a:ext uri="{FF2B5EF4-FFF2-40B4-BE49-F238E27FC236}">
                  <a16:creationId xmlns:a16="http://schemas.microsoft.com/office/drawing/2014/main" id="{D81A5287-85CF-4C54-D51F-8916041AF0CC}"/>
                </a:ext>
              </a:extLst>
            </p:cNvPr>
            <p:cNvSpPr/>
            <p:nvPr/>
          </p:nvSpPr>
          <p:spPr>
            <a:xfrm>
              <a:off x="10621930" y="733725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3" name="자유형: 도형 352">
              <a:extLst>
                <a:ext uri="{FF2B5EF4-FFF2-40B4-BE49-F238E27FC236}">
                  <a16:creationId xmlns:a16="http://schemas.microsoft.com/office/drawing/2014/main" id="{F8976CD4-A408-5419-D382-A5832C6282C8}"/>
                </a:ext>
              </a:extLst>
            </p:cNvPr>
            <p:cNvSpPr/>
            <p:nvPr/>
          </p:nvSpPr>
          <p:spPr>
            <a:xfrm>
              <a:off x="10601735" y="791977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4" name="자유형: 도형 353">
              <a:extLst>
                <a:ext uri="{FF2B5EF4-FFF2-40B4-BE49-F238E27FC236}">
                  <a16:creationId xmlns:a16="http://schemas.microsoft.com/office/drawing/2014/main" id="{B0694218-BF99-DDF6-F740-AE75703AA36C}"/>
                </a:ext>
              </a:extLst>
            </p:cNvPr>
            <p:cNvSpPr/>
            <p:nvPr/>
          </p:nvSpPr>
          <p:spPr>
            <a:xfrm>
              <a:off x="10717793" y="165366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5" name="자유형: 도형 354">
              <a:extLst>
                <a:ext uri="{FF2B5EF4-FFF2-40B4-BE49-F238E27FC236}">
                  <a16:creationId xmlns:a16="http://schemas.microsoft.com/office/drawing/2014/main" id="{AB78E607-0793-A4E4-5106-FCC0759E5D4B}"/>
                </a:ext>
              </a:extLst>
            </p:cNvPr>
            <p:cNvSpPr/>
            <p:nvPr/>
          </p:nvSpPr>
          <p:spPr>
            <a:xfrm>
              <a:off x="10920313" y="91798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6" name="자유형: 도형 355">
              <a:extLst>
                <a:ext uri="{FF2B5EF4-FFF2-40B4-BE49-F238E27FC236}">
                  <a16:creationId xmlns:a16="http://schemas.microsoft.com/office/drawing/2014/main" id="{9EDBA539-A0AF-42F1-EC32-8850C2D1D477}"/>
                </a:ext>
              </a:extLst>
            </p:cNvPr>
            <p:cNvSpPr/>
            <p:nvPr/>
          </p:nvSpPr>
          <p:spPr>
            <a:xfrm>
              <a:off x="11460402" y="827159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1" name="자유형: 도형 360">
              <a:extLst>
                <a:ext uri="{FF2B5EF4-FFF2-40B4-BE49-F238E27FC236}">
                  <a16:creationId xmlns:a16="http://schemas.microsoft.com/office/drawing/2014/main" id="{32D8AD0D-300C-1DF5-1622-022E2EB5D2FF}"/>
                </a:ext>
              </a:extLst>
            </p:cNvPr>
            <p:cNvSpPr/>
            <p:nvPr/>
          </p:nvSpPr>
          <p:spPr>
            <a:xfrm>
              <a:off x="11318504" y="875960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2" name="자유형: 도형 361">
              <a:extLst>
                <a:ext uri="{FF2B5EF4-FFF2-40B4-BE49-F238E27FC236}">
                  <a16:creationId xmlns:a16="http://schemas.microsoft.com/office/drawing/2014/main" id="{23DCB369-0C36-B5D2-84BF-02C7EF634E6C}"/>
                </a:ext>
              </a:extLst>
            </p:cNvPr>
            <p:cNvSpPr/>
            <p:nvPr/>
          </p:nvSpPr>
          <p:spPr>
            <a:xfrm>
              <a:off x="11045461" y="526032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0" name="자유형: 도형 369">
              <a:extLst>
                <a:ext uri="{FF2B5EF4-FFF2-40B4-BE49-F238E27FC236}">
                  <a16:creationId xmlns:a16="http://schemas.microsoft.com/office/drawing/2014/main" id="{487D542B-86FB-9DDB-8F72-0FB367C5726B}"/>
                </a:ext>
              </a:extLst>
            </p:cNvPr>
            <p:cNvSpPr/>
            <p:nvPr/>
          </p:nvSpPr>
          <p:spPr>
            <a:xfrm>
              <a:off x="11562119" y="572607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pic>
          <p:nvPicPr>
            <p:cNvPr id="521" name="그림 520">
              <a:extLst>
                <a:ext uri="{FF2B5EF4-FFF2-40B4-BE49-F238E27FC236}">
                  <a16:creationId xmlns:a16="http://schemas.microsoft.com/office/drawing/2014/main" id="{D3DE2C3C-1F93-B73A-25BB-0DA9070EF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064247" y="904274"/>
              <a:ext cx="529890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548" name="그림 547">
              <a:extLst>
                <a:ext uri="{FF2B5EF4-FFF2-40B4-BE49-F238E27FC236}">
                  <a16:creationId xmlns:a16="http://schemas.microsoft.com/office/drawing/2014/main" id="{4D622BD5-7E11-260D-2641-5CCE0D40A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584468" y="657330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549" name="그림 548">
              <a:extLst>
                <a:ext uri="{FF2B5EF4-FFF2-40B4-BE49-F238E27FC236}">
                  <a16:creationId xmlns:a16="http://schemas.microsoft.com/office/drawing/2014/main" id="{7DC8C25D-601F-9D4F-79CF-07741950A1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577412" y="579719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550" name="그림 549">
              <a:extLst>
                <a:ext uri="{FF2B5EF4-FFF2-40B4-BE49-F238E27FC236}">
                  <a16:creationId xmlns:a16="http://schemas.microsoft.com/office/drawing/2014/main" id="{BBB267AA-B2BA-BB4D-BE6F-FEBFE7A2F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1000747" y="105098"/>
              <a:ext cx="634032" cy="488733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551" name="그림 550">
              <a:extLst>
                <a:ext uri="{FF2B5EF4-FFF2-40B4-BE49-F238E27FC236}">
                  <a16:creationId xmlns:a16="http://schemas.microsoft.com/office/drawing/2014/main" id="{B6DDD931-54FA-36D5-017E-4FF754D90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993691" y="579719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568" name="그림 567">
              <a:extLst>
                <a:ext uri="{FF2B5EF4-FFF2-40B4-BE49-F238E27FC236}">
                  <a16:creationId xmlns:a16="http://schemas.microsoft.com/office/drawing/2014/main" id="{C1473BBA-24D7-C284-0D32-5568E06DC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203466" y="593830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569" name="그림 568">
              <a:extLst>
                <a:ext uri="{FF2B5EF4-FFF2-40B4-BE49-F238E27FC236}">
                  <a16:creationId xmlns:a16="http://schemas.microsoft.com/office/drawing/2014/main" id="{043AE009-1F33-C6D8-CA57-E7C8D2CB8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203466" y="791385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570" name="그림 569">
              <a:extLst>
                <a:ext uri="{FF2B5EF4-FFF2-40B4-BE49-F238E27FC236}">
                  <a16:creationId xmlns:a16="http://schemas.microsoft.com/office/drawing/2014/main" id="{F1E50514-D3ED-BF52-5533-7B7546E74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203466" y="671441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571" name="그림 570">
              <a:extLst>
                <a:ext uri="{FF2B5EF4-FFF2-40B4-BE49-F238E27FC236}">
                  <a16:creationId xmlns:a16="http://schemas.microsoft.com/office/drawing/2014/main" id="{59288E7F-8918-5E53-724E-74BDE576D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704413" y="593830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572" name="그림 571">
              <a:extLst>
                <a:ext uri="{FF2B5EF4-FFF2-40B4-BE49-F238E27FC236}">
                  <a16:creationId xmlns:a16="http://schemas.microsoft.com/office/drawing/2014/main" id="{F9A3FD06-8A1C-3F36-A8E6-09F33FCA2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704413" y="657330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573" name="그림 572">
              <a:extLst>
                <a:ext uri="{FF2B5EF4-FFF2-40B4-BE49-F238E27FC236}">
                  <a16:creationId xmlns:a16="http://schemas.microsoft.com/office/drawing/2014/main" id="{4A527801-7099-A398-B110-8CF5B07B9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0993692" y="502108"/>
              <a:ext cx="655458" cy="202007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574" name="그림 573">
              <a:extLst>
                <a:ext uri="{FF2B5EF4-FFF2-40B4-BE49-F238E27FC236}">
                  <a16:creationId xmlns:a16="http://schemas.microsoft.com/office/drawing/2014/main" id="{A3DDF34D-6CE4-3DE7-FF49-A3F1E6F76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0993692" y="132153"/>
              <a:ext cx="615423" cy="539287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594" name="그림 593">
              <a:extLst>
                <a:ext uri="{FF2B5EF4-FFF2-40B4-BE49-F238E27FC236}">
                  <a16:creationId xmlns:a16="http://schemas.microsoft.com/office/drawing/2014/main" id="{E8229A3C-12CB-B9B2-C43B-7F1268FF8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0556245" y="784330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596" name="그림 595">
              <a:extLst>
                <a:ext uri="{FF2B5EF4-FFF2-40B4-BE49-F238E27FC236}">
                  <a16:creationId xmlns:a16="http://schemas.microsoft.com/office/drawing/2014/main" id="{0243109D-CF46-0955-D916-B730DCB6F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0704413" y="734941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597" name="그림 596">
              <a:extLst>
                <a:ext uri="{FF2B5EF4-FFF2-40B4-BE49-F238E27FC236}">
                  <a16:creationId xmlns:a16="http://schemas.microsoft.com/office/drawing/2014/main" id="{C135145D-E9FC-69D3-114D-C912B75E1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0704413" y="593830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616" name="그림 615">
              <a:extLst>
                <a:ext uri="{FF2B5EF4-FFF2-40B4-BE49-F238E27FC236}">
                  <a16:creationId xmlns:a16="http://schemas.microsoft.com/office/drawing/2014/main" id="{2605B56D-56A1-148D-1261-F253F1B67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1353526" y="734941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sp>
          <p:nvSpPr>
            <p:cNvPr id="740" name="자유형: 도형 739">
              <a:extLst>
                <a:ext uri="{FF2B5EF4-FFF2-40B4-BE49-F238E27FC236}">
                  <a16:creationId xmlns:a16="http://schemas.microsoft.com/office/drawing/2014/main" id="{AB667122-4268-EE1A-5EA2-CB5FBB2F3ABF}"/>
                </a:ext>
              </a:extLst>
            </p:cNvPr>
            <p:cNvSpPr/>
            <p:nvPr/>
          </p:nvSpPr>
          <p:spPr>
            <a:xfrm>
              <a:off x="11028923" y="867470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7" name="자유형: 도형 756">
              <a:extLst>
                <a:ext uri="{FF2B5EF4-FFF2-40B4-BE49-F238E27FC236}">
                  <a16:creationId xmlns:a16="http://schemas.microsoft.com/office/drawing/2014/main" id="{56C3BEDF-2B95-A799-07FC-9DEF5AE192E8}"/>
                </a:ext>
              </a:extLst>
            </p:cNvPr>
            <p:cNvSpPr/>
            <p:nvPr/>
          </p:nvSpPr>
          <p:spPr>
            <a:xfrm>
              <a:off x="10550505" y="971545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8" name="자유형: 도형 757">
              <a:extLst>
                <a:ext uri="{FF2B5EF4-FFF2-40B4-BE49-F238E27FC236}">
                  <a16:creationId xmlns:a16="http://schemas.microsoft.com/office/drawing/2014/main" id="{5CD889E1-7937-D848-2958-A35DAEA69047}"/>
                </a:ext>
              </a:extLst>
            </p:cNvPr>
            <p:cNvSpPr/>
            <p:nvPr/>
          </p:nvSpPr>
          <p:spPr>
            <a:xfrm>
              <a:off x="10967529" y="546425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1" name="자유형: 도형 770">
              <a:extLst>
                <a:ext uri="{FF2B5EF4-FFF2-40B4-BE49-F238E27FC236}">
                  <a16:creationId xmlns:a16="http://schemas.microsoft.com/office/drawing/2014/main" id="{522BC4AE-AF60-AF69-EF5D-7B1FCFBEAD0E}"/>
                </a:ext>
              </a:extLst>
            </p:cNvPr>
            <p:cNvSpPr/>
            <p:nvPr/>
          </p:nvSpPr>
          <p:spPr>
            <a:xfrm>
              <a:off x="10172731" y="943737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2" name="자유형: 도형 771">
              <a:extLst>
                <a:ext uri="{FF2B5EF4-FFF2-40B4-BE49-F238E27FC236}">
                  <a16:creationId xmlns:a16="http://schemas.microsoft.com/office/drawing/2014/main" id="{7751478D-8378-0B5C-5FF2-C79C79564AE1}"/>
                </a:ext>
              </a:extLst>
            </p:cNvPr>
            <p:cNvSpPr/>
            <p:nvPr/>
          </p:nvSpPr>
          <p:spPr>
            <a:xfrm>
              <a:off x="10673098" y="642787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3" name="자유형: 도형 772">
              <a:extLst>
                <a:ext uri="{FF2B5EF4-FFF2-40B4-BE49-F238E27FC236}">
                  <a16:creationId xmlns:a16="http://schemas.microsoft.com/office/drawing/2014/main" id="{0714791C-165E-772C-48BE-F68568E1CBB4}"/>
                </a:ext>
              </a:extLst>
            </p:cNvPr>
            <p:cNvSpPr/>
            <p:nvPr/>
          </p:nvSpPr>
          <p:spPr>
            <a:xfrm>
              <a:off x="10964613" y="622855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7" name="자유형: 도형 786">
              <a:extLst>
                <a:ext uri="{FF2B5EF4-FFF2-40B4-BE49-F238E27FC236}">
                  <a16:creationId xmlns:a16="http://schemas.microsoft.com/office/drawing/2014/main" id="{F01F6A4F-5216-AC34-F66E-2CA2CE99E7FE}"/>
                </a:ext>
              </a:extLst>
            </p:cNvPr>
            <p:cNvSpPr/>
            <p:nvPr/>
          </p:nvSpPr>
          <p:spPr>
            <a:xfrm>
              <a:off x="10529123" y="1084885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8" name="자유형: 도형 787">
              <a:extLst>
                <a:ext uri="{FF2B5EF4-FFF2-40B4-BE49-F238E27FC236}">
                  <a16:creationId xmlns:a16="http://schemas.microsoft.com/office/drawing/2014/main" id="{42AC4499-FFAA-865D-76BF-89C9C56B2DEB}"/>
                </a:ext>
              </a:extLst>
            </p:cNvPr>
            <p:cNvSpPr/>
            <p:nvPr/>
          </p:nvSpPr>
          <p:spPr>
            <a:xfrm>
              <a:off x="10679055" y="758889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9" name="자유형: 도형 788">
              <a:extLst>
                <a:ext uri="{FF2B5EF4-FFF2-40B4-BE49-F238E27FC236}">
                  <a16:creationId xmlns:a16="http://schemas.microsoft.com/office/drawing/2014/main" id="{F0B990C3-30E7-8987-F15E-F94036C5D5B0}"/>
                </a:ext>
              </a:extLst>
            </p:cNvPr>
            <p:cNvSpPr/>
            <p:nvPr/>
          </p:nvSpPr>
          <p:spPr>
            <a:xfrm>
              <a:off x="11183538" y="566228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3" name="자유형: 도형 802">
              <a:extLst>
                <a:ext uri="{FF2B5EF4-FFF2-40B4-BE49-F238E27FC236}">
                  <a16:creationId xmlns:a16="http://schemas.microsoft.com/office/drawing/2014/main" id="{5E5E9B8E-0D1E-BBDE-B8D1-C89312E82445}"/>
                </a:ext>
              </a:extLst>
            </p:cNvPr>
            <p:cNvSpPr/>
            <p:nvPr/>
          </p:nvSpPr>
          <p:spPr>
            <a:xfrm>
              <a:off x="11325086" y="1075442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4" name="자유형: 도형 803">
              <a:extLst>
                <a:ext uri="{FF2B5EF4-FFF2-40B4-BE49-F238E27FC236}">
                  <a16:creationId xmlns:a16="http://schemas.microsoft.com/office/drawing/2014/main" id="{1291A1D1-B9E9-56AB-1427-D54AC2ACFAD4}"/>
                </a:ext>
              </a:extLst>
            </p:cNvPr>
            <p:cNvSpPr/>
            <p:nvPr/>
          </p:nvSpPr>
          <p:spPr>
            <a:xfrm>
              <a:off x="11539374" y="705419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5293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6">
            <a:extLst>
              <a:ext uri="{FF2B5EF4-FFF2-40B4-BE49-F238E27FC236}">
                <a16:creationId xmlns:a16="http://schemas.microsoft.com/office/drawing/2014/main" id="{AFB0D3FB-F8DE-226C-31B2-B09B9C1A49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971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5E400E-5ACA-7C6C-B677-F4647DEE5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057AC2-BCB6-A064-29A8-8CC58A303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4B83FF-A965-DC93-CAC6-BDF0B6EA7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48164E-5849-4ABC-BE61-15B5892682E8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752E09-766D-F857-7E30-7FBDD56CC9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10FA4D-81FB-E9D6-79E6-E5B6D0662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455B2D-8AB5-4CA1-9C78-42B72E28B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155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2" r:id="rId3"/>
    <p:sldLayoutId id="2147483651" r:id="rId4"/>
    <p:sldLayoutId id="2147483653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3.png"/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image" Target="../media/image49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2.png"/><Relationship Id="rId2" Type="http://schemas.openxmlformats.org/officeDocument/2006/relationships/image" Target="../media/image50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4" y="467971"/>
            <a:ext cx="7330236" cy="1172256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독보팀의 독보적인 기획안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4" name="제목 1">
            <a:extLst>
              <a:ext uri="{FF2B5EF4-FFF2-40B4-BE49-F238E27FC236}">
                <a16:creationId xmlns:a16="http://schemas.microsoft.com/office/drawing/2014/main" id="{B30E757C-43B9-E6B3-15E5-CDDFDFF16DAF}"/>
              </a:ext>
            </a:extLst>
          </p:cNvPr>
          <p:cNvSpPr txBox="1">
            <a:spLocks/>
          </p:cNvSpPr>
          <p:nvPr/>
        </p:nvSpPr>
        <p:spPr>
          <a:xfrm>
            <a:off x="442163" y="1640227"/>
            <a:ext cx="4817447" cy="3670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4800" kern="1200">
                <a:solidFill>
                  <a:schemeClr val="tx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defRPr>
            </a:lvl1pPr>
          </a:lstStyle>
          <a:p>
            <a:r>
              <a:rPr lang="en-US" altLang="ko-KR" sz="2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LB </a:t>
            </a:r>
            <a:r>
              <a:rPr lang="ko-KR" altLang="en-US" sz="2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통신사 기초 네트워크 인프라 구축</a:t>
            </a:r>
            <a:endParaRPr lang="ko-KR" altLang="en-US" sz="32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E002C9-BC44-6226-1EA9-08D3A14DC7B3}"/>
              </a:ext>
            </a:extLst>
          </p:cNvPr>
          <p:cNvSpPr txBox="1"/>
          <p:nvPr/>
        </p:nvSpPr>
        <p:spPr>
          <a:xfrm>
            <a:off x="442163" y="2528192"/>
            <a:ext cx="1789576" cy="5685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</a:t>
            </a:r>
            <a:r>
              <a:rPr lang="en-US" altLang="ko-KR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팀장 </a:t>
            </a:r>
            <a:r>
              <a:rPr lang="ko-KR" altLang="en-US" sz="1200" dirty="0" err="1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이은비</a:t>
            </a:r>
            <a:endParaRPr lang="en-US" altLang="ko-KR" sz="12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     </a:t>
            </a:r>
            <a:r>
              <a:rPr lang="ko-KR" altLang="en-US" sz="1200" dirty="0" err="1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버</a:t>
            </a:r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</a:t>
            </a:r>
            <a:r>
              <a:rPr lang="en-US" altLang="ko-KR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한준희</a:t>
            </a:r>
            <a:r>
              <a:rPr lang="en-US" altLang="ko-KR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박희진</a:t>
            </a:r>
            <a:endParaRPr lang="en-US" altLang="ko-KR" sz="12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파 이 썬  </a:t>
            </a:r>
            <a:r>
              <a:rPr lang="en-US" altLang="ko-KR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김윤영</a:t>
            </a:r>
            <a:r>
              <a:rPr lang="en-US" altLang="ko-KR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이명재</a:t>
            </a:r>
            <a:endParaRPr lang="en-US" altLang="ko-KR" sz="12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6635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53AB8F6-2385-B397-78A8-5CBDC71CE2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4" name="그림 13" descr="스크린샷이(가) 표시된 사진&#10;&#10;자동 생성된 설명">
            <a:extLst>
              <a:ext uri="{FF2B5EF4-FFF2-40B4-BE49-F238E27FC236}">
                <a16:creationId xmlns:a16="http://schemas.microsoft.com/office/drawing/2014/main" id="{F696A95D-2E31-61A6-31C9-A0D1AFAEB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334" y="981075"/>
            <a:ext cx="5507832" cy="4895850"/>
          </a:xfrm>
          <a:prstGeom prst="rect">
            <a:avLst/>
          </a:prstGeom>
        </p:spPr>
      </p:pic>
      <p:sp>
        <p:nvSpPr>
          <p:cNvPr id="9" name="제목 5">
            <a:extLst>
              <a:ext uri="{FF2B5EF4-FFF2-40B4-BE49-F238E27FC236}">
                <a16:creationId xmlns:a16="http://schemas.microsoft.com/office/drawing/2014/main" id="{CAFEF811-F33C-1424-D764-B9FB6E1FAC90}"/>
              </a:ext>
            </a:extLst>
          </p:cNvPr>
          <p:cNvSpPr txBox="1">
            <a:spLocks/>
          </p:cNvSpPr>
          <p:nvPr/>
        </p:nvSpPr>
        <p:spPr>
          <a:xfrm>
            <a:off x="1233757" y="1043387"/>
            <a:ext cx="38862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48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  <a:cs typeface="+mn-cs"/>
              </a:rPr>
              <a:t>목  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4846F1-6E28-F6B1-4386-E8E9167CE931}"/>
              </a:ext>
            </a:extLst>
          </p:cNvPr>
          <p:cNvSpPr txBox="1"/>
          <p:nvPr/>
        </p:nvSpPr>
        <p:spPr>
          <a:xfrm>
            <a:off x="1692691" y="2306049"/>
            <a:ext cx="1746529" cy="324766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      목적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독보팀의 프로젝트 목적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독보팀의 프로젝트 일정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romanU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구성도</a:t>
            </a:r>
            <a:r>
              <a: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물리</a:t>
            </a:r>
            <a:r>
              <a: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논리</a:t>
            </a:r>
            <a:r>
              <a: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)</a:t>
            </a:r>
          </a:p>
          <a:p>
            <a:pPr marL="971550" lvl="1" indent="-514350">
              <a:spcAft>
                <a:spcPts val="200"/>
              </a:spcAft>
              <a:buFont typeface="+mj-lt"/>
              <a:buAutoNum type="romanU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기술리스트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romanUcPeriod"/>
            </a:pP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      서버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구성도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기술 리스트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  파이썬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 기술 설명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spcAft>
                <a:spcPts val="200"/>
              </a:spcAft>
              <a:buFont typeface="+mj-lt"/>
              <a:buAutoNum type="arabicPeriod"/>
            </a:pP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사용 환경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예측 결과</a:t>
            </a: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spcAft>
                <a:spcPts val="200"/>
              </a:spcAft>
              <a:buFont typeface="+mj-lt"/>
              <a:buAutoNum type="arabicPeriod"/>
            </a:pPr>
            <a:endParaRPr lang="en-US" altLang="ko-KR" sz="14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33E6D0F-6C2C-F153-BC40-567D77F8E5EC}"/>
              </a:ext>
            </a:extLst>
          </p:cNvPr>
          <p:cNvSpPr/>
          <p:nvPr/>
        </p:nvSpPr>
        <p:spPr>
          <a:xfrm rot="5400000">
            <a:off x="3126722" y="489501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27B52B-26D7-AF95-03C9-989FA310FBA9}"/>
              </a:ext>
            </a:extLst>
          </p:cNvPr>
          <p:cNvSpPr/>
          <p:nvPr/>
        </p:nvSpPr>
        <p:spPr>
          <a:xfrm rot="5400000" flipH="1">
            <a:off x="2174516" y="2544297"/>
            <a:ext cx="45719" cy="138269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19F6E29-B46A-C4B1-A99F-BB46F7569283}"/>
              </a:ext>
            </a:extLst>
          </p:cNvPr>
          <p:cNvSpPr/>
          <p:nvPr/>
        </p:nvSpPr>
        <p:spPr>
          <a:xfrm rot="5400000" flipH="1">
            <a:off x="2174515" y="1814090"/>
            <a:ext cx="45719" cy="138269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57C2CB-54BD-AE19-C054-61A6A686E49C}"/>
              </a:ext>
            </a:extLst>
          </p:cNvPr>
          <p:cNvSpPr/>
          <p:nvPr/>
        </p:nvSpPr>
        <p:spPr>
          <a:xfrm rot="5400000" flipH="1">
            <a:off x="2174515" y="3487336"/>
            <a:ext cx="45719" cy="138269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7D9B43A-66B4-CDF9-A3E1-ED98DA4D013A}"/>
              </a:ext>
            </a:extLst>
          </p:cNvPr>
          <p:cNvSpPr/>
          <p:nvPr/>
        </p:nvSpPr>
        <p:spPr>
          <a:xfrm rot="5400000" flipH="1">
            <a:off x="2174515" y="4457674"/>
            <a:ext cx="45719" cy="138269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B4BE1FC-746D-F248-A14B-2FAEB431437C}"/>
              </a:ext>
            </a:extLst>
          </p:cNvPr>
          <p:cNvSpPr/>
          <p:nvPr/>
        </p:nvSpPr>
        <p:spPr>
          <a:xfrm rot="5400000" flipH="1">
            <a:off x="2174515" y="5179173"/>
            <a:ext cx="45719" cy="138269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8B42A30-67F4-8456-2132-8BA0733B9A36}"/>
              </a:ext>
            </a:extLst>
          </p:cNvPr>
          <p:cNvSpPr/>
          <p:nvPr/>
        </p:nvSpPr>
        <p:spPr>
          <a:xfrm rot="5400000" flipH="1">
            <a:off x="2174515" y="5658485"/>
            <a:ext cx="45719" cy="138269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5F0F79-D792-E5C1-EC27-966FB1987AD4}"/>
              </a:ext>
            </a:extLst>
          </p:cNvPr>
          <p:cNvSpPr txBox="1"/>
          <p:nvPr/>
        </p:nvSpPr>
        <p:spPr>
          <a:xfrm>
            <a:off x="4248689" y="6092546"/>
            <a:ext cx="22901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7.              </a:t>
            </a:r>
            <a:r>
              <a:rPr lang="ko-KR" altLang="en-US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부록</a:t>
            </a:r>
            <a:endParaRPr lang="ko-KR" altLang="en-US" sz="14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9BEF71A-0F38-44CB-D86A-930F2DE426F3}"/>
              </a:ext>
            </a:extLst>
          </p:cNvPr>
          <p:cNvSpPr/>
          <p:nvPr/>
        </p:nvSpPr>
        <p:spPr>
          <a:xfrm rot="5400000" flipH="1">
            <a:off x="4679549" y="5658485"/>
            <a:ext cx="45719" cy="138269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952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3" grpId="0" animBg="1"/>
      <p:bldP spid="8" grpId="0" animBg="1"/>
      <p:bldP spid="11" grpId="0" animBg="1"/>
      <p:bldP spid="12" grpId="0" animBg="1"/>
      <p:bldP spid="13" grpId="0" animBg="1"/>
      <p:bldP spid="15" grpId="0" animBg="1"/>
      <p:bldP spid="17" grpId="0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3CAB192-0A20-1563-80DF-74ECC87569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DD7D7E8C-FF67-76CD-D65C-7800FC1C8963}"/>
              </a:ext>
            </a:extLst>
          </p:cNvPr>
          <p:cNvGrpSpPr/>
          <p:nvPr/>
        </p:nvGrpSpPr>
        <p:grpSpPr>
          <a:xfrm>
            <a:off x="2300288" y="587989"/>
            <a:ext cx="7591425" cy="1024432"/>
            <a:chOff x="2300288" y="464164"/>
            <a:chExt cx="7591425" cy="1024432"/>
          </a:xfrm>
        </p:grpSpPr>
        <p:sp>
          <p:nvSpPr>
            <p:cNvPr id="14" name="제목 5">
              <a:extLst>
                <a:ext uri="{FF2B5EF4-FFF2-40B4-BE49-F238E27FC236}">
                  <a16:creationId xmlns:a16="http://schemas.microsoft.com/office/drawing/2014/main" id="{8E0915B9-8885-A9DF-B72F-D3281FE93D1D}"/>
                </a:ext>
              </a:extLst>
            </p:cNvPr>
            <p:cNvSpPr txBox="1">
              <a:spLocks/>
            </p:cNvSpPr>
            <p:nvPr/>
          </p:nvSpPr>
          <p:spPr>
            <a:xfrm>
              <a:off x="2300288" y="878694"/>
              <a:ext cx="7591425" cy="609902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ko-KR" altLang="en-US" sz="32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  <a:cs typeface="+mn-cs"/>
                </a:rPr>
                <a:t>여러분의 목적은 무엇인가요</a:t>
              </a:r>
              <a:r>
                <a:rPr lang="en-US" altLang="ko-KR" sz="32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  <a:cs typeface="+mn-cs"/>
                </a:rPr>
                <a:t>?</a:t>
              </a:r>
              <a:endParaRPr lang="ko-KR" altLang="en-US" sz="3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  <a:cs typeface="+mn-cs"/>
              </a:endParaRPr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2C97BBB6-3DDA-D558-16A7-8DAB66E5FD4F}"/>
                </a:ext>
              </a:extLst>
            </p:cNvPr>
            <p:cNvSpPr/>
            <p:nvPr/>
          </p:nvSpPr>
          <p:spPr>
            <a:xfrm>
              <a:off x="5214938" y="464164"/>
              <a:ext cx="1762125" cy="307361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accent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1</a:t>
              </a:r>
              <a:r>
                <a:rPr lang="ko-KR" altLang="en-US" sz="1000" dirty="0">
                  <a:solidFill>
                    <a:schemeClr val="accent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차 프로젝트 목적</a:t>
              </a:r>
            </a:p>
          </p:txBody>
        </p:sp>
      </p:grpSp>
      <p:sp>
        <p:nvSpPr>
          <p:cNvPr id="20" name="Freeform 35">
            <a:extLst>
              <a:ext uri="{FF2B5EF4-FFF2-40B4-BE49-F238E27FC236}">
                <a16:creationId xmlns:a16="http://schemas.microsoft.com/office/drawing/2014/main" id="{0C07B076-C09C-CEBC-043E-F861B18E4479}"/>
              </a:ext>
            </a:extLst>
          </p:cNvPr>
          <p:cNvSpPr>
            <a:spLocks/>
          </p:cNvSpPr>
          <p:nvPr/>
        </p:nvSpPr>
        <p:spPr bwMode="auto">
          <a:xfrm>
            <a:off x="4391025" y="2343583"/>
            <a:ext cx="1613310" cy="1613308"/>
          </a:xfrm>
          <a:custGeom>
            <a:avLst/>
            <a:gdLst>
              <a:gd name="T0" fmla="*/ 766 w 2334"/>
              <a:gd name="T1" fmla="*/ 2314 h 2334"/>
              <a:gd name="T2" fmla="*/ 2313 w 2334"/>
              <a:gd name="T3" fmla="*/ 766 h 2334"/>
              <a:gd name="T4" fmla="*/ 2334 w 2334"/>
              <a:gd name="T5" fmla="*/ 494 h 2334"/>
              <a:gd name="T6" fmla="*/ 2267 w 2334"/>
              <a:gd name="T7" fmla="*/ 0 h 2334"/>
              <a:gd name="T8" fmla="*/ 522 w 2334"/>
              <a:gd name="T9" fmla="*/ 0 h 2334"/>
              <a:gd name="T10" fmla="*/ 0 w 2334"/>
              <a:gd name="T11" fmla="*/ 522 h 2334"/>
              <a:gd name="T12" fmla="*/ 0 w 2334"/>
              <a:gd name="T13" fmla="*/ 2267 h 2334"/>
              <a:gd name="T14" fmla="*/ 493 w 2334"/>
              <a:gd name="T15" fmla="*/ 2334 h 2334"/>
              <a:gd name="T16" fmla="*/ 766 w 2334"/>
              <a:gd name="T17" fmla="*/ 231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4" h="2334">
                <a:moveTo>
                  <a:pt x="766" y="2314"/>
                </a:moveTo>
                <a:cubicBezTo>
                  <a:pt x="838" y="1493"/>
                  <a:pt x="1492" y="839"/>
                  <a:pt x="2313" y="766"/>
                </a:cubicBezTo>
                <a:cubicBezTo>
                  <a:pt x="2327" y="677"/>
                  <a:pt x="2334" y="586"/>
                  <a:pt x="2334" y="494"/>
                </a:cubicBezTo>
                <a:cubicBezTo>
                  <a:pt x="2334" y="323"/>
                  <a:pt x="2310" y="157"/>
                  <a:pt x="2267" y="0"/>
                </a:cubicBezTo>
                <a:lnTo>
                  <a:pt x="522" y="0"/>
                </a:lnTo>
                <a:cubicBezTo>
                  <a:pt x="235" y="0"/>
                  <a:pt x="0" y="235"/>
                  <a:pt x="0" y="522"/>
                </a:cubicBezTo>
                <a:lnTo>
                  <a:pt x="0" y="2267"/>
                </a:lnTo>
                <a:cubicBezTo>
                  <a:pt x="157" y="2311"/>
                  <a:pt x="322" y="2334"/>
                  <a:pt x="493" y="2334"/>
                </a:cubicBezTo>
                <a:cubicBezTo>
                  <a:pt x="586" y="2334"/>
                  <a:pt x="677" y="2327"/>
                  <a:pt x="766" y="2314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5" name="Freeform 37">
            <a:extLst>
              <a:ext uri="{FF2B5EF4-FFF2-40B4-BE49-F238E27FC236}">
                <a16:creationId xmlns:a16="http://schemas.microsoft.com/office/drawing/2014/main" id="{DD863FE1-3AFB-F08F-27DF-B628AD38CB28}"/>
              </a:ext>
            </a:extLst>
          </p:cNvPr>
          <p:cNvSpPr>
            <a:spLocks/>
          </p:cNvSpPr>
          <p:nvPr/>
        </p:nvSpPr>
        <p:spPr bwMode="auto">
          <a:xfrm>
            <a:off x="6213050" y="2343583"/>
            <a:ext cx="1587925" cy="1613308"/>
          </a:xfrm>
          <a:custGeom>
            <a:avLst/>
            <a:gdLst>
              <a:gd name="T0" fmla="*/ 21 w 2296"/>
              <a:gd name="T1" fmla="*/ 770 h 2334"/>
              <a:gd name="T2" fmla="*/ 1530 w 2296"/>
              <a:gd name="T3" fmla="*/ 2308 h 2334"/>
              <a:gd name="T4" fmla="*/ 1841 w 2296"/>
              <a:gd name="T5" fmla="*/ 2334 h 2334"/>
              <a:gd name="T6" fmla="*/ 2296 w 2296"/>
              <a:gd name="T7" fmla="*/ 2277 h 2334"/>
              <a:gd name="T8" fmla="*/ 2296 w 2296"/>
              <a:gd name="T9" fmla="*/ 522 h 2334"/>
              <a:gd name="T10" fmla="*/ 1774 w 2296"/>
              <a:gd name="T11" fmla="*/ 0 h 2334"/>
              <a:gd name="T12" fmla="*/ 67 w 2296"/>
              <a:gd name="T13" fmla="*/ 0 h 2334"/>
              <a:gd name="T14" fmla="*/ 0 w 2296"/>
              <a:gd name="T15" fmla="*/ 494 h 2334"/>
              <a:gd name="T16" fmla="*/ 21 w 2296"/>
              <a:gd name="T17" fmla="*/ 77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6" h="2334">
                <a:moveTo>
                  <a:pt x="21" y="770"/>
                </a:moveTo>
                <a:cubicBezTo>
                  <a:pt x="822" y="859"/>
                  <a:pt x="1455" y="1503"/>
                  <a:pt x="1530" y="2308"/>
                </a:cubicBezTo>
                <a:cubicBezTo>
                  <a:pt x="1631" y="2325"/>
                  <a:pt x="1735" y="2334"/>
                  <a:pt x="1841" y="2334"/>
                </a:cubicBezTo>
                <a:cubicBezTo>
                  <a:pt x="1998" y="2334"/>
                  <a:pt x="2150" y="2314"/>
                  <a:pt x="2296" y="2277"/>
                </a:cubicBezTo>
                <a:lnTo>
                  <a:pt x="2296" y="522"/>
                </a:lnTo>
                <a:cubicBezTo>
                  <a:pt x="2296" y="235"/>
                  <a:pt x="2061" y="0"/>
                  <a:pt x="1774" y="0"/>
                </a:cubicBezTo>
                <a:lnTo>
                  <a:pt x="67" y="0"/>
                </a:lnTo>
                <a:cubicBezTo>
                  <a:pt x="24" y="157"/>
                  <a:pt x="0" y="323"/>
                  <a:pt x="0" y="494"/>
                </a:cubicBezTo>
                <a:cubicBezTo>
                  <a:pt x="0" y="588"/>
                  <a:pt x="7" y="680"/>
                  <a:pt x="21" y="770"/>
                </a:cubicBezTo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6" name="Freeform 39">
            <a:extLst>
              <a:ext uri="{FF2B5EF4-FFF2-40B4-BE49-F238E27FC236}">
                <a16:creationId xmlns:a16="http://schemas.microsoft.com/office/drawing/2014/main" id="{19F3D61A-A15B-DB3E-0A46-D8D0C69FF5AB}"/>
              </a:ext>
            </a:extLst>
          </p:cNvPr>
          <p:cNvSpPr>
            <a:spLocks/>
          </p:cNvSpPr>
          <p:nvPr/>
        </p:nvSpPr>
        <p:spPr bwMode="auto">
          <a:xfrm>
            <a:off x="4391025" y="4154325"/>
            <a:ext cx="1613310" cy="1602026"/>
          </a:xfrm>
          <a:custGeom>
            <a:avLst/>
            <a:gdLst>
              <a:gd name="T0" fmla="*/ 2310 w 2334"/>
              <a:gd name="T1" fmla="*/ 1548 h 2315"/>
              <a:gd name="T2" fmla="*/ 767 w 2334"/>
              <a:gd name="T3" fmla="*/ 20 h 2315"/>
              <a:gd name="T4" fmla="*/ 493 w 2334"/>
              <a:gd name="T5" fmla="*/ 0 h 2315"/>
              <a:gd name="T6" fmla="*/ 0 w 2334"/>
              <a:gd name="T7" fmla="*/ 67 h 2315"/>
              <a:gd name="T8" fmla="*/ 0 w 2334"/>
              <a:gd name="T9" fmla="*/ 1793 h 2315"/>
              <a:gd name="T10" fmla="*/ 522 w 2334"/>
              <a:gd name="T11" fmla="*/ 2315 h 2315"/>
              <a:gd name="T12" fmla="*/ 2272 w 2334"/>
              <a:gd name="T13" fmla="*/ 2315 h 2315"/>
              <a:gd name="T14" fmla="*/ 2334 w 2334"/>
              <a:gd name="T15" fmla="*/ 1840 h 2315"/>
              <a:gd name="T16" fmla="*/ 2310 w 2334"/>
              <a:gd name="T17" fmla="*/ 1548 h 2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4" h="2315">
                <a:moveTo>
                  <a:pt x="2310" y="1548"/>
                </a:moveTo>
                <a:cubicBezTo>
                  <a:pt x="1497" y="1475"/>
                  <a:pt x="848" y="831"/>
                  <a:pt x="767" y="20"/>
                </a:cubicBezTo>
                <a:cubicBezTo>
                  <a:pt x="678" y="7"/>
                  <a:pt x="586" y="0"/>
                  <a:pt x="493" y="0"/>
                </a:cubicBezTo>
                <a:cubicBezTo>
                  <a:pt x="322" y="0"/>
                  <a:pt x="157" y="23"/>
                  <a:pt x="0" y="67"/>
                </a:cubicBezTo>
                <a:lnTo>
                  <a:pt x="0" y="1793"/>
                </a:lnTo>
                <a:cubicBezTo>
                  <a:pt x="0" y="2080"/>
                  <a:pt x="235" y="2315"/>
                  <a:pt x="522" y="2315"/>
                </a:cubicBezTo>
                <a:lnTo>
                  <a:pt x="2272" y="2315"/>
                </a:lnTo>
                <a:cubicBezTo>
                  <a:pt x="2312" y="2163"/>
                  <a:pt x="2334" y="2004"/>
                  <a:pt x="2334" y="1840"/>
                </a:cubicBezTo>
                <a:cubicBezTo>
                  <a:pt x="2334" y="1741"/>
                  <a:pt x="2326" y="1644"/>
                  <a:pt x="2310" y="1548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7" name="Freeform 41">
            <a:extLst>
              <a:ext uri="{FF2B5EF4-FFF2-40B4-BE49-F238E27FC236}">
                <a16:creationId xmlns:a16="http://schemas.microsoft.com/office/drawing/2014/main" id="{36B17971-6AC8-C3A2-8A57-D4EB15017C60}"/>
              </a:ext>
            </a:extLst>
          </p:cNvPr>
          <p:cNvSpPr>
            <a:spLocks/>
          </p:cNvSpPr>
          <p:nvPr/>
        </p:nvSpPr>
        <p:spPr bwMode="auto">
          <a:xfrm>
            <a:off x="6213050" y="4154325"/>
            <a:ext cx="1587925" cy="1602026"/>
          </a:xfrm>
          <a:custGeom>
            <a:avLst/>
            <a:gdLst>
              <a:gd name="T0" fmla="*/ 2296 w 2296"/>
              <a:gd name="T1" fmla="*/ 1793 h 2315"/>
              <a:gd name="T2" fmla="*/ 2296 w 2296"/>
              <a:gd name="T3" fmla="*/ 57 h 2315"/>
              <a:gd name="T4" fmla="*/ 1841 w 2296"/>
              <a:gd name="T5" fmla="*/ 0 h 2315"/>
              <a:gd name="T6" fmla="*/ 1528 w 2296"/>
              <a:gd name="T7" fmla="*/ 26 h 2315"/>
              <a:gd name="T8" fmla="*/ 24 w 2296"/>
              <a:gd name="T9" fmla="*/ 1545 h 2315"/>
              <a:gd name="T10" fmla="*/ 0 w 2296"/>
              <a:gd name="T11" fmla="*/ 1840 h 2315"/>
              <a:gd name="T12" fmla="*/ 62 w 2296"/>
              <a:gd name="T13" fmla="*/ 2315 h 2315"/>
              <a:gd name="T14" fmla="*/ 1774 w 2296"/>
              <a:gd name="T15" fmla="*/ 2315 h 2315"/>
              <a:gd name="T16" fmla="*/ 2296 w 2296"/>
              <a:gd name="T17" fmla="*/ 1793 h 2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6" h="2315">
                <a:moveTo>
                  <a:pt x="2296" y="1793"/>
                </a:moveTo>
                <a:lnTo>
                  <a:pt x="2296" y="57"/>
                </a:lnTo>
                <a:cubicBezTo>
                  <a:pt x="2150" y="19"/>
                  <a:pt x="1998" y="0"/>
                  <a:pt x="1841" y="0"/>
                </a:cubicBezTo>
                <a:cubicBezTo>
                  <a:pt x="1734" y="0"/>
                  <a:pt x="1630" y="9"/>
                  <a:pt x="1528" y="26"/>
                </a:cubicBezTo>
                <a:cubicBezTo>
                  <a:pt x="1445" y="822"/>
                  <a:pt x="817" y="1455"/>
                  <a:pt x="24" y="1545"/>
                </a:cubicBezTo>
                <a:cubicBezTo>
                  <a:pt x="8" y="1641"/>
                  <a:pt x="0" y="1740"/>
                  <a:pt x="0" y="1840"/>
                </a:cubicBezTo>
                <a:cubicBezTo>
                  <a:pt x="0" y="2004"/>
                  <a:pt x="22" y="2163"/>
                  <a:pt x="62" y="2315"/>
                </a:cubicBezTo>
                <a:lnTo>
                  <a:pt x="1774" y="2315"/>
                </a:lnTo>
                <a:cubicBezTo>
                  <a:pt x="2061" y="2315"/>
                  <a:pt x="2296" y="2080"/>
                  <a:pt x="2296" y="1793"/>
                </a:cubicBezTo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A778920C-45B7-2BBB-C31E-607D1A623F15}"/>
              </a:ext>
            </a:extLst>
          </p:cNvPr>
          <p:cNvSpPr>
            <a:spLocks/>
          </p:cNvSpPr>
          <p:nvPr/>
        </p:nvSpPr>
        <p:spPr bwMode="auto">
          <a:xfrm>
            <a:off x="4921274" y="2873831"/>
            <a:ext cx="1068960" cy="1068959"/>
          </a:xfrm>
          <a:custGeom>
            <a:avLst/>
            <a:gdLst>
              <a:gd name="T0" fmla="*/ 1547 w 1547"/>
              <a:gd name="T1" fmla="*/ 0 h 1548"/>
              <a:gd name="T2" fmla="*/ 0 w 1547"/>
              <a:gd name="T3" fmla="*/ 1548 h 1548"/>
              <a:gd name="T4" fmla="*/ 1547 w 1547"/>
              <a:gd name="T5" fmla="*/ 0 h 15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47" h="1548">
                <a:moveTo>
                  <a:pt x="1547" y="0"/>
                </a:moveTo>
                <a:cubicBezTo>
                  <a:pt x="726" y="73"/>
                  <a:pt x="72" y="727"/>
                  <a:pt x="0" y="1548"/>
                </a:cubicBezTo>
                <a:cubicBezTo>
                  <a:pt x="798" y="1429"/>
                  <a:pt x="1429" y="798"/>
                  <a:pt x="1547" y="0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9" name="Freeform 38">
            <a:extLst>
              <a:ext uri="{FF2B5EF4-FFF2-40B4-BE49-F238E27FC236}">
                <a16:creationId xmlns:a16="http://schemas.microsoft.com/office/drawing/2014/main" id="{232F4D65-61FB-0D62-E1D1-913C407BF3A5}"/>
              </a:ext>
            </a:extLst>
          </p:cNvPr>
          <p:cNvSpPr>
            <a:spLocks/>
          </p:cNvSpPr>
          <p:nvPr/>
        </p:nvSpPr>
        <p:spPr bwMode="auto">
          <a:xfrm>
            <a:off x="6229972" y="2876653"/>
            <a:ext cx="1043574" cy="1063318"/>
          </a:xfrm>
          <a:custGeom>
            <a:avLst/>
            <a:gdLst>
              <a:gd name="T0" fmla="*/ 1509 w 1509"/>
              <a:gd name="T1" fmla="*/ 1538 h 1538"/>
              <a:gd name="T2" fmla="*/ 0 w 1509"/>
              <a:gd name="T3" fmla="*/ 0 h 1538"/>
              <a:gd name="T4" fmla="*/ 1509 w 1509"/>
              <a:gd name="T5" fmla="*/ 1538 h 1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9" h="1538">
                <a:moveTo>
                  <a:pt x="1509" y="1538"/>
                </a:moveTo>
                <a:cubicBezTo>
                  <a:pt x="1434" y="733"/>
                  <a:pt x="801" y="89"/>
                  <a:pt x="0" y="0"/>
                </a:cubicBezTo>
                <a:cubicBezTo>
                  <a:pt x="118" y="784"/>
                  <a:pt x="730" y="1405"/>
                  <a:pt x="1509" y="1538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0" name="Freeform 40">
            <a:extLst>
              <a:ext uri="{FF2B5EF4-FFF2-40B4-BE49-F238E27FC236}">
                <a16:creationId xmlns:a16="http://schemas.microsoft.com/office/drawing/2014/main" id="{D3A48DA6-E9CC-ABA1-AA92-1F26C45F3B50}"/>
              </a:ext>
            </a:extLst>
          </p:cNvPr>
          <p:cNvSpPr>
            <a:spLocks/>
          </p:cNvSpPr>
          <p:nvPr/>
        </p:nvSpPr>
        <p:spPr bwMode="auto">
          <a:xfrm>
            <a:off x="4921274" y="4168428"/>
            <a:ext cx="1066138" cy="1057677"/>
          </a:xfrm>
          <a:custGeom>
            <a:avLst/>
            <a:gdLst>
              <a:gd name="T0" fmla="*/ 0 w 1543"/>
              <a:gd name="T1" fmla="*/ 0 h 1528"/>
              <a:gd name="T2" fmla="*/ 1543 w 1543"/>
              <a:gd name="T3" fmla="*/ 1528 h 1528"/>
              <a:gd name="T4" fmla="*/ 0 w 1543"/>
              <a:gd name="T5" fmla="*/ 0 h 1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43" h="1528">
                <a:moveTo>
                  <a:pt x="0" y="0"/>
                </a:moveTo>
                <a:cubicBezTo>
                  <a:pt x="81" y="811"/>
                  <a:pt x="730" y="1455"/>
                  <a:pt x="1543" y="1528"/>
                </a:cubicBezTo>
                <a:cubicBezTo>
                  <a:pt x="1418" y="740"/>
                  <a:pt x="791" y="118"/>
                  <a:pt x="0" y="0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1" name="Freeform 42">
            <a:extLst>
              <a:ext uri="{FF2B5EF4-FFF2-40B4-BE49-F238E27FC236}">
                <a16:creationId xmlns:a16="http://schemas.microsoft.com/office/drawing/2014/main" id="{D2B49593-EA94-C3BE-B215-F8CB6BEB25A5}"/>
              </a:ext>
            </a:extLst>
          </p:cNvPr>
          <p:cNvSpPr>
            <a:spLocks/>
          </p:cNvSpPr>
          <p:nvPr/>
        </p:nvSpPr>
        <p:spPr bwMode="auto">
          <a:xfrm>
            <a:off x="6229972" y="4174069"/>
            <a:ext cx="1040755" cy="1049214"/>
          </a:xfrm>
          <a:custGeom>
            <a:avLst/>
            <a:gdLst>
              <a:gd name="T0" fmla="*/ 0 w 1504"/>
              <a:gd name="T1" fmla="*/ 1519 h 1519"/>
              <a:gd name="T2" fmla="*/ 1504 w 1504"/>
              <a:gd name="T3" fmla="*/ 0 h 1519"/>
              <a:gd name="T4" fmla="*/ 0 w 1504"/>
              <a:gd name="T5" fmla="*/ 1519 h 1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4" h="1519">
                <a:moveTo>
                  <a:pt x="0" y="1519"/>
                </a:moveTo>
                <a:cubicBezTo>
                  <a:pt x="793" y="1429"/>
                  <a:pt x="1421" y="796"/>
                  <a:pt x="1504" y="0"/>
                </a:cubicBezTo>
                <a:cubicBezTo>
                  <a:pt x="732" y="132"/>
                  <a:pt x="125" y="745"/>
                  <a:pt x="0" y="1519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916B296-7F1A-A386-D099-5CDF75E4FDFF}"/>
              </a:ext>
            </a:extLst>
          </p:cNvPr>
          <p:cNvSpPr/>
          <p:nvPr/>
        </p:nvSpPr>
        <p:spPr>
          <a:xfrm>
            <a:off x="4988692" y="3171345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01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51F549D-6EEB-83FF-09A6-E7DC0AE2386A}"/>
              </a:ext>
            </a:extLst>
          </p:cNvPr>
          <p:cNvSpPr/>
          <p:nvPr/>
        </p:nvSpPr>
        <p:spPr>
          <a:xfrm>
            <a:off x="6218804" y="3171345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02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B1939A1-6654-9FE9-2A69-7C57DB6DFD12}"/>
              </a:ext>
            </a:extLst>
          </p:cNvPr>
          <p:cNvSpPr/>
          <p:nvPr/>
        </p:nvSpPr>
        <p:spPr>
          <a:xfrm>
            <a:off x="4988692" y="4528381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04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94F32EE-EBE4-A6A7-C038-5167B78D1105}"/>
              </a:ext>
            </a:extLst>
          </p:cNvPr>
          <p:cNvSpPr/>
          <p:nvPr/>
        </p:nvSpPr>
        <p:spPr>
          <a:xfrm>
            <a:off x="6218804" y="4528381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03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B9631FB-6972-B97D-362D-2F9F4EB690D7}"/>
              </a:ext>
            </a:extLst>
          </p:cNvPr>
          <p:cNvSpPr/>
          <p:nvPr/>
        </p:nvSpPr>
        <p:spPr>
          <a:xfrm>
            <a:off x="4443413" y="2538147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프로젝트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목적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F55AF89-5610-ACC2-E7BA-C4D78CC05E15}"/>
              </a:ext>
            </a:extLst>
          </p:cNvPr>
          <p:cNvSpPr/>
          <p:nvPr/>
        </p:nvSpPr>
        <p:spPr>
          <a:xfrm>
            <a:off x="4443413" y="5024172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파트별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목적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39B25FE-B84F-CC61-93F6-D6E2DF4C2222}"/>
              </a:ext>
            </a:extLst>
          </p:cNvPr>
          <p:cNvSpPr/>
          <p:nvPr/>
        </p:nvSpPr>
        <p:spPr>
          <a:xfrm>
            <a:off x="6748463" y="2538147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팀 전체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목적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A4C1BE3-D9E7-78FD-A993-D03B07EA027C}"/>
              </a:ext>
            </a:extLst>
          </p:cNvPr>
          <p:cNvSpPr/>
          <p:nvPr/>
        </p:nvSpPr>
        <p:spPr>
          <a:xfrm>
            <a:off x="6748463" y="5024172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개인별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목적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41F51A-8D3D-62A5-B62B-330DA294A9A6}"/>
              </a:ext>
            </a:extLst>
          </p:cNvPr>
          <p:cNvSpPr txBox="1"/>
          <p:nvPr/>
        </p:nvSpPr>
        <p:spPr>
          <a:xfrm>
            <a:off x="1937569" y="3216359"/>
            <a:ext cx="2417397" cy="6130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우리의 목표는 프로젝트의 완성이</a:t>
            </a:r>
            <a:endParaRPr lang="en-US" altLang="ko-KR" sz="105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아니라 개개인의 실력 향상을 위한</a:t>
            </a:r>
            <a:endParaRPr lang="en-US" altLang="ko-KR" sz="105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성공의 프로젝트를 진행합니다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019081D-60DB-645A-B048-5A9195EA29D7}"/>
              </a:ext>
            </a:extLst>
          </p:cNvPr>
          <p:cNvSpPr/>
          <p:nvPr/>
        </p:nvSpPr>
        <p:spPr>
          <a:xfrm>
            <a:off x="1237445" y="2585365"/>
            <a:ext cx="2667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모두가 프로젝트 전체</a:t>
            </a:r>
            <a:endParaRPr lang="en-US" altLang="ko-KR" sz="16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내용에 대해 숙지하기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204ECEFD-B184-DE61-7D30-A0CF77288461}"/>
              </a:ext>
            </a:extLst>
          </p:cNvPr>
          <p:cNvCxnSpPr/>
          <p:nvPr/>
        </p:nvCxnSpPr>
        <p:spPr>
          <a:xfrm>
            <a:off x="3525055" y="2480590"/>
            <a:ext cx="2476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77CC151-A16E-09C5-E0EA-586EAFE10731}"/>
              </a:ext>
            </a:extLst>
          </p:cNvPr>
          <p:cNvSpPr txBox="1"/>
          <p:nvPr/>
        </p:nvSpPr>
        <p:spPr>
          <a:xfrm>
            <a:off x="1937569" y="4991444"/>
            <a:ext cx="3227364" cy="6130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회선 연결 잘 붙이기</a:t>
            </a:r>
            <a:endParaRPr lang="en-US" altLang="ko-KR" sz="105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기능 구현 모두 잘 하기</a:t>
            </a:r>
            <a:endParaRPr lang="en-US" altLang="ko-KR" sz="105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가독성 좋은 코드 만들기</a:t>
            </a:r>
            <a:endParaRPr lang="en-US" altLang="ko-KR" sz="105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06E9CBA-2D43-353A-0929-1BA7FE3B34E2}"/>
              </a:ext>
            </a:extLst>
          </p:cNvPr>
          <p:cNvSpPr/>
          <p:nvPr/>
        </p:nvSpPr>
        <p:spPr>
          <a:xfrm>
            <a:off x="1237445" y="4623715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프로젝트 분야별 목적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1CADC87A-A51C-E888-FB06-FEB1433A610A}"/>
              </a:ext>
            </a:extLst>
          </p:cNvPr>
          <p:cNvCxnSpPr/>
          <p:nvPr/>
        </p:nvCxnSpPr>
        <p:spPr>
          <a:xfrm>
            <a:off x="3525055" y="4518940"/>
            <a:ext cx="2476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B6C02A6-9532-EA6C-4D3A-0F71AE8BFD9C}"/>
              </a:ext>
            </a:extLst>
          </p:cNvPr>
          <p:cNvSpPr txBox="1"/>
          <p:nvPr/>
        </p:nvSpPr>
        <p:spPr>
          <a:xfrm>
            <a:off x="8287556" y="5006311"/>
            <a:ext cx="3227364" cy="84916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은비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회선연결 </a:t>
            </a:r>
            <a:r>
              <a:rPr lang="ko-KR" altLang="en-US" sz="1050" dirty="0" err="1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오류나지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않기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!</a:t>
            </a: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윤영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문서화 체계적으로 작성하기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!</a:t>
            </a: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준희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GPT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한테 욕하지 않기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!</a:t>
            </a: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명재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 고수되기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!</a:t>
            </a:r>
          </a:p>
          <a:p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희진 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: </a:t>
            </a:r>
            <a:r>
              <a:rPr lang="ko-KR" altLang="en-US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기능 구현중 오류해결 매뉴얼 제작</a:t>
            </a:r>
            <a:r>
              <a: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!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8B29CB7-8DD7-DBA5-F986-93E568DBE71D}"/>
              </a:ext>
            </a:extLst>
          </p:cNvPr>
          <p:cNvSpPr/>
          <p:nvPr/>
        </p:nvSpPr>
        <p:spPr>
          <a:xfrm>
            <a:off x="8287556" y="4623715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독보팀의 개인별 목적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0EEA1D86-1281-D57B-7B37-A2B401183AAB}"/>
              </a:ext>
            </a:extLst>
          </p:cNvPr>
          <p:cNvGrpSpPr/>
          <p:nvPr/>
        </p:nvGrpSpPr>
        <p:grpSpPr>
          <a:xfrm>
            <a:off x="8287556" y="2480590"/>
            <a:ext cx="3259274" cy="1056361"/>
            <a:chOff x="8287556" y="2480590"/>
            <a:chExt cx="3259274" cy="1056361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B6B8286-FBE8-AEDB-6D92-EFF29A7176E1}"/>
                </a:ext>
              </a:extLst>
            </p:cNvPr>
            <p:cNvSpPr txBox="1"/>
            <p:nvPr/>
          </p:nvSpPr>
          <p:spPr>
            <a:xfrm>
              <a:off x="8319466" y="2923919"/>
              <a:ext cx="3227364" cy="6130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친한 사람들이 함께하는 프로젝트는</a:t>
              </a:r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서로를 더욱 </a:t>
              </a:r>
              <a:r>
                <a:rPr lang="ko-KR" altLang="en-US" sz="1050" dirty="0" err="1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신경써야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 한다고 생각했습니다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.</a:t>
              </a:r>
            </a:p>
            <a:p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상대방을 향한 나쁜 말 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1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번당 칭찬 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5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번</a:t>
              </a:r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허공에 욕할 시 본인 칭찬 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5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번</a:t>
              </a:r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D0BFB6A0-F1F3-2AB1-3C87-C15F9333E859}"/>
                </a:ext>
              </a:extLst>
            </p:cNvPr>
            <p:cNvSpPr/>
            <p:nvPr/>
          </p:nvSpPr>
          <p:spPr>
            <a:xfrm>
              <a:off x="8287556" y="2585365"/>
              <a:ext cx="26670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싸우지 않기</a:t>
              </a: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6B6CA673-0CA1-1459-2770-1812AEDAE6C6}"/>
                </a:ext>
              </a:extLst>
            </p:cNvPr>
            <p:cNvCxnSpPr>
              <a:cxnSpLocks/>
            </p:cNvCxnSpPr>
            <p:nvPr/>
          </p:nvCxnSpPr>
          <p:spPr>
            <a:xfrm>
              <a:off x="8401856" y="2480590"/>
              <a:ext cx="247650" cy="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82FABA1-D3E4-1F9D-BB9A-8C1F9A3D0303}"/>
              </a:ext>
            </a:extLst>
          </p:cNvPr>
          <p:cNvCxnSpPr>
            <a:cxnSpLocks/>
          </p:cNvCxnSpPr>
          <p:nvPr/>
        </p:nvCxnSpPr>
        <p:spPr>
          <a:xfrm>
            <a:off x="8401856" y="4518940"/>
            <a:ext cx="2476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그림 70" descr="스크린샷, 디자인이(가) 표시된 사진&#10;&#10;자동 생성된 설명">
            <a:extLst>
              <a:ext uri="{FF2B5EF4-FFF2-40B4-BE49-F238E27FC236}">
                <a16:creationId xmlns:a16="http://schemas.microsoft.com/office/drawing/2014/main" id="{6FE905CB-A0B9-B567-AB62-24AEEA013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125" y="3623620"/>
            <a:ext cx="1047750" cy="780676"/>
          </a:xfrm>
          <a:prstGeom prst="rect">
            <a:avLst/>
          </a:prstGeom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D169D7B-E560-72F7-215A-F3259839E27E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.1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9084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4" grpId="0"/>
      <p:bldP spid="35" grpId="0"/>
      <p:bldP spid="36" grpId="0"/>
      <p:bldP spid="40" grpId="0"/>
      <p:bldP spid="41" grpId="0"/>
      <p:bldP spid="42" grpId="0"/>
      <p:bldP spid="45" grpId="0"/>
      <p:bldP spid="46" grpId="0"/>
      <p:bldP spid="51" grpId="0"/>
      <p:bldP spid="52" grpId="0"/>
      <p:bldP spid="59" grpId="0"/>
      <p:bldP spid="60" grpId="0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53AB8F6-2385-B397-78A8-5CBDC71CE2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4" name="그림 13" descr="스크린샷이(가) 표시된 사진&#10;&#10;자동 생성된 설명">
            <a:extLst>
              <a:ext uri="{FF2B5EF4-FFF2-40B4-BE49-F238E27FC236}">
                <a16:creationId xmlns:a16="http://schemas.microsoft.com/office/drawing/2014/main" id="{F696A95D-2E31-61A6-31C9-A0D1AFAEB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168" y="981075"/>
            <a:ext cx="5507832" cy="4895850"/>
          </a:xfrm>
          <a:prstGeom prst="rect">
            <a:avLst/>
          </a:prstGeom>
        </p:spPr>
      </p:pic>
      <p:sp>
        <p:nvSpPr>
          <p:cNvPr id="9" name="제목 5">
            <a:extLst>
              <a:ext uri="{FF2B5EF4-FFF2-40B4-BE49-F238E27FC236}">
                <a16:creationId xmlns:a16="http://schemas.microsoft.com/office/drawing/2014/main" id="{CAFEF811-F33C-1424-D764-B9FB6E1FAC90}"/>
              </a:ext>
            </a:extLst>
          </p:cNvPr>
          <p:cNvSpPr txBox="1">
            <a:spLocks/>
          </p:cNvSpPr>
          <p:nvPr/>
        </p:nvSpPr>
        <p:spPr>
          <a:xfrm>
            <a:off x="1233757" y="827766"/>
            <a:ext cx="38862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  <a:cs typeface="+mn-cs"/>
              </a:rPr>
              <a:t>프로젝트 예상 일정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33E6D0F-6C2C-F153-BC40-567D77F8E5EC}"/>
              </a:ext>
            </a:extLst>
          </p:cNvPr>
          <p:cNvSpPr/>
          <p:nvPr/>
        </p:nvSpPr>
        <p:spPr>
          <a:xfrm rot="5400000">
            <a:off x="3126722" y="489501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01779F3-9080-9914-D9B6-BD15DF293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86" y="1555261"/>
            <a:ext cx="4530547" cy="473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315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-8626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4" y="467971"/>
            <a:ext cx="7330236" cy="1172256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E0F829-46E8-9B48-900E-10F95EEAD5F5}"/>
              </a:ext>
            </a:extLst>
          </p:cNvPr>
          <p:cNvSpPr/>
          <p:nvPr/>
        </p:nvSpPr>
        <p:spPr>
          <a:xfrm rot="5400000" flipH="1">
            <a:off x="1707843" y="121341"/>
            <a:ext cx="45719" cy="2577082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7785B87-AD16-A2D3-59F8-E8262542ABAC}"/>
              </a:ext>
            </a:extLst>
          </p:cNvPr>
          <p:cNvSpPr/>
          <p:nvPr/>
        </p:nvSpPr>
        <p:spPr>
          <a:xfrm rot="5400000" flipH="1">
            <a:off x="1729409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F302C2D-A4A4-D9E4-4806-15941CDB6591}"/>
              </a:ext>
            </a:extLst>
          </p:cNvPr>
          <p:cNvSpPr txBox="1">
            <a:spLocks/>
          </p:cNvSpPr>
          <p:nvPr/>
        </p:nvSpPr>
        <p:spPr>
          <a:xfrm>
            <a:off x="1273175" y="2331228"/>
            <a:ext cx="7143750" cy="109777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5400" kern="12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물리 구성도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논리 구성도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기술 리스트</a:t>
            </a:r>
          </a:p>
        </p:txBody>
      </p:sp>
    </p:spTree>
    <p:extLst>
      <p:ext uri="{BB962C8B-B14F-4D97-AF65-F5344CB8AC3E}">
        <p14:creationId xmlns:p14="http://schemas.microsoft.com/office/powerpoint/2010/main" val="2252168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" grpId="0" animBg="1"/>
      <p:bldP spid="2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물리 구성도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CBA55B0-9B4E-6ACD-FCE5-6D36FBF0120E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.2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9088772-B762-4FA7-BE33-83569D4C4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99" r="18599"/>
          <a:stretch/>
        </p:blipFill>
        <p:spPr>
          <a:xfrm>
            <a:off x="2543176" y="1211795"/>
            <a:ext cx="6638924" cy="551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988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논리 구성도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1CE376E-A91C-3E8D-5E8A-4A1AF1DD8991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.3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B5804E-BBEA-258E-0BAE-2770EB185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" r="21658"/>
          <a:stretch>
            <a:fillRect/>
          </a:stretch>
        </p:blipFill>
        <p:spPr>
          <a:xfrm>
            <a:off x="2864827" y="1253543"/>
            <a:ext cx="6462346" cy="546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57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33E3D-903A-F6DF-A12C-9E11E7DF1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A7F243-6784-E0E6-7430-1E1131D26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기술 리스트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F48F468-B24A-F082-195D-EE8CA6E67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283209"/>
              </p:ext>
            </p:extLst>
          </p:nvPr>
        </p:nvGraphicFramePr>
        <p:xfrm>
          <a:off x="381000" y="1512276"/>
          <a:ext cx="11177954" cy="5102272"/>
        </p:xfrm>
        <a:graphic>
          <a:graphicData uri="http://schemas.openxmlformats.org/drawingml/2006/table">
            <a:tbl>
              <a:tblPr/>
              <a:tblGrid>
                <a:gridCol w="584133">
                  <a:extLst>
                    <a:ext uri="{9D8B030D-6E8A-4147-A177-3AD203B41FA5}">
                      <a16:colId xmlns:a16="http://schemas.microsoft.com/office/drawing/2014/main" val="4082589377"/>
                    </a:ext>
                  </a:extLst>
                </a:gridCol>
                <a:gridCol w="613891">
                  <a:extLst>
                    <a:ext uri="{9D8B030D-6E8A-4147-A177-3AD203B41FA5}">
                      <a16:colId xmlns:a16="http://schemas.microsoft.com/office/drawing/2014/main" val="1769872588"/>
                    </a:ext>
                  </a:extLst>
                </a:gridCol>
                <a:gridCol w="536934">
                  <a:extLst>
                    <a:ext uri="{9D8B030D-6E8A-4147-A177-3AD203B41FA5}">
                      <a16:colId xmlns:a16="http://schemas.microsoft.com/office/drawing/2014/main" val="461927618"/>
                    </a:ext>
                  </a:extLst>
                </a:gridCol>
                <a:gridCol w="4446455">
                  <a:extLst>
                    <a:ext uri="{9D8B030D-6E8A-4147-A177-3AD203B41FA5}">
                      <a16:colId xmlns:a16="http://schemas.microsoft.com/office/drawing/2014/main" val="3938825012"/>
                    </a:ext>
                  </a:extLst>
                </a:gridCol>
                <a:gridCol w="4996541">
                  <a:extLst>
                    <a:ext uri="{9D8B030D-6E8A-4147-A177-3AD203B41FA5}">
                      <a16:colId xmlns:a16="http://schemas.microsoft.com/office/drawing/2014/main" val="1440213084"/>
                    </a:ext>
                  </a:extLst>
                </a:gridCol>
              </a:tblGrid>
              <a:tr h="286177"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dirty="0"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 기술 리스트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80g" panose="02020603020101020101" pitchFamily="18" charset="-127"/>
                        <a:ea typeface="HG꼬딕씨 8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/>
                </a:tc>
                <a:extLst>
                  <a:ext uri="{0D108BD9-81ED-4DB2-BD59-A6C34878D82A}">
                    <a16:rowId xmlns:a16="http://schemas.microsoft.com/office/drawing/2014/main" val="1846929716"/>
                  </a:ext>
                </a:extLst>
              </a:tr>
              <a:tr h="269852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VPCS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HG꼬딕씨 80g" panose="02020603020101020101" pitchFamily="18" charset="-127"/>
                        <a:ea typeface="HG꼬딕씨 8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9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 dirty="0">
                          <a:effectLst/>
                        </a:rPr>
                        <a:t>IP </a:t>
                      </a:r>
                      <a:r>
                        <a:rPr lang="ko-KR" altLang="en-US" sz="600" u="none" strike="noStrike" dirty="0">
                          <a:effectLst/>
                        </a:rPr>
                        <a:t>설정</a:t>
                      </a:r>
                      <a:endParaRPr lang="ko-KR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 dirty="0">
                          <a:effectLst/>
                        </a:rPr>
                        <a:t>GNS3 </a:t>
                      </a:r>
                      <a:r>
                        <a:rPr lang="ko-KR" altLang="en-US" sz="600" u="none" strike="noStrike" dirty="0">
                          <a:effectLst/>
                        </a:rPr>
                        <a:t>환경 내의 가상 </a:t>
                      </a:r>
                      <a:r>
                        <a:rPr lang="en-US" altLang="ko-KR" sz="600" u="none" strike="noStrike" dirty="0">
                          <a:effectLst/>
                        </a:rPr>
                        <a:t>PC VPCS</a:t>
                      </a:r>
                      <a:r>
                        <a:rPr lang="ko-KR" altLang="en-US" sz="600" u="none" strike="noStrike" dirty="0">
                          <a:effectLst/>
                        </a:rPr>
                        <a:t>에 고정 </a:t>
                      </a:r>
                      <a:r>
                        <a:rPr lang="en-US" altLang="ko-KR" sz="600" u="none" strike="noStrike" dirty="0">
                          <a:effectLst/>
                        </a:rPr>
                        <a:t>IP </a:t>
                      </a:r>
                      <a:r>
                        <a:rPr lang="ko-KR" altLang="en-US" sz="600" u="none" strike="noStrike" dirty="0">
                          <a:effectLst/>
                        </a:rPr>
                        <a:t>주소를 할당하여 가상 네트워크 내에서 통신 가능하도록 설정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 dirty="0">
                          <a:effectLst/>
                        </a:rPr>
                        <a:t>VPCS Command Line</a:t>
                      </a:r>
                      <a:r>
                        <a:rPr lang="ko-KR" altLang="en-US" sz="600" u="none" strike="noStrike" dirty="0">
                          <a:effectLst/>
                        </a:rPr>
                        <a:t>에서 </a:t>
                      </a:r>
                      <a:r>
                        <a:rPr lang="en-US" altLang="ko-KR" sz="600" u="none" strike="noStrike" dirty="0" err="1">
                          <a:effectLst/>
                        </a:rPr>
                        <a:t>ip</a:t>
                      </a:r>
                      <a:r>
                        <a:rPr lang="en-US" altLang="ko-KR" sz="600" u="none" strike="noStrike" dirty="0">
                          <a:effectLst/>
                        </a:rPr>
                        <a:t> </a:t>
                      </a:r>
                      <a:r>
                        <a:rPr lang="ko-KR" altLang="en-US" sz="600" u="none" strike="noStrike" dirty="0">
                          <a:effectLst/>
                        </a:rPr>
                        <a:t>명령어를 사용하여 </a:t>
                      </a:r>
                      <a:r>
                        <a:rPr lang="en-US" altLang="ko-KR" sz="600" u="none" strike="noStrike" dirty="0">
                          <a:effectLst/>
                        </a:rPr>
                        <a:t>IP </a:t>
                      </a:r>
                      <a:r>
                        <a:rPr lang="ko-KR" altLang="en-US" sz="600" u="none" strike="noStrike" dirty="0">
                          <a:effectLst/>
                        </a:rPr>
                        <a:t>주소</a:t>
                      </a:r>
                      <a:r>
                        <a:rPr lang="en-US" altLang="ko-KR" sz="600" u="none" strike="noStrike" dirty="0">
                          <a:effectLst/>
                        </a:rPr>
                        <a:t>, </a:t>
                      </a:r>
                      <a:r>
                        <a:rPr lang="ko-KR" altLang="en-US" sz="600" u="none" strike="noStrike" dirty="0" err="1">
                          <a:effectLst/>
                        </a:rPr>
                        <a:t>서브넷</a:t>
                      </a:r>
                      <a:r>
                        <a:rPr lang="ko-KR" altLang="en-US" sz="600" u="none" strike="noStrike" dirty="0">
                          <a:effectLst/>
                        </a:rPr>
                        <a:t> 마스크</a:t>
                      </a:r>
                      <a:r>
                        <a:rPr lang="en-US" altLang="ko-KR" sz="600" u="none" strike="noStrike" dirty="0">
                          <a:effectLst/>
                        </a:rPr>
                        <a:t>, Gateway</a:t>
                      </a:r>
                      <a:r>
                        <a:rPr lang="ko-KR" altLang="en-US" sz="600" u="none" strike="noStrike" dirty="0">
                          <a:effectLst/>
                        </a:rPr>
                        <a:t>를 직접 지정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698334"/>
                  </a:ext>
                </a:extLst>
              </a:tr>
              <a:tr h="2698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DHCP </a:t>
                      </a:r>
                      <a:r>
                        <a:rPr lang="ko-KR" altLang="en-US" sz="600" u="none" strike="noStrike">
                          <a:effectLst/>
                        </a:rPr>
                        <a:t>할당</a:t>
                      </a:r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 dirty="0">
                          <a:effectLst/>
                        </a:rPr>
                        <a:t>VPCS</a:t>
                      </a:r>
                      <a:r>
                        <a:rPr lang="ko-KR" altLang="en-US" sz="600" u="none" strike="noStrike" dirty="0">
                          <a:effectLst/>
                        </a:rPr>
                        <a:t>가 네트워크 내의 </a:t>
                      </a:r>
                      <a:r>
                        <a:rPr lang="en-US" altLang="ko-KR" sz="600" u="none" strike="noStrike" dirty="0">
                          <a:effectLst/>
                        </a:rPr>
                        <a:t>DHCP </a:t>
                      </a:r>
                      <a:r>
                        <a:rPr lang="ko-KR" altLang="en-US" sz="600" u="none" strike="noStrike" dirty="0">
                          <a:effectLst/>
                        </a:rPr>
                        <a:t>서버로부터 </a:t>
                      </a:r>
                      <a:r>
                        <a:rPr lang="en-US" altLang="ko-KR" sz="600" u="none" strike="noStrike" dirty="0">
                          <a:effectLst/>
                        </a:rPr>
                        <a:t>IP </a:t>
                      </a:r>
                      <a:r>
                        <a:rPr lang="ko-KR" altLang="en-US" sz="600" u="none" strike="noStrike" dirty="0">
                          <a:effectLst/>
                        </a:rPr>
                        <a:t>주소를 자동으로 </a:t>
                      </a:r>
                      <a:r>
                        <a:rPr lang="ko-KR" altLang="en-US" sz="600" u="none" strike="noStrike" dirty="0" err="1">
                          <a:effectLst/>
                        </a:rPr>
                        <a:t>할당받아</a:t>
                      </a:r>
                      <a:r>
                        <a:rPr lang="ko-KR" altLang="en-US" sz="600" u="none" strike="noStrike" dirty="0">
                          <a:effectLst/>
                        </a:rPr>
                        <a:t> </a:t>
                      </a:r>
                      <a:r>
                        <a:rPr lang="en-US" altLang="ko-KR" sz="600" u="none" strike="noStrike" dirty="0">
                          <a:effectLst/>
                        </a:rPr>
                        <a:t>Client Device</a:t>
                      </a:r>
                      <a:r>
                        <a:rPr lang="ko-KR" altLang="en-US" sz="600" u="none" strike="noStrike" dirty="0">
                          <a:effectLst/>
                        </a:rPr>
                        <a:t>의 동적 </a:t>
                      </a:r>
                      <a:r>
                        <a:rPr lang="en-US" altLang="ko-KR" sz="600" u="none" strike="noStrike" dirty="0">
                          <a:effectLst/>
                        </a:rPr>
                        <a:t>IP </a:t>
                      </a:r>
                      <a:r>
                        <a:rPr lang="ko-KR" altLang="en-US" sz="600" u="none" strike="noStrike" dirty="0">
                          <a:effectLst/>
                        </a:rPr>
                        <a:t>설정을 테스트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 dirty="0">
                          <a:effectLst/>
                        </a:rPr>
                        <a:t>VPCS Command Line</a:t>
                      </a:r>
                      <a:r>
                        <a:rPr lang="ko-KR" altLang="en-US" sz="600" u="none" strike="noStrike" dirty="0">
                          <a:effectLst/>
                        </a:rPr>
                        <a:t>에서 </a:t>
                      </a:r>
                      <a:r>
                        <a:rPr lang="en-US" altLang="ko-KR" sz="600" u="none" strike="noStrike" dirty="0">
                          <a:effectLst/>
                        </a:rPr>
                        <a:t>DHCP Client </a:t>
                      </a:r>
                      <a:r>
                        <a:rPr lang="ko-KR" altLang="en-US" sz="600" u="none" strike="noStrike" dirty="0">
                          <a:effectLst/>
                        </a:rPr>
                        <a:t>명령을 실행하여 </a:t>
                      </a:r>
                      <a:r>
                        <a:rPr lang="en-US" altLang="ko-KR" sz="600" u="none" strike="noStrike" dirty="0">
                          <a:effectLst/>
                        </a:rPr>
                        <a:t>DHCP Request</a:t>
                      </a:r>
                      <a:r>
                        <a:rPr lang="ko-KR" altLang="en-US" sz="600" u="none" strike="noStrike" dirty="0">
                          <a:effectLst/>
                        </a:rPr>
                        <a:t>를 전송하고 응답 수신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229641"/>
                  </a:ext>
                </a:extLst>
              </a:tr>
              <a:tr h="269852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CLOUD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HG꼬딕씨 80g" panose="02020603020101020101" pitchFamily="18" charset="-127"/>
                        <a:ea typeface="HG꼬딕씨 8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9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u="none" strike="noStrike" dirty="0">
                          <a:effectLst/>
                        </a:rPr>
                        <a:t>포트 연결</a:t>
                      </a:r>
                      <a:endParaRPr lang="ko-KR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 dirty="0">
                          <a:effectLst/>
                        </a:rPr>
                        <a:t>GNS3 </a:t>
                      </a:r>
                      <a:r>
                        <a:rPr lang="ko-KR" altLang="en-US" sz="600" u="none" strike="noStrike" dirty="0">
                          <a:effectLst/>
                        </a:rPr>
                        <a:t>시뮬레이션 환경 외부의 물리적 네트워크 장치와 연결하기 위한 </a:t>
                      </a:r>
                      <a:r>
                        <a:rPr lang="en-US" altLang="ko-KR" sz="600" u="none" strike="noStrike" dirty="0">
                          <a:effectLst/>
                        </a:rPr>
                        <a:t>Interface </a:t>
                      </a:r>
                      <a:r>
                        <a:rPr lang="ko-KR" altLang="en-US" sz="600" u="none" strike="noStrike" dirty="0">
                          <a:effectLst/>
                        </a:rPr>
                        <a:t>설정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 dirty="0">
                          <a:effectLst/>
                        </a:rPr>
                        <a:t>GNS3 Cloud </a:t>
                      </a:r>
                      <a:r>
                        <a:rPr lang="ko-KR" altLang="en-US" sz="600" u="none" strike="noStrike" dirty="0">
                          <a:effectLst/>
                        </a:rPr>
                        <a:t>노드를 생성하고</a:t>
                      </a:r>
                      <a:r>
                        <a:rPr lang="en-US" altLang="ko-KR" sz="600" u="none" strike="noStrike" dirty="0">
                          <a:effectLst/>
                        </a:rPr>
                        <a:t>, Local PC</a:t>
                      </a:r>
                      <a:r>
                        <a:rPr lang="ko-KR" altLang="en-US" sz="600" u="none" strike="noStrike" dirty="0">
                          <a:effectLst/>
                        </a:rPr>
                        <a:t>의 </a:t>
                      </a:r>
                      <a:r>
                        <a:rPr lang="en-US" altLang="ko-KR" sz="600" u="none" strike="noStrike" dirty="0">
                          <a:effectLst/>
                        </a:rPr>
                        <a:t>Ethernet </a:t>
                      </a:r>
                      <a:r>
                        <a:rPr lang="ko-KR" altLang="en-US" sz="600" u="none" strike="noStrike" dirty="0">
                          <a:effectLst/>
                        </a:rPr>
                        <a:t>어댑터 또는 </a:t>
                      </a:r>
                      <a:r>
                        <a:rPr lang="en-US" altLang="ko-KR" sz="600" u="none" strike="noStrike" dirty="0">
                          <a:effectLst/>
                        </a:rPr>
                        <a:t>VMware </a:t>
                      </a:r>
                      <a:r>
                        <a:rPr lang="en-US" altLang="ko-KR" sz="600" u="none" strike="noStrike" dirty="0" err="1">
                          <a:effectLst/>
                        </a:rPr>
                        <a:t>VMNet</a:t>
                      </a:r>
                      <a:r>
                        <a:rPr lang="ko-KR" altLang="en-US" sz="600" u="none" strike="noStrike" dirty="0">
                          <a:effectLst/>
                        </a:rPr>
                        <a:t>과 연결하여 트래픽을 중계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335794"/>
                  </a:ext>
                </a:extLst>
              </a:tr>
              <a:tr h="2698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VMware</a:t>
                      </a:r>
                      <a:r>
                        <a:rPr lang="ko-KR" altLang="en-US" sz="600" u="none" strike="noStrike">
                          <a:effectLst/>
                        </a:rPr>
                        <a:t>연결 </a:t>
                      </a:r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GNS3 </a:t>
                      </a:r>
                      <a:r>
                        <a:rPr lang="ko-KR" altLang="en-US" sz="600" u="none" strike="noStrike">
                          <a:effectLst/>
                        </a:rPr>
                        <a:t>환경과 </a:t>
                      </a:r>
                      <a:r>
                        <a:rPr lang="en-US" altLang="ko-KR" sz="600" u="none" strike="noStrike">
                          <a:effectLst/>
                        </a:rPr>
                        <a:t>VMware </a:t>
                      </a:r>
                      <a:r>
                        <a:rPr lang="ko-KR" altLang="en-US" sz="600" u="none" strike="noStrike">
                          <a:effectLst/>
                        </a:rPr>
                        <a:t>가상 머신 간의 </a:t>
                      </a:r>
                      <a:r>
                        <a:rPr lang="en-US" altLang="ko-KR" sz="600" u="none" strike="noStrike">
                          <a:effectLst/>
                        </a:rPr>
                        <a:t>Network Traffic Route</a:t>
                      </a:r>
                      <a:r>
                        <a:rPr lang="ko-KR" altLang="en-US" sz="600" u="none" strike="noStrike">
                          <a:effectLst/>
                        </a:rPr>
                        <a:t>를 연결하여 실제 </a:t>
                      </a:r>
                      <a:r>
                        <a:rPr lang="en-US" altLang="ko-KR" sz="600" u="none" strike="noStrike">
                          <a:effectLst/>
                        </a:rPr>
                        <a:t>OS </a:t>
                      </a:r>
                      <a:r>
                        <a:rPr lang="ko-KR" altLang="en-US" sz="600" u="none" strike="noStrike">
                          <a:effectLst/>
                        </a:rPr>
                        <a:t>환경에서 </a:t>
                      </a:r>
                      <a:r>
                        <a:rPr lang="en-US" altLang="ko-KR" sz="600" u="none" strike="noStrike">
                          <a:effectLst/>
                        </a:rPr>
                        <a:t>GNS3 Topology</a:t>
                      </a:r>
                      <a:r>
                        <a:rPr lang="ko-KR" altLang="en-US" sz="600" u="none" strike="noStrike">
                          <a:effectLst/>
                        </a:rPr>
                        <a:t>를 테스트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 dirty="0">
                          <a:effectLst/>
                        </a:rPr>
                        <a:t>VMware Virtual Network Editor</a:t>
                      </a:r>
                      <a:r>
                        <a:rPr lang="ko-KR" altLang="en-US" sz="600" u="none" strike="noStrike" dirty="0">
                          <a:effectLst/>
                        </a:rPr>
                        <a:t>를 사용하여 </a:t>
                      </a:r>
                      <a:r>
                        <a:rPr lang="en-US" sz="600" u="none" strike="noStrike" dirty="0" err="1">
                          <a:effectLst/>
                        </a:rPr>
                        <a:t>VMNet</a:t>
                      </a:r>
                      <a:r>
                        <a:rPr lang="en-US" sz="600" u="none" strike="noStrike" dirty="0">
                          <a:effectLst/>
                        </a:rPr>
                        <a:t> </a:t>
                      </a:r>
                      <a:r>
                        <a:rPr lang="ko-KR" altLang="en-US" sz="600" u="none" strike="noStrike" dirty="0">
                          <a:effectLst/>
                        </a:rPr>
                        <a:t>어댑터를 </a:t>
                      </a:r>
                      <a:r>
                        <a:rPr lang="en-US" sz="600" u="none" strike="noStrike" dirty="0">
                          <a:effectLst/>
                        </a:rPr>
                        <a:t>Cloud Node</a:t>
                      </a:r>
                      <a:r>
                        <a:rPr lang="ko-KR" altLang="en-US" sz="600" u="none" strike="noStrike" dirty="0">
                          <a:effectLst/>
                        </a:rPr>
                        <a:t>에 바인딩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965755"/>
                  </a:ext>
                </a:extLst>
              </a:tr>
              <a:tr h="2698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이더넷 연결</a:t>
                      </a:r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 dirty="0">
                          <a:effectLst/>
                        </a:rPr>
                        <a:t>GNS3 Cloud Node</a:t>
                      </a:r>
                      <a:r>
                        <a:rPr lang="ko-KR" altLang="en-US" sz="600" u="none" strike="noStrike" dirty="0">
                          <a:effectLst/>
                        </a:rPr>
                        <a:t>를 </a:t>
                      </a:r>
                      <a:r>
                        <a:rPr lang="en-US" altLang="ko-KR" sz="600" u="none" strike="noStrike" dirty="0">
                          <a:effectLst/>
                        </a:rPr>
                        <a:t>Host PC</a:t>
                      </a:r>
                      <a:r>
                        <a:rPr lang="ko-KR" altLang="en-US" sz="600" u="none" strike="noStrike" dirty="0">
                          <a:effectLst/>
                        </a:rPr>
                        <a:t>의 물리적 </a:t>
                      </a:r>
                      <a:r>
                        <a:rPr lang="en-US" altLang="ko-KR" sz="600" u="none" strike="noStrike" dirty="0">
                          <a:effectLst/>
                        </a:rPr>
                        <a:t>Ethernet Interface</a:t>
                      </a:r>
                      <a:r>
                        <a:rPr lang="ko-KR" altLang="en-US" sz="600" u="none" strike="noStrike" dirty="0">
                          <a:effectLst/>
                        </a:rPr>
                        <a:t>에 연결하여 외부 네트워크와 통신 가능하도록 설정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 dirty="0">
                          <a:effectLst/>
                        </a:rPr>
                        <a:t>Cloud </a:t>
                      </a:r>
                      <a:r>
                        <a:rPr lang="ko-KR" altLang="en-US" sz="600" u="none" strike="noStrike" dirty="0">
                          <a:effectLst/>
                        </a:rPr>
                        <a:t>노드 설정에서 </a:t>
                      </a:r>
                      <a:r>
                        <a:rPr lang="en-US" altLang="ko-KR" sz="600" u="none" strike="noStrike" dirty="0">
                          <a:effectLst/>
                        </a:rPr>
                        <a:t>Host PC</a:t>
                      </a:r>
                      <a:r>
                        <a:rPr lang="ko-KR" altLang="en-US" sz="600" u="none" strike="noStrike" dirty="0">
                          <a:effectLst/>
                        </a:rPr>
                        <a:t>의 </a:t>
                      </a:r>
                      <a:r>
                        <a:rPr lang="en-US" altLang="ko-KR" sz="600" u="none" strike="noStrike" dirty="0">
                          <a:effectLst/>
                        </a:rPr>
                        <a:t>NIC</a:t>
                      </a:r>
                      <a:r>
                        <a:rPr lang="ko-KR" altLang="en-US" sz="600" u="none" strike="noStrike" dirty="0">
                          <a:effectLst/>
                        </a:rPr>
                        <a:t>를 지정하고</a:t>
                      </a:r>
                      <a:r>
                        <a:rPr lang="en-US" altLang="ko-KR" sz="600" u="none" strike="noStrike" dirty="0">
                          <a:effectLst/>
                        </a:rPr>
                        <a:t>, VMware </a:t>
                      </a:r>
                      <a:r>
                        <a:rPr lang="en-US" altLang="ko-KR" sz="600" u="none" strike="noStrike" dirty="0" err="1">
                          <a:effectLst/>
                        </a:rPr>
                        <a:t>VMNet</a:t>
                      </a:r>
                      <a:r>
                        <a:rPr lang="ko-KR" altLang="en-US" sz="600" u="none" strike="noStrike" dirty="0">
                          <a:effectLst/>
                        </a:rPr>
                        <a:t>과 충돌하지 않도록 관리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64031"/>
                  </a:ext>
                </a:extLst>
              </a:tr>
              <a:tr h="269852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SWITCH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HG꼬딕씨 80g" panose="02020603020101020101" pitchFamily="18" charset="-127"/>
                        <a:ea typeface="HG꼬딕씨 8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9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 dirty="0">
                          <a:effectLst/>
                        </a:rPr>
                        <a:t>DHCP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 dirty="0">
                          <a:effectLst/>
                        </a:rPr>
                        <a:t>Switch</a:t>
                      </a:r>
                      <a:r>
                        <a:rPr lang="ko-KR" altLang="en-US" sz="600" u="none" strike="noStrike" dirty="0">
                          <a:effectLst/>
                        </a:rPr>
                        <a:t>에서 </a:t>
                      </a:r>
                      <a:r>
                        <a:rPr lang="en-US" altLang="ko-KR" sz="600" u="none" strike="noStrike" dirty="0">
                          <a:effectLst/>
                        </a:rPr>
                        <a:t>DHCP Server </a:t>
                      </a:r>
                      <a:r>
                        <a:rPr lang="ko-KR" altLang="en-US" sz="600" u="none" strike="noStrike" dirty="0">
                          <a:effectLst/>
                        </a:rPr>
                        <a:t>기능을 활성화하여 클라이언트에 </a:t>
                      </a:r>
                      <a:r>
                        <a:rPr lang="en-US" altLang="ko-KR" sz="600" u="none" strike="noStrike" dirty="0">
                          <a:effectLst/>
                        </a:rPr>
                        <a:t>IP </a:t>
                      </a:r>
                      <a:r>
                        <a:rPr lang="ko-KR" altLang="en-US" sz="600" u="none" strike="noStrike" dirty="0">
                          <a:effectLst/>
                        </a:rPr>
                        <a:t>자동 할당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 dirty="0">
                          <a:effectLst/>
                        </a:rPr>
                        <a:t>SVI(Switch Virtual Interface)</a:t>
                      </a:r>
                      <a:r>
                        <a:rPr lang="ko-KR" altLang="en-US" sz="600" u="none" strike="noStrike" dirty="0">
                          <a:effectLst/>
                        </a:rPr>
                        <a:t>를 생성하고 </a:t>
                      </a:r>
                      <a:r>
                        <a:rPr lang="en-US" altLang="ko-KR" sz="600" u="none" strike="noStrike" dirty="0">
                          <a:effectLst/>
                        </a:rPr>
                        <a:t>DHCP Pool</a:t>
                      </a:r>
                      <a:r>
                        <a:rPr lang="ko-KR" altLang="en-US" sz="600" u="none" strike="noStrike" dirty="0">
                          <a:effectLst/>
                        </a:rPr>
                        <a:t>을 정의하거나</a:t>
                      </a:r>
                      <a:r>
                        <a:rPr lang="en-US" altLang="ko-KR" sz="600" u="none" strike="noStrike" dirty="0">
                          <a:effectLst/>
                        </a:rPr>
                        <a:t>, </a:t>
                      </a:r>
                      <a:r>
                        <a:rPr lang="ko-KR" altLang="en-US" sz="600" u="none" strike="noStrike" dirty="0">
                          <a:effectLst/>
                        </a:rPr>
                        <a:t>외부 </a:t>
                      </a:r>
                      <a:r>
                        <a:rPr lang="en-US" altLang="ko-KR" sz="600" u="none" strike="noStrike" dirty="0">
                          <a:effectLst/>
                        </a:rPr>
                        <a:t>DHCP </a:t>
                      </a:r>
                      <a:r>
                        <a:rPr lang="ko-KR" altLang="en-US" sz="600" u="none" strike="noStrike" dirty="0">
                          <a:effectLst/>
                        </a:rPr>
                        <a:t>서버로 </a:t>
                      </a:r>
                      <a:r>
                        <a:rPr lang="en-US" altLang="ko-KR" sz="600" u="none" strike="noStrike" dirty="0">
                          <a:effectLst/>
                        </a:rPr>
                        <a:t>Request</a:t>
                      </a:r>
                      <a:r>
                        <a:rPr lang="ko-KR" altLang="en-US" sz="600" u="none" strike="noStrike" dirty="0">
                          <a:effectLst/>
                        </a:rPr>
                        <a:t>를 전달하는 </a:t>
                      </a:r>
                      <a:r>
                        <a:rPr lang="en-US" altLang="ko-KR" sz="600" u="none" strike="noStrike" dirty="0">
                          <a:effectLst/>
                        </a:rPr>
                        <a:t>Relay </a:t>
                      </a:r>
                      <a:r>
                        <a:rPr lang="ko-KR" altLang="en-US" sz="600" u="none" strike="noStrike" dirty="0">
                          <a:effectLst/>
                        </a:rPr>
                        <a:t>에이전트 기능 설정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372601"/>
                  </a:ext>
                </a:extLst>
              </a:tr>
              <a:tr h="2698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Vlan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u="none" strike="noStrike" dirty="0">
                          <a:effectLst/>
                        </a:rPr>
                        <a:t>하나의 스위치를 여러 개의 논리적 </a:t>
                      </a:r>
                      <a:r>
                        <a:rPr lang="en-US" altLang="ko-KR" sz="600" u="none" strike="noStrike" dirty="0">
                          <a:effectLst/>
                        </a:rPr>
                        <a:t>Broadcast Domain</a:t>
                      </a:r>
                      <a:r>
                        <a:rPr lang="ko-KR" altLang="en-US" sz="600" u="none" strike="noStrike" dirty="0">
                          <a:effectLst/>
                        </a:rPr>
                        <a:t>으로 분할하여 네트워크의 유연성</a:t>
                      </a:r>
                      <a:r>
                        <a:rPr lang="en-US" altLang="ko-KR" sz="600" u="none" strike="noStrike" dirty="0">
                          <a:effectLst/>
                        </a:rPr>
                        <a:t>, </a:t>
                      </a:r>
                      <a:r>
                        <a:rPr lang="ko-KR" altLang="en-US" sz="600" u="none" strike="noStrike" dirty="0">
                          <a:effectLst/>
                        </a:rPr>
                        <a:t>보안</a:t>
                      </a:r>
                      <a:r>
                        <a:rPr lang="en-US" altLang="ko-KR" sz="600" u="none" strike="noStrike" dirty="0">
                          <a:effectLst/>
                        </a:rPr>
                        <a:t>, </a:t>
                      </a:r>
                      <a:r>
                        <a:rPr lang="ko-KR" altLang="en-US" sz="600" u="none" strike="noStrike" dirty="0">
                          <a:effectLst/>
                        </a:rPr>
                        <a:t>성능을 향상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171677"/>
                  </a:ext>
                </a:extLst>
              </a:tr>
              <a:tr h="2698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 dirty="0" err="1">
                          <a:effectLst/>
                        </a:rPr>
                        <a:t>InterVlan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u="none" strike="noStrike" dirty="0">
                          <a:effectLst/>
                        </a:rPr>
                        <a:t>서로 다른 </a:t>
                      </a:r>
                      <a:r>
                        <a:rPr lang="en-US" altLang="ko-KR" sz="600" u="none" strike="noStrike" dirty="0">
                          <a:effectLst/>
                        </a:rPr>
                        <a:t>VLAN</a:t>
                      </a:r>
                      <a:r>
                        <a:rPr lang="ko-KR" altLang="en-US" sz="600" u="none" strike="noStrike" dirty="0">
                          <a:effectLst/>
                        </a:rPr>
                        <a:t>에 속한 </a:t>
                      </a:r>
                      <a:r>
                        <a:rPr lang="en-US" altLang="ko-KR" sz="600" u="none" strike="noStrike" dirty="0">
                          <a:effectLst/>
                        </a:rPr>
                        <a:t>Host</a:t>
                      </a:r>
                      <a:r>
                        <a:rPr lang="ko-KR" altLang="en-US" sz="600" u="none" strike="noStrike" dirty="0">
                          <a:effectLst/>
                        </a:rPr>
                        <a:t>들이 통신할 수 있도록 라우팅 기능을 제공하여 네트워크 확장성 확보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 dirty="0">
                          <a:effectLst/>
                        </a:rPr>
                        <a:t>Router on a Stick(Single Router Interface with </a:t>
                      </a:r>
                      <a:r>
                        <a:rPr lang="en-US" sz="600" u="none" strike="noStrike" dirty="0" err="1">
                          <a:effectLst/>
                        </a:rPr>
                        <a:t>Subinterfaces</a:t>
                      </a:r>
                      <a:r>
                        <a:rPr lang="en-US" sz="600" u="none" strike="noStrike" dirty="0">
                          <a:effectLst/>
                        </a:rPr>
                        <a:t>) </a:t>
                      </a:r>
                      <a:r>
                        <a:rPr lang="ko-KR" altLang="en-US" sz="600" u="none" strike="noStrike" dirty="0">
                          <a:effectLst/>
                        </a:rPr>
                        <a:t>또는 </a:t>
                      </a:r>
                      <a:r>
                        <a:rPr lang="en-US" sz="600" u="none" strike="noStrike" dirty="0">
                          <a:effectLst/>
                        </a:rPr>
                        <a:t>L3 Switch</a:t>
                      </a:r>
                      <a:r>
                        <a:rPr lang="ko-KR" altLang="en-US" sz="600" u="none" strike="noStrike" dirty="0">
                          <a:effectLst/>
                        </a:rPr>
                        <a:t>의 </a:t>
                      </a:r>
                      <a:r>
                        <a:rPr lang="en-US" sz="600" u="none" strike="noStrike" dirty="0">
                          <a:effectLst/>
                        </a:rPr>
                        <a:t>SVI</a:t>
                      </a:r>
                      <a:r>
                        <a:rPr lang="ko-KR" altLang="en-US" sz="600" u="none" strike="noStrike" dirty="0">
                          <a:effectLst/>
                        </a:rPr>
                        <a:t>를 통해 </a:t>
                      </a:r>
                      <a:r>
                        <a:rPr lang="en-US" sz="600" u="none" strike="noStrike" dirty="0">
                          <a:effectLst/>
                        </a:rPr>
                        <a:t>VLAN </a:t>
                      </a:r>
                      <a:r>
                        <a:rPr lang="ko-KR" altLang="en-US" sz="600" u="none" strike="noStrike" dirty="0">
                          <a:effectLst/>
                        </a:rPr>
                        <a:t>간 라우팅 활성화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61073"/>
                  </a:ext>
                </a:extLst>
              </a:tr>
              <a:tr h="2698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 dirty="0">
                          <a:effectLst/>
                        </a:rPr>
                        <a:t>VTP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u="none" strike="noStrike" dirty="0">
                          <a:effectLst/>
                        </a:rPr>
                        <a:t>네트워크 내의 스위치 간에 </a:t>
                      </a:r>
                      <a:r>
                        <a:rPr lang="en-US" altLang="ko-KR" sz="600" u="none" strike="noStrike" dirty="0">
                          <a:effectLst/>
                        </a:rPr>
                        <a:t>VLAN </a:t>
                      </a:r>
                      <a:r>
                        <a:rPr lang="ko-KR" altLang="en-US" sz="600" u="none" strike="noStrike" dirty="0">
                          <a:effectLst/>
                        </a:rPr>
                        <a:t>정보를 자동 동기화하여 대규모 네트워크에서 </a:t>
                      </a:r>
                      <a:r>
                        <a:rPr lang="en-US" altLang="ko-KR" sz="600" u="none" strike="noStrike" dirty="0">
                          <a:effectLst/>
                        </a:rPr>
                        <a:t>VLAN </a:t>
                      </a:r>
                      <a:r>
                        <a:rPr lang="ko-KR" altLang="en-US" sz="600" u="none" strike="noStrike" dirty="0">
                          <a:effectLst/>
                        </a:rPr>
                        <a:t>설정 및 관리를 단순화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 dirty="0">
                          <a:effectLst/>
                        </a:rPr>
                        <a:t>VTP Domain Name</a:t>
                      </a:r>
                      <a:r>
                        <a:rPr lang="ko-KR" altLang="en-US" sz="600" u="none" strike="noStrike" dirty="0">
                          <a:effectLst/>
                        </a:rPr>
                        <a:t>을 설정하고</a:t>
                      </a:r>
                      <a:r>
                        <a:rPr lang="en-US" altLang="ko-KR" sz="600" u="none" strike="noStrike" dirty="0">
                          <a:effectLst/>
                        </a:rPr>
                        <a:t>, </a:t>
                      </a:r>
                      <a:r>
                        <a:rPr lang="ko-KR" altLang="en-US" sz="600" u="none" strike="noStrike" dirty="0">
                          <a:effectLst/>
                        </a:rPr>
                        <a:t>스위치 모드를 </a:t>
                      </a:r>
                      <a:r>
                        <a:rPr lang="en-US" sz="600" u="none" strike="noStrike" dirty="0">
                          <a:effectLst/>
                        </a:rPr>
                        <a:t>Server, Client, Transparent </a:t>
                      </a:r>
                      <a:r>
                        <a:rPr lang="ko-KR" altLang="en-US" sz="600" u="none" strike="noStrike" dirty="0">
                          <a:effectLst/>
                        </a:rPr>
                        <a:t>중 하나로 지정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154239"/>
                  </a:ext>
                </a:extLst>
              </a:tr>
              <a:tr h="2698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 dirty="0">
                          <a:effectLst/>
                        </a:rPr>
                        <a:t>Trunk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u="none" strike="noStrike" dirty="0">
                          <a:effectLst/>
                        </a:rPr>
                        <a:t>여러 </a:t>
                      </a:r>
                      <a:r>
                        <a:rPr lang="en-US" altLang="ko-KR" sz="600" u="none" strike="noStrike" dirty="0">
                          <a:effectLst/>
                        </a:rPr>
                        <a:t>VLAN</a:t>
                      </a:r>
                      <a:r>
                        <a:rPr lang="ko-KR" altLang="en-US" sz="600" u="none" strike="noStrike" dirty="0">
                          <a:effectLst/>
                        </a:rPr>
                        <a:t>에 속하는 트래픽을 하나의 물리적인 링크를 통해 전송할 수 있도록 </a:t>
                      </a:r>
                      <a:r>
                        <a:rPr lang="en-US" altLang="ko-KR" sz="600" u="none" strike="noStrike" dirty="0">
                          <a:effectLst/>
                        </a:rPr>
                        <a:t>Switch Trunk </a:t>
                      </a:r>
                      <a:r>
                        <a:rPr lang="ko-KR" altLang="en-US" sz="600" u="none" strike="noStrike" dirty="0">
                          <a:effectLst/>
                        </a:rPr>
                        <a:t>포트 구성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 dirty="0">
                          <a:effectLst/>
                        </a:rPr>
                        <a:t>Switch </a:t>
                      </a:r>
                      <a:r>
                        <a:rPr lang="ko-KR" altLang="en-US" sz="600" u="none" strike="noStrike" dirty="0">
                          <a:effectLst/>
                        </a:rPr>
                        <a:t>포트를 </a:t>
                      </a:r>
                      <a:r>
                        <a:rPr lang="en-US" altLang="ko-KR" sz="600" u="none" strike="noStrike" dirty="0">
                          <a:effectLst/>
                        </a:rPr>
                        <a:t>switchport mode trunk</a:t>
                      </a:r>
                      <a:r>
                        <a:rPr lang="ko-KR" altLang="en-US" sz="600" u="none" strike="noStrike" dirty="0">
                          <a:effectLst/>
                        </a:rPr>
                        <a:t>로 설정하고 </a:t>
                      </a:r>
                      <a:r>
                        <a:rPr lang="en-US" altLang="ko-KR" sz="600" u="none" strike="noStrike" dirty="0">
                          <a:effectLst/>
                        </a:rPr>
                        <a:t>IEEE 802.1q Encapsulation</a:t>
                      </a:r>
                      <a:r>
                        <a:rPr lang="ko-KR" altLang="en-US" sz="600" u="none" strike="noStrike" dirty="0">
                          <a:effectLst/>
                        </a:rPr>
                        <a:t>을 사용하여 </a:t>
                      </a:r>
                      <a:r>
                        <a:rPr lang="en-US" altLang="ko-KR" sz="600" u="none" strike="noStrike" dirty="0">
                          <a:effectLst/>
                        </a:rPr>
                        <a:t>VLAN Tag</a:t>
                      </a:r>
                      <a:r>
                        <a:rPr lang="ko-KR" altLang="en-US" sz="600" u="none" strike="noStrike" dirty="0">
                          <a:effectLst/>
                        </a:rPr>
                        <a:t>를 트래픽에 추가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65045"/>
                  </a:ext>
                </a:extLst>
              </a:tr>
              <a:tr h="2698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STP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u="none" strike="noStrike" dirty="0">
                          <a:effectLst/>
                        </a:rPr>
                        <a:t>스위치 네트워크에 </a:t>
                      </a:r>
                      <a:r>
                        <a:rPr lang="en-US" altLang="ko-KR" sz="600" u="none" strike="noStrike" dirty="0">
                          <a:effectLst/>
                        </a:rPr>
                        <a:t>Loop</a:t>
                      </a:r>
                      <a:r>
                        <a:rPr lang="ko-KR" altLang="en-US" sz="600" u="none" strike="noStrike" dirty="0">
                          <a:effectLst/>
                        </a:rPr>
                        <a:t>가 발생하는 것을 방지하고</a:t>
                      </a:r>
                      <a:r>
                        <a:rPr lang="en-US" altLang="ko-KR" sz="600" u="none" strike="noStrike" dirty="0">
                          <a:effectLst/>
                        </a:rPr>
                        <a:t>, </a:t>
                      </a:r>
                      <a:r>
                        <a:rPr lang="ko-KR" altLang="en-US" sz="600" u="none" strike="noStrike" dirty="0">
                          <a:effectLst/>
                        </a:rPr>
                        <a:t>통신 경로의 이중화를 제공하여 안정적인 네트워크 환경 유지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 dirty="0">
                          <a:effectLst/>
                        </a:rPr>
                        <a:t>Spanning Tree Protocol</a:t>
                      </a:r>
                      <a:r>
                        <a:rPr lang="ko-KR" altLang="en-US" sz="600" u="none" strike="noStrike" dirty="0">
                          <a:effectLst/>
                        </a:rPr>
                        <a:t>을 활성화하고 </a:t>
                      </a:r>
                      <a:r>
                        <a:rPr lang="en-US" sz="600" u="none" strike="noStrike" dirty="0">
                          <a:effectLst/>
                        </a:rPr>
                        <a:t>Root Bridge</a:t>
                      </a:r>
                      <a:r>
                        <a:rPr lang="ko-KR" altLang="en-US" sz="600" u="none" strike="noStrike" dirty="0">
                          <a:effectLst/>
                        </a:rPr>
                        <a:t>를 선정하여 </a:t>
                      </a:r>
                      <a:r>
                        <a:rPr lang="en-US" sz="600" u="none" strike="noStrike" dirty="0">
                          <a:effectLst/>
                        </a:rPr>
                        <a:t>Backup Link</a:t>
                      </a:r>
                      <a:r>
                        <a:rPr lang="ko-KR" altLang="en-US" sz="600" u="none" strike="noStrike" dirty="0">
                          <a:effectLst/>
                        </a:rPr>
                        <a:t>를 </a:t>
                      </a:r>
                      <a:r>
                        <a:rPr lang="en-US" sz="600" u="none" strike="noStrike" dirty="0">
                          <a:effectLst/>
                        </a:rPr>
                        <a:t>Blocking State</a:t>
                      </a:r>
                      <a:r>
                        <a:rPr lang="ko-KR" altLang="en-US" sz="600" u="none" strike="noStrike" dirty="0">
                          <a:effectLst/>
                        </a:rPr>
                        <a:t>로 전환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302028"/>
                  </a:ext>
                </a:extLst>
              </a:tr>
              <a:tr h="287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Frame Relay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HG꼬딕씨 80g" panose="02020603020101020101" pitchFamily="18" charset="-127"/>
                        <a:ea typeface="HG꼬딕씨 8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9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u="none" strike="noStrike" dirty="0">
                          <a:effectLst/>
                        </a:rPr>
                        <a:t>기초 설정</a:t>
                      </a:r>
                      <a:endParaRPr lang="ko-KR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다수의 원격 네트워크를 하나의 공유된 통신망 </a:t>
                      </a:r>
                      <a:r>
                        <a:rPr lang="en-US" altLang="ko-KR" sz="600" u="none" strike="noStrike">
                          <a:effectLst/>
                        </a:rPr>
                        <a:t>WAN</a:t>
                      </a:r>
                      <a:r>
                        <a:rPr lang="ko-KR" altLang="en-US" sz="600" u="none" strike="noStrike">
                          <a:effectLst/>
                        </a:rPr>
                        <a:t>으로 연결하여 전용선 대비 비용 효율적인 통신 환경 구축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 dirty="0">
                          <a:effectLst/>
                        </a:rPr>
                        <a:t>Router</a:t>
                      </a:r>
                      <a:r>
                        <a:rPr lang="ko-KR" altLang="en-US" sz="600" u="none" strike="noStrike" dirty="0">
                          <a:effectLst/>
                        </a:rPr>
                        <a:t>의 </a:t>
                      </a:r>
                      <a:r>
                        <a:rPr lang="en-US" sz="600" u="none" strike="noStrike" dirty="0">
                          <a:effectLst/>
                        </a:rPr>
                        <a:t>Serial Interface</a:t>
                      </a:r>
                      <a:r>
                        <a:rPr lang="ko-KR" altLang="en-US" sz="600" u="none" strike="noStrike" dirty="0">
                          <a:effectLst/>
                        </a:rPr>
                        <a:t>에 </a:t>
                      </a:r>
                      <a:r>
                        <a:rPr lang="en-US" sz="600" u="none" strike="noStrike" dirty="0">
                          <a:effectLst/>
                        </a:rPr>
                        <a:t>Encapsulation Frame Relay</a:t>
                      </a:r>
                      <a:r>
                        <a:rPr lang="ko-KR" altLang="en-US" sz="600" u="none" strike="noStrike" dirty="0">
                          <a:effectLst/>
                        </a:rPr>
                        <a:t>를 지정하고</a:t>
                      </a:r>
                      <a:r>
                        <a:rPr lang="en-US" altLang="ko-KR" sz="600" u="none" strike="noStrike" dirty="0">
                          <a:effectLst/>
                        </a:rPr>
                        <a:t>, </a:t>
                      </a:r>
                      <a:r>
                        <a:rPr lang="en-US" sz="600" u="none" strike="noStrike" dirty="0">
                          <a:effectLst/>
                        </a:rPr>
                        <a:t>DLCI(Data Link Connection Identifier) </a:t>
                      </a:r>
                      <a:r>
                        <a:rPr lang="ko-KR" altLang="en-US" sz="600" u="none" strike="noStrike" dirty="0">
                          <a:effectLst/>
                        </a:rPr>
                        <a:t>번호를 할당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119517"/>
                  </a:ext>
                </a:extLst>
              </a:tr>
              <a:tr h="481290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ROUTER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HG꼬딕씨 80g" panose="02020603020101020101" pitchFamily="18" charset="-127"/>
                        <a:ea typeface="HG꼬딕씨 8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9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 dirty="0">
                          <a:effectLst/>
                        </a:rPr>
                        <a:t>DHCP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소규모 네트워크에서 라우터가 직접 </a:t>
                      </a:r>
                      <a:r>
                        <a:rPr lang="en-US" altLang="ko-KR" sz="600" u="none" strike="noStrike">
                          <a:effectLst/>
                        </a:rPr>
                        <a:t>IP </a:t>
                      </a:r>
                      <a:r>
                        <a:rPr lang="ko-KR" altLang="en-US" sz="600" u="none" strike="noStrike">
                          <a:effectLst/>
                        </a:rPr>
                        <a:t>주소</a:t>
                      </a:r>
                      <a:r>
                        <a:rPr lang="en-US" altLang="ko-KR" sz="600" u="none" strike="noStrike">
                          <a:effectLst/>
                        </a:rPr>
                        <a:t>, Gateway </a:t>
                      </a:r>
                      <a:r>
                        <a:rPr lang="ko-KR" altLang="en-US" sz="600" u="none" strike="noStrike">
                          <a:effectLst/>
                        </a:rPr>
                        <a:t>등을 할당하여 별도 서버 없이 클라이언트 </a:t>
                      </a:r>
                      <a:r>
                        <a:rPr lang="en-US" altLang="ko-KR" sz="600" u="none" strike="noStrike">
                          <a:effectLst/>
                        </a:rPr>
                        <a:t>PC </a:t>
                      </a:r>
                      <a:r>
                        <a:rPr lang="ko-KR" altLang="en-US" sz="600" u="none" strike="noStrike">
                          <a:effectLst/>
                        </a:rPr>
                        <a:t>자동 설정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 dirty="0">
                          <a:effectLst/>
                        </a:rPr>
                        <a:t>SVI(Switch Virtual Interface)</a:t>
                      </a:r>
                      <a:r>
                        <a:rPr lang="ko-KR" altLang="en-US" sz="600" u="none" strike="noStrike" dirty="0">
                          <a:effectLst/>
                        </a:rPr>
                        <a:t>를 생성하고 </a:t>
                      </a:r>
                      <a:r>
                        <a:rPr lang="en-US" altLang="ko-KR" sz="600" u="none" strike="noStrike" dirty="0">
                          <a:effectLst/>
                        </a:rPr>
                        <a:t>DHCP Pool</a:t>
                      </a:r>
                      <a:r>
                        <a:rPr lang="ko-KR" altLang="en-US" sz="600" u="none" strike="noStrike" dirty="0">
                          <a:effectLst/>
                        </a:rPr>
                        <a:t>을 정의하거나</a:t>
                      </a:r>
                      <a:r>
                        <a:rPr lang="en-US" altLang="ko-KR" sz="600" u="none" strike="noStrike" dirty="0">
                          <a:effectLst/>
                        </a:rPr>
                        <a:t>, </a:t>
                      </a:r>
                      <a:r>
                        <a:rPr lang="ko-KR" altLang="en-US" sz="600" u="none" strike="noStrike" dirty="0">
                          <a:effectLst/>
                        </a:rPr>
                        <a:t>외부 </a:t>
                      </a:r>
                      <a:r>
                        <a:rPr lang="en-US" altLang="ko-KR" sz="600" u="none" strike="noStrike" dirty="0">
                          <a:effectLst/>
                        </a:rPr>
                        <a:t>DHCP </a:t>
                      </a:r>
                      <a:r>
                        <a:rPr lang="ko-KR" altLang="en-US" sz="600" u="none" strike="noStrike" dirty="0">
                          <a:effectLst/>
                        </a:rPr>
                        <a:t>서버로 </a:t>
                      </a:r>
                      <a:r>
                        <a:rPr lang="en-US" altLang="ko-KR" sz="600" u="none" strike="noStrike" dirty="0">
                          <a:effectLst/>
                        </a:rPr>
                        <a:t>Request</a:t>
                      </a:r>
                      <a:r>
                        <a:rPr lang="ko-KR" altLang="en-US" sz="600" u="none" strike="noStrike" dirty="0">
                          <a:effectLst/>
                        </a:rPr>
                        <a:t>를 전달하는 </a:t>
                      </a:r>
                      <a:r>
                        <a:rPr lang="en-US" altLang="ko-KR" sz="600" u="none" strike="noStrike" dirty="0">
                          <a:effectLst/>
                        </a:rPr>
                        <a:t>Relay </a:t>
                      </a:r>
                      <a:r>
                        <a:rPr lang="ko-KR" altLang="en-US" sz="600" u="none" strike="noStrike" dirty="0">
                          <a:effectLst/>
                        </a:rPr>
                        <a:t>에이전트 기능 설정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235355"/>
                  </a:ext>
                </a:extLst>
              </a:tr>
              <a:tr h="2698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 dirty="0">
                          <a:effectLst/>
                        </a:rPr>
                        <a:t>STATIC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u="none" strike="noStrike" dirty="0">
                          <a:effectLst/>
                        </a:rPr>
                        <a:t>관리자가 수동으로 경로를 지정하여 단순하거나 통제된 네트워크 구조에서 트래픽의 흐름을 명확하게 제어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u="none" strike="noStrike" dirty="0">
                          <a:effectLst/>
                        </a:rPr>
                        <a:t>목적지 네트워크 </a:t>
                      </a:r>
                      <a:r>
                        <a:rPr lang="en-US" altLang="ko-KR" sz="600" u="none" strike="noStrike" dirty="0">
                          <a:effectLst/>
                        </a:rPr>
                        <a:t>IP, </a:t>
                      </a:r>
                      <a:r>
                        <a:rPr lang="ko-KR" altLang="en-US" sz="600" u="none" strike="noStrike" dirty="0" err="1">
                          <a:effectLst/>
                        </a:rPr>
                        <a:t>서브넷</a:t>
                      </a:r>
                      <a:r>
                        <a:rPr lang="ko-KR" altLang="en-US" sz="600" u="none" strike="noStrike" dirty="0">
                          <a:effectLst/>
                        </a:rPr>
                        <a:t> 마스크</a:t>
                      </a:r>
                      <a:r>
                        <a:rPr lang="en-US" altLang="ko-KR" sz="600" u="none" strike="noStrike" dirty="0">
                          <a:effectLst/>
                        </a:rPr>
                        <a:t>, </a:t>
                      </a:r>
                      <a:r>
                        <a:rPr lang="ko-KR" altLang="en-US" sz="600" u="none" strike="noStrike" dirty="0">
                          <a:effectLst/>
                        </a:rPr>
                        <a:t>다음 라우터의 </a:t>
                      </a:r>
                      <a:r>
                        <a:rPr lang="en-US" altLang="ko-KR" sz="600" u="none" strike="noStrike" dirty="0">
                          <a:effectLst/>
                        </a:rPr>
                        <a:t>IP </a:t>
                      </a:r>
                      <a:r>
                        <a:rPr lang="ko-KR" altLang="en-US" sz="600" u="none" strike="noStrike" dirty="0">
                          <a:effectLst/>
                        </a:rPr>
                        <a:t>주소</a:t>
                      </a:r>
                      <a:r>
                        <a:rPr lang="en-US" altLang="ko-KR" sz="600" u="none" strike="noStrike" dirty="0">
                          <a:effectLst/>
                        </a:rPr>
                        <a:t>(Next Hop)</a:t>
                      </a:r>
                      <a:r>
                        <a:rPr lang="ko-KR" altLang="en-US" sz="600" u="none" strike="noStrike" dirty="0">
                          <a:effectLst/>
                        </a:rPr>
                        <a:t>를 명시적으로 설정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005092"/>
                  </a:ext>
                </a:extLst>
              </a:tr>
              <a:tr h="2698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 dirty="0">
                          <a:effectLst/>
                        </a:rPr>
                        <a:t>NAT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 dirty="0">
                          <a:effectLst/>
                        </a:rPr>
                        <a:t>summary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사설 </a:t>
                      </a:r>
                      <a:r>
                        <a:rPr lang="en-US" altLang="ko-KR" sz="600" u="none" strike="noStrike">
                          <a:effectLst/>
                        </a:rPr>
                        <a:t>IP </a:t>
                      </a:r>
                      <a:r>
                        <a:rPr lang="ko-KR" altLang="en-US" sz="600" u="none" strike="noStrike">
                          <a:effectLst/>
                        </a:rPr>
                        <a:t>네트워크</a:t>
                      </a:r>
                      <a:r>
                        <a:rPr lang="en-US" altLang="ko-KR" sz="600" u="none" strike="noStrike">
                          <a:effectLst/>
                        </a:rPr>
                        <a:t>(VM </a:t>
                      </a:r>
                      <a:r>
                        <a:rPr lang="ko-KR" altLang="en-US" sz="600" u="none" strike="noStrike">
                          <a:effectLst/>
                        </a:rPr>
                        <a:t>또는 </a:t>
                      </a:r>
                      <a:r>
                        <a:rPr lang="en-US" altLang="ko-KR" sz="600" u="none" strike="noStrike">
                          <a:effectLst/>
                        </a:rPr>
                        <a:t>VPC)</a:t>
                      </a:r>
                      <a:r>
                        <a:rPr lang="ko-KR" altLang="en-US" sz="600" u="none" strike="noStrike">
                          <a:effectLst/>
                        </a:rPr>
                        <a:t>가 </a:t>
                      </a:r>
                      <a:r>
                        <a:rPr lang="en-US" altLang="ko-KR" sz="600" u="none" strike="noStrike">
                          <a:effectLst/>
                        </a:rPr>
                        <a:t>Cloud </a:t>
                      </a:r>
                      <a:r>
                        <a:rPr lang="ko-KR" altLang="en-US" sz="600" u="none" strike="noStrike">
                          <a:effectLst/>
                        </a:rPr>
                        <a:t>노드를 통해 외부 공인 </a:t>
                      </a:r>
                      <a:r>
                        <a:rPr lang="en-US" altLang="ko-KR" sz="600" u="none" strike="noStrike">
                          <a:effectLst/>
                        </a:rPr>
                        <a:t>IP </a:t>
                      </a:r>
                      <a:r>
                        <a:rPr lang="ko-KR" altLang="en-US" sz="600" u="none" strike="noStrike">
                          <a:effectLst/>
                        </a:rPr>
                        <a:t>네트워크로 접근하도록 주소 변환 기능 구현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 dirty="0">
                          <a:effectLst/>
                        </a:rPr>
                        <a:t>Internal/External Interface </a:t>
                      </a:r>
                      <a:r>
                        <a:rPr lang="ko-KR" altLang="en-US" sz="600" u="none" strike="noStrike" dirty="0">
                          <a:effectLst/>
                        </a:rPr>
                        <a:t>지정</a:t>
                      </a:r>
                      <a:r>
                        <a:rPr lang="en-US" altLang="ko-KR" sz="600" u="none" strike="noStrike" dirty="0">
                          <a:effectLst/>
                        </a:rPr>
                        <a:t>, </a:t>
                      </a:r>
                      <a:r>
                        <a:rPr lang="en-US" sz="600" u="none" strike="noStrike" dirty="0">
                          <a:effectLst/>
                        </a:rPr>
                        <a:t>ACL </a:t>
                      </a:r>
                      <a:r>
                        <a:rPr lang="ko-KR" altLang="en-US" sz="600" u="none" strike="noStrike" dirty="0">
                          <a:effectLst/>
                        </a:rPr>
                        <a:t>및 </a:t>
                      </a:r>
                      <a:r>
                        <a:rPr lang="en-US" sz="600" u="none" strike="noStrike" dirty="0">
                          <a:effectLst/>
                        </a:rPr>
                        <a:t>Pool</a:t>
                      </a:r>
                      <a:r>
                        <a:rPr lang="ko-KR" altLang="en-US" sz="600" u="none" strike="noStrike" dirty="0">
                          <a:effectLst/>
                        </a:rPr>
                        <a:t>을 정의하여 변환 규칙 설정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965092"/>
                  </a:ext>
                </a:extLst>
              </a:tr>
              <a:tr h="2698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PPP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PPP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u="none" strike="noStrike">
                          <a:effectLst/>
                        </a:rPr>
                        <a:t>다양한 벤더 장비 간의 </a:t>
                      </a:r>
                      <a:r>
                        <a:rPr lang="en-US" altLang="ko-KR" sz="600" u="none" strike="noStrike">
                          <a:effectLst/>
                        </a:rPr>
                        <a:t>Serial WAN </a:t>
                      </a:r>
                      <a:r>
                        <a:rPr lang="ko-KR" altLang="en-US" sz="600" u="none" strike="noStrike">
                          <a:effectLst/>
                        </a:rPr>
                        <a:t>연결 및 인증 기능을 제공하기 위한 개방형 캡슐화 프로토콜 설정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 dirty="0">
                          <a:effectLst/>
                        </a:rPr>
                        <a:t>Serial Interface</a:t>
                      </a:r>
                      <a:r>
                        <a:rPr lang="ko-KR" altLang="en-US" sz="600" u="none" strike="noStrike" dirty="0">
                          <a:effectLst/>
                        </a:rPr>
                        <a:t>에서 캡슐화 방식을 </a:t>
                      </a:r>
                      <a:r>
                        <a:rPr lang="en-US" altLang="ko-KR" sz="600" u="none" strike="noStrike" dirty="0">
                          <a:effectLst/>
                        </a:rPr>
                        <a:t>PPP</a:t>
                      </a:r>
                      <a:r>
                        <a:rPr lang="ko-KR" altLang="en-US" sz="600" u="none" strike="noStrike" dirty="0">
                          <a:effectLst/>
                        </a:rPr>
                        <a:t>로 변경하여 </a:t>
                      </a:r>
                      <a:r>
                        <a:rPr lang="en-US" altLang="ko-KR" sz="600" u="none" strike="noStrike" dirty="0">
                          <a:effectLst/>
                        </a:rPr>
                        <a:t>Username</a:t>
                      </a:r>
                      <a:r>
                        <a:rPr lang="ko-KR" altLang="en-US" sz="600" u="none" strike="noStrike" dirty="0">
                          <a:effectLst/>
                        </a:rPr>
                        <a:t>과 </a:t>
                      </a:r>
                      <a:r>
                        <a:rPr lang="en-US" altLang="ko-KR" sz="600" u="none" strike="noStrike" dirty="0">
                          <a:effectLst/>
                        </a:rPr>
                        <a:t>Password </a:t>
                      </a:r>
                      <a:r>
                        <a:rPr lang="ko-KR" altLang="en-US" sz="600" u="none" strike="noStrike" dirty="0">
                          <a:effectLst/>
                        </a:rPr>
                        <a:t>기반 인증 환경 마련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998135"/>
                  </a:ext>
                </a:extLst>
              </a:tr>
              <a:tr h="2698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PAP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u="none" strike="noStrike">
                          <a:effectLst/>
                        </a:rPr>
                        <a:t>PPP </a:t>
                      </a:r>
                      <a:r>
                        <a:rPr lang="ko-KR" altLang="en-US" sz="600" u="none" strike="noStrike">
                          <a:effectLst/>
                        </a:rPr>
                        <a:t>연결 시 비밀번호를 암호화하여 전송하는 보안성이 높은 인증 방식을 설정하여 중간자 공격 방지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u="none" strike="noStrike" dirty="0">
                          <a:effectLst/>
                        </a:rPr>
                        <a:t>인증할 라우터에 사용자 </a:t>
                      </a:r>
                      <a:r>
                        <a:rPr lang="en-US" altLang="ko-KR" sz="600" u="none" strike="noStrike" dirty="0">
                          <a:effectLst/>
                        </a:rPr>
                        <a:t>Name</a:t>
                      </a:r>
                      <a:r>
                        <a:rPr lang="ko-KR" altLang="en-US" sz="600" u="none" strike="noStrike" dirty="0">
                          <a:effectLst/>
                        </a:rPr>
                        <a:t>과 </a:t>
                      </a:r>
                      <a:r>
                        <a:rPr lang="en-US" altLang="ko-KR" sz="600" u="none" strike="noStrike" dirty="0">
                          <a:effectLst/>
                        </a:rPr>
                        <a:t>Password</a:t>
                      </a:r>
                      <a:r>
                        <a:rPr lang="ko-KR" altLang="en-US" sz="600" u="none" strike="noStrike" dirty="0">
                          <a:effectLst/>
                        </a:rPr>
                        <a:t>를 설정하고 </a:t>
                      </a:r>
                      <a:r>
                        <a:rPr lang="en-US" altLang="ko-KR" sz="600" u="none" strike="noStrike" dirty="0">
                          <a:effectLst/>
                        </a:rPr>
                        <a:t>Interface</a:t>
                      </a:r>
                      <a:r>
                        <a:rPr lang="ko-KR" altLang="en-US" sz="600" u="none" strike="noStrike" dirty="0">
                          <a:effectLst/>
                        </a:rPr>
                        <a:t>에서 </a:t>
                      </a:r>
                      <a:r>
                        <a:rPr lang="en-US" altLang="ko-KR" sz="600" u="none" strike="noStrike" dirty="0">
                          <a:effectLst/>
                        </a:rPr>
                        <a:t>PAP </a:t>
                      </a:r>
                      <a:r>
                        <a:rPr lang="ko-KR" altLang="en-US" sz="600" u="none" strike="noStrike" dirty="0">
                          <a:effectLst/>
                        </a:rPr>
                        <a:t>인증 활성화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HG꼬딕씨 40g" panose="02020603020101020101" pitchFamily="18" charset="-127"/>
                        <a:ea typeface="HG꼬딕씨 4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506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0648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4" y="467971"/>
            <a:ext cx="7330236" cy="1172256"/>
          </a:xfrm>
        </p:spPr>
        <p:txBody>
          <a:bodyPr/>
          <a:lstStyle/>
          <a:p>
            <a:r>
              <a:rPr lang="ko-KR" altLang="en-US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      서버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F037B1B-C9AA-60C4-1FC0-83E314429CDE}"/>
              </a:ext>
            </a:extLst>
          </p:cNvPr>
          <p:cNvSpPr/>
          <p:nvPr/>
        </p:nvSpPr>
        <p:spPr>
          <a:xfrm rot="5400000" flipH="1">
            <a:off x="1732498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D94E2397-483F-24BE-050E-ECC6F23A6161}"/>
              </a:ext>
            </a:extLst>
          </p:cNvPr>
          <p:cNvSpPr txBox="1">
            <a:spLocks/>
          </p:cNvSpPr>
          <p:nvPr/>
        </p:nvSpPr>
        <p:spPr>
          <a:xfrm>
            <a:off x="1281802" y="2095258"/>
            <a:ext cx="7143750" cy="109777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5400" kern="12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구성도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기술 리스트</a:t>
            </a:r>
          </a:p>
        </p:txBody>
      </p:sp>
    </p:spTree>
    <p:extLst>
      <p:ext uri="{BB962C8B-B14F-4D97-AF65-F5344CB8AC3E}">
        <p14:creationId xmlns:p14="http://schemas.microsoft.com/office/powerpoint/2010/main" val="347315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" grpId="0" animBg="1"/>
      <p:bldP spid="2" grpId="0"/>
      <p:bldP spid="4" grpId="0" animBg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구성도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64955AC-7B47-39BF-DFFF-8434B7FB5FA9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.5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144795B-8DCC-30B3-95B3-F987911907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47219" y="1257299"/>
            <a:ext cx="6897561" cy="517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625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FEC06-1ADF-2E22-6FCA-904CF0089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047D4C-05B6-82AD-3FA8-FEFBC07BA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구성도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3BDC218-D83F-978E-416E-625DB1E41DE2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.5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B0E901D-765B-8DB7-1EF6-47DE893910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029755"/>
              </p:ext>
            </p:extLst>
          </p:nvPr>
        </p:nvGraphicFramePr>
        <p:xfrm>
          <a:off x="507023" y="2129997"/>
          <a:ext cx="11137900" cy="32931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170824987"/>
                    </a:ext>
                  </a:extLst>
                </a:gridCol>
                <a:gridCol w="2273300">
                  <a:extLst>
                    <a:ext uri="{9D8B030D-6E8A-4147-A177-3AD203B41FA5}">
                      <a16:colId xmlns:a16="http://schemas.microsoft.com/office/drawing/2014/main" val="2541750809"/>
                    </a:ext>
                  </a:extLst>
                </a:gridCol>
                <a:gridCol w="7340600">
                  <a:extLst>
                    <a:ext uri="{9D8B030D-6E8A-4147-A177-3AD203B41FA5}">
                      <a16:colId xmlns:a16="http://schemas.microsoft.com/office/drawing/2014/main" val="3839811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서버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  <a:buNone/>
                      </a:pPr>
                      <a:r>
                        <a:rPr lang="ko-KR" altLang="en-US" b="1" dirty="0">
                          <a:effectLst/>
                        </a:rPr>
                        <a:t>통신 방식</a:t>
                      </a:r>
                      <a:endParaRPr lang="en-US" b="1" dirty="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  <a:buNone/>
                      </a:pPr>
                      <a:r>
                        <a:rPr lang="ko-KR" altLang="en-US" b="1" dirty="0">
                          <a:effectLst/>
                        </a:rPr>
                        <a:t>주요 목적</a:t>
                      </a:r>
                      <a:endParaRPr lang="en-US" altLang="ko-KR" b="1" dirty="0">
                        <a:effectLst/>
                      </a:endParaRPr>
                    </a:p>
                  </a:txBody>
                  <a:tcPr marL="0" marR="0" marT="19050" marB="19050" anchor="b"/>
                </a:tc>
                <a:extLst>
                  <a:ext uri="{0D108BD9-81ED-4DB2-BD59-A6C34878D82A}">
                    <a16:rowId xmlns:a16="http://schemas.microsoft.com/office/drawing/2014/main" val="4094772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Ubuntu 01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b="0" dirty="0">
                          <a:effectLst/>
                        </a:rPr>
                        <a:t>Apache2, DNS, </a:t>
                      </a:r>
                    </a:p>
                    <a:p>
                      <a:pPr algn="ctr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b="0" dirty="0">
                          <a:effectLst/>
                        </a:rPr>
                        <a:t>SMB (Client), </a:t>
                      </a:r>
                    </a:p>
                    <a:p>
                      <a:pPr algn="ctr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b="0" dirty="0">
                          <a:effectLst/>
                        </a:rPr>
                        <a:t>SMB (Server)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b="0" dirty="0">
                          <a:effectLst/>
                        </a:rPr>
                        <a:t>- </a:t>
                      </a:r>
                      <a:r>
                        <a:rPr lang="ko-KR" altLang="en-US" b="0" dirty="0">
                          <a:effectLst/>
                        </a:rPr>
                        <a:t>웹사이트 구축 및 도메인 연결</a:t>
                      </a:r>
                      <a:r>
                        <a:rPr lang="en-US" altLang="ko-KR" b="0" dirty="0">
                          <a:effectLst/>
                        </a:rPr>
                        <a:t>(DNS)</a:t>
                      </a:r>
                    </a:p>
                    <a:p>
                      <a:pPr algn="l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b="0" dirty="0">
                          <a:effectLst/>
                        </a:rPr>
                        <a:t>- Virtual Host</a:t>
                      </a:r>
                      <a:r>
                        <a:rPr lang="ko-KR" altLang="en-US" b="0" dirty="0">
                          <a:effectLst/>
                        </a:rPr>
                        <a:t>로 </a:t>
                      </a:r>
                      <a:r>
                        <a:rPr lang="en-US" altLang="ko-KR" b="0" dirty="0">
                          <a:effectLst/>
                        </a:rPr>
                        <a:t>2</a:t>
                      </a:r>
                      <a:r>
                        <a:rPr lang="ko-KR" altLang="en-US" b="0" dirty="0">
                          <a:effectLst/>
                        </a:rPr>
                        <a:t>개 웹사이트</a:t>
                      </a:r>
                      <a:r>
                        <a:rPr lang="en-US" altLang="ko-KR" b="0" dirty="0">
                          <a:effectLst/>
                        </a:rPr>
                        <a:t>(80, 81 </a:t>
                      </a:r>
                      <a:r>
                        <a:rPr lang="ko-KR" altLang="en-US" b="0" dirty="0">
                          <a:effectLst/>
                        </a:rPr>
                        <a:t>포트</a:t>
                      </a:r>
                      <a:r>
                        <a:rPr lang="en-US" altLang="ko-KR" b="0" dirty="0">
                          <a:effectLst/>
                        </a:rPr>
                        <a:t>) </a:t>
                      </a:r>
                      <a:r>
                        <a:rPr lang="ko-KR" altLang="en-US" b="0" dirty="0">
                          <a:effectLst/>
                        </a:rPr>
                        <a:t>운영</a:t>
                      </a:r>
                      <a:r>
                        <a:rPr lang="en-US" altLang="ko-KR" b="0" dirty="0">
                          <a:effectLst/>
                        </a:rPr>
                        <a:t> </a:t>
                      </a:r>
                    </a:p>
                    <a:p>
                      <a:pPr algn="l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b="0" dirty="0">
                          <a:effectLst/>
                        </a:rPr>
                        <a:t>- Rocky 01</a:t>
                      </a:r>
                      <a:r>
                        <a:rPr lang="ko-KR" altLang="en-US" b="0" dirty="0">
                          <a:effectLst/>
                        </a:rPr>
                        <a:t>의 데이터를 </a:t>
                      </a:r>
                      <a:r>
                        <a:rPr lang="en-US" altLang="ko-KR" b="0" dirty="0">
                          <a:effectLst/>
                        </a:rPr>
                        <a:t>SMB</a:t>
                      </a:r>
                      <a:r>
                        <a:rPr lang="ko-KR" altLang="en-US" b="0" dirty="0">
                          <a:effectLst/>
                        </a:rPr>
                        <a:t>로 </a:t>
                      </a:r>
                      <a:r>
                        <a:rPr lang="ko-KR" altLang="en-US" b="0" dirty="0" err="1">
                          <a:effectLst/>
                        </a:rPr>
                        <a:t>마운트하여</a:t>
                      </a:r>
                      <a:r>
                        <a:rPr lang="ko-KR" altLang="en-US" b="0" dirty="0">
                          <a:effectLst/>
                        </a:rPr>
                        <a:t> 정보 공유</a:t>
                      </a:r>
                      <a:endParaRPr lang="en-US" altLang="ko-KR" b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725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Ubuntu 02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b="0" dirty="0">
                          <a:effectLst/>
                        </a:rPr>
                        <a:t>SMB (Server), </a:t>
                      </a:r>
                    </a:p>
                    <a:p>
                      <a:pPr algn="ctr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b="0" dirty="0">
                          <a:effectLst/>
                        </a:rPr>
                        <a:t>SMB (Client)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effectLst/>
                        </a:rPr>
                        <a:t>Windows </a:t>
                      </a:r>
                      <a:r>
                        <a:rPr lang="ko-KR" altLang="en-US" b="0" dirty="0">
                          <a:effectLst/>
                        </a:rPr>
                        <a:t>클라이언트</a:t>
                      </a:r>
                      <a:r>
                        <a:rPr lang="en-US" altLang="ko-KR" b="0" dirty="0">
                          <a:effectLst/>
                        </a:rPr>
                        <a:t>(SMB02) </a:t>
                      </a:r>
                      <a:r>
                        <a:rPr lang="ko-KR" altLang="en-US" b="0" dirty="0">
                          <a:effectLst/>
                        </a:rPr>
                        <a:t>및 </a:t>
                      </a:r>
                      <a:r>
                        <a:rPr lang="en-US" altLang="ko-KR" b="0" dirty="0">
                          <a:effectLst/>
                        </a:rPr>
                        <a:t>Ubuntu 03(SMB03)</a:t>
                      </a:r>
                      <a:r>
                        <a:rPr lang="ko-KR" altLang="en-US" b="0" dirty="0">
                          <a:effectLst/>
                        </a:rPr>
                        <a:t>와 정보 공유</a:t>
                      </a:r>
                      <a:r>
                        <a:rPr lang="en-US" altLang="ko-KR" b="0" dirty="0">
                          <a:effectLst/>
                        </a:rPr>
                        <a:t>.</a:t>
                      </a:r>
                    </a:p>
                    <a:p>
                      <a:pPr algn="l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32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Ubuntu 03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b="0" dirty="0">
                          <a:effectLst/>
                        </a:rPr>
                        <a:t>SMB (Server), </a:t>
                      </a:r>
                    </a:p>
                    <a:p>
                      <a:pPr algn="ctr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b="0" dirty="0">
                          <a:effectLst/>
                        </a:rPr>
                        <a:t>SMB (Client)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effectLst/>
                        </a:rPr>
                        <a:t>Windows </a:t>
                      </a:r>
                      <a:r>
                        <a:rPr lang="ko-KR" altLang="en-US" b="0" dirty="0">
                          <a:effectLst/>
                        </a:rPr>
                        <a:t>클라이언트</a:t>
                      </a:r>
                      <a:r>
                        <a:rPr lang="en-US" altLang="ko-KR" b="0" dirty="0">
                          <a:effectLst/>
                        </a:rPr>
                        <a:t>(SMB04) </a:t>
                      </a:r>
                      <a:r>
                        <a:rPr lang="ko-KR" altLang="en-US" b="0" dirty="0">
                          <a:effectLst/>
                        </a:rPr>
                        <a:t>및 </a:t>
                      </a:r>
                      <a:r>
                        <a:rPr lang="en-US" altLang="ko-KR" b="0" dirty="0">
                          <a:effectLst/>
                        </a:rPr>
                        <a:t>Ubuntu 02(SMB03)</a:t>
                      </a:r>
                      <a:r>
                        <a:rPr lang="ko-KR" altLang="en-US" b="0" dirty="0">
                          <a:effectLst/>
                        </a:rPr>
                        <a:t>와 정보 공유</a:t>
                      </a:r>
                      <a:r>
                        <a:rPr lang="en-US" altLang="ko-KR" b="0" dirty="0">
                          <a:effectLst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445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3528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A59A3-0FB6-AD59-F33D-FBE5B0C63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30FD6-A743-C164-823E-59C5B9B41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구성도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78D9A40-3EF9-36F3-8967-FC2E3960CE5E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.5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5E8A500-E751-F56D-DA4F-D40F7E23C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131896"/>
              </p:ext>
            </p:extLst>
          </p:nvPr>
        </p:nvGraphicFramePr>
        <p:xfrm>
          <a:off x="397608" y="2029720"/>
          <a:ext cx="11201400" cy="37779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2726">
                  <a:extLst>
                    <a:ext uri="{9D8B030D-6E8A-4147-A177-3AD203B41FA5}">
                      <a16:colId xmlns:a16="http://schemas.microsoft.com/office/drawing/2014/main" val="3711073927"/>
                    </a:ext>
                  </a:extLst>
                </a:gridCol>
                <a:gridCol w="2765345">
                  <a:extLst>
                    <a:ext uri="{9D8B030D-6E8A-4147-A177-3AD203B41FA5}">
                      <a16:colId xmlns:a16="http://schemas.microsoft.com/office/drawing/2014/main" val="1353146861"/>
                    </a:ext>
                  </a:extLst>
                </a:gridCol>
                <a:gridCol w="6633329">
                  <a:extLst>
                    <a:ext uri="{9D8B030D-6E8A-4147-A177-3AD203B41FA5}">
                      <a16:colId xmlns:a16="http://schemas.microsoft.com/office/drawing/2014/main" val="3688624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latin typeface="+mn-lt"/>
                        </a:rPr>
                        <a:t>서버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latin typeface="+mn-lt"/>
                        </a:rPr>
                        <a:t>통신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latin typeface="+mn-lt"/>
                        </a:rPr>
                        <a:t>주요 목적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908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effectLst/>
                          <a:latin typeface="+mn-lt"/>
                        </a:rPr>
                        <a:t>Rocky 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effectLst/>
                          <a:latin typeface="+mn-lt"/>
                        </a:rPr>
                        <a:t>SMB (Server)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>
                          <a:effectLst/>
                          <a:latin typeface="+mn-lt"/>
                        </a:rPr>
                        <a:t>사용자 개인정보 데이터를 수집하고 </a:t>
                      </a:r>
                      <a:r>
                        <a:rPr lang="en-US" altLang="ko-KR" b="0" dirty="0">
                          <a:effectLst/>
                          <a:latin typeface="+mn-lt"/>
                        </a:rPr>
                        <a:t>SMB</a:t>
                      </a:r>
                      <a:r>
                        <a:rPr lang="ko-KR" altLang="en-US" b="0" dirty="0">
                          <a:effectLst/>
                          <a:latin typeface="+mn-lt"/>
                        </a:rPr>
                        <a:t>로 공유하는 서버</a:t>
                      </a:r>
                      <a:endParaRPr lang="en-US" altLang="ko-KR" b="0" dirty="0"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666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effectLst/>
                          <a:latin typeface="+mn-lt"/>
                        </a:rPr>
                        <a:t>Rocky 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effectLst/>
                          <a:latin typeface="+mn-lt"/>
                        </a:rPr>
                        <a:t>DHCP, X-RDP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>
                          <a:effectLst/>
                          <a:latin typeface="+mn-lt"/>
                        </a:rPr>
                        <a:t>IP </a:t>
                      </a:r>
                      <a:r>
                        <a:rPr lang="ko-KR" altLang="en-US" b="0" dirty="0">
                          <a:effectLst/>
                          <a:latin typeface="+mn-lt"/>
                        </a:rPr>
                        <a:t>주소 자동 할당 및 </a:t>
                      </a:r>
                      <a:r>
                        <a:rPr lang="en-US" altLang="ko-KR" b="0" dirty="0">
                          <a:effectLst/>
                          <a:latin typeface="+mn-lt"/>
                        </a:rPr>
                        <a:t>Windows </a:t>
                      </a:r>
                      <a:r>
                        <a:rPr lang="ko-KR" altLang="en-US" b="0" dirty="0">
                          <a:effectLst/>
                          <a:latin typeface="+mn-lt"/>
                        </a:rPr>
                        <a:t>클라이언트의 원격 접속 지원</a:t>
                      </a:r>
                      <a:endParaRPr lang="ko-KR" altLang="en-US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541979"/>
                  </a:ext>
                </a:extLst>
              </a:tr>
              <a:tr h="3522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effectLst/>
                          <a:latin typeface="+mn-lt"/>
                        </a:rPr>
                        <a:t>Rocky 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effectLst/>
                          <a:latin typeface="+mn-lt"/>
                        </a:rPr>
                        <a:t>VNC (tiger-</a:t>
                      </a:r>
                      <a:r>
                        <a:rPr lang="en-US" altLang="ko-KR" b="0" dirty="0" err="1">
                          <a:effectLst/>
                          <a:latin typeface="+mn-lt"/>
                        </a:rPr>
                        <a:t>vnc</a:t>
                      </a:r>
                      <a:r>
                        <a:rPr lang="en-US" altLang="ko-KR" b="0" dirty="0">
                          <a:effectLst/>
                          <a:latin typeface="+mn-lt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>
                          <a:effectLst/>
                          <a:latin typeface="+mn-lt"/>
                        </a:rPr>
                        <a:t>오류 발생 </a:t>
                      </a:r>
                      <a:r>
                        <a:rPr lang="en-US" altLang="ko-KR" b="0" dirty="0">
                          <a:effectLst/>
                          <a:latin typeface="+mn-lt"/>
                        </a:rPr>
                        <a:t>PC</a:t>
                      </a:r>
                      <a:r>
                        <a:rPr lang="ko-KR" altLang="en-US" b="0" dirty="0">
                          <a:effectLst/>
                          <a:latin typeface="+mn-lt"/>
                        </a:rPr>
                        <a:t>에 대한 기술 지원 및 원격 관리를 위한 서버</a:t>
                      </a:r>
                      <a:endParaRPr lang="en-US" altLang="ko-KR" b="0" dirty="0"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255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effectLst/>
                          <a:latin typeface="+mn-lt"/>
                        </a:rPr>
                        <a:t>Rocky 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b="0" dirty="0">
                          <a:effectLst/>
                          <a:latin typeface="+mn-lt"/>
                        </a:rPr>
                        <a:t>SMB (Client), </a:t>
                      </a:r>
                    </a:p>
                    <a:p>
                      <a:pPr algn="ctr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b="0" dirty="0">
                          <a:effectLst/>
                          <a:latin typeface="+mn-lt"/>
                        </a:rPr>
                        <a:t>NFS (Server), </a:t>
                      </a:r>
                    </a:p>
                    <a:p>
                      <a:pPr algn="ctr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b="0" dirty="0">
                          <a:effectLst/>
                          <a:latin typeface="+mn-lt"/>
                        </a:rPr>
                        <a:t>MDADM, </a:t>
                      </a:r>
                    </a:p>
                    <a:p>
                      <a:pPr algn="ctr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b="0" dirty="0">
                          <a:effectLst/>
                          <a:latin typeface="+mn-lt"/>
                        </a:rPr>
                        <a:t>DISKQUOTA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b="0" dirty="0">
                          <a:effectLst/>
                          <a:latin typeface="+mn-lt"/>
                        </a:rPr>
                        <a:t>- Rocky 01</a:t>
                      </a:r>
                      <a:r>
                        <a:rPr lang="ko-KR" altLang="en-US" b="0" dirty="0">
                          <a:effectLst/>
                          <a:latin typeface="+mn-lt"/>
                        </a:rPr>
                        <a:t>의 데이터를 </a:t>
                      </a:r>
                      <a:r>
                        <a:rPr lang="en-US" altLang="ko-KR" b="0" dirty="0">
                          <a:effectLst/>
                          <a:latin typeface="+mn-lt"/>
                        </a:rPr>
                        <a:t>SMB</a:t>
                      </a:r>
                      <a:r>
                        <a:rPr lang="ko-KR" altLang="en-US" b="0" dirty="0">
                          <a:effectLst/>
                          <a:latin typeface="+mn-lt"/>
                        </a:rPr>
                        <a:t>로 받아와서 </a:t>
                      </a:r>
                      <a:r>
                        <a:rPr lang="en-US" altLang="ko-KR" b="0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b="0" dirty="0">
                          <a:effectLst/>
                          <a:latin typeface="+mn-lt"/>
                        </a:rPr>
                        <a:t>클라이언트 역할</a:t>
                      </a:r>
                      <a:r>
                        <a:rPr lang="en-US" altLang="ko-KR" b="0" dirty="0">
                          <a:effectLst/>
                          <a:latin typeface="+mn-lt"/>
                        </a:rPr>
                        <a:t>) </a:t>
                      </a:r>
                    </a:p>
                    <a:p>
                      <a:pPr algn="l" rtl="0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b="0" dirty="0">
                          <a:effectLst/>
                          <a:latin typeface="+mn-lt"/>
                        </a:rPr>
                        <a:t>- RAID 1</a:t>
                      </a:r>
                      <a:r>
                        <a:rPr lang="ko-KR" altLang="en-US" b="0" dirty="0">
                          <a:effectLst/>
                          <a:latin typeface="+mn-lt"/>
                        </a:rPr>
                        <a:t>로 </a:t>
                      </a:r>
                      <a:r>
                        <a:rPr lang="ko-KR" altLang="en-US" b="0" dirty="0" err="1">
                          <a:effectLst/>
                          <a:latin typeface="+mn-lt"/>
                        </a:rPr>
                        <a:t>미러링하여</a:t>
                      </a:r>
                      <a:r>
                        <a:rPr lang="ko-KR" altLang="en-US" b="0" dirty="0">
                          <a:effectLst/>
                          <a:latin typeface="+mn-lt"/>
                        </a:rPr>
                        <a:t> 데이터 안정성 확보</a:t>
                      </a:r>
                      <a:r>
                        <a:rPr lang="en-US" altLang="ko-KR" b="0" dirty="0">
                          <a:effectLst/>
                          <a:latin typeface="+mn-lt"/>
                        </a:rPr>
                        <a:t> </a:t>
                      </a:r>
                    </a:p>
                    <a:p>
                      <a:pPr marL="0" indent="0" algn="l" rtl="0" fontAlgn="b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b="0" dirty="0">
                          <a:effectLst/>
                          <a:latin typeface="+mn-lt"/>
                        </a:rPr>
                        <a:t>- </a:t>
                      </a:r>
                      <a:r>
                        <a:rPr lang="ko-KR" altLang="en-US" b="0" dirty="0">
                          <a:effectLst/>
                          <a:latin typeface="+mn-lt"/>
                        </a:rPr>
                        <a:t>다른 서버</a:t>
                      </a:r>
                      <a:r>
                        <a:rPr lang="en-US" altLang="ko-KR" b="0" dirty="0">
                          <a:effectLst/>
                          <a:latin typeface="+mn-lt"/>
                        </a:rPr>
                        <a:t>(Rocky 05)</a:t>
                      </a:r>
                      <a:r>
                        <a:rPr lang="ko-KR" altLang="en-US" b="0" dirty="0">
                          <a:effectLst/>
                          <a:latin typeface="+mn-lt"/>
                        </a:rPr>
                        <a:t>와 </a:t>
                      </a:r>
                      <a:r>
                        <a:rPr lang="en-US" altLang="ko-KR" b="0" dirty="0">
                          <a:effectLst/>
                          <a:latin typeface="+mn-lt"/>
                        </a:rPr>
                        <a:t>NFS</a:t>
                      </a:r>
                      <a:r>
                        <a:rPr lang="ko-KR" altLang="en-US" b="0" dirty="0">
                          <a:effectLst/>
                          <a:latin typeface="+mn-lt"/>
                        </a:rPr>
                        <a:t>로 공유</a:t>
                      </a:r>
                      <a:endParaRPr lang="en-US" altLang="ko-KR" b="0" dirty="0">
                        <a:effectLst/>
                        <a:latin typeface="+mn-lt"/>
                      </a:endParaRPr>
                    </a:p>
                    <a:p>
                      <a:pPr marL="0" indent="0" algn="l" rtl="0" fontAlgn="b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b="0" dirty="0">
                          <a:effectLst/>
                          <a:latin typeface="+mn-lt"/>
                        </a:rPr>
                        <a:t>-</a:t>
                      </a:r>
                      <a:r>
                        <a:rPr lang="ko-KR" altLang="en-US" b="0" dirty="0">
                          <a:effectLst/>
                          <a:latin typeface="+mn-lt"/>
                        </a:rPr>
                        <a:t> 사용자별 용량 제한</a:t>
                      </a:r>
                      <a:r>
                        <a:rPr lang="en-US" altLang="ko-KR" b="0" dirty="0">
                          <a:effectLst/>
                          <a:latin typeface="+mn-lt"/>
                        </a:rPr>
                        <a:t>(Quota) </a:t>
                      </a:r>
                      <a:r>
                        <a:rPr lang="ko-KR" altLang="en-US" b="0" dirty="0">
                          <a:effectLst/>
                          <a:latin typeface="+mn-lt"/>
                        </a:rPr>
                        <a:t>설정</a:t>
                      </a:r>
                      <a:endParaRPr lang="en-US" altLang="ko-KR" b="0" dirty="0"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09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effectLst/>
                          <a:latin typeface="+mn-lt"/>
                        </a:rPr>
                        <a:t>Rocky 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effectLst/>
                          <a:latin typeface="+mn-lt"/>
                        </a:rPr>
                        <a:t>NFS (Client)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effectLst/>
                          <a:latin typeface="+mn-lt"/>
                        </a:rPr>
                        <a:t>Rocky 04</a:t>
                      </a:r>
                      <a:r>
                        <a:rPr lang="ko-KR" altLang="en-US" b="0" dirty="0">
                          <a:effectLst/>
                          <a:latin typeface="+mn-lt"/>
                        </a:rPr>
                        <a:t>로부터 </a:t>
                      </a:r>
                      <a:r>
                        <a:rPr lang="en-US" altLang="ko-KR" b="0" dirty="0">
                          <a:effectLst/>
                          <a:latin typeface="+mn-lt"/>
                        </a:rPr>
                        <a:t>NFS</a:t>
                      </a:r>
                      <a:r>
                        <a:rPr lang="ko-KR" altLang="en-US" b="0" dirty="0">
                          <a:effectLst/>
                          <a:latin typeface="+mn-lt"/>
                        </a:rPr>
                        <a:t>를 통해 데이터를 받아와 백업 역할 수행 </a:t>
                      </a:r>
                      <a:r>
                        <a:rPr lang="en-US" altLang="ko-KR" b="0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b="0" dirty="0">
                          <a:effectLst/>
                          <a:latin typeface="+mn-lt"/>
                        </a:rPr>
                        <a:t>파이썬 코드 활용</a:t>
                      </a:r>
                      <a:r>
                        <a:rPr lang="en-US" altLang="ko-KR" b="0" dirty="0">
                          <a:effectLst/>
                          <a:latin typeface="+mn-lt"/>
                        </a:rPr>
                        <a:t>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379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548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6C627-2D53-3272-6FC1-F322AD279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39255D-DD65-353D-8BD7-9096C5071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흐름도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6D90C24-3CF6-2A70-B393-1FC96D248996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.5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BB81D18-FEBD-F15A-05BC-9A688BDA40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1856" y="1393992"/>
            <a:ext cx="8888289" cy="499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99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기술 리스트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F149B9F2-2E8C-EEDF-8BCD-FE242C14E0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7023" y="1447800"/>
            <a:ext cx="11177954" cy="5215550"/>
          </a:xfrm>
        </p:spPr>
        <p:txBody>
          <a:bodyPr/>
          <a:lstStyle/>
          <a:p>
            <a:endParaRPr lang="en-US" altLang="ko-KR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4CFB276-DC4D-808B-FE38-FD72DE41FA3B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.6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2C188B-44F1-331D-86CF-91ED0D310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23" y="2443331"/>
            <a:ext cx="10682720" cy="296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9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4" y="467971"/>
            <a:ext cx="7330236" cy="1172256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   파이썬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DB87F2-50A0-2FAF-1490-34DB1ACA68AE}"/>
              </a:ext>
            </a:extLst>
          </p:cNvPr>
          <p:cNvSpPr/>
          <p:nvPr/>
        </p:nvSpPr>
        <p:spPr>
          <a:xfrm rot="5400000" flipH="1">
            <a:off x="1358474" y="470710"/>
            <a:ext cx="45719" cy="1878344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BA177F-FDF8-EEDF-AA99-91CEBD9956E0}"/>
              </a:ext>
            </a:extLst>
          </p:cNvPr>
          <p:cNvSpPr/>
          <p:nvPr/>
        </p:nvSpPr>
        <p:spPr>
          <a:xfrm rot="5400000" flipH="1">
            <a:off x="1729409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244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" grpId="0" animBg="1"/>
      <p:bldP spid="2" grpId="0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 기술 설명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ABE9636-5C5D-A585-53A1-A095E80E2FFA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.7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57E2176-6B01-E5BE-E07D-0D06B212F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654" y="1545969"/>
            <a:ext cx="4819283" cy="454636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59D6274-FD27-6626-BF8C-017B0C881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54" y="1470391"/>
            <a:ext cx="4470821" cy="509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63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2C83F-AE09-90FD-3568-01A0CF1B9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33976C-B3E9-7B1D-1045-4F4452A4C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 기술 설명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531477A-B064-84C7-4A48-C3BC04636648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.7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C3AB1B-C800-9950-F6D7-99A06EC48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054" y="1374704"/>
            <a:ext cx="3667047" cy="493248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A84013B-B468-613E-9790-F474F0BC8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74704"/>
            <a:ext cx="3228998" cy="493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45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4" y="467971"/>
            <a:ext cx="7330236" cy="1172256"/>
          </a:xfrm>
        </p:spPr>
        <p:txBody>
          <a:bodyPr/>
          <a:lstStyle/>
          <a:p>
            <a:r>
              <a:rPr lang="ko-KR" altLang="en-US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사용 환경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EBF9CE-2B11-F81B-7613-0FD0725F3430}"/>
              </a:ext>
            </a:extLst>
          </p:cNvPr>
          <p:cNvSpPr/>
          <p:nvPr/>
        </p:nvSpPr>
        <p:spPr>
          <a:xfrm rot="5400000" flipH="1">
            <a:off x="1729409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2198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" grpId="0" animBg="1"/>
      <p:bldP spid="2" grpId="0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4E2EB6-49A7-E902-6612-5A454A5BEE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31" name="그림 개체 틀 30" descr="빛, 레이저, 밤이(가) 표시된 사진&#10;&#10;자동 생성된 설명">
            <a:extLst>
              <a:ext uri="{FF2B5EF4-FFF2-40B4-BE49-F238E27FC236}">
                <a16:creationId xmlns:a16="http://schemas.microsoft.com/office/drawing/2014/main" id="{186FCA5E-0077-3219-8BDF-1B0BAC2911E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" b="28"/>
          <a:stretch>
            <a:fillRect/>
          </a:stretch>
        </p:blipFill>
        <p:spPr>
          <a:xfrm>
            <a:off x="881063" y="925821"/>
            <a:ext cx="10491788" cy="5006358"/>
          </a:xfr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E51A0057-A7B7-482A-7505-85ADE93A9139}"/>
              </a:ext>
            </a:extLst>
          </p:cNvPr>
          <p:cNvSpPr/>
          <p:nvPr/>
        </p:nvSpPr>
        <p:spPr>
          <a:xfrm>
            <a:off x="1529863" y="1660163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구축 환경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52ECF2BE-7B42-3170-7468-F10CE00B64C5}"/>
              </a:ext>
            </a:extLst>
          </p:cNvPr>
          <p:cNvCxnSpPr>
            <a:cxnSpLocks/>
          </p:cNvCxnSpPr>
          <p:nvPr/>
        </p:nvCxnSpPr>
        <p:spPr>
          <a:xfrm>
            <a:off x="1529862" y="1555108"/>
            <a:ext cx="564180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F589182-B12E-55FD-4B8B-A8D9ED4365BB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.8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66A732B-8101-F3FD-8CBF-73507C4E9620}"/>
              </a:ext>
            </a:extLst>
          </p:cNvPr>
          <p:cNvSpPr/>
          <p:nvPr/>
        </p:nvSpPr>
        <p:spPr>
          <a:xfrm>
            <a:off x="-1223962" y="93510"/>
            <a:ext cx="4930652" cy="603369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                     사용 환경</a:t>
            </a:r>
            <a:endParaRPr lang="en-US" altLang="ko-KR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7DE3640-ED92-3050-5DC3-985110BE4852}"/>
              </a:ext>
            </a:extLst>
          </p:cNvPr>
          <p:cNvSpPr/>
          <p:nvPr/>
        </p:nvSpPr>
        <p:spPr>
          <a:xfrm>
            <a:off x="1721827" y="2184396"/>
            <a:ext cx="8819141" cy="31184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F05934C-3E6A-2F12-ED34-525599CD4E57}"/>
              </a:ext>
            </a:extLst>
          </p:cNvPr>
          <p:cNvSpPr/>
          <p:nvPr/>
        </p:nvSpPr>
        <p:spPr>
          <a:xfrm>
            <a:off x="2074026" y="2295422"/>
            <a:ext cx="2425211" cy="289644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FC0F728-F361-3840-0B58-51A51D0045FE}"/>
              </a:ext>
            </a:extLst>
          </p:cNvPr>
          <p:cNvSpPr/>
          <p:nvPr/>
        </p:nvSpPr>
        <p:spPr>
          <a:xfrm>
            <a:off x="4844561" y="2295422"/>
            <a:ext cx="2425211" cy="289644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E6C4EB9-C6FC-7D88-298A-ACD6AAAA61AF}"/>
              </a:ext>
            </a:extLst>
          </p:cNvPr>
          <p:cNvSpPr/>
          <p:nvPr/>
        </p:nvSpPr>
        <p:spPr>
          <a:xfrm>
            <a:off x="7692764" y="2295422"/>
            <a:ext cx="2425211" cy="289644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4DD62E-2675-AAB1-EA38-5799D66EDEE3}"/>
              </a:ext>
            </a:extLst>
          </p:cNvPr>
          <p:cNvSpPr txBox="1"/>
          <p:nvPr/>
        </p:nvSpPr>
        <p:spPr>
          <a:xfrm>
            <a:off x="2178800" y="2409892"/>
            <a:ext cx="2215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Rocky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3867EE-ADF1-6E9A-BE4C-8A7C133B7852}"/>
              </a:ext>
            </a:extLst>
          </p:cNvPr>
          <p:cNvSpPr txBox="1"/>
          <p:nvPr/>
        </p:nvSpPr>
        <p:spPr>
          <a:xfrm>
            <a:off x="4949335" y="2409893"/>
            <a:ext cx="2215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UBuntu</a:t>
            </a:r>
            <a:endParaRPr lang="en-US" altLang="ko-KR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F731FC-0E6F-CBFA-84EA-EB5973992D29}"/>
              </a:ext>
            </a:extLst>
          </p:cNvPr>
          <p:cNvSpPr txBox="1"/>
          <p:nvPr/>
        </p:nvSpPr>
        <p:spPr>
          <a:xfrm>
            <a:off x="7797538" y="2409892"/>
            <a:ext cx="2215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Windows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CBB329-B2E8-5F55-9582-C31DDD7EAF30}"/>
              </a:ext>
            </a:extLst>
          </p:cNvPr>
          <p:cNvSpPr txBox="1"/>
          <p:nvPr/>
        </p:nvSpPr>
        <p:spPr>
          <a:xfrm>
            <a:off x="2074025" y="2924911"/>
            <a:ext cx="2425212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Rocky Linux 9.6</a:t>
            </a:r>
          </a:p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Samba</a:t>
            </a:r>
          </a:p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Samba-client</a:t>
            </a:r>
          </a:p>
          <a:p>
            <a:r>
              <a:rPr lang="en-US" altLang="ko-KR" sz="1100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dhcp</a:t>
            </a:r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-server</a:t>
            </a:r>
          </a:p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X-RDP</a:t>
            </a:r>
          </a:p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MDADM</a:t>
            </a:r>
          </a:p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quota</a:t>
            </a:r>
          </a:p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Tiger-VNC</a:t>
            </a:r>
          </a:p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monitorix-3.16.0-1.el9.noarch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7D6365-B392-1EA5-73AE-4F9D4ED4955A}"/>
              </a:ext>
            </a:extLst>
          </p:cNvPr>
          <p:cNvSpPr txBox="1"/>
          <p:nvPr/>
        </p:nvSpPr>
        <p:spPr>
          <a:xfrm>
            <a:off x="5041242" y="2909085"/>
            <a:ext cx="181963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Ubuntu 25.04.</a:t>
            </a:r>
          </a:p>
          <a:p>
            <a:r>
              <a:rPr lang="en-US" altLang="ko-KR" sz="1100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Nfs</a:t>
            </a:r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-kernel-server</a:t>
            </a:r>
          </a:p>
          <a:p>
            <a:r>
              <a:rPr lang="en-US" altLang="ko-KR" sz="1100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Nfs</a:t>
            </a:r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-common</a:t>
            </a:r>
          </a:p>
          <a:p>
            <a:r>
              <a:rPr lang="en-US" altLang="ko-KR" sz="1100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Smbclient</a:t>
            </a:r>
            <a:endParaRPr lang="en-US" altLang="ko-KR" sz="11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r>
              <a:rPr lang="en-US" altLang="ko-KR" sz="1100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Cifs</a:t>
            </a:r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-utils</a:t>
            </a:r>
          </a:p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Apache2</a:t>
            </a:r>
          </a:p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Apache2-utils</a:t>
            </a:r>
          </a:p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Bind9-utils</a:t>
            </a:r>
          </a:p>
          <a:p>
            <a:endParaRPr lang="en-US" altLang="ko-KR" sz="11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sz="11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sz="11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sz="11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758FA9-3DD7-5538-FD31-581E6ABC1990}"/>
              </a:ext>
            </a:extLst>
          </p:cNvPr>
          <p:cNvSpPr txBox="1"/>
          <p:nvPr/>
        </p:nvSpPr>
        <p:spPr>
          <a:xfrm>
            <a:off x="7960884" y="2925418"/>
            <a:ext cx="16947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Windows 10</a:t>
            </a:r>
          </a:p>
          <a:p>
            <a:endParaRPr lang="ko-KR" altLang="en-US" sz="11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515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4" y="467971"/>
            <a:ext cx="7330236" cy="1172256"/>
          </a:xfrm>
        </p:spPr>
        <p:txBody>
          <a:bodyPr/>
          <a:lstStyle/>
          <a:p>
            <a:r>
              <a:rPr lang="ko-KR" altLang="en-US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예측 결과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EBF9CE-2B11-F81B-7613-0FD0725F3430}"/>
              </a:ext>
            </a:extLst>
          </p:cNvPr>
          <p:cNvSpPr/>
          <p:nvPr/>
        </p:nvSpPr>
        <p:spPr>
          <a:xfrm rot="5400000" flipH="1">
            <a:off x="1729409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3307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4E2EB6-49A7-E902-6612-5A454A5BEE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5FEE3F7-061E-E689-3FBB-C8929F605C39}"/>
              </a:ext>
            </a:extLst>
          </p:cNvPr>
          <p:cNvGrpSpPr/>
          <p:nvPr/>
        </p:nvGrpSpPr>
        <p:grpSpPr>
          <a:xfrm>
            <a:off x="995363" y="2088010"/>
            <a:ext cx="4452937" cy="3096510"/>
            <a:chOff x="1157288" y="2116944"/>
            <a:chExt cx="4452937" cy="3096510"/>
          </a:xfrm>
        </p:grpSpPr>
        <p:sp>
          <p:nvSpPr>
            <p:cNvPr id="12" name="제목 5">
              <a:extLst>
                <a:ext uri="{FF2B5EF4-FFF2-40B4-BE49-F238E27FC236}">
                  <a16:creationId xmlns:a16="http://schemas.microsoft.com/office/drawing/2014/main" id="{BB4CE390-713D-E107-92A9-580A5C4A6AB5}"/>
                </a:ext>
              </a:extLst>
            </p:cNvPr>
            <p:cNvSpPr txBox="1">
              <a:spLocks/>
            </p:cNvSpPr>
            <p:nvPr/>
          </p:nvSpPr>
          <p:spPr>
            <a:xfrm>
              <a:off x="1157288" y="2116944"/>
              <a:ext cx="4452937" cy="609902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320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  <a:cs typeface="+mn-cs"/>
                </a:rPr>
                <a:t>상세 타이틀을 입력하세요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3B814BA-1052-717E-6CDE-5B573A37C04B}"/>
                </a:ext>
              </a:extLst>
            </p:cNvPr>
            <p:cNvSpPr txBox="1"/>
            <p:nvPr/>
          </p:nvSpPr>
          <p:spPr>
            <a:xfrm>
              <a:off x="1157288" y="3958562"/>
              <a:ext cx="4233862" cy="12548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안녕하세요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. 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매주 업데이트되는 고품질의 프레젠테이션 템플릿을 만나보세요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. 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다양한 주제와 디자인 </a:t>
              </a:r>
              <a:r>
                <a:rPr lang="ko-KR" altLang="en-US" sz="1050" dirty="0" err="1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인포그래픽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 슬라이드로 프레젠테이션을 완성할 수 있습니다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.</a:t>
              </a:r>
            </a:p>
            <a:p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수많은 주제와 업무 분야를 고려하여 제작된 템플릿 컬렉션은 간편하게 커스터마이징이 가능하며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, </a:t>
              </a:r>
              <a:r>
                <a:rPr lang="ko-KR" altLang="en-US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시간을 절약하고 전문적인 결과물을 얻을 수 있도록 </a:t>
              </a:r>
              <a:r>
                <a:rPr lang="ko-KR" altLang="en-US" sz="1050" dirty="0" err="1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돕습니다</a:t>
              </a:r>
              <a:r>
                <a:rPr lang="en-US" altLang="ko-KR" sz="105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.</a:t>
              </a:r>
            </a:p>
          </p:txBody>
        </p:sp>
        <p:sp>
          <p:nvSpPr>
            <p:cNvPr id="23" name="제목 5">
              <a:extLst>
                <a:ext uri="{FF2B5EF4-FFF2-40B4-BE49-F238E27FC236}">
                  <a16:creationId xmlns:a16="http://schemas.microsoft.com/office/drawing/2014/main" id="{8E462911-BDE0-1AAD-12C6-2AE81A4E7D13}"/>
                </a:ext>
              </a:extLst>
            </p:cNvPr>
            <p:cNvSpPr txBox="1">
              <a:spLocks/>
            </p:cNvSpPr>
            <p:nvPr/>
          </p:nvSpPr>
          <p:spPr>
            <a:xfrm>
              <a:off x="1157288" y="3438525"/>
              <a:ext cx="4452937" cy="290840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ko-KR" altLang="en-US" sz="1800">
                  <a:solidFill>
                    <a:schemeClr val="accent1">
                      <a:lumMod val="50000"/>
                    </a:schemeClr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  <a:cs typeface="+mn-cs"/>
                </a:rPr>
                <a:t>타이틀을 입력하세요</a:t>
              </a:r>
            </a:p>
          </p:txBody>
        </p:sp>
      </p:grpSp>
      <p:pic>
        <p:nvPicPr>
          <p:cNvPr id="31" name="그림 개체 틀 30" descr="빛, 레이저, 밤이(가) 표시된 사진&#10;&#10;자동 생성된 설명">
            <a:extLst>
              <a:ext uri="{FF2B5EF4-FFF2-40B4-BE49-F238E27FC236}">
                <a16:creationId xmlns:a16="http://schemas.microsoft.com/office/drawing/2014/main" id="{186FCA5E-0077-3219-8BDF-1B0BAC2911E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" b="28"/>
          <a:stretch>
            <a:fillRect/>
          </a:stretch>
        </p:blipFill>
        <p:spPr/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F081B57-5C66-E933-15A2-32DEA047003D}"/>
              </a:ext>
            </a:extLst>
          </p:cNvPr>
          <p:cNvSpPr txBox="1"/>
          <p:nvPr/>
        </p:nvSpPr>
        <p:spPr>
          <a:xfrm>
            <a:off x="6809718" y="2042480"/>
            <a:ext cx="4362257" cy="438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다양한 주제와 디자인 인포그래픽 슬라이드로</a:t>
            </a:r>
            <a:br>
              <a:rPr lang="en-US" altLang="ko-KR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</a:br>
            <a:r>
              <a:rPr lang="ko-KR" altLang="en-US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프레젠테이션을 완성할 수 있습니다</a:t>
            </a:r>
            <a:r>
              <a:rPr lang="en-US" altLang="ko-KR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51A0057-A7B7-482A-7505-85ADE93A9139}"/>
              </a:ext>
            </a:extLst>
          </p:cNvPr>
          <p:cNvSpPr/>
          <p:nvPr/>
        </p:nvSpPr>
        <p:spPr>
          <a:xfrm>
            <a:off x="6809719" y="1659883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상세 타이틀을 입력하세요</a:t>
            </a:r>
            <a:endParaRPr lang="ko-KR" altLang="en-US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52ECF2BE-7B42-3170-7468-F10CE00B64C5}"/>
              </a:ext>
            </a:extLst>
          </p:cNvPr>
          <p:cNvCxnSpPr>
            <a:cxnSpLocks/>
          </p:cNvCxnSpPr>
          <p:nvPr/>
        </p:nvCxnSpPr>
        <p:spPr>
          <a:xfrm>
            <a:off x="6924019" y="1555108"/>
            <a:ext cx="2476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AB04F21-C5CE-7797-DB65-3D1A73E90CBE}"/>
              </a:ext>
            </a:extLst>
          </p:cNvPr>
          <p:cNvSpPr txBox="1"/>
          <p:nvPr/>
        </p:nvSpPr>
        <p:spPr>
          <a:xfrm>
            <a:off x="7959508" y="3463874"/>
            <a:ext cx="4362257" cy="438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다양한 주제와 디자인 인포그래픽 슬라이드로</a:t>
            </a:r>
            <a:br>
              <a:rPr lang="en-US" altLang="ko-KR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</a:br>
            <a:r>
              <a:rPr lang="ko-KR" altLang="en-US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프레젠테이션을 완성할 수 있습니다</a:t>
            </a:r>
            <a:r>
              <a:rPr lang="en-US" altLang="ko-KR" sz="105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A03FD7C-675C-95BF-F1C3-10F64D70A84A}"/>
              </a:ext>
            </a:extLst>
          </p:cNvPr>
          <p:cNvSpPr/>
          <p:nvPr/>
        </p:nvSpPr>
        <p:spPr>
          <a:xfrm>
            <a:off x="7959509" y="3081277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상세 타이틀을 입력하세요</a:t>
            </a:r>
            <a:endParaRPr lang="ko-KR" altLang="en-US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52E4835A-349A-EE1F-5AB5-A342DA1E06CB}"/>
              </a:ext>
            </a:extLst>
          </p:cNvPr>
          <p:cNvCxnSpPr>
            <a:cxnSpLocks/>
          </p:cNvCxnSpPr>
          <p:nvPr/>
        </p:nvCxnSpPr>
        <p:spPr>
          <a:xfrm>
            <a:off x="8073809" y="2976502"/>
            <a:ext cx="2476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05478FF-BDD1-4B49-EC72-8B19C0B2DF09}"/>
              </a:ext>
            </a:extLst>
          </p:cNvPr>
          <p:cNvSpPr/>
          <p:nvPr/>
        </p:nvSpPr>
        <p:spPr>
          <a:xfrm>
            <a:off x="11310937" y="6307189"/>
            <a:ext cx="1762125" cy="30736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.9</a:t>
            </a:r>
            <a:endParaRPr lang="ko-KR" altLang="en-US" sz="1000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148BEEA-B10D-A50F-8100-AF7EE1056B69}"/>
              </a:ext>
            </a:extLst>
          </p:cNvPr>
          <p:cNvSpPr/>
          <p:nvPr/>
        </p:nvSpPr>
        <p:spPr>
          <a:xfrm>
            <a:off x="-1223962" y="93510"/>
            <a:ext cx="4930652" cy="603369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accent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                     예측 결과</a:t>
            </a:r>
            <a:endParaRPr lang="en-US" altLang="ko-KR" dirty="0">
              <a:solidFill>
                <a:schemeClr val="accent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651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개체 틀 6" descr="빛, 레이저이(가) 표시된 사진&#10;&#10;자동 생성된 설명">
            <a:extLst>
              <a:ext uri="{FF2B5EF4-FFF2-40B4-BE49-F238E27FC236}">
                <a16:creationId xmlns:a16="http://schemas.microsoft.com/office/drawing/2014/main" id="{9EA60598-6594-5E74-F6A4-114E36C7FC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" b="16"/>
          <a:stretch>
            <a:fillRect/>
          </a:stretch>
        </p:blipFill>
        <p:spPr/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5CB1B6-71BF-845A-2336-66979399E5BA}"/>
              </a:ext>
            </a:extLst>
          </p:cNvPr>
          <p:cNvSpPr txBox="1"/>
          <p:nvPr/>
        </p:nvSpPr>
        <p:spPr>
          <a:xfrm>
            <a:off x="3114675" y="1093136"/>
            <a:ext cx="5962650" cy="8402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lang="ko-KR" altLang="en-US" sz="6600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감사합니다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7F7AF4D2-1842-312B-04A4-A95CA5974FD7}"/>
              </a:ext>
            </a:extLst>
          </p:cNvPr>
          <p:cNvSpPr txBox="1">
            <a:spLocks/>
          </p:cNvSpPr>
          <p:nvPr/>
        </p:nvSpPr>
        <p:spPr>
          <a:xfrm>
            <a:off x="4261203" y="2045894"/>
            <a:ext cx="3669595" cy="3670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4800" kern="1200">
                <a:solidFill>
                  <a:schemeClr val="tx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defRPr>
            </a:lvl1pPr>
          </a:lstStyle>
          <a:p>
            <a:pPr algn="ctr"/>
            <a:endParaRPr lang="ko-KR" altLang="en-US" sz="24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9B7AA7-9049-EFAD-0691-3C8DEA4158A1}"/>
              </a:ext>
            </a:extLst>
          </p:cNvPr>
          <p:cNvSpPr/>
          <p:nvPr/>
        </p:nvSpPr>
        <p:spPr>
          <a:xfrm rot="5400000">
            <a:off x="6015038" y="-1131092"/>
            <a:ext cx="161925" cy="2424110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4632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테마">
  <a:themeElements>
    <a:clrScheme name="사용자 지정 809">
      <a:dk1>
        <a:sysClr val="windowText" lastClr="000000"/>
      </a:dk1>
      <a:lt1>
        <a:sysClr val="window" lastClr="FFFFFF"/>
      </a:lt1>
      <a:dk2>
        <a:srgbClr val="001621"/>
      </a:dk2>
      <a:lt2>
        <a:srgbClr val="CDFFF8"/>
      </a:lt2>
      <a:accent1>
        <a:srgbClr val="00FFDD"/>
      </a:accent1>
      <a:accent2>
        <a:srgbClr val="04DEFC"/>
      </a:accent2>
      <a:accent3>
        <a:srgbClr val="9AED13"/>
      </a:accent3>
      <a:accent4>
        <a:srgbClr val="EAEE3E"/>
      </a:accent4>
      <a:accent5>
        <a:srgbClr val="F7CA8D"/>
      </a:accent5>
      <a:accent6>
        <a:srgbClr val="0F55F1"/>
      </a:accent6>
      <a:hlink>
        <a:srgbClr val="467886"/>
      </a:hlink>
      <a:folHlink>
        <a:srgbClr val="96607D"/>
      </a:folHlink>
    </a:clrScheme>
    <a:fontScheme name="사용자 지정 562">
      <a:majorFont>
        <a:latin typeface="맑은 고딕"/>
        <a:ea typeface="Pretendard SemiBold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435</TotalTime>
  <Words>1193</Words>
  <Application>Microsoft Office PowerPoint</Application>
  <PresentationFormat>와이드스크린</PresentationFormat>
  <Paragraphs>240</Paragraphs>
  <Slides>22</Slides>
  <Notes>4</Notes>
  <HiddenSlides>2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Arial</vt:lpstr>
      <vt:lpstr>맑은 고딕</vt:lpstr>
      <vt:lpstr>HG꼬딕씨 60g</vt:lpstr>
      <vt:lpstr>HG꼬딕씨 40g</vt:lpstr>
      <vt:lpstr>HG꼬딕씨 80g</vt:lpstr>
      <vt:lpstr>Office 테마</vt:lpstr>
      <vt:lpstr>독보팀의 독보적인 기획안</vt:lpstr>
      <vt:lpstr>PowerPoint 프레젠테이션</vt:lpstr>
      <vt:lpstr>PowerPoint 프레젠테이션</vt:lpstr>
      <vt:lpstr>PowerPoint 프레젠테이션</vt:lpstr>
      <vt:lpstr>네트워크</vt:lpstr>
      <vt:lpstr>네트워크 물리 구성도</vt:lpstr>
      <vt:lpstr>네트워크 논리 구성도</vt:lpstr>
      <vt:lpstr>네트워크 기술 리스트</vt:lpstr>
      <vt:lpstr>        서버</vt:lpstr>
      <vt:lpstr>서버 구성도</vt:lpstr>
      <vt:lpstr>서버 구성도</vt:lpstr>
      <vt:lpstr>서버 구성도</vt:lpstr>
      <vt:lpstr>서버 흐름도</vt:lpstr>
      <vt:lpstr>서버 기술 리스트</vt:lpstr>
      <vt:lpstr>    파이썬</vt:lpstr>
      <vt:lpstr>파이썬 기술 설명</vt:lpstr>
      <vt:lpstr>파이썬 기술 설명</vt:lpstr>
      <vt:lpstr>사용 환경</vt:lpstr>
      <vt:lpstr>PowerPoint 프레젠테이션</vt:lpstr>
      <vt:lpstr>예측 결과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TJ</dc:creator>
  <cp:lastModifiedBy>TJ</cp:lastModifiedBy>
  <cp:revision>27</cp:revision>
  <dcterms:created xsi:type="dcterms:W3CDTF">2024-08-08T03:38:21Z</dcterms:created>
  <dcterms:modified xsi:type="dcterms:W3CDTF">2025-11-02T12:38:14Z</dcterms:modified>
</cp:coreProperties>
</file>