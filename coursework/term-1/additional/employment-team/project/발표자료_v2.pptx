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63" r:id="rId5"/>
    <p:sldId id="258" r:id="rId6"/>
    <p:sldId id="259" r:id="rId7"/>
    <p:sldId id="262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4" r:id="rId18"/>
    <p:sldId id="275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20" r:id="rId34"/>
    <p:sldId id="321" r:id="rId35"/>
    <p:sldId id="322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2" y="1026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presProps" Target="presProps.xml"  /><Relationship Id="rId38" Type="http://schemas.openxmlformats.org/officeDocument/2006/relationships/viewProps" Target="viewProps.xml"  /><Relationship Id="rId39" Type="http://schemas.openxmlformats.org/officeDocument/2006/relationships/theme" Target="theme/theme1.xml"  /><Relationship Id="rId4" Type="http://schemas.openxmlformats.org/officeDocument/2006/relationships/slide" Target="slides/slide2.xml"  /><Relationship Id="rId40" Type="http://schemas.openxmlformats.org/officeDocument/2006/relationships/tableStyles" Target="tableStyles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9491596-B74A-43ED-AE7C-16E4F1FA5DAC}" type="datetime1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A2337025-AB64-455D-98DE-0944E18D9E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766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0525F-E360-11E5-058B-9D8D3F7A9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BDDD38-ECA7-8F42-CB5F-5B06352CD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FFE394-8894-E8C2-B197-DC7044718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B2FDFF-C663-88BF-6008-4FAACF35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38031C-2F66-AE3F-7316-E23DC82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993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A9F84-ADF4-74AC-9DE2-D0FCAB3C3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D4D4AA-7116-BCFE-175B-686B0B3F2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48C9ED-DC8E-407A-FB7C-BE1AE89D2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C49EA5-85FD-5DB3-B360-11B0529E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2D4C8F-E9D5-FA30-DFDF-27E4E275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9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F01B6-53C8-E78A-1CF9-209C5C38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DCBFCB-75F6-B4C9-0838-FEC6E1204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4C287-562D-FADC-E14F-6B9EDAE8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0692E4-BA6A-5B14-398C-A1E0D907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6158F4-EAE4-0E73-DA9A-1BBCFC698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36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6FC08-9C38-64C0-7E3D-6D8A71B8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9394C-3B0C-19D1-9DE0-A2532ECCD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74D018-B81D-3F70-7A8F-90FCF61AA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5DB138-8C00-D19A-2487-9230FBD6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88FF77-5A69-8674-4587-13417B1F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348492-3A54-375D-3099-8A4CE350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14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0EEA9B-7741-28AD-14FB-3783724ED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BAE9EF-61C2-B802-819B-C9245A5FD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2C15E-940D-A038-E898-E891B85FD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8E62A8-A8FC-6082-B75A-064D607D1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DF0C68-6C88-476A-B5BD-F90A6529C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16951D-83A4-0206-3E8F-E2BBDB95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1D4DFB-2D6D-1AAD-FDB5-60097104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A2A0C42-9158-13B9-660B-638A6278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08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C85E7-3D52-4D2A-8A65-848DF7D48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10E49D-0D1D-12BE-1C19-084B14A85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C56EEB-7B84-AF18-CBED-D3B2517F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371449-3823-4B02-825C-92510DC9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32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FA432D-F9AE-04B9-D142-10E8EAA2C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0D8503-0E2B-C848-06A7-C347D261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1440BA-6AF5-D118-0803-85B3DF41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607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BB02F-DBFC-F6A8-486F-973C5CE9E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427B6C-9089-4608-6FE1-CAFE25044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193F31-1640-E916-D2AB-2E66CF0B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7D347E-DE40-8BCE-229F-1F49B8AB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020CC6-2E73-83B6-0E9A-7EF8AB48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1DC20D-1FAA-0E23-3AFC-0D7CE36F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33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E38D8-ECB4-3753-93E5-929DA354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D9F59B-7077-FAEA-F5D8-C2332DC74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4A1A94-4D26-A81D-C8E3-9FD1741B9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F41CEA-4BE2-D220-AC83-13EB6D65E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8A64E6-B3C8-305E-38EF-A376382C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863663-6838-8074-8369-5BA9285A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02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9C2E1-4638-6036-CC68-F03227D6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515DAD-2E7B-C638-182A-311EB8049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9BFA4-C640-718D-98C7-FB8F8C519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B64973-BB91-9F0C-122A-F799857D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10CC8-1CB6-34FB-755A-0F93385F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783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367D4E-4CAA-33DC-DEDF-7E47ECD8B0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EA5C92-828F-3F26-4F8D-048157698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3A6E68-CDD5-0DFE-2C89-5E8ED342F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A5EE22-F5F4-982D-45A0-071AC9772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E134F3-4284-0EF1-5238-956DD5FC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443123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85DF0C-B37A-1CE3-9D6A-BDBDB20C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7BDB7C-C240-F4BE-FF4E-8B6B9CDE4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EBFC84-2525-812C-F237-947D91A6B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B3AA4-B80A-44D7-B45E-4FF93F3F77BC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E7FDD-713E-6998-1969-8B8A0273F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2DB176-B3FA-CEE4-E66A-075C6D963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58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9.gif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Relationship Id="rId6" Type="http://schemas.openxmlformats.org/officeDocument/2006/relationships/image" Target="../media/image1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gif" 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Relationship Id="rId5" Type="http://schemas.openxmlformats.org/officeDocument/2006/relationships/image" Target="../media/image2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7.png"  /><Relationship Id="rId3" Type="http://schemas.openxmlformats.org/officeDocument/2006/relationships/image" Target="../media/image27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8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9.png"  /><Relationship Id="rId3" Type="http://schemas.openxmlformats.org/officeDocument/2006/relationships/image" Target="../media/image29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30.png"  /><Relationship Id="rId3" Type="http://schemas.openxmlformats.org/officeDocument/2006/relationships/image" Target="../media/image3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4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5.png"  /><Relationship Id="rId3" Type="http://schemas.openxmlformats.org/officeDocument/2006/relationships/image" Target="../media/image36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7.png"  /><Relationship Id="rId3" Type="http://schemas.openxmlformats.org/officeDocument/2006/relationships/image" Target="../media/image38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9.png"  /><Relationship Id="rId3" Type="http://schemas.openxmlformats.org/officeDocument/2006/relationships/image" Target="../media/image40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1.png"  /><Relationship Id="rId3" Type="http://schemas.openxmlformats.org/officeDocument/2006/relationships/image" Target="../media/image42.png"  /><Relationship Id="rId4" Type="http://schemas.openxmlformats.org/officeDocument/2006/relationships/image" Target="../media/image43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4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5.png"  /><Relationship Id="rId3" Type="http://schemas.openxmlformats.org/officeDocument/2006/relationships/image" Target="../media/image46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47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334AA-4680-CF84-5422-FED5A22E4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1494" y="192505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1</a:t>
            </a:r>
            <a:r>
              <a:rPr lang="ko-KR" altLang="en-US" b="1" dirty="0"/>
              <a:t>차 프로젝트 결과보고서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B5D7F6-6A07-CFE0-E4D9-011EDE315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718426"/>
            <a:ext cx="9144000" cy="1655762"/>
          </a:xfrm>
        </p:spPr>
        <p:txBody>
          <a:bodyPr>
            <a:normAutofit fontScale="92500" lnSpcReduction="20000"/>
          </a:bodyPr>
          <a:lstStyle/>
          <a:p>
            <a:pPr fontAlgn="base" latinLnBrk="0"/>
            <a:r>
              <a:rPr lang="ko-KR" altLang="en-US" b="1" dirty="0"/>
              <a:t>보안사고 해결 시나리오의 구현을 통한</a:t>
            </a:r>
            <a:endParaRPr lang="ko-KR" altLang="en-US" dirty="0"/>
          </a:p>
          <a:p>
            <a:pPr fontAlgn="base" latinLnBrk="0"/>
            <a:r>
              <a:rPr lang="ko-KR" altLang="en-US" b="1" dirty="0"/>
              <a:t>네트워크 및 서버 관리 역량 강화</a:t>
            </a:r>
            <a:endParaRPr lang="ko-KR" altLang="en-US" dirty="0"/>
          </a:p>
          <a:p>
            <a:pPr algn="r" fontAlgn="base" latinLnBrk="0"/>
            <a:r>
              <a:rPr lang="en-US" altLang="ko-KR" sz="1800" b="1" dirty="0"/>
              <a:t>Team : </a:t>
            </a:r>
            <a:r>
              <a:rPr lang="ko-KR" altLang="en-US" sz="1800" b="1" dirty="0" err="1"/>
              <a:t>취업할래말래</a:t>
            </a:r>
            <a:endParaRPr lang="ko-KR" altLang="en-US" sz="1800" dirty="0"/>
          </a:p>
          <a:p>
            <a:pPr algn="r" fontAlgn="base" latinLnBrk="0"/>
            <a:r>
              <a:rPr lang="ko-KR" altLang="en-US" sz="1800" b="1" dirty="0"/>
              <a:t>팀장 </a:t>
            </a:r>
            <a:r>
              <a:rPr lang="en-US" altLang="ko-KR" sz="1800" b="1" dirty="0"/>
              <a:t>: </a:t>
            </a:r>
            <a:r>
              <a:rPr lang="ko-KR" altLang="en-US" sz="1800" b="1" dirty="0"/>
              <a:t>지상</a:t>
            </a:r>
            <a:endParaRPr lang="ko-KR" altLang="en-US" sz="1800" dirty="0"/>
          </a:p>
          <a:p>
            <a:pPr algn="r" fontAlgn="base" latinLnBrk="0"/>
            <a:r>
              <a:rPr lang="ko-KR" altLang="en-US" sz="1800" b="1" dirty="0"/>
              <a:t>팀원 </a:t>
            </a:r>
            <a:r>
              <a:rPr lang="en-US" altLang="ko-KR" sz="1800" b="1" dirty="0"/>
              <a:t>: </a:t>
            </a:r>
            <a:r>
              <a:rPr lang="ko-KR" altLang="en-US" sz="1800" b="1" dirty="0"/>
              <a:t>현지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지형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혜원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한얼</a:t>
            </a:r>
            <a:endParaRPr lang="ko-KR" altLang="en-US" sz="1800" dirty="0"/>
          </a:p>
          <a:p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E36A890-285B-12D8-11A5-B0B85C94D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2505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33562776">
            <a:extLst>
              <a:ext uri="{FF2B5EF4-FFF2-40B4-BE49-F238E27FC236}">
                <a16:creationId xmlns:a16="http://schemas.microsoft.com/office/drawing/2014/main" id="{BD14A6BD-47E9-D0EB-C838-AD897AFA7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518" y="1052721"/>
            <a:ext cx="5668963" cy="334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37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50016-D6D5-6EC5-CB7F-06A01E41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5C44E5-8ADE-1E71-46A9-C578C7BAB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294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55663-E3B2-2239-1DF0-BCA78446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dirty="0"/>
              <a:t>1. </a:t>
            </a:r>
            <a:r>
              <a:rPr lang="ko-KR" altLang="en-US" sz="5400" dirty="0"/>
              <a:t>네트워크 구성도</a:t>
            </a:r>
          </a:p>
        </p:txBody>
      </p:sp>
    </p:spTree>
    <p:extLst>
      <p:ext uri="{BB962C8B-B14F-4D97-AF65-F5344CB8AC3E}">
        <p14:creationId xmlns:p14="http://schemas.microsoft.com/office/powerpoint/2010/main" val="152831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07080-1E6A-1476-CDC6-EB33A7F2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 논리 구성도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48A9F7-5740-FAFE-493C-928AA0C7E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42A316-7654-E694-8400-DCF41119D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0781" y="130968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233561096">
            <a:extLst>
              <a:ext uri="{FF2B5EF4-FFF2-40B4-BE49-F238E27FC236}">
                <a16:creationId xmlns:a16="http://schemas.microsoft.com/office/drawing/2014/main" id="{FBF733D5-EF86-7105-297D-29C697C7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72" y="1309687"/>
            <a:ext cx="10369455" cy="497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028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AEFF8-19BD-A2FB-A9DA-D048F1D4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 물리 구성도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D5D295-60E7-F6A3-7840-852947FBF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5162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055F071-2401-CC5A-D02E-91B6DFB9C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95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7" name="_x233561176">
            <a:extLst>
              <a:ext uri="{FF2B5EF4-FFF2-40B4-BE49-F238E27FC236}">
                <a16:creationId xmlns:a16="http://schemas.microsoft.com/office/drawing/2014/main" id="{456AED3C-D529-9377-2426-FF6C9C9FA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2" y="1248568"/>
            <a:ext cx="9909175" cy="572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72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4C6B9-D32B-EF52-6D05-718AE482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214" y="2268991"/>
            <a:ext cx="10105571" cy="2320018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2. </a:t>
            </a:r>
            <a:r>
              <a:rPr lang="ko-KR" altLang="en-US" sz="5400" b="1" dirty="0"/>
              <a:t>네트워크 구역별 구축 결과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573399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BC38FE3-29CF-A966-75F5-F6B7DC6D2D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008882"/>
              </p:ext>
            </p:extLst>
          </p:nvPr>
        </p:nvGraphicFramePr>
        <p:xfrm>
          <a:off x="1543696" y="156755"/>
          <a:ext cx="9572796" cy="6412702"/>
        </p:xfrm>
        <a:graphic>
          <a:graphicData uri="http://schemas.openxmlformats.org/drawingml/2006/table">
            <a:tbl>
              <a:tblPr/>
              <a:tblGrid>
                <a:gridCol w="1332272">
                  <a:extLst>
                    <a:ext uri="{9D8B030D-6E8A-4147-A177-3AD203B41FA5}">
                      <a16:colId xmlns:a16="http://schemas.microsoft.com/office/drawing/2014/main" val="1147670498"/>
                    </a:ext>
                  </a:extLst>
                </a:gridCol>
                <a:gridCol w="4172814">
                  <a:extLst>
                    <a:ext uri="{9D8B030D-6E8A-4147-A177-3AD203B41FA5}">
                      <a16:colId xmlns:a16="http://schemas.microsoft.com/office/drawing/2014/main" val="4108862225"/>
                    </a:ext>
                  </a:extLst>
                </a:gridCol>
                <a:gridCol w="4067710">
                  <a:extLst>
                    <a:ext uri="{9D8B030D-6E8A-4147-A177-3AD203B41FA5}">
                      <a16:colId xmlns:a16="http://schemas.microsoft.com/office/drawing/2014/main" val="2034365612"/>
                    </a:ext>
                  </a:extLst>
                </a:gridCol>
              </a:tblGrid>
              <a:tr h="31223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네트워크 전체 구성도 구축 결과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1091"/>
                  </a:ext>
                </a:extLst>
              </a:tr>
              <a:tr h="4287561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416532"/>
                  </a:ext>
                </a:extLst>
              </a:tr>
              <a:tr h="4448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442474"/>
                  </a:ext>
                </a:extLst>
              </a:tr>
              <a:tr h="3837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Static Routing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네트워크 경로를 명확히 통제하고 일관된 트래픽 흐름을 유지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일관된 경로 선택과 보안성을 제공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957637"/>
                  </a:ext>
                </a:extLst>
              </a:tr>
              <a:tr h="60047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Summary Routing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같은 경로로 전달되는 네트워크 대역을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supernet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하여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라우팅 설정 최소화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축약 가능한 네트워크 대역이 같은 경로 이용 시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한 번에 지정 가능 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805869"/>
                  </a:ext>
                </a:extLst>
              </a:tr>
              <a:tr h="3837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Default Routing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정의되지 않은 목적지 트래픽을 처리하기 위함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알 수 없는 목적지로 향하는 패킷을 지정된 기본 경로를 통해 전달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134975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4634BF64-34E2-231B-7B9E-A808713ED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467" y="550759"/>
            <a:ext cx="13035267" cy="537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_x233561496">
            <a:extLst>
              <a:ext uri="{FF2B5EF4-FFF2-40B4-BE49-F238E27FC236}">
                <a16:creationId xmlns:a16="http://schemas.microsoft.com/office/drawing/2014/main" id="{96D3D637-01A8-54DD-059C-763D714D3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6291"/>
          <a:stretch>
            <a:fillRect/>
          </a:stretch>
        </p:blipFill>
        <p:spPr bwMode="auto">
          <a:xfrm>
            <a:off x="2225674" y="550759"/>
            <a:ext cx="8208839" cy="411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8B1362B-0686-687D-31ED-8DA885475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467" y="1153742"/>
            <a:ext cx="13035267" cy="25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914267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FAE0B758-903B-6934-50E2-090313AE0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654924"/>
              </p:ext>
            </p:extLst>
          </p:nvPr>
        </p:nvGraphicFramePr>
        <p:xfrm>
          <a:off x="439838" y="220221"/>
          <a:ext cx="11134846" cy="6453296"/>
        </p:xfrm>
        <a:graphic>
          <a:graphicData uri="http://schemas.openxmlformats.org/drawingml/2006/table">
            <a:tbl>
              <a:tblPr/>
              <a:tblGrid>
                <a:gridCol w="1984048">
                  <a:extLst>
                    <a:ext uri="{9D8B030D-6E8A-4147-A177-3AD203B41FA5}">
                      <a16:colId xmlns:a16="http://schemas.microsoft.com/office/drawing/2014/main" val="3174762485"/>
                    </a:ext>
                  </a:extLst>
                </a:gridCol>
                <a:gridCol w="3108813">
                  <a:extLst>
                    <a:ext uri="{9D8B030D-6E8A-4147-A177-3AD203B41FA5}">
                      <a16:colId xmlns:a16="http://schemas.microsoft.com/office/drawing/2014/main" val="1848900712"/>
                    </a:ext>
                  </a:extLst>
                </a:gridCol>
                <a:gridCol w="393539">
                  <a:extLst>
                    <a:ext uri="{9D8B030D-6E8A-4147-A177-3AD203B41FA5}">
                      <a16:colId xmlns:a16="http://schemas.microsoft.com/office/drawing/2014/main" val="2565430353"/>
                    </a:ext>
                  </a:extLst>
                </a:gridCol>
                <a:gridCol w="561648">
                  <a:extLst>
                    <a:ext uri="{9D8B030D-6E8A-4147-A177-3AD203B41FA5}">
                      <a16:colId xmlns:a16="http://schemas.microsoft.com/office/drawing/2014/main" val="261346284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232403308"/>
                    </a:ext>
                  </a:extLst>
                </a:gridCol>
                <a:gridCol w="3925655">
                  <a:extLst>
                    <a:ext uri="{9D8B030D-6E8A-4147-A177-3AD203B41FA5}">
                      <a16:colId xmlns:a16="http://schemas.microsoft.com/office/drawing/2014/main" val="1381712691"/>
                    </a:ext>
                  </a:extLst>
                </a:gridCol>
              </a:tblGrid>
              <a:tr h="3370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/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936557"/>
                  </a:ext>
                </a:extLst>
              </a:tr>
              <a:tr h="1901913">
                <a:tc rowSpan="3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R1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499665"/>
                  </a:ext>
                </a:extLst>
              </a:tr>
              <a:tr h="110181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R3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098960"/>
                  </a:ext>
                </a:extLst>
              </a:tr>
              <a:tr h="169062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R5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984855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734204"/>
                  </a:ext>
                </a:extLst>
              </a:tr>
              <a:tr h="110842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Frame-Relay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Multipoint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이용한 네트워크 대역 절약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endParaRPr lang="en-US" sz="7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FRSW1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각 라우터마다 하나의 회선으로 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여러 포트인 것처럼 사용 가능하게 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390524"/>
                  </a:ext>
                </a:extLst>
              </a:tr>
            </a:tbl>
          </a:graphicData>
        </a:graphic>
      </p:graphicFrame>
      <p:pic>
        <p:nvPicPr>
          <p:cNvPr id="8201" name="_x233561656">
            <a:extLst>
              <a:ext uri="{FF2B5EF4-FFF2-40B4-BE49-F238E27FC236}">
                <a16:creationId xmlns:a16="http://schemas.microsoft.com/office/drawing/2014/main" id="{80F10B5A-405B-552F-4696-A8777DB3C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"/>
          <a:stretch>
            <a:fillRect/>
          </a:stretch>
        </p:blipFill>
        <p:spPr bwMode="auto">
          <a:xfrm>
            <a:off x="498715" y="1260387"/>
            <a:ext cx="5010834" cy="35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_x233559096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524843" y="614459"/>
            <a:ext cx="4849142" cy="1842876"/>
          </a:xfrm>
          <a:prstGeom prst="rect">
            <a:avLst/>
          </a:prstGeom>
          <a:noFill/>
        </p:spPr>
      </p:pic>
      <p:pic>
        <p:nvPicPr>
          <p:cNvPr id="8199" name="_x148413728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24842" y="2485791"/>
            <a:ext cx="4849142" cy="1101677"/>
          </a:xfrm>
          <a:prstGeom prst="rect">
            <a:avLst/>
          </a:prstGeom>
          <a:noFill/>
        </p:spPr>
      </p:pic>
      <p:pic>
        <p:nvPicPr>
          <p:cNvPr id="8198" name="_x237389992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007261" y="3566649"/>
            <a:ext cx="5494045" cy="1672927"/>
          </a:xfrm>
          <a:prstGeom prst="rect">
            <a:avLst/>
          </a:prstGeom>
          <a:noFill/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3C841671-30A6-1334-D1DA-E25344BB3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984" y="50958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075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55C51F2-479E-336A-0403-1BDDA6262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695694"/>
              </p:ext>
            </p:extLst>
          </p:nvPr>
        </p:nvGraphicFramePr>
        <p:xfrm>
          <a:off x="298215" y="245568"/>
          <a:ext cx="11595569" cy="6366864"/>
        </p:xfrm>
        <a:graphic>
          <a:graphicData uri="http://schemas.openxmlformats.org/drawingml/2006/table">
            <a:tbl>
              <a:tblPr/>
              <a:tblGrid>
                <a:gridCol w="1506404">
                  <a:extLst>
                    <a:ext uri="{9D8B030D-6E8A-4147-A177-3AD203B41FA5}">
                      <a16:colId xmlns:a16="http://schemas.microsoft.com/office/drawing/2014/main" val="874611176"/>
                    </a:ext>
                  </a:extLst>
                </a:gridCol>
                <a:gridCol w="4349438">
                  <a:extLst>
                    <a:ext uri="{9D8B030D-6E8A-4147-A177-3AD203B41FA5}">
                      <a16:colId xmlns:a16="http://schemas.microsoft.com/office/drawing/2014/main" val="3230075080"/>
                    </a:ext>
                  </a:extLst>
                </a:gridCol>
                <a:gridCol w="696686">
                  <a:extLst>
                    <a:ext uri="{9D8B030D-6E8A-4147-A177-3AD203B41FA5}">
                      <a16:colId xmlns:a16="http://schemas.microsoft.com/office/drawing/2014/main" val="452646800"/>
                    </a:ext>
                  </a:extLst>
                </a:gridCol>
                <a:gridCol w="5043041">
                  <a:extLst>
                    <a:ext uri="{9D8B030D-6E8A-4147-A177-3AD203B41FA5}">
                      <a16:colId xmlns:a16="http://schemas.microsoft.com/office/drawing/2014/main" val="1412729706"/>
                    </a:ext>
                  </a:extLst>
                </a:gridCol>
              </a:tblGrid>
              <a:tr h="52456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413603"/>
                  </a:ext>
                </a:extLst>
              </a:tr>
              <a:tr h="358412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200" b="1" kern="10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CHAP</a:t>
                      </a:r>
                      <a:endParaRPr 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2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(Wireshark </a:t>
                      </a: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캡처</a:t>
                      </a:r>
                      <a:r>
                        <a:rPr lang="en-US" altLang="ko-KR" sz="12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43579"/>
                  </a:ext>
                </a:extLst>
              </a:tr>
              <a:tr h="5245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788283"/>
                  </a:ext>
                </a:extLst>
              </a:tr>
              <a:tr h="8668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CHAP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3WAY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인증 방식으로 라우터 간에 확인된 라우터만 연결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R7, R8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해킹동아리에서 경찰서로 이어지는 라우터와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신뢰성 있는 통신 가능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956965"/>
                  </a:ext>
                </a:extLst>
              </a:tr>
              <a:tr h="8668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NAT(access-list)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해킹 동아리 쪽 네트워크 대역이 사설 대역이므로 외부와 통신 시 공인 대역으로 변환하기 위함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R8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사설 네트워크 대역과 공인 네트워크 대역 매핑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644840"/>
                  </a:ext>
                </a:extLst>
              </a:tr>
            </a:tbl>
          </a:graphicData>
        </a:graphic>
      </p:graphicFrame>
      <p:pic>
        <p:nvPicPr>
          <p:cNvPr id="9218" name="_x233556296">
            <a:extLst>
              <a:ext uri="{FF2B5EF4-FFF2-40B4-BE49-F238E27FC236}">
                <a16:creationId xmlns:a16="http://schemas.microsoft.com/office/drawing/2014/main" id="{8A5D3238-679F-6B29-D7DE-C6E3298EE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960" y="799566"/>
            <a:ext cx="4198679" cy="348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7" name="_x148413488">
            <a:extLst>
              <a:ext uri="{FF2B5EF4-FFF2-40B4-BE49-F238E27FC236}">
                <a16:creationId xmlns:a16="http://schemas.microsoft.com/office/drawing/2014/main" id="{09ED57A7-3A56-B8EE-977D-98447D436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363" y="1565194"/>
            <a:ext cx="4987811" cy="178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3345669A-09AF-0B81-4921-B418E79CE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6978" y="11079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032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4218D52-BF49-1883-F579-29422FB33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740352"/>
              </p:ext>
            </p:extLst>
          </p:nvPr>
        </p:nvGraphicFramePr>
        <p:xfrm>
          <a:off x="187806" y="278198"/>
          <a:ext cx="11816387" cy="6301603"/>
        </p:xfrm>
        <a:graphic>
          <a:graphicData uri="http://schemas.openxmlformats.org/drawingml/2006/table">
            <a:tbl>
              <a:tblPr/>
              <a:tblGrid>
                <a:gridCol w="1235852">
                  <a:extLst>
                    <a:ext uri="{9D8B030D-6E8A-4147-A177-3AD203B41FA5}">
                      <a16:colId xmlns:a16="http://schemas.microsoft.com/office/drawing/2014/main" val="916382943"/>
                    </a:ext>
                  </a:extLst>
                </a:gridCol>
                <a:gridCol w="3415963">
                  <a:extLst>
                    <a:ext uri="{9D8B030D-6E8A-4147-A177-3AD203B41FA5}">
                      <a16:colId xmlns:a16="http://schemas.microsoft.com/office/drawing/2014/main" val="1070174390"/>
                    </a:ext>
                  </a:extLst>
                </a:gridCol>
                <a:gridCol w="795794">
                  <a:extLst>
                    <a:ext uri="{9D8B030D-6E8A-4147-A177-3AD203B41FA5}">
                      <a16:colId xmlns:a16="http://schemas.microsoft.com/office/drawing/2014/main" val="1673601454"/>
                    </a:ext>
                  </a:extLst>
                </a:gridCol>
                <a:gridCol w="6368778">
                  <a:extLst>
                    <a:ext uri="{9D8B030D-6E8A-4147-A177-3AD203B41FA5}">
                      <a16:colId xmlns:a16="http://schemas.microsoft.com/office/drawing/2014/main" val="1461738990"/>
                    </a:ext>
                  </a:extLst>
                </a:gridCol>
              </a:tblGrid>
              <a:tr h="42832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638801"/>
                  </a:ext>
                </a:extLst>
              </a:tr>
              <a:tr h="1173730">
                <a:tc rowSpan="3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SW3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48791"/>
                  </a:ext>
                </a:extLst>
              </a:tr>
              <a:tr h="118375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SW4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740005"/>
                  </a:ext>
                </a:extLst>
              </a:tr>
              <a:tr h="171620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SW10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(Root)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272072"/>
                  </a:ext>
                </a:extLst>
              </a:tr>
              <a:tr h="5561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43089"/>
                  </a:ext>
                </a:extLst>
              </a:tr>
              <a:tr h="414467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STP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(Spanning Tree Protocol)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링구조로 연결된 스위치에 패킷이 전달될 무한 </a:t>
                      </a:r>
                      <a:r>
                        <a:rPr lang="ko-KR" altLang="en-US" sz="1400" kern="0" spc="-3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루핑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현상 방지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ESW3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스위치의 포트 중에서 우선순위가 낮은 포트를 차단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157256"/>
                  </a:ext>
                </a:extLst>
              </a:tr>
              <a:tr h="414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ESW4 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369104"/>
                  </a:ext>
                </a:extLst>
              </a:tr>
              <a:tr h="414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ESW10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837489"/>
                  </a:ext>
                </a:extLst>
              </a:tr>
            </a:tbl>
          </a:graphicData>
        </a:graphic>
      </p:graphicFrame>
      <p:pic>
        <p:nvPicPr>
          <p:cNvPr id="10245" name="_x203943592">
            <a:extLst>
              <a:ext uri="{FF2B5EF4-FFF2-40B4-BE49-F238E27FC236}">
                <a16:creationId xmlns:a16="http://schemas.microsoft.com/office/drawing/2014/main" id="{930B4A35-4BF0-9D15-581D-501C424C5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8" r="21864" b="8383"/>
          <a:stretch>
            <a:fillRect/>
          </a:stretch>
        </p:blipFill>
        <p:spPr bwMode="auto">
          <a:xfrm>
            <a:off x="247277" y="1125651"/>
            <a:ext cx="4452431" cy="3638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_x233558696">
            <a:extLst>
              <a:ext uri="{FF2B5EF4-FFF2-40B4-BE49-F238E27FC236}">
                <a16:creationId xmlns:a16="http://schemas.microsoft.com/office/drawing/2014/main" id="{61606A08-1BCE-FD0B-4FCB-241B345C2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7" b="10945"/>
          <a:stretch>
            <a:fillRect/>
          </a:stretch>
        </p:blipFill>
        <p:spPr bwMode="auto">
          <a:xfrm>
            <a:off x="5666246" y="944161"/>
            <a:ext cx="6278476" cy="63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_x47185304">
            <a:extLst>
              <a:ext uri="{FF2B5EF4-FFF2-40B4-BE49-F238E27FC236}">
                <a16:creationId xmlns:a16="http://schemas.microsoft.com/office/drawing/2014/main" id="{119B9184-9367-6B78-0BC3-D818543A9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19" b="18121"/>
          <a:stretch>
            <a:fillRect/>
          </a:stretch>
        </p:blipFill>
        <p:spPr bwMode="auto">
          <a:xfrm>
            <a:off x="5683696" y="2181490"/>
            <a:ext cx="6261026" cy="535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_x207324168">
            <a:extLst>
              <a:ext uri="{FF2B5EF4-FFF2-40B4-BE49-F238E27FC236}">
                <a16:creationId xmlns:a16="http://schemas.microsoft.com/office/drawing/2014/main" id="{83C73F21-D136-B048-5034-D024540C9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285" y="3165717"/>
            <a:ext cx="3841149" cy="57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1" name="_x207326088">
            <a:extLst>
              <a:ext uri="{FF2B5EF4-FFF2-40B4-BE49-F238E27FC236}">
                <a16:creationId xmlns:a16="http://schemas.microsoft.com/office/drawing/2014/main" id="{71B60CCD-AB73-7E5C-2A6E-ABF516760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9" b="12050"/>
          <a:stretch>
            <a:fillRect/>
          </a:stretch>
        </p:blipFill>
        <p:spPr bwMode="auto">
          <a:xfrm>
            <a:off x="5750284" y="3744135"/>
            <a:ext cx="6194438" cy="92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8189FB84-C6C0-FCE8-1691-CA426B2BC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876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182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130220B-56DD-6C9F-DBAF-4C607A1FE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753983"/>
              </p:ext>
            </p:extLst>
          </p:nvPr>
        </p:nvGraphicFramePr>
        <p:xfrm>
          <a:off x="296779" y="292319"/>
          <a:ext cx="11598441" cy="6441326"/>
        </p:xfrm>
        <a:graphic>
          <a:graphicData uri="http://schemas.openxmlformats.org/drawingml/2006/table">
            <a:tbl>
              <a:tblPr/>
              <a:tblGrid>
                <a:gridCol w="1246097">
                  <a:extLst>
                    <a:ext uri="{9D8B030D-6E8A-4147-A177-3AD203B41FA5}">
                      <a16:colId xmlns:a16="http://schemas.microsoft.com/office/drawing/2014/main" val="2065845456"/>
                    </a:ext>
                  </a:extLst>
                </a:gridCol>
                <a:gridCol w="3478303">
                  <a:extLst>
                    <a:ext uri="{9D8B030D-6E8A-4147-A177-3AD203B41FA5}">
                      <a16:colId xmlns:a16="http://schemas.microsoft.com/office/drawing/2014/main" val="1870395853"/>
                    </a:ext>
                  </a:extLst>
                </a:gridCol>
                <a:gridCol w="1876926">
                  <a:extLst>
                    <a:ext uri="{9D8B030D-6E8A-4147-A177-3AD203B41FA5}">
                      <a16:colId xmlns:a16="http://schemas.microsoft.com/office/drawing/2014/main" val="2050584530"/>
                    </a:ext>
                  </a:extLst>
                </a:gridCol>
                <a:gridCol w="4997115">
                  <a:extLst>
                    <a:ext uri="{9D8B030D-6E8A-4147-A177-3AD203B41FA5}">
                      <a16:colId xmlns:a16="http://schemas.microsoft.com/office/drawing/2014/main" val="4210451879"/>
                    </a:ext>
                  </a:extLst>
                </a:gridCol>
              </a:tblGrid>
              <a:tr h="23337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394977"/>
                  </a:ext>
                </a:extLst>
              </a:tr>
              <a:tr h="2582243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R2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(DHCP)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097444"/>
                  </a:ext>
                </a:extLst>
              </a:tr>
              <a:tr h="204110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R2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1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(PAT)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87505"/>
                  </a:ext>
                </a:extLst>
              </a:tr>
              <a:tr h="26862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1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54519"/>
                  </a:ext>
                </a:extLst>
              </a:tr>
              <a:tr h="4760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DHCP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buNone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하나의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DHCP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서버에서 연결된 각 장비에 자동으로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할당해주기 위함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buNone/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R2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buNone/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DHCP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서버로서 관제센터 내부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들의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주어진 대역에 맞춰 할당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777191"/>
                  </a:ext>
                </a:extLst>
              </a:tr>
              <a:tr h="6835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PAT</a:t>
                      </a:r>
                      <a:endParaRPr lang="en-US" sz="11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buNone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내부에서 사용하는 다수의 사설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외부와 통신할 때에는 하나의 공인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로 변환하여 사용할 수 있도록 함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buNone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관제센터에서 </a:t>
                      </a:r>
                      <a:r>
                        <a:rPr lang="ko-KR" altLang="en-US" sz="11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여러명이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각자의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로 업무를 하지만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80000"/>
                        </a:lnSpc>
                        <a:buNone/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외부 네트워크 통신시에는 하나의 관제센터 공인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로 통신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670520"/>
                  </a:ext>
                </a:extLst>
              </a:tr>
            </a:tbl>
          </a:graphicData>
        </a:graphic>
      </p:graphicFrame>
      <p:pic>
        <p:nvPicPr>
          <p:cNvPr id="11267" name="_x231863600">
            <a:extLst>
              <a:ext uri="{FF2B5EF4-FFF2-40B4-BE49-F238E27FC236}">
                <a16:creationId xmlns:a16="http://schemas.microsoft.com/office/drawing/2014/main" id="{59959091-C20F-D604-9498-A599B046F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9" y="1952625"/>
            <a:ext cx="4676618" cy="233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_x233556936">
            <a:extLst>
              <a:ext uri="{FF2B5EF4-FFF2-40B4-BE49-F238E27FC236}">
                <a16:creationId xmlns:a16="http://schemas.microsoft.com/office/drawing/2014/main" id="{E3823F44-A002-D18A-BB76-9F9079965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120273"/>
            <a:ext cx="4959785" cy="166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5" name="_x231866800">
            <a:extLst>
              <a:ext uri="{FF2B5EF4-FFF2-40B4-BE49-F238E27FC236}">
                <a16:creationId xmlns:a16="http://schemas.microsoft.com/office/drawing/2014/main" id="{BB7CCA2A-C93D-1659-9961-3DF3DFC9E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429000"/>
            <a:ext cx="4939772" cy="152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96A703E1-DB1D-362B-3DED-BA44A339B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52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365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689BBFA-A01A-92EE-7E6A-F8F2065FC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010309"/>
              </p:ext>
            </p:extLst>
          </p:nvPr>
        </p:nvGraphicFramePr>
        <p:xfrm>
          <a:off x="287258" y="322650"/>
          <a:ext cx="11617483" cy="6212700"/>
        </p:xfrm>
        <a:graphic>
          <a:graphicData uri="http://schemas.openxmlformats.org/drawingml/2006/table">
            <a:tbl>
              <a:tblPr/>
              <a:tblGrid>
                <a:gridCol w="1308029">
                  <a:extLst>
                    <a:ext uri="{9D8B030D-6E8A-4147-A177-3AD203B41FA5}">
                      <a16:colId xmlns:a16="http://schemas.microsoft.com/office/drawing/2014/main" val="3290034667"/>
                    </a:ext>
                  </a:extLst>
                </a:gridCol>
                <a:gridCol w="3714754">
                  <a:extLst>
                    <a:ext uri="{9D8B030D-6E8A-4147-A177-3AD203B41FA5}">
                      <a16:colId xmlns:a16="http://schemas.microsoft.com/office/drawing/2014/main" val="1858788209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14811900"/>
                    </a:ext>
                  </a:extLst>
                </a:gridCol>
                <a:gridCol w="6007325">
                  <a:extLst>
                    <a:ext uri="{9D8B030D-6E8A-4147-A177-3AD203B41FA5}">
                      <a16:colId xmlns:a16="http://schemas.microsoft.com/office/drawing/2014/main" val="3355568071"/>
                    </a:ext>
                  </a:extLst>
                </a:gridCol>
              </a:tblGrid>
              <a:tr h="5060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118763"/>
                  </a:ext>
                </a:extLst>
              </a:tr>
              <a:tr h="399410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R9</a:t>
                      </a:r>
                      <a:endParaRPr 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470002"/>
                  </a:ext>
                </a:extLst>
              </a:tr>
              <a:tr h="5626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583511"/>
                  </a:ext>
                </a:extLst>
              </a:tr>
              <a:tr h="11498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SSH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보안성을 강화한 원격 접속 프로토콜을 적용하여 비밀번호 노출 방지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R9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중학생 해킹동아리에서 비밀번호를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스니핑으로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알아낼 수 있었던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Telnet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의 보안취약점을 개선하여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해쉬함수로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암호화된 비밀번호로 원격접속을 구현함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908469"/>
                  </a:ext>
                </a:extLst>
              </a:tr>
            </a:tbl>
          </a:graphicData>
        </a:graphic>
      </p:graphicFrame>
      <p:pic>
        <p:nvPicPr>
          <p:cNvPr id="12290" name="_x231864480">
            <a:extLst>
              <a:ext uri="{FF2B5EF4-FFF2-40B4-BE49-F238E27FC236}">
                <a16:creationId xmlns:a16="http://schemas.microsoft.com/office/drawing/2014/main" id="{42E111C1-B6AA-9665-24B6-DF135D4C7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58" y="1062760"/>
            <a:ext cx="4892843" cy="3516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89" name="_x233560536">
            <a:extLst>
              <a:ext uri="{FF2B5EF4-FFF2-40B4-BE49-F238E27FC236}">
                <a16:creationId xmlns:a16="http://schemas.microsoft.com/office/drawing/2014/main" id="{C2404566-5179-D43B-2355-22C7D5D65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748" y="2028825"/>
            <a:ext cx="5970993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F4FC7C9-81FD-2A99-2C21-4413875BC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20288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662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B6D0511-F875-7A11-3BAC-180DBD415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383884"/>
              </p:ext>
            </p:extLst>
          </p:nvPr>
        </p:nvGraphicFramePr>
        <p:xfrm>
          <a:off x="193336" y="205555"/>
          <a:ext cx="11790116" cy="6446889"/>
        </p:xfrm>
        <a:graphic>
          <a:graphicData uri="http://schemas.openxmlformats.org/drawingml/2006/table">
            <a:tbl>
              <a:tblPr/>
              <a:tblGrid>
                <a:gridCol w="2073175">
                  <a:extLst>
                    <a:ext uri="{9D8B030D-6E8A-4147-A177-3AD203B41FA5}">
                      <a16:colId xmlns:a16="http://schemas.microsoft.com/office/drawing/2014/main" val="255696378"/>
                    </a:ext>
                  </a:extLst>
                </a:gridCol>
                <a:gridCol w="3556773">
                  <a:extLst>
                    <a:ext uri="{9D8B030D-6E8A-4147-A177-3AD203B41FA5}">
                      <a16:colId xmlns:a16="http://schemas.microsoft.com/office/drawing/2014/main" val="2156168231"/>
                    </a:ext>
                  </a:extLst>
                </a:gridCol>
                <a:gridCol w="2374232">
                  <a:extLst>
                    <a:ext uri="{9D8B030D-6E8A-4147-A177-3AD203B41FA5}">
                      <a16:colId xmlns:a16="http://schemas.microsoft.com/office/drawing/2014/main" val="346918148"/>
                    </a:ext>
                  </a:extLst>
                </a:gridCol>
                <a:gridCol w="1023687">
                  <a:extLst>
                    <a:ext uri="{9D8B030D-6E8A-4147-A177-3AD203B41FA5}">
                      <a16:colId xmlns:a16="http://schemas.microsoft.com/office/drawing/2014/main" val="3373572773"/>
                    </a:ext>
                  </a:extLst>
                </a:gridCol>
                <a:gridCol w="2762249">
                  <a:extLst>
                    <a:ext uri="{9D8B030D-6E8A-4147-A177-3AD203B41FA5}">
                      <a16:colId xmlns:a16="http://schemas.microsoft.com/office/drawing/2014/main" val="2720076353"/>
                    </a:ext>
                  </a:extLst>
                </a:gridCol>
              </a:tblGrid>
              <a:tr h="32509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935078"/>
                  </a:ext>
                </a:extLst>
              </a:tr>
              <a:tr h="1124929">
                <a:tc rowSpan="3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SW5 (Server)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658126"/>
                  </a:ext>
                </a:extLst>
              </a:tr>
              <a:tr h="11691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SW6~9 (Client)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171650"/>
                  </a:ext>
                </a:extLst>
              </a:tr>
              <a:tr h="131066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SW12 (Trans-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parent)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492476"/>
                  </a:ext>
                </a:extLst>
              </a:tr>
              <a:tr h="3614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20647"/>
                  </a:ext>
                </a:extLst>
              </a:tr>
              <a:tr h="623556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VTP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하나의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Server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장비에서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VLAN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을 설정하고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이 정보를 연결된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Client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스위치에 일괄적으로 적용하기 위함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SW5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(SERVER)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경찰서 내 각 부서마다 사용되는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VLAN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정보를 생성 및 관리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182813"/>
                  </a:ext>
                </a:extLst>
              </a:tr>
              <a:tr h="6235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SW6~9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(CLIENT)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서버로부터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VLAN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정보를 받아 적용함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902036"/>
                  </a:ext>
                </a:extLst>
              </a:tr>
              <a:tr h="9085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SW12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(TRANSPARENT)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같은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VLAN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으로 묶이지만 설정은 독립적으로 가능하므로 해당 부서 업무의 무결성을 위함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623403"/>
                  </a:ext>
                </a:extLst>
              </a:tr>
            </a:tbl>
          </a:graphicData>
        </a:graphic>
      </p:graphicFrame>
      <p:pic>
        <p:nvPicPr>
          <p:cNvPr id="13316" name="_x239209200">
            <a:extLst>
              <a:ext uri="{FF2B5EF4-FFF2-40B4-BE49-F238E27FC236}">
                <a16:creationId xmlns:a16="http://schemas.microsoft.com/office/drawing/2014/main" id="{5DD82A16-904A-23F3-A99D-614C41775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48" y="564356"/>
            <a:ext cx="4773612" cy="352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_x233557816">
            <a:extLst>
              <a:ext uri="{FF2B5EF4-FFF2-40B4-BE49-F238E27FC236}">
                <a16:creationId xmlns:a16="http://schemas.microsoft.com/office/drawing/2014/main" id="{AB249EC0-8363-C8E8-8FE5-2A60D3FF8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188" y="564356"/>
            <a:ext cx="2974975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_x233555656">
            <a:extLst>
              <a:ext uri="{FF2B5EF4-FFF2-40B4-BE49-F238E27FC236}">
                <a16:creationId xmlns:a16="http://schemas.microsoft.com/office/drawing/2014/main" id="{B6196C64-752A-ECBF-4615-F66344A87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313" y="1692275"/>
            <a:ext cx="2990850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3" name="_x239203040">
            <a:extLst>
              <a:ext uri="{FF2B5EF4-FFF2-40B4-BE49-F238E27FC236}">
                <a16:creationId xmlns:a16="http://schemas.microsoft.com/office/drawing/2014/main" id="{F135465F-8C74-0247-949B-266174F6F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188" y="2871788"/>
            <a:ext cx="3038475" cy="121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5CBD74EA-84A1-5731-AE1E-55EDA5FDF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2188" y="17954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316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14982-0B7A-6623-0D52-81F1C769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3. </a:t>
            </a:r>
            <a:r>
              <a:rPr lang="ko-KR" altLang="en-US" sz="5400" b="1" dirty="0"/>
              <a:t>서버 구성도</a:t>
            </a:r>
          </a:p>
        </p:txBody>
      </p:sp>
    </p:spTree>
    <p:extLst>
      <p:ext uri="{BB962C8B-B14F-4D97-AF65-F5344CB8AC3E}">
        <p14:creationId xmlns:p14="http://schemas.microsoft.com/office/powerpoint/2010/main" val="2595716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3AA88-BC26-433C-3F5F-CE2C9B607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796"/>
            <a:ext cx="10515600" cy="1024482"/>
          </a:xfrm>
        </p:spPr>
        <p:txBody>
          <a:bodyPr/>
          <a:lstStyle/>
          <a:p>
            <a:r>
              <a:rPr lang="ko-KR" altLang="en-US" dirty="0"/>
              <a:t>서비스 구성도 기획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B08186-F16D-FC70-AE1A-6F14F3557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3278"/>
            <a:ext cx="10515600" cy="4983685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4D54F0-67C7-1099-FAC9-602CBAB5A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85" name="_x239210160">
            <a:extLst>
              <a:ext uri="{FF2B5EF4-FFF2-40B4-BE49-F238E27FC236}">
                <a16:creationId xmlns:a16="http://schemas.microsoft.com/office/drawing/2014/main" id="{5E952019-F881-BD86-5AAF-48B65B64C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32" y="1193278"/>
            <a:ext cx="11033936" cy="520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010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9BF4B-AED5-A4AA-EF0E-94D175D3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620"/>
            <a:ext cx="10515600" cy="950327"/>
          </a:xfrm>
        </p:spPr>
        <p:txBody>
          <a:bodyPr/>
          <a:lstStyle/>
          <a:p>
            <a:r>
              <a:rPr lang="ko-KR" altLang="en-US" dirty="0"/>
              <a:t>서버 구성도 기획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59581E-E789-C0C4-BB26-2E393B019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947"/>
            <a:ext cx="10515600" cy="5054016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1A11C1A-7E52-7877-F0BC-252486C61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7409" name="_x239203280">
            <a:extLst>
              <a:ext uri="{FF2B5EF4-FFF2-40B4-BE49-F238E27FC236}">
                <a16:creationId xmlns:a16="http://schemas.microsoft.com/office/drawing/2014/main" id="{81C076C1-0B98-29EC-28BE-75106F6FE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31366"/>
            <a:ext cx="10010275" cy="575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64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140ED-3E50-650A-5AE4-0028EF3E7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704"/>
            <a:ext cx="10515600" cy="870117"/>
          </a:xfrm>
        </p:spPr>
        <p:txBody>
          <a:bodyPr/>
          <a:lstStyle/>
          <a:p>
            <a:r>
              <a:rPr lang="ko-KR" altLang="en-US" dirty="0"/>
              <a:t>서버 구축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7DF8A7-2CFB-590E-BD6C-BFCD70B19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821"/>
            <a:ext cx="10515600" cy="5102142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6726A92-94FD-6C98-655D-F3D821736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8433" name="_x239207120">
            <a:extLst>
              <a:ext uri="{FF2B5EF4-FFF2-40B4-BE49-F238E27FC236}">
                <a16:creationId xmlns:a16="http://schemas.microsoft.com/office/drawing/2014/main" id="{13802FC4-1697-4C54-C0E1-27FFD5388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615" y="843798"/>
            <a:ext cx="11358770" cy="580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036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78260-4E7C-CE04-1F4C-81C35A6D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4. </a:t>
            </a:r>
            <a:r>
              <a:rPr lang="ko-KR" altLang="en-US" sz="5400" b="1" dirty="0"/>
              <a:t>서버 구역별 구축 결과</a:t>
            </a:r>
          </a:p>
        </p:txBody>
      </p:sp>
    </p:spTree>
    <p:extLst>
      <p:ext uri="{BB962C8B-B14F-4D97-AF65-F5344CB8AC3E}">
        <p14:creationId xmlns:p14="http://schemas.microsoft.com/office/powerpoint/2010/main" val="1897049817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1A3C4-3DF9-B792-8A04-05FC073E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8" y="148382"/>
            <a:ext cx="10515600" cy="741780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4000" b="1" dirty="0"/>
              <a:t>데이터 센터</a:t>
            </a:r>
            <a:endParaRPr lang="ko-KR" altLang="en-US" sz="40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2558" y="800693"/>
          <a:ext cx="11766884" cy="5958518"/>
        </p:xfrm>
        <a:graphic>
          <a:graphicData uri="http://schemas.openxmlformats.org/drawingml/2006/table">
            <a:tbl>
              <a:tblGrid>
                <a:gridCol w="2800713"/>
                <a:gridCol w="3082729"/>
                <a:gridCol w="5883442"/>
              </a:tblGrid>
              <a:tr h="458535">
                <a:tc gridSpan="2"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</a:tr>
              <a:tr h="3121250">
                <a:tc gridSpan="2"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547123">
                <a:tc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581" tIns="25782" rIns="3581" bIns="25782" anchor="ctr" anchorCtr="0"/>
                    <a:lstStyle/>
                    <a:p>
                      <a:pPr marL="0" marR="0" indent="0" algn="l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iSCSI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647490">
                <a:tc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581" tIns="25782" rIns="3581" bIns="25782" anchor="ctr" anchorCtr="0"/>
                    <a:lstStyle/>
                    <a:p>
                      <a:pPr marL="0" marR="0" indent="0" algn="l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각 데이터 센터의 디스크를 원격으로 가져와 중요 데이터를 저장하여 데이터 </a:t>
                      </a:r>
                      <a:r>
                        <a:rPr lang="ko-KR" altLang="en-US" sz="1400" kern="100" spc="-1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스토리지 서버가 다운될 경우</a:t>
                      </a:r>
                      <a:endParaRPr lang="ko-KR" altLang="en-US" sz="1400" kern="100" spc="-1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ko-KR" altLang="en-US" sz="1400" kern="100" spc="-1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백업 을 진행하여 데이터 안정성과 신속한 서비스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복구를 위해서 사용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547123">
                <a:tc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547123">
                <a:tc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581" tIns="25782" rIns="3581" bIns="25782" anchor="ctr" anchorCtr="0"/>
                    <a:lstStyle/>
                    <a:p>
                      <a:pPr marL="0" marR="0" indent="0" algn="ctr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19461" name="_x233559896">
            <a:extLst>
              <a:ext uri="{FF2B5EF4-FFF2-40B4-BE49-F238E27FC236}">
                <a16:creationId xmlns:a16="http://schemas.microsoft.com/office/drawing/2014/main" id="{7EFADBDD-49B9-CAFF-4B03-CC8E2FAD1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502" y="1296882"/>
            <a:ext cx="4476856" cy="307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_x231869040">
            <a:extLst>
              <a:ext uri="{FF2B5EF4-FFF2-40B4-BE49-F238E27FC236}">
                <a16:creationId xmlns:a16="http://schemas.microsoft.com/office/drawing/2014/main" id="{842309B7-A2CD-89E4-6E90-723DC0D1F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644" y="1296882"/>
            <a:ext cx="4476856" cy="307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1F60E85F-3E6B-EC7B-A588-52FE7AFB7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0" y="18145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335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753E4-E217-9D7B-6B89-453DFC0EE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42" y="172621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데이터 </a:t>
            </a:r>
            <a:r>
              <a:rPr lang="en-US" altLang="ko-KR" b="1" dirty="0"/>
              <a:t>/ </a:t>
            </a:r>
            <a:r>
              <a:rPr lang="ko-KR" altLang="en-US" b="1" dirty="0"/>
              <a:t>스토리지 서버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44642" y="738344"/>
          <a:ext cx="11709108" cy="5919098"/>
        </p:xfrm>
        <a:graphic>
          <a:graphicData uri="http://schemas.openxmlformats.org/drawingml/2006/table">
            <a:tbl>
              <a:tblGrid>
                <a:gridCol w="2188927"/>
                <a:gridCol w="3492360"/>
                <a:gridCol w="6027821"/>
              </a:tblGrid>
              <a:tr h="241937">
                <a:tc gridSpan="2"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</a:tr>
              <a:tr h="2798458">
                <a:tc gridSpan="2"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212112">
                <a:tc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353" tIns="16944" rIns="2353" bIns="16944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NFS, Raid, DB, Quota</a:t>
                      </a:r>
                      <a:endParaRPr lang="en-US" sz="12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929482">
                <a:tc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353" tIns="16944" rIns="2353" bIns="16944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 :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각 서버의 서비스 운영과 관련된 핵심 설정 파일들을 중앙의 데이터 스토리지에 원격으로 저장하여 안정성을 확보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200" kern="100" spc="-5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RAID 0 : </a:t>
                      </a:r>
                      <a:r>
                        <a:rPr lang="ko-KR" altLang="en-US" sz="1200" kern="100" spc="-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중앙 데이터 스토리지 서버 이중화를 통해 문제상황 발생 시 신속한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 복구를 제공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DB :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서버 운영과 관련하여 동적 리소스를 활용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Quota :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관리 팀원 별 용량을 할당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321398">
                <a:tc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353" tIns="16944" rIns="2353" bIns="16944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&lt;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 전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&gt;</a:t>
                      </a:r>
                      <a:endParaRPr lang="en-US" altLang="ko-KR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iSCSI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연결된 두 스토리지 서버의 디스크 위에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RAID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를 구성하고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각 서비스 서버는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연결하여 데이터스토리지 환경을 구축함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&lt;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 후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&gt;</a:t>
                      </a:r>
                      <a:endParaRPr lang="en-US" altLang="ko-KR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iSCSI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디스크의 네트워크 부하를 최소화하기 위해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Apache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서비스 관련 데이터만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iSCSI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유지하고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나머지 서비스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(FTP, DNS, LOG)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는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  내장 디스크 기반으로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를 재구성 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스토리지 서버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는 스토리지 서버의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iSCSI, SATA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디스크 모두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동기화 시켜 백업 전용 서버로 분리하여 안정성 강화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15711">
                <a:tc>
                  <a:txBody>
                    <a:bodyPr vert="horz" lIns="2353" tIns="16944" rIns="2353" bIns="16944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353" tIns="16944" rIns="2353" bIns="16944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iSCSI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연결 시 네트워크 지연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불안정 문제로 인한 서비스 지연 발생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2F2D9A-7A4A-D039-67F5-A8F42B2D3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13581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2" name="_x233560376">
            <a:extLst>
              <a:ext uri="{FF2B5EF4-FFF2-40B4-BE49-F238E27FC236}">
                <a16:creationId xmlns:a16="http://schemas.microsoft.com/office/drawing/2014/main" id="{B64009AE-D521-1EED-BBEB-A19A8E50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2" r="7059"/>
          <a:stretch>
            <a:fillRect/>
          </a:stretch>
        </p:blipFill>
        <p:spPr bwMode="auto">
          <a:xfrm>
            <a:off x="1200675" y="1051182"/>
            <a:ext cx="3939293" cy="271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417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8B5BF-FEFF-16C0-75BD-DEAD2187C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8" y="220746"/>
            <a:ext cx="10515600" cy="789907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각 서비스 서버</a:t>
            </a:r>
            <a:endParaRPr lang="ko-KR" altLang="en-US" sz="40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12558" y="1010652"/>
          <a:ext cx="11766884" cy="5642986"/>
        </p:xfrm>
        <a:graphic>
          <a:graphicData uri="http://schemas.openxmlformats.org/drawingml/2006/table">
            <a:tbl>
              <a:tblGrid>
                <a:gridCol w="2800715"/>
                <a:gridCol w="3066685"/>
                <a:gridCol w="5899484"/>
              </a:tblGrid>
              <a:tr h="337515">
                <a:tc gridSpan="2"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</a:tr>
              <a:tr h="3191749">
                <a:tc gridSpan="2"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337515">
                <a:tc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360" tIns="24192" rIns="3360" bIns="24192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LOG, FTP, DNS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612639">
                <a:tc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360" tIns="24192" rIns="3360" bIns="24192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FTP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내부 대용량의 파일 공유 시스템을 구현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DNS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도메인을 통해 접속하는 방식을 채택하여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IP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주소에 대한 유출 방지와 사용자 편의성을 고려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534625">
                <a:tc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360" tIns="24192" rIns="3360" bIns="24192" anchor="ctr" anchorCtr="0"/>
                    <a:lstStyle/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&lt;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 전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&gt;</a:t>
                      </a:r>
                      <a:endParaRPr lang="en-US" altLang="ko-KR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iSCSI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구축 된 디스크 위에 모든 서비스 서버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연결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&lt;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 후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&gt;</a:t>
                      </a:r>
                      <a:endParaRPr lang="en-US" altLang="ko-KR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스토리지 내장 디스크에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연결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21201">
                <a:tc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360" tIns="24192" rIns="3360" bIns="24192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iSCSI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네트워크 지연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21506" name="_x233555496">
            <a:extLst>
              <a:ext uri="{FF2B5EF4-FFF2-40B4-BE49-F238E27FC236}">
                <a16:creationId xmlns:a16="http://schemas.microsoft.com/office/drawing/2014/main" id="{945BBD51-D60F-7A44-3802-F009C4486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604" y="1386949"/>
            <a:ext cx="3930666" cy="308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5" name="_x231869920">
            <a:extLst>
              <a:ext uri="{FF2B5EF4-FFF2-40B4-BE49-F238E27FC236}">
                <a16:creationId xmlns:a16="http://schemas.microsoft.com/office/drawing/2014/main" id="{F1F9693A-BB1A-2502-0C12-08AC691B6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730" y="1386949"/>
            <a:ext cx="3930588" cy="308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323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93919-6592-5400-DB09-98175F82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42" y="188663"/>
            <a:ext cx="10515600" cy="693654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웹 서비스 서버</a:t>
            </a:r>
            <a:endParaRPr lang="ko-KR" altLang="en-US" sz="40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44642" y="800928"/>
          <a:ext cx="11702716" cy="5839896"/>
        </p:xfrm>
        <a:graphic>
          <a:graphicData uri="http://schemas.openxmlformats.org/drawingml/2006/table">
            <a:tbl>
              <a:tblGrid>
                <a:gridCol w="2785441"/>
                <a:gridCol w="3065917"/>
                <a:gridCol w="5851358"/>
              </a:tblGrid>
              <a:tr h="186512">
                <a:tc gridSpan="2"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</a:tr>
              <a:tr h="3724329">
                <a:tc gridSpan="2"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5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5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188390">
                <a:tc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912" tIns="20965" rIns="2912" bIns="20965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Apache(PHP), Monitorix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882049">
                <a:tc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912" tIns="20965" rIns="2912" bIns="20965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Apache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시나리오 기반 경찰청 사이트를 운영하는 웹 서버를 구현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-6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Virtual Hosting : Domain Based Virtual Hosting</a:t>
                      </a:r>
                      <a:r>
                        <a:rPr lang="ko-KR" altLang="en-US" sz="1400" kern="100" spc="-6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과 접속 허용 </a:t>
                      </a:r>
                      <a:r>
                        <a:rPr lang="en-US" altLang="ko-KR" sz="1400" kern="100" spc="-6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IP </a:t>
                      </a:r>
                      <a:r>
                        <a:rPr lang="ko-KR" altLang="en-US" sz="1400" kern="100" spc="-6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대역을 지정</a:t>
                      </a:r>
                      <a:endParaRPr lang="ko-KR" altLang="en-US" sz="1400" kern="100" spc="-6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                     외부용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내부용 사이트를 각각 구성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php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서버 운영과 관련하여 동적 리소스를 사용하기 위해서 사용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Monitorix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서버를 운영하면서 트래픽이 몰려 서버가 다운되는 것에 대비하기 위해 모니터링용으로 사용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72812">
                <a:tc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252397">
                <a:tc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2912" tIns="20965" rIns="2912" bIns="20965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22530" name="_x233555176">
            <a:extLst>
              <a:ext uri="{FF2B5EF4-FFF2-40B4-BE49-F238E27FC236}">
                <a16:creationId xmlns:a16="http://schemas.microsoft.com/office/drawing/2014/main" id="{CF5B0485-3D4C-B715-FCE9-6AD846537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059" y="1086934"/>
            <a:ext cx="2965450" cy="361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29" name="_x231868560">
            <a:extLst>
              <a:ext uri="{FF2B5EF4-FFF2-40B4-BE49-F238E27FC236}">
                <a16:creationId xmlns:a16="http://schemas.microsoft.com/office/drawing/2014/main" id="{417411BC-D48F-0AA1-30DC-260DB6962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926" y="1086934"/>
            <a:ext cx="3724633" cy="361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192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F3236-BD10-1364-F34D-A167E6982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31" y="188662"/>
            <a:ext cx="10515600" cy="757822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웹 관리 팀</a:t>
            </a:r>
            <a:endParaRPr lang="ko-KR" altLang="en-US" sz="40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60684" y="830949"/>
          <a:ext cx="11670632" cy="5862126"/>
        </p:xfrm>
        <a:graphic>
          <a:graphicData uri="http://schemas.openxmlformats.org/drawingml/2006/table">
            <a:tbl>
              <a:tblGrid>
                <a:gridCol w="2777805"/>
                <a:gridCol w="3121679"/>
                <a:gridCol w="5771148"/>
              </a:tblGrid>
              <a:tr h="227756">
                <a:tc gridSpan="2"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</a:tr>
              <a:tr h="4343631">
                <a:tc gridSpan="2"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202896">
                <a:tc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495" tIns="25167" rIns="3495" bIns="25167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SMB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14568">
                <a:tc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 </a:t>
                      </a:r>
                      <a:endParaRPr lang="ko-KR" altLang="en-US" sz="1400" b="1" kern="100" spc="5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495" tIns="25167" rIns="3495" bIns="25167" anchor="ctr" anchorCtr="0"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SMB : Apache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운영에 필요한 설정 파일의 관리와 서비스 운영부서를 분리를 통한 협업환경의 편의성 제공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       및 웹 서비스 서버 트래픽 경감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206744">
                <a:tc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팀원 계정별 쿼터 적용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120576">
                <a:tc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 vert="horz" lIns="3495" tIns="25167" rIns="3495" bIns="25167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23554" name="_x233560136">
            <a:extLst>
              <a:ext uri="{FF2B5EF4-FFF2-40B4-BE49-F238E27FC236}">
                <a16:creationId xmlns:a16="http://schemas.microsoft.com/office/drawing/2014/main" id="{B71047B1-3BA7-B874-AA48-FCBB5CBEC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212" y="1174834"/>
            <a:ext cx="2329114" cy="420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3" name="_x231869200">
            <a:extLst>
              <a:ext uri="{FF2B5EF4-FFF2-40B4-BE49-F238E27FC236}">
                <a16:creationId xmlns:a16="http://schemas.microsoft.com/office/drawing/2014/main" id="{54488B99-5429-7E08-AA6D-B29F3ED48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02" y="1174834"/>
            <a:ext cx="5562977" cy="407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859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BE63-61A2-AEB2-3C33-71D28F53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5. </a:t>
            </a:r>
            <a:r>
              <a:rPr lang="ko-KR" altLang="en-US" sz="5400" b="1" dirty="0"/>
              <a:t>서버 구현 결과</a:t>
            </a:r>
          </a:p>
        </p:txBody>
      </p:sp>
    </p:spTree>
    <p:extLst>
      <p:ext uri="{BB962C8B-B14F-4D97-AF65-F5344CB8AC3E}">
        <p14:creationId xmlns:p14="http://schemas.microsoft.com/office/powerpoint/2010/main" val="1613884456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56777" y="193956"/>
          <a:ext cx="11678446" cy="6351223"/>
        </p:xfrm>
        <a:graphic>
          <a:graphicData uri="http://schemas.openxmlformats.org/drawingml/2006/table">
            <a:tbl>
              <a:tblGrid>
                <a:gridCol w="1868155"/>
                <a:gridCol w="9810291"/>
              </a:tblGrid>
              <a:tr h="444572">
                <a:tc gridSpan="2">
                  <a:txBody>
                    <a:bodyPr vert="horz" lIns="6135" tIns="44170" rIns="6135" bIns="44170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8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구현 결과</a:t>
                      </a:r>
                      <a:endParaRPr lang="ko-KR" altLang="en-US" sz="1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135" marR="6135" marT="44170" marB="4417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5184756">
                <a:tc gridSpan="2">
                  <a:txBody>
                    <a:bodyPr vert="horz" lIns="6135" tIns="44170" rIns="6135" bIns="44170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1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135" marR="6135" marT="44170" marB="4417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721895">
                <a:tc>
                  <a:txBody>
                    <a:bodyPr vert="horz" lIns="6135" tIns="44170" rIns="6135" bIns="44170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8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설명</a:t>
                      </a:r>
                      <a:endParaRPr lang="ko-KR" altLang="en-US" sz="1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135" marR="6135" marT="44170" marB="4417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lIns="6135" tIns="44170" rIns="6135" bIns="44170" anchor="ctr" anchorCtr="0"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altLang="ko-KR" sz="18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www2.police.tj</a:t>
                      </a:r>
                      <a:r>
                        <a:rPr lang="ko-KR" altLang="en-US" sz="18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는 </a:t>
                      </a:r>
                      <a:r>
                        <a:rPr lang="en-US" altLang="ko-KR" sz="18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10.5.96.0/20 </a:t>
                      </a:r>
                      <a:r>
                        <a:rPr lang="ko-KR" altLang="en-US" sz="18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대역의 네트워크만 접근할 수 있도록 설정한 결과</a:t>
                      </a:r>
                      <a:endParaRPr lang="ko-KR" altLang="en-US" sz="1800" kern="100" spc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6135" marR="6135" marT="44170" marB="4417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98A80E3-D37E-B7D7-1AA4-A0F0F81E3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038" y="1806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4577" name="_x233561816">
            <a:extLst>
              <a:ext uri="{FF2B5EF4-FFF2-40B4-BE49-F238E27FC236}">
                <a16:creationId xmlns:a16="http://schemas.microsoft.com/office/drawing/2014/main" id="{45DF78B5-C183-A710-3CAE-30718B398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92" y="742782"/>
            <a:ext cx="9544015" cy="498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1A4683-1B71-DDF1-F2B6-6AF17C5EA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038" y="2263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578" name=""/>
          <p:cNvSpPr txBox="1"/>
          <p:nvPr/>
        </p:nvSpPr>
        <p:spPr>
          <a:xfrm>
            <a:off x="3613728" y="5261840"/>
            <a:ext cx="2288251" cy="36697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ko-KR" altLang="en-US">
                <a:solidFill>
                  <a:srgbClr val="ff0000"/>
                </a:solidFill>
              </a:rPr>
              <a:t>외부망 접근 시 화면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4579" name=""/>
          <p:cNvSpPr txBox="1"/>
          <p:nvPr/>
        </p:nvSpPr>
        <p:spPr>
          <a:xfrm>
            <a:off x="8499762" y="5135225"/>
            <a:ext cx="2288253" cy="366973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내부망 접근 시 화면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469883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8499CA-F69F-7FA5-6784-1FAFA0438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470311"/>
              </p:ext>
            </p:extLst>
          </p:nvPr>
        </p:nvGraphicFramePr>
        <p:xfrm>
          <a:off x="136334" y="218504"/>
          <a:ext cx="11847119" cy="6455012"/>
        </p:xfrm>
        <a:graphic>
          <a:graphicData uri="http://schemas.openxmlformats.org/drawingml/2006/table">
            <a:tbl>
              <a:tblPr/>
              <a:tblGrid>
                <a:gridCol w="1895138">
                  <a:extLst>
                    <a:ext uri="{9D8B030D-6E8A-4147-A177-3AD203B41FA5}">
                      <a16:colId xmlns:a16="http://schemas.microsoft.com/office/drawing/2014/main" val="328632155"/>
                    </a:ext>
                  </a:extLst>
                </a:gridCol>
                <a:gridCol w="9951981">
                  <a:extLst>
                    <a:ext uri="{9D8B030D-6E8A-4147-A177-3AD203B41FA5}">
                      <a16:colId xmlns:a16="http://schemas.microsoft.com/office/drawing/2014/main" val="2468028745"/>
                    </a:ext>
                  </a:extLst>
                </a:gridCol>
              </a:tblGrid>
              <a:tr h="49693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263571"/>
                  </a:ext>
                </a:extLst>
              </a:tr>
              <a:tr h="301988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90928"/>
                  </a:ext>
                </a:extLst>
              </a:tr>
              <a:tr h="229911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083212"/>
                  </a:ext>
                </a:extLst>
              </a:tr>
              <a:tr h="6390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Apache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서버에서 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test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파일을 만들고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위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중앙 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Storage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서버에도 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아래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생성되어 있는지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3097"/>
                  </a:ext>
                </a:extLst>
              </a:tr>
            </a:tbl>
          </a:graphicData>
        </a:graphic>
      </p:graphicFrame>
      <p:pic>
        <p:nvPicPr>
          <p:cNvPr id="25602" name="_x233560296">
            <a:extLst>
              <a:ext uri="{FF2B5EF4-FFF2-40B4-BE49-F238E27FC236}">
                <a16:creationId xmlns:a16="http://schemas.microsoft.com/office/drawing/2014/main" id="{0DBBA0A0-3326-AAFC-7B45-22BCA4DD0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081" y="769227"/>
            <a:ext cx="8363628" cy="296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_x233562696">
            <a:extLst>
              <a:ext uri="{FF2B5EF4-FFF2-40B4-BE49-F238E27FC236}">
                <a16:creationId xmlns:a16="http://schemas.microsoft.com/office/drawing/2014/main" id="{80F68413-3948-85B1-FF3A-061338EFC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165" y="3731169"/>
            <a:ext cx="8287670" cy="224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93AB33AC-DF9A-B4A1-DA40-FF3D409BA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18192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89D832-DF51-B5E7-34C8-50A742153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22764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603" name=""/>
          <p:cNvSpPr txBox="1"/>
          <p:nvPr/>
        </p:nvSpPr>
        <p:spPr>
          <a:xfrm>
            <a:off x="304029" y="2000248"/>
            <a:ext cx="1549014" cy="36360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Apache</a:t>
            </a:r>
            <a:r>
              <a:rPr lang="ko-KR" altLang="en-US"/>
              <a:t> 서버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798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D04E900-BDBE-F7F0-1AE4-2B4127AE2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97687"/>
              </p:ext>
            </p:extLst>
          </p:nvPr>
        </p:nvGraphicFramePr>
        <p:xfrm>
          <a:off x="155575" y="125161"/>
          <a:ext cx="11762987" cy="6607678"/>
        </p:xfrm>
        <a:graphic>
          <a:graphicData uri="http://schemas.openxmlformats.org/drawingml/2006/table">
            <a:tbl>
              <a:tblPr/>
              <a:tblGrid>
                <a:gridCol w="1287493">
                  <a:extLst>
                    <a:ext uri="{9D8B030D-6E8A-4147-A177-3AD203B41FA5}">
                      <a16:colId xmlns:a16="http://schemas.microsoft.com/office/drawing/2014/main" val="3778188248"/>
                    </a:ext>
                  </a:extLst>
                </a:gridCol>
                <a:gridCol w="10475494">
                  <a:extLst>
                    <a:ext uri="{9D8B030D-6E8A-4147-A177-3AD203B41FA5}">
                      <a16:colId xmlns:a16="http://schemas.microsoft.com/office/drawing/2014/main" val="377908630"/>
                    </a:ext>
                  </a:extLst>
                </a:gridCol>
              </a:tblGrid>
              <a:tr h="46439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054793"/>
                  </a:ext>
                </a:extLst>
              </a:tr>
              <a:tr h="325020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209083"/>
                  </a:ext>
                </a:extLst>
              </a:tr>
              <a:tr h="242493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186336"/>
                  </a:ext>
                </a:extLst>
              </a:tr>
              <a:tr h="468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DNS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위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에서 </a:t>
                      </a:r>
                      <a:r>
                        <a:rPr lang="en-US" altLang="ko-KR" sz="1600" kern="10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nfs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통해서 마운트 한 정보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 생성 시 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Storage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아래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에서도 동일하게 생기는 것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320329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F9304E2F-5919-92A0-62B6-1C81DE303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12516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6626" name="_x233556776">
            <a:extLst>
              <a:ext uri="{FF2B5EF4-FFF2-40B4-BE49-F238E27FC236}">
                <a16:creationId xmlns:a16="http://schemas.microsoft.com/office/drawing/2014/main" id="{BF41A4C8-6DA3-90C5-A7FB-E6D976A8A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937" y="641035"/>
            <a:ext cx="8712260" cy="318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5" name="_x233555896">
            <a:extLst>
              <a:ext uri="{FF2B5EF4-FFF2-40B4-BE49-F238E27FC236}">
                <a16:creationId xmlns:a16="http://schemas.microsoft.com/office/drawing/2014/main" id="{29A46487-95F5-A6D6-F654-8D1229F73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583" y="3889206"/>
            <a:ext cx="9682969" cy="226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191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F3F058-64FC-E75C-6387-79D74E77C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817791"/>
              </p:ext>
            </p:extLst>
          </p:nvPr>
        </p:nvGraphicFramePr>
        <p:xfrm>
          <a:off x="139154" y="186532"/>
          <a:ext cx="11913691" cy="6580723"/>
        </p:xfrm>
        <a:graphic>
          <a:graphicData uri="http://schemas.openxmlformats.org/drawingml/2006/table">
            <a:tbl>
              <a:tblPr/>
              <a:tblGrid>
                <a:gridCol w="1905786">
                  <a:extLst>
                    <a:ext uri="{9D8B030D-6E8A-4147-A177-3AD203B41FA5}">
                      <a16:colId xmlns:a16="http://schemas.microsoft.com/office/drawing/2014/main" val="3814408195"/>
                    </a:ext>
                  </a:extLst>
                </a:gridCol>
                <a:gridCol w="10007905">
                  <a:extLst>
                    <a:ext uri="{9D8B030D-6E8A-4147-A177-3AD203B41FA5}">
                      <a16:colId xmlns:a16="http://schemas.microsoft.com/office/drawing/2014/main" val="435505826"/>
                    </a:ext>
                  </a:extLst>
                </a:gridCol>
              </a:tblGrid>
              <a:tr h="47801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4191"/>
                  </a:ext>
                </a:extLst>
              </a:tr>
              <a:tr h="347432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219922"/>
                  </a:ext>
                </a:extLst>
              </a:tr>
              <a:tr h="222533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37543"/>
                  </a:ext>
                </a:extLst>
              </a:tr>
              <a:tr h="4030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FTP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서버에서 사용자 계정 </a:t>
                      </a:r>
                      <a:r>
                        <a:rPr lang="en-US" altLang="ko-KR" sz="1600" kern="10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jh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새로 생성하니 중앙 서버에서도 동일하게 홈 디렉터리가 생성되는 것을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859362"/>
                  </a:ext>
                </a:extLst>
              </a:tr>
            </a:tbl>
          </a:graphicData>
        </a:graphic>
      </p:graphicFrame>
      <p:pic>
        <p:nvPicPr>
          <p:cNvPr id="27650" name="_x233559336">
            <a:extLst>
              <a:ext uri="{FF2B5EF4-FFF2-40B4-BE49-F238E27FC236}">
                <a16:creationId xmlns:a16="http://schemas.microsoft.com/office/drawing/2014/main" id="{0375CE5D-B22A-7A78-F09D-ACF5DC51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5" y="701288"/>
            <a:ext cx="11447227" cy="3389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49" name="_x233558456">
            <a:extLst>
              <a:ext uri="{FF2B5EF4-FFF2-40B4-BE49-F238E27FC236}">
                <a16:creationId xmlns:a16="http://schemas.microsoft.com/office/drawing/2014/main" id="{E1E951AD-35D4-89B4-E134-D74EEDFB7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56" y="4149379"/>
            <a:ext cx="11006483" cy="2131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5A55C2D1-7E8C-6D8E-B47A-9C63A53FB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6B38C2-ECE6-2EBD-8C82-427E332AB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828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390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3A7D0B4-4699-6DB5-BA51-43F548367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177127"/>
              </p:ext>
            </p:extLst>
          </p:nvPr>
        </p:nvGraphicFramePr>
        <p:xfrm>
          <a:off x="287819" y="184476"/>
          <a:ext cx="11616361" cy="6562070"/>
        </p:xfrm>
        <a:graphic>
          <a:graphicData uri="http://schemas.openxmlformats.org/drawingml/2006/table">
            <a:tbl>
              <a:tblPr/>
              <a:tblGrid>
                <a:gridCol w="2963577">
                  <a:extLst>
                    <a:ext uri="{9D8B030D-6E8A-4147-A177-3AD203B41FA5}">
                      <a16:colId xmlns:a16="http://schemas.microsoft.com/office/drawing/2014/main" val="2429280257"/>
                    </a:ext>
                  </a:extLst>
                </a:gridCol>
                <a:gridCol w="5206804">
                  <a:extLst>
                    <a:ext uri="{9D8B030D-6E8A-4147-A177-3AD203B41FA5}">
                      <a16:colId xmlns:a16="http://schemas.microsoft.com/office/drawing/2014/main" val="2443271664"/>
                    </a:ext>
                  </a:extLst>
                </a:gridCol>
                <a:gridCol w="3445980">
                  <a:extLst>
                    <a:ext uri="{9D8B030D-6E8A-4147-A177-3AD203B41FA5}">
                      <a16:colId xmlns:a16="http://schemas.microsoft.com/office/drawing/2014/main" val="2577877992"/>
                    </a:ext>
                  </a:extLst>
                </a:gridCol>
              </a:tblGrid>
              <a:tr h="310824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41580"/>
                  </a:ext>
                </a:extLst>
              </a:tr>
              <a:tr h="318135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626058"/>
                  </a:ext>
                </a:extLst>
              </a:tr>
              <a:tr h="268605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213803"/>
                  </a:ext>
                </a:extLst>
              </a:tr>
              <a:tr h="3838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SMB(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중앙 서버의 </a:t>
                      </a:r>
                      <a:r>
                        <a:rPr lang="en-US" altLang="ko-KR" sz="1600" kern="10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smb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계정 목록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공유 자원 설정 현황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10.5.96.4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로 공유자원에 접속한 모습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004825"/>
                  </a:ext>
                </a:extLst>
              </a:tr>
            </a:tbl>
          </a:graphicData>
        </a:graphic>
      </p:graphicFrame>
      <p:sp>
        <p:nvSpPr>
          <p:cNvPr id="3" name="Rectangle 4">
            <a:extLst>
              <a:ext uri="{FF2B5EF4-FFF2-40B4-BE49-F238E27FC236}">
                <a16:creationId xmlns:a16="http://schemas.microsoft.com/office/drawing/2014/main" id="{7D41B5FF-B5F7-920C-794E-EBAD849AB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29" y="3978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8675" name="_x233560776">
            <a:extLst>
              <a:ext uri="{FF2B5EF4-FFF2-40B4-BE49-F238E27FC236}">
                <a16:creationId xmlns:a16="http://schemas.microsoft.com/office/drawing/2014/main" id="{0DE68164-E496-27BA-79CB-10B6F4BA0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24" y="581529"/>
            <a:ext cx="7882271" cy="298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4" name="_x231866960">
            <a:extLst>
              <a:ext uri="{FF2B5EF4-FFF2-40B4-BE49-F238E27FC236}">
                <a16:creationId xmlns:a16="http://schemas.microsoft.com/office/drawing/2014/main" id="{130419FB-28E4-895C-8652-D8304C5E2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3644" y="581529"/>
            <a:ext cx="2314007" cy="569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3" name="_x233562376">
            <a:extLst>
              <a:ext uri="{FF2B5EF4-FFF2-40B4-BE49-F238E27FC236}">
                <a16:creationId xmlns:a16="http://schemas.microsoft.com/office/drawing/2014/main" id="{FC2697F7-A1CF-9ADA-60E8-BA25EFE50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776" y="3750356"/>
            <a:ext cx="4903412" cy="252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58CD0635-855D-FEE9-9C5D-B0F6B0195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29" y="8550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264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7617DC3-4BA5-1F75-6DAA-60829174D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154883"/>
              </p:ext>
            </p:extLst>
          </p:nvPr>
        </p:nvGraphicFramePr>
        <p:xfrm>
          <a:off x="162560" y="491800"/>
          <a:ext cx="11866880" cy="5874400"/>
        </p:xfrm>
        <a:graphic>
          <a:graphicData uri="http://schemas.openxmlformats.org/drawingml/2006/table">
            <a:tbl>
              <a:tblPr/>
              <a:tblGrid>
                <a:gridCol w="1898298">
                  <a:extLst>
                    <a:ext uri="{9D8B030D-6E8A-4147-A177-3AD203B41FA5}">
                      <a16:colId xmlns:a16="http://schemas.microsoft.com/office/drawing/2014/main" val="3189638097"/>
                    </a:ext>
                  </a:extLst>
                </a:gridCol>
                <a:gridCol w="9968582">
                  <a:extLst>
                    <a:ext uri="{9D8B030D-6E8A-4147-A177-3AD203B41FA5}">
                      <a16:colId xmlns:a16="http://schemas.microsoft.com/office/drawing/2014/main" val="707210457"/>
                    </a:ext>
                  </a:extLst>
                </a:gridCol>
              </a:tblGrid>
              <a:tr h="32127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498811"/>
                  </a:ext>
                </a:extLst>
              </a:tr>
              <a:tr h="503434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07364"/>
                  </a:ext>
                </a:extLst>
              </a:tr>
              <a:tr h="518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Disk quota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여부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73768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36843FD-2322-B6DF-CAB9-176457A77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0780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9697" name="_x233560376">
            <a:extLst>
              <a:ext uri="{FF2B5EF4-FFF2-40B4-BE49-F238E27FC236}">
                <a16:creationId xmlns:a16="http://schemas.microsoft.com/office/drawing/2014/main" id="{2C5F75E2-FFCE-4DCE-DE62-F74C92DCE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" y="1082072"/>
            <a:ext cx="11724640" cy="434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14F2A0-AF6D-4C05-0E62-4F0D4177D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5352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21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A4A8CDE-EB32-AE05-1D9C-0BB1DB2A3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684580"/>
              </p:ext>
            </p:extLst>
          </p:nvPr>
        </p:nvGraphicFramePr>
        <p:xfrm>
          <a:off x="229870" y="231966"/>
          <a:ext cx="11695430" cy="6432528"/>
        </p:xfrm>
        <a:graphic>
          <a:graphicData uri="http://schemas.openxmlformats.org/drawingml/2006/table">
            <a:tbl>
              <a:tblPr/>
              <a:tblGrid>
                <a:gridCol w="1870872">
                  <a:extLst>
                    <a:ext uri="{9D8B030D-6E8A-4147-A177-3AD203B41FA5}">
                      <a16:colId xmlns:a16="http://schemas.microsoft.com/office/drawing/2014/main" val="3127595588"/>
                    </a:ext>
                  </a:extLst>
                </a:gridCol>
                <a:gridCol w="9824558">
                  <a:extLst>
                    <a:ext uri="{9D8B030D-6E8A-4147-A177-3AD203B41FA5}">
                      <a16:colId xmlns:a16="http://schemas.microsoft.com/office/drawing/2014/main" val="765589056"/>
                    </a:ext>
                  </a:extLst>
                </a:gridCol>
              </a:tblGrid>
              <a:tr h="56270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480731"/>
                  </a:ext>
                </a:extLst>
              </a:tr>
              <a:tr h="311058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157515"/>
                  </a:ext>
                </a:extLst>
              </a:tr>
              <a:tr h="236220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480842"/>
                  </a:ext>
                </a:extLst>
              </a:tr>
              <a:tr h="3970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Disk quota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여부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908552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019F6D63-C35D-A2DF-A3FB-F1A06514C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279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22" name="_x233561896">
            <a:extLst>
              <a:ext uri="{FF2B5EF4-FFF2-40B4-BE49-F238E27FC236}">
                <a16:creationId xmlns:a16="http://schemas.microsoft.com/office/drawing/2014/main" id="{FF51ECA5-BE78-6D71-9AFD-AC869FEC9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45" y="1289878"/>
            <a:ext cx="11562080" cy="197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1" name="_x231867760">
            <a:extLst>
              <a:ext uri="{FF2B5EF4-FFF2-40B4-BE49-F238E27FC236}">
                <a16:creationId xmlns:a16="http://schemas.microsoft.com/office/drawing/2014/main" id="{C30EDF43-916D-1E76-6DFF-E93D8DBA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96" y="4391355"/>
            <a:ext cx="11504607" cy="154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1A0FBF7F-6D5C-57C1-CAEF-F850E9D16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7368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773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A98DA-0BBD-60AA-C603-7927FE41B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6. </a:t>
            </a:r>
            <a:r>
              <a:rPr lang="ko-KR" altLang="en-US" sz="5400" b="1" dirty="0"/>
              <a:t>파이썬</a:t>
            </a:r>
          </a:p>
        </p:txBody>
      </p:sp>
    </p:spTree>
    <p:extLst>
      <p:ext uri="{BB962C8B-B14F-4D97-AF65-F5344CB8AC3E}">
        <p14:creationId xmlns:p14="http://schemas.microsoft.com/office/powerpoint/2010/main" val="2530208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1DBEC-23C7-CFB3-0692-BBEC7927C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93675"/>
            <a:ext cx="10515600" cy="492125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코드 흐름도</a:t>
            </a:r>
            <a:endParaRPr lang="ko-KR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D60CF0-8A27-014F-A0F4-8947F3EE0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402C16-DF31-D9F6-16B3-F00050A5D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799" y="228600"/>
            <a:ext cx="14238953" cy="416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1747" name="_x233562776">
            <a:extLst>
              <a:ext uri="{FF2B5EF4-FFF2-40B4-BE49-F238E27FC236}">
                <a16:creationId xmlns:a16="http://schemas.microsoft.com/office/drawing/2014/main" id="{F43AF710-D17E-B57D-AA89-2C77E5BBB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8"/>
          <a:stretch>
            <a:fillRect/>
          </a:stretch>
        </p:blipFill>
        <p:spPr bwMode="auto">
          <a:xfrm>
            <a:off x="1447800" y="685800"/>
            <a:ext cx="9095873" cy="6094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662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98EB1-A5C3-2326-A9D7-37A7FD93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ko-KR" altLang="en-US" sz="9600" dirty="0"/>
              <a:t>😸감사합니다😁</a:t>
            </a:r>
          </a:p>
        </p:txBody>
      </p:sp>
    </p:spTree>
    <p:extLst>
      <p:ext uri="{BB962C8B-B14F-4D97-AF65-F5344CB8AC3E}">
        <p14:creationId xmlns:p14="http://schemas.microsoft.com/office/powerpoint/2010/main" val="37634792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978</ep:Words>
  <ep:PresentationFormat>와이드스크린</ep:PresentationFormat>
  <ep:Paragraphs>234</ep:Paragraphs>
  <ep:Slides>34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ep:HeadingPairs>
  <ep:TitlesOfParts>
    <vt:vector size="35" baseType="lpstr">
      <vt:lpstr>Office 테마</vt:lpstr>
      <vt:lpstr>6. 파이썬</vt:lpstr>
      <vt:lpstr>코드 흐름도</vt:lpstr>
      <vt:lpstr>😸감사합니다😁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데이터 센터</vt:lpstr>
      <vt:lpstr>데이터 / 스토리지 서버</vt:lpstr>
      <vt:lpstr>각 서비스 서버</vt:lpstr>
      <vt:lpstr>웹 서비스 서버</vt:lpstr>
      <vt:lpstr>웹 관리 팀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2025-11-06T06:06:13.000</dcterms:created>
  <dc:creator>TJ</dc:creator>
  <cp:lastModifiedBy>TJ</cp:lastModifiedBy>
  <dcterms:modified xsi:type="dcterms:W3CDTF">2025-11-07T06:23:57.332</dcterms:modified>
  <cp:revision>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