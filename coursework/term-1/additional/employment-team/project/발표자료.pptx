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63" r:id="rId5"/>
    <p:sldId id="258" r:id="rId6"/>
    <p:sldId id="259" r:id="rId7"/>
    <p:sldId id="262" r:id="rId8"/>
    <p:sldId id="261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4" r:id="rId18"/>
    <p:sldId id="275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306" r:id="rId27"/>
    <p:sldId id="307" r:id="rId28"/>
    <p:sldId id="308" r:id="rId29"/>
    <p:sldId id="309" r:id="rId30"/>
    <p:sldId id="310" r:id="rId31"/>
    <p:sldId id="311" r:id="rId32"/>
    <p:sldId id="312" r:id="rId33"/>
    <p:sldId id="320" r:id="rId34"/>
    <p:sldId id="321" r:id="rId35"/>
    <p:sldId id="322" r:id="rId3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42" y="1026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slide" Target="slides/slide20.xml"  /><Relationship Id="rId23" Type="http://schemas.openxmlformats.org/officeDocument/2006/relationships/slide" Target="slides/slide21.xml"  /><Relationship Id="rId24" Type="http://schemas.openxmlformats.org/officeDocument/2006/relationships/slide" Target="slides/slide22.xml"  /><Relationship Id="rId25" Type="http://schemas.openxmlformats.org/officeDocument/2006/relationships/slide" Target="slides/slide23.xml"  /><Relationship Id="rId26" Type="http://schemas.openxmlformats.org/officeDocument/2006/relationships/slide" Target="slides/slide24.xml"  /><Relationship Id="rId27" Type="http://schemas.openxmlformats.org/officeDocument/2006/relationships/slide" Target="slides/slide25.xml"  /><Relationship Id="rId28" Type="http://schemas.openxmlformats.org/officeDocument/2006/relationships/slide" Target="slides/slide26.xml"  /><Relationship Id="rId29" Type="http://schemas.openxmlformats.org/officeDocument/2006/relationships/slide" Target="slides/slide27.xml"  /><Relationship Id="rId3" Type="http://schemas.openxmlformats.org/officeDocument/2006/relationships/slide" Target="slides/slide1.xml"  /><Relationship Id="rId30" Type="http://schemas.openxmlformats.org/officeDocument/2006/relationships/slide" Target="slides/slide28.xml"  /><Relationship Id="rId31" Type="http://schemas.openxmlformats.org/officeDocument/2006/relationships/slide" Target="slides/slide29.xml"  /><Relationship Id="rId32" Type="http://schemas.openxmlformats.org/officeDocument/2006/relationships/slide" Target="slides/slide30.xml"  /><Relationship Id="rId33" Type="http://schemas.openxmlformats.org/officeDocument/2006/relationships/slide" Target="slides/slide31.xml"  /><Relationship Id="rId34" Type="http://schemas.openxmlformats.org/officeDocument/2006/relationships/slide" Target="slides/slide32.xml"  /><Relationship Id="rId35" Type="http://schemas.openxmlformats.org/officeDocument/2006/relationships/slide" Target="slides/slide33.xml"  /><Relationship Id="rId36" Type="http://schemas.openxmlformats.org/officeDocument/2006/relationships/slide" Target="slides/slide34.xml"  /><Relationship Id="rId37" Type="http://schemas.openxmlformats.org/officeDocument/2006/relationships/presProps" Target="presProps.xml"  /><Relationship Id="rId38" Type="http://schemas.openxmlformats.org/officeDocument/2006/relationships/viewProps" Target="viewProps.xml"  /><Relationship Id="rId39" Type="http://schemas.openxmlformats.org/officeDocument/2006/relationships/theme" Target="theme/theme1.xml"  /><Relationship Id="rId4" Type="http://schemas.openxmlformats.org/officeDocument/2006/relationships/slide" Target="slides/slide2.xml"  /><Relationship Id="rId40" Type="http://schemas.openxmlformats.org/officeDocument/2006/relationships/tableStyles" Target="tableStyles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E9491596-B74A-43ED-AE7C-16E4F1FA5DAC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두 번째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세 번째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네 번째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 번째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A2337025-AB64-455D-98DE-0944E18D9E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97668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C0525F-E360-11E5-058B-9D8D3F7A9E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CBDDD38-ECA7-8F42-CB5F-5B06352CD0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FFE394-8894-E8C2-B197-DC7044718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3AA4-B80A-44D7-B45E-4FF93F3F77BC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B2FDFF-C663-88BF-6008-4FAACF355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38031C-2F66-AE3F-7316-E23DC8215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09CE-0B66-44D1-9EE0-72DC4FE7DA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6993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2A9F84-ADF4-74AC-9DE2-D0FCAB3C3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D4D4AA-7116-BCFE-175B-686B0B3F25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48C9ED-DC8E-407A-FB7C-BE1AE89D2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3AA4-B80A-44D7-B45E-4FF93F3F77BC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C49EA5-85FD-5DB3-B360-11B0529E2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2D4C8F-E9D5-FA30-DFDF-27E4E275B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09CE-0B66-44D1-9EE0-72DC4FE7DA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2596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AF01B6-53C8-E78A-1CF9-209C5C381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0DCBFCB-75F6-B4C9-0838-FEC6E12044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24C287-562D-FADC-E14F-6B9EDAE86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3AA4-B80A-44D7-B45E-4FF93F3F77BC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0692E4-BA6A-5B14-398C-A1E0D9072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6158F4-EAE4-0E73-DA9A-1BBCFC698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09CE-0B66-44D1-9EE0-72DC4FE7DA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536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16FC08-9C38-64C0-7E3D-6D8A71B8D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89394C-3B0C-19D1-9DE0-A2532ECCDE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374D018-B81D-3F70-7A8F-90FCF61AA9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95DB138-8C00-D19A-2487-9230FBD65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3AA4-B80A-44D7-B45E-4FF93F3F77BC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688FF77-5A69-8674-4587-13417B1F3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9348492-3A54-375D-3099-8A4CE3509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09CE-0B66-44D1-9EE0-72DC4FE7DA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0148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0EEA9B-7741-28AD-14FB-3783724ED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ABAE9EF-61C2-B802-819B-C9245A5FD0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112C15E-940D-A038-E898-E891B85FD9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48E62A8-A8FC-6082-B75A-064D607D1E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7DF0C68-6C88-476A-B5BD-F90A6529C1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B16951D-83A4-0206-3E8F-E2BBDB957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3AA4-B80A-44D7-B45E-4FF93F3F77BC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21D4DFB-2D6D-1AAD-FDB5-600971045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A2A0C42-9158-13B9-660B-638A62783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09CE-0B66-44D1-9EE0-72DC4FE7DA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7086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BC85E7-3D52-4D2A-8A65-848DF7D48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E10E49D-0D1D-12BE-1C19-084B14A85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3AA4-B80A-44D7-B45E-4FF93F3F77BC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DC56EEB-7B84-AF18-CBED-D3B2517F6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7371449-3823-4B02-825C-92510DC9B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09CE-0B66-44D1-9EE0-72DC4FE7DA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6326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1FA432D-F9AE-04B9-D142-10E8EAA2C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3AA4-B80A-44D7-B45E-4FF93F3F77BC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20D8503-0E2B-C848-06A7-C347D2612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1440BA-6AF5-D118-0803-85B3DF419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09CE-0B66-44D1-9EE0-72DC4FE7DA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9607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BBB02F-DBFC-F6A8-486F-973C5CE9E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427B6C-9089-4608-6FE1-CAFE25044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E193F31-1640-E916-D2AB-2E66CF0B3D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67D347E-DE40-8BCE-229F-1F49B8AB3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3AA4-B80A-44D7-B45E-4FF93F3F77BC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3020CC6-2E73-83B6-0E9A-7EF8AB483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11DC20D-1FAA-0E23-3AFC-0D7CE36F0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09CE-0B66-44D1-9EE0-72DC4FE7DA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033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EE38D8-ECB4-3753-93E5-929DA3542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0D9F59B-7077-FAEA-F5D8-C2332DC744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44A1A94-4D26-A81D-C8E3-9FD1741B94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EF41CEA-4BE2-D220-AC83-13EB6D65E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3AA4-B80A-44D7-B45E-4FF93F3F77BC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D8A64E6-B3C8-305E-38EF-A376382CB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863663-6838-8074-8369-5BA9285A9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09CE-0B66-44D1-9EE0-72DC4FE7DA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0021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B9C2E1-4638-6036-CC68-F03227D64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9515DAD-2E7B-C638-182A-311EB80493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29BFA4-C640-718D-98C7-FB8F8C519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3AA4-B80A-44D7-B45E-4FF93F3F77BC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B64973-BB91-9F0C-122A-F799857DF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110CC8-1CB6-34FB-755A-0F93385F1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09CE-0B66-44D1-9EE0-72DC4FE7DA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4783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D367D4E-4CAA-33DC-DEDF-7E47ECD8B0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EEA5C92-828F-3F26-4F8D-048157698C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3A6E68-CDD5-0DFE-2C89-5E8ED342F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3AA4-B80A-44D7-B45E-4FF93F3F77BC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A5EE22-F5F4-982D-45A0-071AC9772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E134F3-4284-0EF1-5238-956DD5FC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09CE-0B66-44D1-9EE0-72DC4FE7DA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5443123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685DF0C-B37A-1CE3-9D6A-BDBDB20C9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A7BDB7C-C240-F4BE-FF4E-8B6B9CDE46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EBFC84-2525-812C-F237-947D91A6B5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2B3AA4-B80A-44D7-B45E-4FF93F3F77BC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7E7FDD-713E-6998-1969-8B8A0273FC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2DB176-B3FA-CEE4-E66A-075C6D9634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EE09CE-0B66-44D1-9EE0-72DC4FE7DA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4580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.png"  /><Relationship Id="rId3" Type="http://schemas.openxmlformats.org/officeDocument/2006/relationships/image" Target="../media/image5.png"  /><Relationship Id="rId4" Type="http://schemas.openxmlformats.org/officeDocument/2006/relationships/image" Target="../media/image6.png"  /><Relationship Id="rId5" Type="http://schemas.openxmlformats.org/officeDocument/2006/relationships/image" Target="../media/image7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8.png"  /><Relationship Id="rId3" Type="http://schemas.openxmlformats.org/officeDocument/2006/relationships/image" Target="../media/image9.gif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0.png"  /><Relationship Id="rId3" Type="http://schemas.openxmlformats.org/officeDocument/2006/relationships/image" Target="../media/image11.png"  /><Relationship Id="rId4" Type="http://schemas.openxmlformats.org/officeDocument/2006/relationships/image" Target="../media/image12.png"  /><Relationship Id="rId5" Type="http://schemas.openxmlformats.org/officeDocument/2006/relationships/image" Target="../media/image13.png"  /><Relationship Id="rId6" Type="http://schemas.openxmlformats.org/officeDocument/2006/relationships/image" Target="../media/image14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5.png"  /><Relationship Id="rId3" Type="http://schemas.openxmlformats.org/officeDocument/2006/relationships/image" Target="../media/image16.png"  /><Relationship Id="rId4" Type="http://schemas.openxmlformats.org/officeDocument/2006/relationships/image" Target="../media/image17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8.png"  /><Relationship Id="rId3" Type="http://schemas.openxmlformats.org/officeDocument/2006/relationships/image" Target="../media/image19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0.gif"  /><Relationship Id="rId3" Type="http://schemas.openxmlformats.org/officeDocument/2006/relationships/image" Target="../media/image21.png"  /><Relationship Id="rId4" Type="http://schemas.openxmlformats.org/officeDocument/2006/relationships/image" Target="../media/image22.png"  /><Relationship Id="rId5" Type="http://schemas.openxmlformats.org/officeDocument/2006/relationships/image" Target="../media/image23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4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5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6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Relationship Id="rId2" Type="http://schemas.openxmlformats.org/officeDocument/2006/relationships/image" Target="../media/image27.png"  /><Relationship Id="rId3" Type="http://schemas.openxmlformats.org/officeDocument/2006/relationships/image" Target="../media/image27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Relationship Id="rId2" Type="http://schemas.openxmlformats.org/officeDocument/2006/relationships/image" Target="../media/image28.pn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Relationship Id="rId2" Type="http://schemas.openxmlformats.org/officeDocument/2006/relationships/image" Target="../media/image29.png"  /><Relationship Id="rId3" Type="http://schemas.openxmlformats.org/officeDocument/2006/relationships/image" Target="../media/image29.png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Relationship Id="rId2" Type="http://schemas.openxmlformats.org/officeDocument/2006/relationships/image" Target="../media/image30.png"  /><Relationship Id="rId3" Type="http://schemas.openxmlformats.org/officeDocument/2006/relationships/image" Target="../media/image31.png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Relationship Id="rId2" Type="http://schemas.openxmlformats.org/officeDocument/2006/relationships/image" Target="../media/image32.png"  /><Relationship Id="rId3" Type="http://schemas.openxmlformats.org/officeDocument/2006/relationships/image" Target="../media/image33.png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4.png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5.png"  /><Relationship Id="rId3" Type="http://schemas.openxmlformats.org/officeDocument/2006/relationships/image" Target="../media/image36.png"  /></Relationships>
</file>

<file path=ppt/slides/_rels/slide2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7.png"  /><Relationship Id="rId3" Type="http://schemas.openxmlformats.org/officeDocument/2006/relationships/image" Target="../media/image38.png"  /></Relationships>
</file>

<file path=ppt/slides/_rels/slide2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9.png"  /><Relationship Id="rId3" Type="http://schemas.openxmlformats.org/officeDocument/2006/relationships/image" Target="../media/image40.png"  /></Relationships>
</file>

<file path=ppt/slides/_rels/slide2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41.png"  /><Relationship Id="rId3" Type="http://schemas.openxmlformats.org/officeDocument/2006/relationships/image" Target="../media/image42.png"  /><Relationship Id="rId4" Type="http://schemas.openxmlformats.org/officeDocument/2006/relationships/image" Target="../media/image43.png"  /></Relationships>
</file>

<file path=ppt/slides/_rels/slide3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44.png"  /></Relationships>
</file>

<file path=ppt/slides/_rels/slide3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45.png"  /><Relationship Id="rId3" Type="http://schemas.openxmlformats.org/officeDocument/2006/relationships/image" Target="../media/image46.png"  /></Relationships>
</file>

<file path=ppt/slides/_rels/slide3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/Relationships>
</file>

<file path=ppt/slides/_rels/slide3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Relationship Id="rId2" Type="http://schemas.openxmlformats.org/officeDocument/2006/relationships/image" Target="../media/image47.png"  /></Relationships>
</file>

<file path=ppt/slides/_rels/slide3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5334AA-4680-CF84-5422-FED5A22E45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1494" y="192505"/>
            <a:ext cx="9144000" cy="1655762"/>
          </a:xfrm>
        </p:spPr>
        <p:txBody>
          <a:bodyPr>
            <a:normAutofit fontScale="90000"/>
          </a:bodyPr>
          <a:lstStyle/>
          <a:p>
            <a:r>
              <a:rPr lang="en-US" altLang="ko-KR" b="1" dirty="0"/>
              <a:t>1</a:t>
            </a:r>
            <a:r>
              <a:rPr lang="ko-KR" altLang="en-US" b="1" dirty="0"/>
              <a:t>차 프로젝트 결과보고서</a:t>
            </a:r>
            <a:br>
              <a:rPr lang="ko-KR" altLang="en-US" dirty="0"/>
            </a:b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CB5D7F6-6A07-CFE0-E4D9-011EDE315E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718426"/>
            <a:ext cx="9144000" cy="1655762"/>
          </a:xfrm>
        </p:spPr>
        <p:txBody>
          <a:bodyPr>
            <a:normAutofit fontScale="92500" lnSpcReduction="20000"/>
          </a:bodyPr>
          <a:lstStyle/>
          <a:p>
            <a:pPr fontAlgn="base" latinLnBrk="0"/>
            <a:r>
              <a:rPr lang="ko-KR" altLang="en-US" b="1" dirty="0"/>
              <a:t>보안사고 해결 시나리오의 구현을 통한</a:t>
            </a:r>
            <a:endParaRPr lang="ko-KR" altLang="en-US" dirty="0"/>
          </a:p>
          <a:p>
            <a:pPr fontAlgn="base" latinLnBrk="0"/>
            <a:r>
              <a:rPr lang="ko-KR" altLang="en-US" b="1" dirty="0"/>
              <a:t>네트워크 및 서버 관리 역량 강화</a:t>
            </a:r>
            <a:endParaRPr lang="ko-KR" altLang="en-US" dirty="0"/>
          </a:p>
          <a:p>
            <a:pPr algn="r" fontAlgn="base" latinLnBrk="0"/>
            <a:r>
              <a:rPr lang="en-US" altLang="ko-KR" sz="1800" b="1" dirty="0"/>
              <a:t>Team : </a:t>
            </a:r>
            <a:r>
              <a:rPr lang="ko-KR" altLang="en-US" sz="1800" b="1" dirty="0" err="1"/>
              <a:t>취업할래말래</a:t>
            </a:r>
            <a:endParaRPr lang="ko-KR" altLang="en-US" sz="1800" dirty="0"/>
          </a:p>
          <a:p>
            <a:pPr algn="r" fontAlgn="base" latinLnBrk="0"/>
            <a:r>
              <a:rPr lang="ko-KR" altLang="en-US" sz="1800" b="1" dirty="0"/>
              <a:t>팀장 </a:t>
            </a:r>
            <a:r>
              <a:rPr lang="en-US" altLang="ko-KR" sz="1800" b="1" dirty="0"/>
              <a:t>: </a:t>
            </a:r>
            <a:r>
              <a:rPr lang="ko-KR" altLang="en-US" sz="1800" b="1" dirty="0"/>
              <a:t>지상</a:t>
            </a:r>
            <a:endParaRPr lang="ko-KR" altLang="en-US" sz="1800" dirty="0"/>
          </a:p>
          <a:p>
            <a:pPr algn="r" fontAlgn="base" latinLnBrk="0"/>
            <a:r>
              <a:rPr lang="ko-KR" altLang="en-US" sz="1800" b="1" dirty="0"/>
              <a:t>팀원 </a:t>
            </a:r>
            <a:r>
              <a:rPr lang="en-US" altLang="ko-KR" sz="1800" b="1" dirty="0"/>
              <a:t>: </a:t>
            </a:r>
            <a:r>
              <a:rPr lang="ko-KR" altLang="en-US" sz="1800" b="1" dirty="0"/>
              <a:t>현지</a:t>
            </a:r>
            <a:r>
              <a:rPr lang="en-US" altLang="ko-KR" sz="1800" b="1" dirty="0"/>
              <a:t>, </a:t>
            </a:r>
            <a:r>
              <a:rPr lang="ko-KR" altLang="en-US" sz="1800" b="1" dirty="0"/>
              <a:t>지형</a:t>
            </a:r>
            <a:r>
              <a:rPr lang="en-US" altLang="ko-KR" sz="1800" b="1" dirty="0"/>
              <a:t>, </a:t>
            </a:r>
            <a:r>
              <a:rPr lang="ko-KR" altLang="en-US" sz="1800" b="1" dirty="0"/>
              <a:t>혜원</a:t>
            </a:r>
            <a:r>
              <a:rPr lang="en-US" altLang="ko-KR" sz="1800" b="1" dirty="0"/>
              <a:t>, </a:t>
            </a:r>
            <a:r>
              <a:rPr lang="ko-KR" altLang="en-US" sz="1800" b="1" dirty="0" err="1"/>
              <a:t>한얼</a:t>
            </a:r>
            <a:endParaRPr lang="ko-KR" altLang="en-US" sz="1800" dirty="0"/>
          </a:p>
          <a:p>
            <a:endParaRPr lang="ko-KR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E36A890-285B-12D8-11A5-B0B85C94D0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92505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25" name="_x233562776">
            <a:extLst>
              <a:ext uri="{FF2B5EF4-FFF2-40B4-BE49-F238E27FC236}">
                <a16:creationId xmlns:a16="http://schemas.microsoft.com/office/drawing/2014/main" id="{BD14A6BD-47E9-D0EB-C838-AD897AFA75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1518" y="1052721"/>
            <a:ext cx="5668963" cy="3344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237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750016-D6D5-6EC5-CB7F-06A01E418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5C44E5-8ADE-1E71-46A9-C578C7BAB7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2945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155663-E3B2-2239-1DF0-BCA784464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ko-KR" sz="5400" dirty="0"/>
              <a:t>1. </a:t>
            </a:r>
            <a:r>
              <a:rPr lang="ko-KR" altLang="en-US" sz="5400" dirty="0"/>
              <a:t>네트워크 구성도</a:t>
            </a:r>
          </a:p>
        </p:txBody>
      </p:sp>
    </p:spTree>
    <p:extLst>
      <p:ext uri="{BB962C8B-B14F-4D97-AF65-F5344CB8AC3E}">
        <p14:creationId xmlns:p14="http://schemas.microsoft.com/office/powerpoint/2010/main" val="1528316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907080-1E6A-1476-CDC6-EB33A7F23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네트워크 논리 구성도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48A9F7-5740-FAFE-493C-928AA0C7E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B42A316-7654-E694-8400-DCF41119D6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0781" y="130968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073" name="_x233561096">
            <a:extLst>
              <a:ext uri="{FF2B5EF4-FFF2-40B4-BE49-F238E27FC236}">
                <a16:creationId xmlns:a16="http://schemas.microsoft.com/office/drawing/2014/main" id="{FBF733D5-EF86-7105-297D-29C697C7A9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272" y="1309687"/>
            <a:ext cx="10369455" cy="4974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0028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4AEFF8-19BD-A2FB-A9DA-D048F1D49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네트워크 물리 구성도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D5D295-60E7-F6A3-7840-852947FBF1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35162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055F071-2401-CC5A-D02E-91B6DFB9C2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953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4097" name="_x233561176">
            <a:extLst>
              <a:ext uri="{FF2B5EF4-FFF2-40B4-BE49-F238E27FC236}">
                <a16:creationId xmlns:a16="http://schemas.microsoft.com/office/drawing/2014/main" id="{456AED3C-D529-9377-2426-FF6C9C9FA3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412" y="1248568"/>
            <a:ext cx="9909175" cy="5724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572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34C6B9-D32B-EF52-6D05-718AE4821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214" y="2268991"/>
            <a:ext cx="10105571" cy="2320018"/>
          </a:xfrm>
        </p:spPr>
        <p:txBody>
          <a:bodyPr>
            <a:normAutofit/>
          </a:bodyPr>
          <a:lstStyle/>
          <a:p>
            <a:pPr algn="ctr"/>
            <a:r>
              <a:rPr lang="en-US" altLang="ko-KR" sz="5400" b="1" dirty="0"/>
              <a:t>2. </a:t>
            </a:r>
            <a:r>
              <a:rPr lang="ko-KR" altLang="en-US" sz="5400" b="1" dirty="0"/>
              <a:t>네트워크 구역별 구축 결과</a:t>
            </a:r>
            <a:endParaRPr lang="ko-KR" altLang="en-US" sz="5400" dirty="0"/>
          </a:p>
        </p:txBody>
      </p:sp>
    </p:spTree>
    <p:extLst>
      <p:ext uri="{BB962C8B-B14F-4D97-AF65-F5344CB8AC3E}">
        <p14:creationId xmlns:p14="http://schemas.microsoft.com/office/powerpoint/2010/main" val="2573399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ABC38FE3-29CF-A966-75F5-F6B7DC6D2D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1008882"/>
              </p:ext>
            </p:extLst>
          </p:nvPr>
        </p:nvGraphicFramePr>
        <p:xfrm>
          <a:off x="1543696" y="156755"/>
          <a:ext cx="9572796" cy="6412702"/>
        </p:xfrm>
        <a:graphic>
          <a:graphicData uri="http://schemas.openxmlformats.org/drawingml/2006/table">
            <a:tbl>
              <a:tblPr/>
              <a:tblGrid>
                <a:gridCol w="1332272">
                  <a:extLst>
                    <a:ext uri="{9D8B030D-6E8A-4147-A177-3AD203B41FA5}">
                      <a16:colId xmlns:a16="http://schemas.microsoft.com/office/drawing/2014/main" val="1147670498"/>
                    </a:ext>
                  </a:extLst>
                </a:gridCol>
                <a:gridCol w="4172814">
                  <a:extLst>
                    <a:ext uri="{9D8B030D-6E8A-4147-A177-3AD203B41FA5}">
                      <a16:colId xmlns:a16="http://schemas.microsoft.com/office/drawing/2014/main" val="4108862225"/>
                    </a:ext>
                  </a:extLst>
                </a:gridCol>
                <a:gridCol w="4067710">
                  <a:extLst>
                    <a:ext uri="{9D8B030D-6E8A-4147-A177-3AD203B41FA5}">
                      <a16:colId xmlns:a16="http://schemas.microsoft.com/office/drawing/2014/main" val="2034365612"/>
                    </a:ext>
                  </a:extLst>
                </a:gridCol>
              </a:tblGrid>
              <a:tr h="312230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네트워크 전체 구성도 구축 결과</a:t>
                      </a:r>
                      <a:endParaRPr lang="ko-KR" altLang="en-US" sz="10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490" marR="5490" marT="39527" marB="3952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091091"/>
                  </a:ext>
                </a:extLst>
              </a:tr>
              <a:tr h="4287561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10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490" marR="5490" marT="39527" marB="3952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7416532"/>
                  </a:ext>
                </a:extLst>
              </a:tr>
              <a:tr h="44486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90000"/>
                        </a:lnSpc>
                        <a:buNone/>
                      </a:pPr>
                      <a:r>
                        <a:rPr lang="ko-KR" altLang="en-US" sz="12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적용 기술</a:t>
                      </a:r>
                      <a:endParaRPr lang="ko-KR" altLang="en-US" sz="10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490" marR="5490" marT="39527" marB="3952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90000"/>
                        </a:lnSpc>
                        <a:buNone/>
                      </a:pPr>
                      <a:r>
                        <a:rPr lang="ko-KR" altLang="en-US" sz="12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사용목적</a:t>
                      </a:r>
                      <a:endParaRPr lang="ko-KR" altLang="en-US" sz="10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490" marR="5490" marT="39527" marB="3952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90000"/>
                        </a:lnSpc>
                        <a:buNone/>
                      </a:pPr>
                      <a:r>
                        <a:rPr lang="ko-KR" altLang="en-US" sz="12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역할</a:t>
                      </a:r>
                      <a:endParaRPr lang="ko-KR" altLang="en-US" sz="10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490" marR="5490" marT="39527" marB="3952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2442474"/>
                  </a:ext>
                </a:extLst>
              </a:tr>
              <a:tr h="38378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90000"/>
                        </a:lnSpc>
                        <a:buNone/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Static Routing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490" marR="5490" marT="39527" marB="3952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90000"/>
                        </a:lnSpc>
                        <a:buNone/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네트워크 경로를 명확히 통제하고 일관된 트래픽 흐름을 유지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490" marR="5490" marT="39527" marB="3952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90000"/>
                        </a:lnSpc>
                        <a:buNone/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일관된 경로 선택과 보안성을 제공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490" marR="5490" marT="39527" marB="3952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5957637"/>
                  </a:ext>
                </a:extLst>
              </a:tr>
              <a:tr h="60047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90000"/>
                        </a:lnSpc>
                        <a:buNone/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Summary Routing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490" marR="5490" marT="39527" marB="3952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같은 경로로 전달되는 네트워크 대역을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supernet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하여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라우팅 설정 최소화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490" marR="5490" marT="39527" marB="3952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축약 가능한 네트워크 대역이 같은 경로 이용 시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한 번에 지정 가능 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490" marR="5490" marT="39527" marB="3952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2805869"/>
                  </a:ext>
                </a:extLst>
              </a:tr>
              <a:tr h="38378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90000"/>
                        </a:lnSpc>
                        <a:buNone/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Default Routing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490" marR="5490" marT="39527" marB="3952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90000"/>
                        </a:lnSpc>
                        <a:buNone/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정의되지 않은 목적지 트래픽을 처리하기 위함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490" marR="5490" marT="39527" marB="3952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90000"/>
                        </a:lnSpc>
                        <a:buNone/>
                      </a:pPr>
                      <a:r>
                        <a:rPr lang="ko-KR" altLang="en-US" sz="1000" kern="0" spc="-10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알 수 없는 목적지로 향하는 패킷을 지정된 기본 경로를 통해 전달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490" marR="5490" marT="39527" marB="3952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3134975"/>
                  </a:ext>
                </a:extLst>
              </a:tr>
            </a:tbl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4634BF64-34E2-231B-7B9E-A808713ED9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1467" y="550759"/>
            <a:ext cx="13035267" cy="5370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 </a:t>
            </a:r>
            <a:endParaRPr kumimoji="0" lang="ko-KR" altLang="ko-KR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69" name="_x233561496">
            <a:extLst>
              <a:ext uri="{FF2B5EF4-FFF2-40B4-BE49-F238E27FC236}">
                <a16:creationId xmlns:a16="http://schemas.microsoft.com/office/drawing/2014/main" id="{96D3D637-01A8-54DD-059C-763D714D31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81" b="6291"/>
          <a:stretch>
            <a:fillRect/>
          </a:stretch>
        </p:blipFill>
        <p:spPr bwMode="auto">
          <a:xfrm>
            <a:off x="2225674" y="550759"/>
            <a:ext cx="8208839" cy="4112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F8B1362B-0686-687D-31ED-8DA885475B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1467" y="1153742"/>
            <a:ext cx="13035267" cy="252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 </a:t>
            </a: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6914267"/>
      </p:ext>
    </p:extLst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내용 개체 틀 5">
            <a:extLst>
              <a:ext uri="{FF2B5EF4-FFF2-40B4-BE49-F238E27FC236}">
                <a16:creationId xmlns:a16="http://schemas.microsoft.com/office/drawing/2014/main" id="{FAE0B758-903B-6934-50E2-090313AE0F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3654924"/>
              </p:ext>
            </p:extLst>
          </p:nvPr>
        </p:nvGraphicFramePr>
        <p:xfrm>
          <a:off x="439838" y="220221"/>
          <a:ext cx="11134846" cy="6453296"/>
        </p:xfrm>
        <a:graphic>
          <a:graphicData uri="http://schemas.openxmlformats.org/drawingml/2006/table">
            <a:tbl>
              <a:tblPr/>
              <a:tblGrid>
                <a:gridCol w="1984048">
                  <a:extLst>
                    <a:ext uri="{9D8B030D-6E8A-4147-A177-3AD203B41FA5}">
                      <a16:colId xmlns:a16="http://schemas.microsoft.com/office/drawing/2014/main" val="3174762485"/>
                    </a:ext>
                  </a:extLst>
                </a:gridCol>
                <a:gridCol w="3108813">
                  <a:extLst>
                    <a:ext uri="{9D8B030D-6E8A-4147-A177-3AD203B41FA5}">
                      <a16:colId xmlns:a16="http://schemas.microsoft.com/office/drawing/2014/main" val="1848900712"/>
                    </a:ext>
                  </a:extLst>
                </a:gridCol>
                <a:gridCol w="393539">
                  <a:extLst>
                    <a:ext uri="{9D8B030D-6E8A-4147-A177-3AD203B41FA5}">
                      <a16:colId xmlns:a16="http://schemas.microsoft.com/office/drawing/2014/main" val="2565430353"/>
                    </a:ext>
                  </a:extLst>
                </a:gridCol>
                <a:gridCol w="561648">
                  <a:extLst>
                    <a:ext uri="{9D8B030D-6E8A-4147-A177-3AD203B41FA5}">
                      <a16:colId xmlns:a16="http://schemas.microsoft.com/office/drawing/2014/main" val="261346284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232403308"/>
                    </a:ext>
                  </a:extLst>
                </a:gridCol>
                <a:gridCol w="3925655">
                  <a:extLst>
                    <a:ext uri="{9D8B030D-6E8A-4147-A177-3AD203B41FA5}">
                      <a16:colId xmlns:a16="http://schemas.microsoft.com/office/drawing/2014/main" val="1381712691"/>
                    </a:ext>
                  </a:extLst>
                </a:gridCol>
              </a:tblGrid>
              <a:tr h="337030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90000"/>
                        </a:lnSpc>
                        <a:buNone/>
                      </a:pPr>
                      <a:r>
                        <a:rPr lang="ko-KR" altLang="en-US" sz="10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구역</a:t>
                      </a:r>
                      <a:endParaRPr lang="ko-KR" alt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35" marR="4635" marT="33374" marB="3337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0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구축 결과</a:t>
                      </a:r>
                      <a:endParaRPr lang="ko-KR" altLang="en-US"/>
                    </a:p>
                  </a:txBody>
                  <a:tcPr marL="4635" marR="4635" marT="33374" marB="3337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5936557"/>
                  </a:ext>
                </a:extLst>
              </a:tr>
              <a:tr h="1901913">
                <a:tc rowSpan="3"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90000"/>
                        </a:lnSpc>
                        <a:buNone/>
                      </a:pPr>
                      <a:endParaRPr lang="ko-KR" altLang="en-US" sz="8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35" marR="4635" marT="33374" marB="3337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000" b="1" kern="10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R1</a:t>
                      </a:r>
                      <a:endParaRPr 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35" marR="4635" marT="33374" marB="3337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4635" marR="4635" marT="33374" marB="3337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2499665"/>
                  </a:ext>
                </a:extLst>
              </a:tr>
              <a:tr h="1101817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000" b="1" kern="10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R3</a:t>
                      </a:r>
                      <a:endParaRPr lang="en-US" sz="8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35" marR="4635" marT="33374" marB="3337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4635" marR="4635" marT="33374" marB="3337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5098960"/>
                  </a:ext>
                </a:extLst>
              </a:tr>
              <a:tr h="1690622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000" b="1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R5</a:t>
                      </a:r>
                      <a:endParaRPr lang="en-US" sz="8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35" marR="4635" marT="33374" marB="3337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4635" marR="4635" marT="33374" marB="3337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9984855"/>
                  </a:ext>
                </a:extLst>
              </a:tr>
              <a:tr h="31349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90000"/>
                        </a:lnSpc>
                        <a:buNone/>
                      </a:pPr>
                      <a:r>
                        <a:rPr lang="ko-KR" altLang="en-US" sz="10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적용 기술</a:t>
                      </a:r>
                      <a:endParaRPr lang="ko-KR" alt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35" marR="4635" marT="33374" marB="3337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90000"/>
                        </a:lnSpc>
                        <a:buNone/>
                      </a:pPr>
                      <a:r>
                        <a:rPr lang="ko-KR" altLang="en-US" sz="10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사용목적</a:t>
                      </a:r>
                      <a:endParaRPr lang="ko-KR" alt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35" marR="4635" marT="33374" marB="3337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90000"/>
                        </a:lnSpc>
                        <a:buNone/>
                      </a:pPr>
                      <a:endParaRPr lang="ko-KR" alt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35" marR="4635" marT="33374" marB="3337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90000"/>
                        </a:lnSpc>
                        <a:buNone/>
                      </a:pPr>
                      <a:r>
                        <a:rPr lang="ko-KR" altLang="en-US" sz="10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장비</a:t>
                      </a:r>
                      <a:endParaRPr lang="ko-KR" alt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35" marR="4635" marT="33374" marB="3337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90000"/>
                        </a:lnSpc>
                        <a:buNone/>
                      </a:pPr>
                      <a:r>
                        <a:rPr lang="ko-KR" altLang="en-US" sz="10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역할</a:t>
                      </a:r>
                      <a:endParaRPr lang="ko-KR" alt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35" marR="4635" marT="33374" marB="3337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734204"/>
                  </a:ext>
                </a:extLst>
              </a:tr>
              <a:tr h="110842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70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Frame-Relay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35" marR="4635" marT="33374" marB="3337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70000"/>
                        </a:lnSpc>
                        <a:buNone/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Multipoint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를 이용한 네트워크 대역 절약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35" marR="4635" marT="33374" marB="3337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70000"/>
                        </a:lnSpc>
                        <a:buNone/>
                      </a:pPr>
                      <a:endParaRPr lang="en-US" sz="7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35" marR="4635" marT="33374" marB="3337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70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FRSW1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35" marR="4635" marT="33374" marB="3337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70000"/>
                        </a:lnSpc>
                        <a:buNone/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각 라우터마다 하나의 회선으로 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70000"/>
                        </a:lnSpc>
                        <a:buNone/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여러 포트인 것처럼 사용 가능하게 함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35" marR="4635" marT="33374" marB="3337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3390524"/>
                  </a:ext>
                </a:extLst>
              </a:tr>
            </a:tbl>
          </a:graphicData>
        </a:graphic>
      </p:graphicFrame>
      <p:pic>
        <p:nvPicPr>
          <p:cNvPr id="8201" name="_x233561656">
            <a:extLst>
              <a:ext uri="{FF2B5EF4-FFF2-40B4-BE49-F238E27FC236}">
                <a16:creationId xmlns:a16="http://schemas.microsoft.com/office/drawing/2014/main" id="{80F10B5A-405B-552F-4696-A8777DB3C7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"/>
          <a:stretch>
            <a:fillRect/>
          </a:stretch>
        </p:blipFill>
        <p:spPr bwMode="auto">
          <a:xfrm>
            <a:off x="498715" y="1260387"/>
            <a:ext cx="5010834" cy="3568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0" name="_x233559096"/>
          <p:cNvPicPr>
            <a:picLocks noChangeAspect="1" noChangeArrowheads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524843" y="614459"/>
            <a:ext cx="4849142" cy="1842876"/>
          </a:xfrm>
          <a:prstGeom prst="rect">
            <a:avLst/>
          </a:prstGeom>
          <a:noFill/>
        </p:spPr>
      </p:pic>
      <p:pic>
        <p:nvPicPr>
          <p:cNvPr id="8199" name="_x148413728"/>
          <p:cNvPicPr>
            <a:picLocks noChangeAspect="1" noChangeArrowheads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524842" y="2485791"/>
            <a:ext cx="4849142" cy="1101677"/>
          </a:xfrm>
          <a:prstGeom prst="rect">
            <a:avLst/>
          </a:prstGeom>
          <a:noFill/>
        </p:spPr>
      </p:pic>
      <p:pic>
        <p:nvPicPr>
          <p:cNvPr id="8198" name="_x237389992"/>
          <p:cNvPicPr>
            <a:picLocks noChangeAspect="1" noChangeArrowheads="1"/>
          </p:cNvPicPr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007261" y="3566649"/>
            <a:ext cx="5494045" cy="1672927"/>
          </a:xfrm>
          <a:prstGeom prst="rect">
            <a:avLst/>
          </a:prstGeom>
          <a:noFill/>
        </p:spPr>
      </p:pic>
      <p:sp>
        <p:nvSpPr>
          <p:cNvPr id="7" name="Rectangle 10">
            <a:extLst>
              <a:ext uri="{FF2B5EF4-FFF2-40B4-BE49-F238E27FC236}">
                <a16:creationId xmlns:a16="http://schemas.microsoft.com/office/drawing/2014/main" id="{3C841671-30A6-1334-D1DA-E25344BB30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7984" y="50958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60752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55C51F2-479E-336A-0403-1BDDA62620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9695694"/>
              </p:ext>
            </p:extLst>
          </p:nvPr>
        </p:nvGraphicFramePr>
        <p:xfrm>
          <a:off x="298215" y="245568"/>
          <a:ext cx="11595569" cy="6366864"/>
        </p:xfrm>
        <a:graphic>
          <a:graphicData uri="http://schemas.openxmlformats.org/drawingml/2006/table">
            <a:tbl>
              <a:tblPr/>
              <a:tblGrid>
                <a:gridCol w="1506404">
                  <a:extLst>
                    <a:ext uri="{9D8B030D-6E8A-4147-A177-3AD203B41FA5}">
                      <a16:colId xmlns:a16="http://schemas.microsoft.com/office/drawing/2014/main" val="874611176"/>
                    </a:ext>
                  </a:extLst>
                </a:gridCol>
                <a:gridCol w="4349438">
                  <a:extLst>
                    <a:ext uri="{9D8B030D-6E8A-4147-A177-3AD203B41FA5}">
                      <a16:colId xmlns:a16="http://schemas.microsoft.com/office/drawing/2014/main" val="3230075080"/>
                    </a:ext>
                  </a:extLst>
                </a:gridCol>
                <a:gridCol w="696686">
                  <a:extLst>
                    <a:ext uri="{9D8B030D-6E8A-4147-A177-3AD203B41FA5}">
                      <a16:colId xmlns:a16="http://schemas.microsoft.com/office/drawing/2014/main" val="452646800"/>
                    </a:ext>
                  </a:extLst>
                </a:gridCol>
                <a:gridCol w="5043041">
                  <a:extLst>
                    <a:ext uri="{9D8B030D-6E8A-4147-A177-3AD203B41FA5}">
                      <a16:colId xmlns:a16="http://schemas.microsoft.com/office/drawing/2014/main" val="1412729706"/>
                    </a:ext>
                  </a:extLst>
                </a:gridCol>
              </a:tblGrid>
              <a:tr h="524569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70000"/>
                        </a:lnSpc>
                        <a:buNone/>
                      </a:pPr>
                      <a:r>
                        <a:rPr lang="ko-KR" altLang="en-US" sz="12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구역</a:t>
                      </a:r>
                      <a:endParaRPr lang="ko-KR" altLang="en-US" sz="10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59" marR="5659" marT="40746" marB="40746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70000"/>
                        </a:lnSpc>
                        <a:buNone/>
                      </a:pPr>
                      <a:r>
                        <a:rPr lang="ko-KR" altLang="en-US" sz="1200" b="1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구축 결과</a:t>
                      </a:r>
                      <a:endParaRPr lang="ko-KR" altLang="en-US" sz="10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59" marR="5659" marT="40746" marB="40746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1413603"/>
                  </a:ext>
                </a:extLst>
              </a:tr>
              <a:tr h="3584124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70000"/>
                        </a:lnSpc>
                        <a:buNone/>
                      </a:pPr>
                      <a:endParaRPr lang="ko-KR" altLang="en-US" sz="10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59" marR="5659" marT="40746" marB="40746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70000"/>
                        </a:lnSpc>
                        <a:buNone/>
                      </a:pPr>
                      <a:r>
                        <a:rPr lang="en-US" sz="1200" b="1" kern="10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CHAP</a:t>
                      </a:r>
                      <a:endParaRPr lang="en-US" sz="10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59" marR="5659" marT="40746" marB="40746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70000"/>
                        </a:lnSpc>
                        <a:buNone/>
                      </a:pPr>
                      <a:r>
                        <a:rPr lang="en-US" sz="1200" b="1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(Wireshark </a:t>
                      </a:r>
                      <a:r>
                        <a:rPr lang="ko-KR" altLang="en-US" sz="1200" b="1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캡처</a:t>
                      </a:r>
                      <a:r>
                        <a:rPr lang="en-US" altLang="ko-KR" sz="1200" b="1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)</a:t>
                      </a:r>
                      <a:endParaRPr lang="ko-KR" altLang="en-US" sz="10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59" marR="5659" marT="40746" marB="40746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543579"/>
                  </a:ext>
                </a:extLst>
              </a:tr>
              <a:tr h="52456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70000"/>
                        </a:lnSpc>
                        <a:buNone/>
                      </a:pPr>
                      <a:r>
                        <a:rPr lang="ko-KR" altLang="en-US" sz="12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적용 기술</a:t>
                      </a:r>
                      <a:endParaRPr lang="ko-KR" altLang="en-US" sz="10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59" marR="5659" marT="40746" marB="40746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70000"/>
                        </a:lnSpc>
                        <a:buNone/>
                      </a:pPr>
                      <a:r>
                        <a:rPr lang="ko-KR" altLang="en-US" sz="12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사용목적</a:t>
                      </a:r>
                      <a:endParaRPr lang="ko-KR" altLang="en-US" sz="10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59" marR="5659" marT="40746" marB="40746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70000"/>
                        </a:lnSpc>
                        <a:buNone/>
                      </a:pPr>
                      <a:r>
                        <a:rPr lang="ko-KR" altLang="en-US" sz="1200" b="1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장비</a:t>
                      </a:r>
                      <a:endParaRPr lang="ko-KR" altLang="en-US" sz="10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59" marR="5659" marT="40746" marB="40746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70000"/>
                        </a:lnSpc>
                        <a:buNone/>
                      </a:pPr>
                      <a:r>
                        <a:rPr lang="ko-KR" altLang="en-US" sz="12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역할</a:t>
                      </a:r>
                      <a:endParaRPr lang="ko-KR" altLang="en-US" sz="10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59" marR="5659" marT="40746" marB="40746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8788283"/>
                  </a:ext>
                </a:extLst>
              </a:tr>
              <a:tr h="86680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70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CHAP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59" marR="5659" marT="40746" marB="40746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70000"/>
                        </a:lnSpc>
                        <a:buNone/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3WAY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인증 방식으로 라우터 간에 확인된 라우터만 연결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59" marR="5659" marT="40746" marB="40746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70000"/>
                        </a:lnSpc>
                        <a:buNone/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R7, R8</a:t>
                      </a:r>
                      <a:endParaRPr lang="en-US" sz="14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59" marR="5659" marT="40746" marB="40746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70000"/>
                        </a:lnSpc>
                        <a:buNone/>
                      </a:pP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해킹동아리에서 경찰서로 이어지는 라우터와</a:t>
                      </a:r>
                      <a:endParaRPr lang="ko-KR" altLang="en-US" sz="140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70000"/>
                        </a:lnSpc>
                        <a:buNone/>
                      </a:pP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신뢰성 있는 통신 가능</a:t>
                      </a:r>
                      <a:endParaRPr lang="ko-KR" altLang="en-US" sz="14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59" marR="5659" marT="40746" marB="40746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956965"/>
                  </a:ext>
                </a:extLst>
              </a:tr>
              <a:tr h="86680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70000"/>
                        </a:lnSpc>
                        <a:buNone/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NAT(access-list)</a:t>
                      </a:r>
                      <a:endParaRPr lang="en-US" sz="14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59" marR="5659" marT="40746" marB="40746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70000"/>
                        </a:lnSpc>
                        <a:buNone/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해킹 동아리 쪽 네트워크 대역이 사설 대역이므로 외부와 통신 시 공인 대역으로 변환하기 위함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59" marR="5659" marT="40746" marB="40746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70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R8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59" marR="5659" marT="40746" marB="40746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70000"/>
                        </a:lnSpc>
                        <a:buNone/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사설 네트워크 대역과 공인 네트워크 대역 매핑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59" marR="5659" marT="40746" marB="40746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9644840"/>
                  </a:ext>
                </a:extLst>
              </a:tr>
            </a:tbl>
          </a:graphicData>
        </a:graphic>
      </p:graphicFrame>
      <p:pic>
        <p:nvPicPr>
          <p:cNvPr id="9218" name="_x233556296">
            <a:extLst>
              <a:ext uri="{FF2B5EF4-FFF2-40B4-BE49-F238E27FC236}">
                <a16:creationId xmlns:a16="http://schemas.microsoft.com/office/drawing/2014/main" id="{8A5D3238-679F-6B29-D7DE-C6E3298EE1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960" y="799566"/>
            <a:ext cx="4198679" cy="3484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7" name="_x148413488">
            <a:extLst>
              <a:ext uri="{FF2B5EF4-FFF2-40B4-BE49-F238E27FC236}">
                <a16:creationId xmlns:a16="http://schemas.microsoft.com/office/drawing/2014/main" id="{09ED57A7-3A56-B8EE-977D-98447D436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6363" y="1565194"/>
            <a:ext cx="4987811" cy="1783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3345669A-09AF-0B81-4921-B418E79CEA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6978" y="110799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50326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4218D52-BF49-1883-F579-29422FB335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9740352"/>
              </p:ext>
            </p:extLst>
          </p:nvPr>
        </p:nvGraphicFramePr>
        <p:xfrm>
          <a:off x="187806" y="278198"/>
          <a:ext cx="11816387" cy="6301603"/>
        </p:xfrm>
        <a:graphic>
          <a:graphicData uri="http://schemas.openxmlformats.org/drawingml/2006/table">
            <a:tbl>
              <a:tblPr/>
              <a:tblGrid>
                <a:gridCol w="1235852">
                  <a:extLst>
                    <a:ext uri="{9D8B030D-6E8A-4147-A177-3AD203B41FA5}">
                      <a16:colId xmlns:a16="http://schemas.microsoft.com/office/drawing/2014/main" val="916382943"/>
                    </a:ext>
                  </a:extLst>
                </a:gridCol>
                <a:gridCol w="3415963">
                  <a:extLst>
                    <a:ext uri="{9D8B030D-6E8A-4147-A177-3AD203B41FA5}">
                      <a16:colId xmlns:a16="http://schemas.microsoft.com/office/drawing/2014/main" val="1070174390"/>
                    </a:ext>
                  </a:extLst>
                </a:gridCol>
                <a:gridCol w="795794">
                  <a:extLst>
                    <a:ext uri="{9D8B030D-6E8A-4147-A177-3AD203B41FA5}">
                      <a16:colId xmlns:a16="http://schemas.microsoft.com/office/drawing/2014/main" val="1673601454"/>
                    </a:ext>
                  </a:extLst>
                </a:gridCol>
                <a:gridCol w="6368778">
                  <a:extLst>
                    <a:ext uri="{9D8B030D-6E8A-4147-A177-3AD203B41FA5}">
                      <a16:colId xmlns:a16="http://schemas.microsoft.com/office/drawing/2014/main" val="1461738990"/>
                    </a:ext>
                  </a:extLst>
                </a:gridCol>
              </a:tblGrid>
              <a:tr h="428328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구역</a:t>
                      </a:r>
                      <a:endParaRPr lang="ko-KR" alt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07" marR="4607" marT="33171" marB="3317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구축 결과</a:t>
                      </a:r>
                      <a:endParaRPr lang="ko-KR" alt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07" marR="4607" marT="33171" marB="3317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9638801"/>
                  </a:ext>
                </a:extLst>
              </a:tr>
              <a:tr h="1173730">
                <a:tc rowSpan="3"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07" marR="4607" marT="33171" marB="3317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000" b="1" kern="100" spc="4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SW3</a:t>
                      </a:r>
                      <a:endParaRPr lang="en-US" sz="8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07" marR="4607" marT="33171" marB="3317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07" marR="4607" marT="33171" marB="3317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0348791"/>
                  </a:ext>
                </a:extLst>
              </a:tr>
              <a:tr h="1183756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000" b="1" kern="10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SW4</a:t>
                      </a:r>
                      <a:endParaRPr 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07" marR="4607" marT="33171" marB="3317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8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07" marR="4607" marT="33171" marB="3317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740005"/>
                  </a:ext>
                </a:extLst>
              </a:tr>
              <a:tr h="1716209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000" b="1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SW10</a:t>
                      </a:r>
                      <a:endParaRPr lang="en-US" sz="8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000" b="1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(Root)</a:t>
                      </a:r>
                      <a:endParaRPr lang="en-US" sz="8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07" marR="4607" marT="33171" marB="3317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07" marR="4607" marT="33171" marB="3317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272072"/>
                  </a:ext>
                </a:extLst>
              </a:tr>
              <a:tr h="55617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적용 기술</a:t>
                      </a:r>
                      <a:endParaRPr lang="ko-KR" alt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07" marR="4607" marT="33171" marB="3317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사용목적</a:t>
                      </a:r>
                      <a:endParaRPr lang="ko-KR" alt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07" marR="4607" marT="33171" marB="3317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장비</a:t>
                      </a:r>
                      <a:endParaRPr lang="ko-KR" alt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07" marR="4607" marT="33171" marB="3317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역할</a:t>
                      </a:r>
                      <a:endParaRPr lang="ko-KR" alt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07" marR="4607" marT="33171" marB="3317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43089"/>
                  </a:ext>
                </a:extLst>
              </a:tr>
              <a:tr h="414467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STP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(Spanning Tree Protocol)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07" marR="4607" marT="33171" marB="3317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링구조로 연결된 스위치에 패킷이 전달될 무한 </a:t>
                      </a:r>
                      <a:r>
                        <a:rPr lang="ko-KR" altLang="en-US" sz="1400" kern="0" spc="-30" dirty="0" err="1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루핑</a:t>
                      </a: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 현상 방지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07" marR="4607" marT="33171" marB="3317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buNone/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ESW3</a:t>
                      </a:r>
                      <a:endParaRPr lang="en-US" sz="14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07" marR="4607" marT="33171" marB="3317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스위치의 포트 중에서 우선순위가 낮은 포트를 차단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07" marR="4607" marT="33171" marB="3317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157256"/>
                  </a:ext>
                </a:extLst>
              </a:tr>
              <a:tr h="41446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buNone/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ESW4 </a:t>
                      </a:r>
                      <a:endParaRPr lang="en-US" sz="14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07" marR="4607" marT="33171" marB="3317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0369104"/>
                  </a:ext>
                </a:extLst>
              </a:tr>
              <a:tr h="41446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ESW10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07" marR="4607" marT="33171" marB="3317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3837489"/>
                  </a:ext>
                </a:extLst>
              </a:tr>
            </a:tbl>
          </a:graphicData>
        </a:graphic>
      </p:graphicFrame>
      <p:pic>
        <p:nvPicPr>
          <p:cNvPr id="10245" name="_x203943592">
            <a:extLst>
              <a:ext uri="{FF2B5EF4-FFF2-40B4-BE49-F238E27FC236}">
                <a16:creationId xmlns:a16="http://schemas.microsoft.com/office/drawing/2014/main" id="{930B4A35-4BF0-9D15-581D-501C424C58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48" r="21864" b="8383"/>
          <a:stretch>
            <a:fillRect/>
          </a:stretch>
        </p:blipFill>
        <p:spPr bwMode="auto">
          <a:xfrm>
            <a:off x="247277" y="1125651"/>
            <a:ext cx="4452431" cy="3638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_x233558696">
            <a:extLst>
              <a:ext uri="{FF2B5EF4-FFF2-40B4-BE49-F238E27FC236}">
                <a16:creationId xmlns:a16="http://schemas.microsoft.com/office/drawing/2014/main" id="{61606A08-1BCE-FD0B-4FCB-241B345C21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47" b="10945"/>
          <a:stretch>
            <a:fillRect/>
          </a:stretch>
        </p:blipFill>
        <p:spPr bwMode="auto">
          <a:xfrm>
            <a:off x="5666246" y="944161"/>
            <a:ext cx="6278476" cy="632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3" name="_x47185304">
            <a:extLst>
              <a:ext uri="{FF2B5EF4-FFF2-40B4-BE49-F238E27FC236}">
                <a16:creationId xmlns:a16="http://schemas.microsoft.com/office/drawing/2014/main" id="{119B9184-9367-6B78-0BC3-D818543A93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619" b="18121"/>
          <a:stretch>
            <a:fillRect/>
          </a:stretch>
        </p:blipFill>
        <p:spPr bwMode="auto">
          <a:xfrm>
            <a:off x="5683696" y="2181490"/>
            <a:ext cx="6261026" cy="535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2" name="_x207324168">
            <a:extLst>
              <a:ext uri="{FF2B5EF4-FFF2-40B4-BE49-F238E27FC236}">
                <a16:creationId xmlns:a16="http://schemas.microsoft.com/office/drawing/2014/main" id="{83C73F21-D136-B048-5034-D024540C94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0285" y="3165717"/>
            <a:ext cx="3841149" cy="578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1" name="_x207326088">
            <a:extLst>
              <a:ext uri="{FF2B5EF4-FFF2-40B4-BE49-F238E27FC236}">
                <a16:creationId xmlns:a16="http://schemas.microsoft.com/office/drawing/2014/main" id="{71B60CCD-AB73-7E5C-2A6E-ABF5167607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99" b="12050"/>
          <a:stretch>
            <a:fillRect/>
          </a:stretch>
        </p:blipFill>
        <p:spPr bwMode="auto">
          <a:xfrm>
            <a:off x="5750284" y="3744135"/>
            <a:ext cx="6194438" cy="923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6">
            <a:extLst>
              <a:ext uri="{FF2B5EF4-FFF2-40B4-BE49-F238E27FC236}">
                <a16:creationId xmlns:a16="http://schemas.microsoft.com/office/drawing/2014/main" id="{8189FB84-C6C0-FCE8-1691-CA426B2BC3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48761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41823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130220B-56DD-6C9F-DBAF-4C607A1FE8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3753983"/>
              </p:ext>
            </p:extLst>
          </p:nvPr>
        </p:nvGraphicFramePr>
        <p:xfrm>
          <a:off x="296779" y="292319"/>
          <a:ext cx="11598441" cy="6441326"/>
        </p:xfrm>
        <a:graphic>
          <a:graphicData uri="http://schemas.openxmlformats.org/drawingml/2006/table">
            <a:tbl>
              <a:tblPr/>
              <a:tblGrid>
                <a:gridCol w="1246097">
                  <a:extLst>
                    <a:ext uri="{9D8B030D-6E8A-4147-A177-3AD203B41FA5}">
                      <a16:colId xmlns:a16="http://schemas.microsoft.com/office/drawing/2014/main" val="2065845456"/>
                    </a:ext>
                  </a:extLst>
                </a:gridCol>
                <a:gridCol w="3478303">
                  <a:extLst>
                    <a:ext uri="{9D8B030D-6E8A-4147-A177-3AD203B41FA5}">
                      <a16:colId xmlns:a16="http://schemas.microsoft.com/office/drawing/2014/main" val="1870395853"/>
                    </a:ext>
                  </a:extLst>
                </a:gridCol>
                <a:gridCol w="1876926">
                  <a:extLst>
                    <a:ext uri="{9D8B030D-6E8A-4147-A177-3AD203B41FA5}">
                      <a16:colId xmlns:a16="http://schemas.microsoft.com/office/drawing/2014/main" val="2050584530"/>
                    </a:ext>
                  </a:extLst>
                </a:gridCol>
                <a:gridCol w="4997115">
                  <a:extLst>
                    <a:ext uri="{9D8B030D-6E8A-4147-A177-3AD203B41FA5}">
                      <a16:colId xmlns:a16="http://schemas.microsoft.com/office/drawing/2014/main" val="4210451879"/>
                    </a:ext>
                  </a:extLst>
                </a:gridCol>
              </a:tblGrid>
              <a:tr h="233379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1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구역</a:t>
                      </a:r>
                      <a:endParaRPr lang="ko-KR" alt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48" marR="4848" marT="34902" marB="3490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100" b="1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구축 결과</a:t>
                      </a:r>
                      <a:endParaRPr lang="ko-KR" altLang="en-US" sz="8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48" marR="4848" marT="34902" marB="3490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9394977"/>
                  </a:ext>
                </a:extLst>
              </a:tr>
              <a:tr h="2582243">
                <a:tc rowSpan="2"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8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48" marR="4848" marT="34902" marB="3490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 kern="100" spc="4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R2</a:t>
                      </a:r>
                      <a:endParaRPr 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 kern="100" spc="4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(DHCP)</a:t>
                      </a:r>
                      <a:endParaRPr 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48" marR="4848" marT="34902" marB="3490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48" marR="4848" marT="34902" marB="3490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7097444"/>
                  </a:ext>
                </a:extLst>
              </a:tr>
              <a:tr h="2041104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R2</a:t>
                      </a:r>
                      <a:endParaRPr lang="en-US" sz="8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(PAT)</a:t>
                      </a:r>
                      <a:endParaRPr lang="en-US" sz="8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48" marR="4848" marT="34902" marB="3490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8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48" marR="4848" marT="34902" marB="3490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887505"/>
                  </a:ext>
                </a:extLst>
              </a:tr>
              <a:tr h="26862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1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적용 기술</a:t>
                      </a:r>
                      <a:endParaRPr lang="ko-KR" alt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48" marR="4848" marT="34902" marB="3490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1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사용목적</a:t>
                      </a:r>
                      <a:endParaRPr lang="ko-KR" alt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48" marR="4848" marT="34902" marB="3490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100" b="1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장비</a:t>
                      </a:r>
                      <a:endParaRPr lang="ko-KR" altLang="en-US" sz="8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48" marR="4848" marT="34902" marB="3490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1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역할</a:t>
                      </a:r>
                      <a:endParaRPr lang="ko-KR" alt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48" marR="4848" marT="34902" marB="3490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4654519"/>
                  </a:ext>
                </a:extLst>
              </a:tr>
              <a:tr h="47603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DHCP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48" marR="4848" marT="34902" marB="3490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80000"/>
                        </a:lnSpc>
                        <a:buNone/>
                      </a:pPr>
                      <a:r>
                        <a:rPr lang="ko-KR" altLang="en-US" sz="11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하나의 </a:t>
                      </a: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DHCP</a:t>
                      </a:r>
                      <a:r>
                        <a:rPr lang="ko-KR" altLang="en-US" sz="11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서버에서 연결된 각 장비에 자동으로 </a:t>
                      </a: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IP</a:t>
                      </a:r>
                      <a:r>
                        <a:rPr lang="ko-KR" altLang="en-US" sz="11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를 할당해주기 위함 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48" marR="4848" marT="34902" marB="3490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80000"/>
                        </a:lnSpc>
                        <a:buNone/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R2</a:t>
                      </a:r>
                      <a:endParaRPr lang="en-US" sz="11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48" marR="4848" marT="34902" marB="3490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80000"/>
                        </a:lnSpc>
                        <a:buNone/>
                      </a:pP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DHCP</a:t>
                      </a: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서버로서 관제센터 내부</a:t>
                      </a: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PC</a:t>
                      </a: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들의 </a:t>
                      </a: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IP</a:t>
                      </a: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를 주어진 대역에 맞춰 할당</a:t>
                      </a: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48" marR="4848" marT="34902" marB="3490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777191"/>
                  </a:ext>
                </a:extLst>
              </a:tr>
              <a:tr h="68356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PAT</a:t>
                      </a:r>
                      <a:endParaRPr lang="en-US" sz="11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48" marR="4848" marT="34902" marB="3490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80000"/>
                        </a:lnSpc>
                        <a:buNone/>
                      </a:pPr>
                      <a:r>
                        <a:rPr lang="ko-KR" altLang="en-US" sz="11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내부에서 사용하는 다수의 사설</a:t>
                      </a: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IP</a:t>
                      </a:r>
                      <a:r>
                        <a:rPr lang="ko-KR" altLang="en-US" sz="11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를 외부와 통신할 때에는 하나의 공인</a:t>
                      </a: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IP</a:t>
                      </a:r>
                      <a:r>
                        <a:rPr lang="ko-KR" altLang="en-US" sz="11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로 변환하여 사용할 수 있도록 함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48" marR="4848" marT="34902" marB="3490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80000"/>
                        </a:lnSpc>
                        <a:buNone/>
                      </a:pPr>
                      <a:r>
                        <a:rPr lang="ko-KR" altLang="en-US" sz="11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관제센터에서 </a:t>
                      </a:r>
                      <a:r>
                        <a:rPr lang="ko-KR" altLang="en-US" sz="1100" kern="0" spc="0" dirty="0" err="1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여러명이</a:t>
                      </a:r>
                      <a:r>
                        <a:rPr lang="ko-KR" altLang="en-US" sz="11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 각자의 </a:t>
                      </a: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PC</a:t>
                      </a:r>
                      <a:r>
                        <a:rPr lang="ko-KR" altLang="en-US" sz="11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로 업무를 하지만</a:t>
                      </a: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, 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80000"/>
                        </a:lnSpc>
                        <a:buNone/>
                      </a:pPr>
                      <a:r>
                        <a:rPr lang="ko-KR" altLang="en-US" sz="11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외부 네트워크 통신시에는 하나의 관제센터 공인</a:t>
                      </a: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IP</a:t>
                      </a:r>
                      <a:r>
                        <a:rPr lang="ko-KR" altLang="en-US" sz="11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로 통신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48" marR="4848" marT="34902" marB="3490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1670520"/>
                  </a:ext>
                </a:extLst>
              </a:tr>
            </a:tbl>
          </a:graphicData>
        </a:graphic>
      </p:graphicFrame>
      <p:pic>
        <p:nvPicPr>
          <p:cNvPr id="11267" name="_x231863600">
            <a:extLst>
              <a:ext uri="{FF2B5EF4-FFF2-40B4-BE49-F238E27FC236}">
                <a16:creationId xmlns:a16="http://schemas.microsoft.com/office/drawing/2014/main" id="{59959091-C20F-D604-9498-A599B046FD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779" y="1952625"/>
            <a:ext cx="4676618" cy="2330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6" name="_x233556936">
            <a:extLst>
              <a:ext uri="{FF2B5EF4-FFF2-40B4-BE49-F238E27FC236}">
                <a16:creationId xmlns:a16="http://schemas.microsoft.com/office/drawing/2014/main" id="{E3823F44-A002-D18A-BB76-9F9079965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1120273"/>
            <a:ext cx="4959785" cy="1664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5" name="_x231866800">
            <a:extLst>
              <a:ext uri="{FF2B5EF4-FFF2-40B4-BE49-F238E27FC236}">
                <a16:creationId xmlns:a16="http://schemas.microsoft.com/office/drawing/2014/main" id="{BB7CCA2A-C93D-1659-9961-3DF3DFC9E9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3429000"/>
            <a:ext cx="4939772" cy="1520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4">
            <a:extLst>
              <a:ext uri="{FF2B5EF4-FFF2-40B4-BE49-F238E27FC236}">
                <a16:creationId xmlns:a16="http://schemas.microsoft.com/office/drawing/2014/main" id="{96A703E1-DB1D-362B-3DED-BA44A339BB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9526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73657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689BBFA-A01A-92EE-7E6A-F8F2065FC1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6010309"/>
              </p:ext>
            </p:extLst>
          </p:nvPr>
        </p:nvGraphicFramePr>
        <p:xfrm>
          <a:off x="287258" y="322650"/>
          <a:ext cx="11617483" cy="6212700"/>
        </p:xfrm>
        <a:graphic>
          <a:graphicData uri="http://schemas.openxmlformats.org/drawingml/2006/table">
            <a:tbl>
              <a:tblPr/>
              <a:tblGrid>
                <a:gridCol w="1308029">
                  <a:extLst>
                    <a:ext uri="{9D8B030D-6E8A-4147-A177-3AD203B41FA5}">
                      <a16:colId xmlns:a16="http://schemas.microsoft.com/office/drawing/2014/main" val="3290034667"/>
                    </a:ext>
                  </a:extLst>
                </a:gridCol>
                <a:gridCol w="3714754">
                  <a:extLst>
                    <a:ext uri="{9D8B030D-6E8A-4147-A177-3AD203B41FA5}">
                      <a16:colId xmlns:a16="http://schemas.microsoft.com/office/drawing/2014/main" val="1858788209"/>
                    </a:ext>
                  </a:extLst>
                </a:gridCol>
                <a:gridCol w="587375">
                  <a:extLst>
                    <a:ext uri="{9D8B030D-6E8A-4147-A177-3AD203B41FA5}">
                      <a16:colId xmlns:a16="http://schemas.microsoft.com/office/drawing/2014/main" val="214811900"/>
                    </a:ext>
                  </a:extLst>
                </a:gridCol>
                <a:gridCol w="6007325">
                  <a:extLst>
                    <a:ext uri="{9D8B030D-6E8A-4147-A177-3AD203B41FA5}">
                      <a16:colId xmlns:a16="http://schemas.microsoft.com/office/drawing/2014/main" val="3355568071"/>
                    </a:ext>
                  </a:extLst>
                </a:gridCol>
              </a:tblGrid>
              <a:tr h="506062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구역</a:t>
                      </a:r>
                      <a:endParaRPr lang="ko-KR" altLang="en-US" sz="11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구축 결과</a:t>
                      </a:r>
                      <a:endParaRPr lang="ko-KR" altLang="en-US" sz="11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9118763"/>
                  </a:ext>
                </a:extLst>
              </a:tr>
              <a:tr h="3994107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11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400" b="1" kern="100" spc="4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R9</a:t>
                      </a:r>
                      <a:endParaRPr lang="en-US" sz="11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11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8470002"/>
                  </a:ext>
                </a:extLst>
              </a:tr>
              <a:tr h="56264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적용 기술</a:t>
                      </a:r>
                      <a:endParaRPr lang="ko-KR" altLang="en-US" sz="11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사용목적</a:t>
                      </a:r>
                      <a:endParaRPr lang="ko-KR" altLang="en-US" sz="11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장비</a:t>
                      </a:r>
                      <a:endParaRPr lang="ko-KR" altLang="en-US" sz="11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역할</a:t>
                      </a:r>
                      <a:endParaRPr lang="ko-KR" altLang="en-US" sz="11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583511"/>
                  </a:ext>
                </a:extLst>
              </a:tr>
              <a:tr h="114988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SSH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보안성을 강화한 원격 접속 프로토콜을 적용하여 비밀번호 노출 방지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R9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중학생 해킹동아리에서 비밀번호를 </a:t>
                      </a:r>
                      <a:r>
                        <a:rPr lang="ko-KR" altLang="en-US" sz="1400" kern="0" spc="0" dirty="0" err="1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스니핑으로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 알아낼 수 있었던 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Telnet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의 보안취약점을 개선하여 </a:t>
                      </a:r>
                      <a:r>
                        <a:rPr lang="ko-KR" altLang="en-US" sz="1400" kern="0" spc="0" dirty="0" err="1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해쉬함수로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 암호화된 비밀번호로 원격접속을 구현함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0908469"/>
                  </a:ext>
                </a:extLst>
              </a:tr>
            </a:tbl>
          </a:graphicData>
        </a:graphic>
      </p:graphicFrame>
      <p:pic>
        <p:nvPicPr>
          <p:cNvPr id="12290" name="_x231864480">
            <a:extLst>
              <a:ext uri="{FF2B5EF4-FFF2-40B4-BE49-F238E27FC236}">
                <a16:creationId xmlns:a16="http://schemas.microsoft.com/office/drawing/2014/main" id="{42E111C1-B6AA-9665-24B6-DF135D4C7F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258" y="1062760"/>
            <a:ext cx="4892843" cy="3516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89" name="_x233560536">
            <a:extLst>
              <a:ext uri="{FF2B5EF4-FFF2-40B4-BE49-F238E27FC236}">
                <a16:creationId xmlns:a16="http://schemas.microsoft.com/office/drawing/2014/main" id="{C2404566-5179-D43B-2355-22C7D5D653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3748" y="2028825"/>
            <a:ext cx="5970993" cy="165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AF4FC7C9-81FD-2A99-2C21-4413875BC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9188" y="20288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96628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B6D0511-F875-7A11-3BAC-180DBD4151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9383884"/>
              </p:ext>
            </p:extLst>
          </p:nvPr>
        </p:nvGraphicFramePr>
        <p:xfrm>
          <a:off x="193336" y="205555"/>
          <a:ext cx="11790116" cy="6446889"/>
        </p:xfrm>
        <a:graphic>
          <a:graphicData uri="http://schemas.openxmlformats.org/drawingml/2006/table">
            <a:tbl>
              <a:tblPr/>
              <a:tblGrid>
                <a:gridCol w="2073175">
                  <a:extLst>
                    <a:ext uri="{9D8B030D-6E8A-4147-A177-3AD203B41FA5}">
                      <a16:colId xmlns:a16="http://schemas.microsoft.com/office/drawing/2014/main" val="255696378"/>
                    </a:ext>
                  </a:extLst>
                </a:gridCol>
                <a:gridCol w="3556773">
                  <a:extLst>
                    <a:ext uri="{9D8B030D-6E8A-4147-A177-3AD203B41FA5}">
                      <a16:colId xmlns:a16="http://schemas.microsoft.com/office/drawing/2014/main" val="2156168231"/>
                    </a:ext>
                  </a:extLst>
                </a:gridCol>
                <a:gridCol w="2374232">
                  <a:extLst>
                    <a:ext uri="{9D8B030D-6E8A-4147-A177-3AD203B41FA5}">
                      <a16:colId xmlns:a16="http://schemas.microsoft.com/office/drawing/2014/main" val="346918148"/>
                    </a:ext>
                  </a:extLst>
                </a:gridCol>
                <a:gridCol w="1023687">
                  <a:extLst>
                    <a:ext uri="{9D8B030D-6E8A-4147-A177-3AD203B41FA5}">
                      <a16:colId xmlns:a16="http://schemas.microsoft.com/office/drawing/2014/main" val="3373572773"/>
                    </a:ext>
                  </a:extLst>
                </a:gridCol>
                <a:gridCol w="2762249">
                  <a:extLst>
                    <a:ext uri="{9D8B030D-6E8A-4147-A177-3AD203B41FA5}">
                      <a16:colId xmlns:a16="http://schemas.microsoft.com/office/drawing/2014/main" val="2720076353"/>
                    </a:ext>
                  </a:extLst>
                </a:gridCol>
              </a:tblGrid>
              <a:tr h="325097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구역</a:t>
                      </a:r>
                      <a:endParaRPr lang="ko-KR" alt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396" marR="4396" marT="31653" marB="3165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구축 결과</a:t>
                      </a:r>
                      <a:endParaRPr lang="ko-KR" alt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396" marR="4396" marT="31653" marB="3165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5935078"/>
                  </a:ext>
                </a:extLst>
              </a:tr>
              <a:tr h="1124929">
                <a:tc rowSpan="3"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396" marR="4396" marT="31653" marB="3165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000" b="1" kern="100" spc="4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SW5 (Server)</a:t>
                      </a:r>
                      <a:endParaRPr lang="en-US" sz="8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396" marR="4396" marT="31653" marB="3165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396" marR="4396" marT="31653" marB="3165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3658126"/>
                  </a:ext>
                </a:extLst>
              </a:tr>
              <a:tr h="1169115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000" b="1" kern="100" spc="4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SW6~9 (Client)</a:t>
                      </a:r>
                      <a:endParaRPr 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396" marR="4396" marT="31653" marB="3165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396" marR="4396" marT="31653" marB="3165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5171650"/>
                  </a:ext>
                </a:extLst>
              </a:tr>
              <a:tr h="1310662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000" b="1" kern="100" spc="4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SW12 (Trans-</a:t>
                      </a:r>
                      <a:endParaRPr 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000" b="1" kern="100" spc="4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parent)</a:t>
                      </a:r>
                      <a:endParaRPr 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396" marR="4396" marT="31653" marB="3165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8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396" marR="4396" marT="31653" marB="3165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492476"/>
                  </a:ext>
                </a:extLst>
              </a:tr>
              <a:tr h="36144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적용 기술</a:t>
                      </a:r>
                      <a:endParaRPr lang="ko-KR" alt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396" marR="4396" marT="31653" marB="3165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사용목적</a:t>
                      </a:r>
                      <a:endParaRPr lang="ko-KR" alt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396" marR="4396" marT="31653" marB="3165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장비</a:t>
                      </a:r>
                      <a:endParaRPr lang="ko-KR" alt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396" marR="4396" marT="31653" marB="3165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역할</a:t>
                      </a:r>
                      <a:endParaRPr lang="ko-KR" alt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396" marR="4396" marT="31653" marB="3165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3820647"/>
                  </a:ext>
                </a:extLst>
              </a:tr>
              <a:tr h="623556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VTP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396" marR="4396" marT="31653" marB="3165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하나의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Server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장비에서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VLAN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을 설정하고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이 정보를 연결된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Client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스위치에 일괄적으로 적용하기 위함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396" marR="4396" marT="31653" marB="3165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SW5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(SERVER)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396" marR="4396" marT="31653" marB="3165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경찰서 내 각 부서마다 사용되는 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VLAN 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정보를 생성 및 관리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396" marR="4396" marT="31653" marB="3165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182813"/>
                  </a:ext>
                </a:extLst>
              </a:tr>
              <a:tr h="62355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SW6~9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(CLIENT)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396" marR="4396" marT="31653" marB="3165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서버로부터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VLAN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정보를 받아 적용함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396" marR="4396" marT="31653" marB="3165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4902036"/>
                  </a:ext>
                </a:extLst>
              </a:tr>
              <a:tr h="9085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SW12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(TRANSPARENT)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396" marR="4396" marT="31653" marB="3165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같은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VLAN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으로 묶이지만 설정은 독립적으로 가능하므로 해당 부서 업무의 무결성을 위함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396" marR="4396" marT="31653" marB="3165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1623403"/>
                  </a:ext>
                </a:extLst>
              </a:tr>
            </a:tbl>
          </a:graphicData>
        </a:graphic>
      </p:graphicFrame>
      <p:pic>
        <p:nvPicPr>
          <p:cNvPr id="13316" name="_x239209200">
            <a:extLst>
              <a:ext uri="{FF2B5EF4-FFF2-40B4-BE49-F238E27FC236}">
                <a16:creationId xmlns:a16="http://schemas.microsoft.com/office/drawing/2014/main" id="{5DD82A16-904A-23F3-A99D-614C417751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548" y="564356"/>
            <a:ext cx="4773612" cy="3529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5" name="_x233557816">
            <a:extLst>
              <a:ext uri="{FF2B5EF4-FFF2-40B4-BE49-F238E27FC236}">
                <a16:creationId xmlns:a16="http://schemas.microsoft.com/office/drawing/2014/main" id="{AB249EC0-8363-C8E8-8FE5-2A60D3FF8E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8188" y="564356"/>
            <a:ext cx="2974975" cy="1076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4" name="_x233555656">
            <a:extLst>
              <a:ext uri="{FF2B5EF4-FFF2-40B4-BE49-F238E27FC236}">
                <a16:creationId xmlns:a16="http://schemas.microsoft.com/office/drawing/2014/main" id="{B6196C64-752A-ECBF-4615-F66344A87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2313" y="1692275"/>
            <a:ext cx="2990850" cy="112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3" name="_x239203040">
            <a:extLst>
              <a:ext uri="{FF2B5EF4-FFF2-40B4-BE49-F238E27FC236}">
                <a16:creationId xmlns:a16="http://schemas.microsoft.com/office/drawing/2014/main" id="{F135465F-8C74-0247-949B-266174F6FA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8188" y="2871788"/>
            <a:ext cx="3038475" cy="1211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5">
            <a:extLst>
              <a:ext uri="{FF2B5EF4-FFF2-40B4-BE49-F238E27FC236}">
                <a16:creationId xmlns:a16="http://schemas.microsoft.com/office/drawing/2014/main" id="{5CBD74EA-84A1-5731-AE1E-55EDA5FDF6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2188" y="179546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43165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214982-0B7A-6623-0D52-81F1C7697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ko-KR" sz="5400" b="1" dirty="0"/>
              <a:t>3. </a:t>
            </a:r>
            <a:r>
              <a:rPr lang="ko-KR" altLang="en-US" sz="5400" b="1" dirty="0"/>
              <a:t>서버 구성도</a:t>
            </a:r>
          </a:p>
        </p:txBody>
      </p:sp>
    </p:spTree>
    <p:extLst>
      <p:ext uri="{BB962C8B-B14F-4D97-AF65-F5344CB8AC3E}">
        <p14:creationId xmlns:p14="http://schemas.microsoft.com/office/powerpoint/2010/main" val="25957169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C3AA88-BC26-433C-3F5F-CE2C9B607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8796"/>
            <a:ext cx="10515600" cy="1024482"/>
          </a:xfrm>
        </p:spPr>
        <p:txBody>
          <a:bodyPr/>
          <a:lstStyle/>
          <a:p>
            <a:r>
              <a:rPr lang="ko-KR" altLang="en-US" dirty="0"/>
              <a:t>서비스 구성도 기획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B08186-F16D-FC70-AE1A-6F14F35577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3278"/>
            <a:ext cx="10515600" cy="4983685"/>
          </a:xfrm>
        </p:spPr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84D54F0-67C7-1099-FAC9-602CBAB5A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6385" name="_x239210160">
            <a:extLst>
              <a:ext uri="{FF2B5EF4-FFF2-40B4-BE49-F238E27FC236}">
                <a16:creationId xmlns:a16="http://schemas.microsoft.com/office/drawing/2014/main" id="{5E952019-F881-BD86-5AAF-48B65B64C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032" y="1193278"/>
            <a:ext cx="11033936" cy="5207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60108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F9BF4B-AED5-A4AA-EF0E-94D175D3B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2620"/>
            <a:ext cx="10515600" cy="950327"/>
          </a:xfrm>
        </p:spPr>
        <p:txBody>
          <a:bodyPr/>
          <a:lstStyle/>
          <a:p>
            <a:r>
              <a:rPr lang="ko-KR" altLang="en-US" dirty="0"/>
              <a:t>서버 구성도 기획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59581E-E789-C0C4-BB26-2E393B0197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2947"/>
            <a:ext cx="10515600" cy="5054016"/>
          </a:xfrm>
        </p:spPr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1A11C1A-7E52-7877-F0BC-252486C61F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7409" name="_x239203280">
            <a:extLst>
              <a:ext uri="{FF2B5EF4-FFF2-40B4-BE49-F238E27FC236}">
                <a16:creationId xmlns:a16="http://schemas.microsoft.com/office/drawing/2014/main" id="{81C076C1-0B98-29EC-28BE-75106F6FEE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931366"/>
            <a:ext cx="10010275" cy="5754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9644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E140ED-3E50-650A-5AE4-0028EF3E7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4704"/>
            <a:ext cx="10515600" cy="870117"/>
          </a:xfrm>
        </p:spPr>
        <p:txBody>
          <a:bodyPr/>
          <a:lstStyle/>
          <a:p>
            <a:r>
              <a:rPr lang="ko-KR" altLang="en-US" dirty="0"/>
              <a:t>서버 구축 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7DF8A7-2CFB-590E-BD6C-BFCD70B196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4821"/>
            <a:ext cx="10515600" cy="5102142"/>
          </a:xfrm>
        </p:spPr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6726A92-94FD-6C98-655D-F3D8217363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8433" name="_x239207120">
            <a:extLst>
              <a:ext uri="{FF2B5EF4-FFF2-40B4-BE49-F238E27FC236}">
                <a16:creationId xmlns:a16="http://schemas.microsoft.com/office/drawing/2014/main" id="{13802FC4-1697-4C54-C0E1-27FFD53888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615" y="843798"/>
            <a:ext cx="11358770" cy="5809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40361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578260-4E7C-CE04-1F4C-81C35A6DC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ko-KR" sz="5400" b="1" dirty="0"/>
              <a:t>4. </a:t>
            </a:r>
            <a:r>
              <a:rPr lang="ko-KR" altLang="en-US" sz="5400" b="1" dirty="0"/>
              <a:t>서버 구역별 구축 결과</a:t>
            </a:r>
          </a:p>
        </p:txBody>
      </p:sp>
    </p:spTree>
    <p:extLst>
      <p:ext uri="{BB962C8B-B14F-4D97-AF65-F5344CB8AC3E}">
        <p14:creationId xmlns:p14="http://schemas.microsoft.com/office/powerpoint/2010/main" val="1897049817"/>
      </p:ext>
    </p:extLst>
  </p:cSld>
  <p:clrMapOvr>
    <a:masterClrMapping/>
  </p:clrMapOvr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01A3C4-3DF9-B792-8A04-05FC073E0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558" y="148382"/>
            <a:ext cx="10515600" cy="741780"/>
          </a:xfrm>
        </p:spPr>
        <p:txBody>
          <a:bodyPr>
            <a:normAutofit/>
          </a:bodyPr>
          <a:lstStyle/>
          <a:p>
            <a:pPr fontAlgn="base"/>
            <a:r>
              <a:rPr lang="ko-KR" altLang="en-US" sz="4000" b="1" dirty="0"/>
              <a:t>데이터 센터</a:t>
            </a:r>
            <a:endParaRPr lang="ko-KR" altLang="en-US" sz="4000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212558" y="800693"/>
          <a:ext cx="11766884" cy="5958518"/>
        </p:xfrm>
        <a:graphic>
          <a:graphicData uri="http://schemas.openxmlformats.org/drawingml/2006/table">
            <a:tbl>
              <a:tblGrid>
                <a:gridCol w="2800713"/>
                <a:gridCol w="3082729"/>
                <a:gridCol w="5883442"/>
              </a:tblGrid>
              <a:tr h="458535">
                <a:tc gridSpan="2">
                  <a:txBody>
                    <a:bodyPr vert="horz" lIns="3581" tIns="25782" rIns="3581" bIns="25782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기획안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581" marR="3581" marT="25782" marB="2578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lIns="3581" tIns="25782" rIns="3581" bIns="25782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구축 결과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581" marR="3581" marT="25782" marB="2578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</a:tr>
              <a:tr h="3121250">
                <a:tc gridSpan="2">
                  <a:txBody>
                    <a:bodyPr vert="horz" lIns="3581" tIns="25782" rIns="3581" bIns="25782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endParaRPr lang="ko-KR" altLang="en-US" sz="6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581" marR="3581" marT="25782" marB="2578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lIns="3581" tIns="25782" rIns="3581" bIns="25782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endParaRPr lang="ko-KR" altLang="en-US" sz="6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581" marR="3581" marT="25782" marB="2578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547123">
                <a:tc>
                  <a:txBody>
                    <a:bodyPr vert="horz" lIns="3581" tIns="25782" rIns="3581" bIns="25782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5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서비스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581" marR="3581" marT="25782" marB="2578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gridSpan="2">
                  <a:txBody>
                    <a:bodyPr vert="horz" lIns="3581" tIns="25782" rIns="3581" bIns="25782" anchor="ctr" anchorCtr="0"/>
                    <a:lstStyle/>
                    <a:p>
                      <a:pPr marL="0" marR="0" indent="0" algn="l" latinLnBrk="1">
                        <a:lnSpc>
                          <a:spcPct val="160000"/>
                        </a:lnSpc>
                        <a:buNone/>
                        <a:defRPr/>
                      </a:pP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 </a:t>
                      </a:r>
                      <a:r>
                        <a:rPr 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iSCSI</a:t>
                      </a:r>
                      <a:endParaRPr lang="en-US" sz="1400" kern="100" spc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3581" marR="3581" marT="25782" marB="2578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647490">
                <a:tc>
                  <a:txBody>
                    <a:bodyPr vert="horz" lIns="3581" tIns="25782" rIns="3581" bIns="25782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5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사용이유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581" marR="3581" marT="25782" marB="2578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gridSpan="2">
                  <a:txBody>
                    <a:bodyPr vert="horz" lIns="3581" tIns="25782" rIns="3581" bIns="25782" anchor="ctr" anchorCtr="0"/>
                    <a:lstStyle/>
                    <a:p>
                      <a:pPr marL="0" marR="0" indent="0" algn="l" latinLnBrk="1">
                        <a:lnSpc>
                          <a:spcPct val="160000"/>
                        </a:lnSpc>
                        <a:buNone/>
                        <a:defRPr/>
                      </a:pP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  각 데이터 센터의 디스크를 원격으로 가져와 중요 데이터를 저장하여 데이터 </a:t>
                      </a:r>
                      <a:r>
                        <a:rPr lang="ko-KR" altLang="en-US" sz="1400" kern="100" spc="-1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스토리지 서버가 다운될 경우</a:t>
                      </a:r>
                      <a:endParaRPr lang="ko-KR" altLang="en-US" sz="1400" kern="100" spc="-10">
                        <a:solidFill>
                          <a:srgbClr val="000000"/>
                        </a:solidFill>
                        <a:effectLst/>
                        <a:ea typeface="맑은 고딕"/>
                      </a:endParaRPr>
                    </a:p>
                    <a:p>
                      <a:pPr marL="0" marR="0" indent="0" algn="l" latinLnBrk="1">
                        <a:lnSpc>
                          <a:spcPct val="160000"/>
                        </a:lnSpc>
                        <a:buNone/>
                        <a:defRPr/>
                      </a:pPr>
                      <a:r>
                        <a:rPr lang="ko-KR" altLang="en-US" sz="1400" kern="100" spc="-1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  백업 을 진행하여 데이터 안정성과 신속한 서비스</a:t>
                      </a: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복구를 위해서 사용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  <a:ea typeface="맑은 고딕"/>
                      </a:endParaRPr>
                    </a:p>
                  </a:txBody>
                  <a:tcPr marL="3581" marR="3581" marT="25782" marB="2578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547123">
                <a:tc>
                  <a:txBody>
                    <a:bodyPr vert="horz" lIns="3581" tIns="25782" rIns="3581" bIns="25782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5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변경사항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581" marR="3581" marT="25782" marB="2578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gridSpan="2">
                  <a:txBody>
                    <a:bodyPr vert="horz" lIns="3581" tIns="25782" rIns="3581" bIns="25782" anchor="ctr" anchorCtr="0"/>
                    <a:lstStyle/>
                    <a:p>
                      <a:pPr marL="0" marR="0" indent="0" algn="ctr" latinLnBrk="1">
                        <a:lnSpc>
                          <a:spcPct val="160000"/>
                        </a:lnSpc>
                        <a:buNone/>
                        <a:defRPr/>
                      </a:pPr>
                      <a:r>
                        <a:rPr 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</a:t>
                      </a:r>
                      <a:endParaRPr lang="en-US" sz="1400" kern="100" spc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3581" marR="3581" marT="25782" marB="2578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547123">
                <a:tc>
                  <a:txBody>
                    <a:bodyPr vert="horz" lIns="3581" tIns="25782" rIns="3581" bIns="25782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5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변경사유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581" marR="3581" marT="25782" marB="2578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gridSpan="2">
                  <a:txBody>
                    <a:bodyPr vert="horz" lIns="3581" tIns="25782" rIns="3581" bIns="25782" anchor="ctr" anchorCtr="0"/>
                    <a:lstStyle/>
                    <a:p>
                      <a:pPr marL="0" marR="0" indent="0" algn="ctr" latinLnBrk="1">
                        <a:lnSpc>
                          <a:spcPct val="160000"/>
                        </a:lnSpc>
                        <a:buNone/>
                        <a:defRPr/>
                      </a:pPr>
                      <a:r>
                        <a:rPr 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</a:t>
                      </a:r>
                      <a:endParaRPr lang="en-US" sz="1400" kern="100" spc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3581" marR="3581" marT="25782" marB="2578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</a:tbl>
          </a:graphicData>
        </a:graphic>
      </p:graphicFrame>
      <p:pic>
        <p:nvPicPr>
          <p:cNvPr id="19461" name="_x233559896">
            <a:extLst>
              <a:ext uri="{FF2B5EF4-FFF2-40B4-BE49-F238E27FC236}">
                <a16:creationId xmlns:a16="http://schemas.microsoft.com/office/drawing/2014/main" id="{7EFADBDD-49B9-CAFF-4B03-CC8E2FAD13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502" y="1296882"/>
            <a:ext cx="4476856" cy="3075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0" name="_x231869040">
            <a:extLst>
              <a:ext uri="{FF2B5EF4-FFF2-40B4-BE49-F238E27FC236}">
                <a16:creationId xmlns:a16="http://schemas.microsoft.com/office/drawing/2014/main" id="{842309B7-A2CD-89E4-6E90-723DC0D1FF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1644" y="1296882"/>
            <a:ext cx="4476856" cy="3075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6">
            <a:extLst>
              <a:ext uri="{FF2B5EF4-FFF2-40B4-BE49-F238E27FC236}">
                <a16:creationId xmlns:a16="http://schemas.microsoft.com/office/drawing/2014/main" id="{1F60E85F-3E6B-EC7B-A588-52FE7AFB79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1250" y="181451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83358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7753E4-E217-9D7B-6B89-453DFC0EE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642" y="172621"/>
            <a:ext cx="10515600" cy="679904"/>
          </a:xfrm>
        </p:spPr>
        <p:txBody>
          <a:bodyPr>
            <a:normAutofit fontScale="90000"/>
          </a:bodyPr>
          <a:lstStyle/>
          <a:p>
            <a:r>
              <a:rPr lang="ko-KR" altLang="en-US" b="1" dirty="0"/>
              <a:t>데이터 </a:t>
            </a:r>
            <a:r>
              <a:rPr lang="en-US" altLang="ko-KR" b="1" dirty="0"/>
              <a:t>/ </a:t>
            </a:r>
            <a:r>
              <a:rPr lang="ko-KR" altLang="en-US" b="1" dirty="0"/>
              <a:t>스토리지 서버</a:t>
            </a:r>
            <a:endParaRPr lang="ko-KR" altLang="en-US" dirty="0"/>
          </a:p>
        </p:txBody>
      </p:sp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244642" y="738344"/>
          <a:ext cx="11709108" cy="5919098"/>
        </p:xfrm>
        <a:graphic>
          <a:graphicData uri="http://schemas.openxmlformats.org/drawingml/2006/table">
            <a:tbl>
              <a:tblGrid>
                <a:gridCol w="2188927"/>
                <a:gridCol w="3492360"/>
                <a:gridCol w="6027821"/>
              </a:tblGrid>
              <a:tr h="241937">
                <a:tc gridSpan="2">
                  <a:txBody>
                    <a:bodyPr vert="horz" lIns="2353" tIns="16944" rIns="2353" bIns="16944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기획안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53" marR="2353" marT="16944" marB="1694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lIns="2353" tIns="16944" rIns="2353" bIns="16944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구축 결과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53" marR="2353" marT="16944" marB="1694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</a:tr>
              <a:tr h="2798458">
                <a:tc gridSpan="2">
                  <a:txBody>
                    <a:bodyPr vert="horz" lIns="2353" tIns="16944" rIns="2353" bIns="16944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endParaRPr lang="ko-KR" altLang="en-US" sz="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53" marR="2353" marT="16944" marB="1694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lIns="2353" tIns="16944" rIns="2353" bIns="16944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endParaRPr lang="ko-KR" altLang="en-US" sz="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53" marR="2353" marT="16944" marB="1694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212112">
                <a:tc>
                  <a:txBody>
                    <a:bodyPr vert="horz" lIns="2353" tIns="16944" rIns="2353" bIns="16944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200" b="1" kern="100" spc="5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서비스</a:t>
                      </a:r>
                      <a:endParaRPr lang="ko-KR" altLang="en-US" sz="12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53" marR="2353" marT="16944" marB="1694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gridSpan="2">
                  <a:txBody>
                    <a:bodyPr vert="horz" lIns="2353" tIns="16944" rIns="2353" bIns="16944" anchor="ctr" anchorCtr="0"/>
                    <a:lstStyle/>
                    <a:p>
                      <a:pPr marL="0" marR="0" indent="0" algn="l" latinLnBrk="1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 </a:t>
                      </a:r>
                      <a:r>
                        <a:rPr lang="en-US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NFS, Raid, DB, Quota</a:t>
                      </a:r>
                      <a:endParaRPr lang="en-US" sz="1200" kern="100" spc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2353" marR="2353" marT="16944" marB="1694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929482">
                <a:tc>
                  <a:txBody>
                    <a:bodyPr vert="horz" lIns="2353" tIns="16944" rIns="2353" bIns="16944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200" b="1" kern="100" spc="5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사용이유</a:t>
                      </a:r>
                      <a:endParaRPr lang="ko-KR" altLang="en-US" sz="12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53" marR="2353" marT="16944" marB="1694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gridSpan="2">
                  <a:txBody>
                    <a:bodyPr vert="horz" lIns="2353" tIns="16944" rIns="2353" bIns="16944" anchor="ctr" anchorCtr="0"/>
                    <a:lstStyle/>
                    <a:p>
                      <a:pPr marL="0" marR="0" indent="0" algn="l" latinLnBrk="1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 </a:t>
                      </a:r>
                      <a:r>
                        <a:rPr lang="en-US" altLang="ko-KR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</a:t>
                      </a: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r>
                        <a:rPr lang="en-US" altLang="ko-KR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NFS : </a:t>
                      </a: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각 서버의 서비스 운영과 관련된 핵심 설정 파일들을 중앙의 데이터 스토리지에 원격으로 저장하여 안정성을 확보</a:t>
                      </a:r>
                      <a:endParaRPr lang="ko-KR" altLang="en-US" sz="1200" kern="100" spc="0">
                        <a:solidFill>
                          <a:srgbClr val="000000"/>
                        </a:solidFill>
                        <a:effectLst/>
                        <a:ea typeface="맑은 고딕"/>
                      </a:endParaRPr>
                    </a:p>
                    <a:p>
                      <a:pPr marL="0" marR="0" indent="0" algn="l" latinLnBrk="1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 </a:t>
                      </a:r>
                      <a:r>
                        <a:rPr lang="en-US" altLang="ko-KR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</a:t>
                      </a: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r>
                        <a:rPr lang="en-US" altLang="ko-KR" sz="1200" kern="100" spc="-5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RAID 0 : </a:t>
                      </a:r>
                      <a:r>
                        <a:rPr lang="ko-KR" altLang="en-US" sz="1200" kern="100" spc="-5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중앙 데이터 스토리지 서버 이중화를 통해 문제상황 발생 시 신속한 </a:t>
                      </a: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서비스 복구를 제공</a:t>
                      </a:r>
                      <a:endParaRPr lang="ko-KR" altLang="en-US" sz="1200" kern="100" spc="0">
                        <a:solidFill>
                          <a:srgbClr val="000000"/>
                        </a:solidFill>
                        <a:effectLst/>
                        <a:ea typeface="맑은 고딕"/>
                      </a:endParaRPr>
                    </a:p>
                    <a:p>
                      <a:pPr marL="0" marR="0" indent="0" algn="l" latinLnBrk="1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 </a:t>
                      </a:r>
                      <a:r>
                        <a:rPr lang="en-US" altLang="ko-KR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 DB : </a:t>
                      </a: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웹 서버 운영과 관련하여 동적 리소스를 활용</a:t>
                      </a:r>
                      <a:endParaRPr lang="ko-KR" altLang="en-US" sz="1200" kern="100" spc="0">
                        <a:solidFill>
                          <a:srgbClr val="000000"/>
                        </a:solidFill>
                        <a:effectLst/>
                        <a:ea typeface="맑은 고딕"/>
                      </a:endParaRPr>
                    </a:p>
                    <a:p>
                      <a:pPr marL="0" marR="0" indent="0" algn="l" latinLnBrk="1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 </a:t>
                      </a:r>
                      <a:r>
                        <a:rPr lang="en-US" altLang="ko-KR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 Quota : </a:t>
                      </a: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웹 관리 팀원 별 용량을 할당</a:t>
                      </a:r>
                      <a:endParaRPr lang="ko-KR" altLang="en-US" sz="1200" kern="100" spc="0">
                        <a:solidFill>
                          <a:srgbClr val="000000"/>
                        </a:solidFill>
                        <a:effectLst/>
                        <a:ea typeface="맑은 고딕"/>
                      </a:endParaRPr>
                    </a:p>
                  </a:txBody>
                  <a:tcPr marL="2353" marR="2353" marT="16944" marB="1694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1321398">
                <a:tc>
                  <a:txBody>
                    <a:bodyPr vert="horz" lIns="2353" tIns="16944" rIns="2353" bIns="16944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200" b="1" kern="100" spc="5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변경사항</a:t>
                      </a:r>
                      <a:endParaRPr lang="ko-KR" altLang="en-US" sz="12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53" marR="2353" marT="16944" marB="1694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gridSpan="2">
                  <a:txBody>
                    <a:bodyPr vert="horz" lIns="2353" tIns="16944" rIns="2353" bIns="16944" anchor="ctr" anchorCtr="0"/>
                    <a:lstStyle/>
                    <a:p>
                      <a:pPr marL="0" marR="0" indent="0" algn="l" latinLnBrk="1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 </a:t>
                      </a:r>
                      <a:r>
                        <a:rPr lang="en-US" altLang="ko-KR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&lt;</a:t>
                      </a: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변경 전</a:t>
                      </a:r>
                      <a:r>
                        <a:rPr lang="en-US" altLang="ko-KR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&gt;</a:t>
                      </a:r>
                      <a:endParaRPr lang="en-US" altLang="ko-KR" sz="1200" kern="100" spc="0">
                        <a:solidFill>
                          <a:srgbClr val="000000"/>
                        </a:solidFill>
                        <a:effectLst/>
                        <a:ea typeface="맑은 고딕"/>
                      </a:endParaRPr>
                    </a:p>
                    <a:p>
                      <a:pPr marL="0" marR="0" indent="0" algn="l" latinLnBrk="1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 </a:t>
                      </a:r>
                      <a:r>
                        <a:rPr lang="en-US" altLang="ko-KR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 iSCSI</a:t>
                      </a: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로 연결된 두 스토리지 서버의 디스크 위에 </a:t>
                      </a:r>
                      <a:r>
                        <a:rPr lang="en-US" altLang="ko-KR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RAID</a:t>
                      </a: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를 구성하고</a:t>
                      </a:r>
                      <a:r>
                        <a:rPr lang="en-US" altLang="ko-KR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, </a:t>
                      </a: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각 서비스 서버는 </a:t>
                      </a:r>
                      <a:r>
                        <a:rPr lang="en-US" altLang="ko-KR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NFS</a:t>
                      </a: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로 연결하여 데이터스토리지 환경을 구축함</a:t>
                      </a:r>
                      <a:endParaRPr lang="ko-KR" altLang="en-US" sz="1200" kern="100" spc="0">
                        <a:solidFill>
                          <a:srgbClr val="000000"/>
                        </a:solidFill>
                        <a:effectLst/>
                        <a:ea typeface="맑은 고딕"/>
                      </a:endParaRPr>
                    </a:p>
                    <a:p>
                      <a:pPr marL="0" marR="0" indent="0" algn="l" latinLnBrk="1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 </a:t>
                      </a:r>
                      <a:r>
                        <a:rPr lang="en-US" altLang="ko-KR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&lt;</a:t>
                      </a: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변경 후</a:t>
                      </a:r>
                      <a:r>
                        <a:rPr lang="en-US" altLang="ko-KR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&gt;</a:t>
                      </a:r>
                      <a:endParaRPr lang="en-US" altLang="ko-KR" sz="1200" kern="100" spc="0">
                        <a:solidFill>
                          <a:srgbClr val="000000"/>
                        </a:solidFill>
                        <a:effectLst/>
                        <a:ea typeface="맑은 고딕"/>
                      </a:endParaRPr>
                    </a:p>
                    <a:p>
                      <a:pPr marL="0" marR="0" indent="0" algn="l" latinLnBrk="1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 </a:t>
                      </a:r>
                      <a:r>
                        <a:rPr lang="en-US" altLang="ko-KR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 iSCSI </a:t>
                      </a: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디스크의 네트워크 부하를 최소화하기 위해 </a:t>
                      </a:r>
                      <a:r>
                        <a:rPr lang="en-US" altLang="ko-KR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Apache </a:t>
                      </a: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웹 서비스 관련 데이터만 </a:t>
                      </a:r>
                      <a:r>
                        <a:rPr lang="en-US" altLang="ko-KR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iSCSI</a:t>
                      </a: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로 유지하고</a:t>
                      </a:r>
                      <a:r>
                        <a:rPr lang="en-US" altLang="ko-KR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, </a:t>
                      </a: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나머지 서비스</a:t>
                      </a:r>
                      <a:r>
                        <a:rPr lang="en-US" altLang="ko-KR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(FTP, DNS, LOG)</a:t>
                      </a: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는</a:t>
                      </a:r>
                      <a:endParaRPr lang="ko-KR" altLang="en-US" sz="1200" kern="100" spc="0">
                        <a:solidFill>
                          <a:srgbClr val="000000"/>
                        </a:solidFill>
                        <a:effectLst/>
                        <a:ea typeface="맑은 고딕"/>
                      </a:endParaRPr>
                    </a:p>
                    <a:p>
                      <a:pPr marL="0" marR="0" indent="0" algn="l" latinLnBrk="1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    내장 디스크 기반으로 </a:t>
                      </a:r>
                      <a:r>
                        <a:rPr lang="en-US" altLang="ko-KR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NFS</a:t>
                      </a: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를 재구성 </a:t>
                      </a:r>
                      <a:endParaRPr lang="ko-KR" altLang="en-US" sz="1200" kern="100" spc="0">
                        <a:solidFill>
                          <a:srgbClr val="000000"/>
                        </a:solidFill>
                        <a:effectLst/>
                        <a:ea typeface="맑은 고딕"/>
                      </a:endParaRPr>
                    </a:p>
                    <a:p>
                      <a:pPr marL="0" marR="0" indent="0" algn="l" latinLnBrk="1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 </a:t>
                      </a:r>
                      <a:r>
                        <a:rPr lang="en-US" altLang="ko-KR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 </a:t>
                      </a: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스토리지 서버</a:t>
                      </a:r>
                      <a:r>
                        <a:rPr lang="en-US" altLang="ko-KR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</a:t>
                      </a: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는 스토리지 서버의 </a:t>
                      </a:r>
                      <a:r>
                        <a:rPr lang="en-US" altLang="ko-KR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iSCSI, SATA </a:t>
                      </a: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디스크 모두 </a:t>
                      </a:r>
                      <a:r>
                        <a:rPr lang="en-US" altLang="ko-KR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NFS</a:t>
                      </a: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로 동기화 시켜 백업 전용 서버로 분리하여 안정성 강화</a:t>
                      </a:r>
                      <a:endParaRPr lang="ko-KR" altLang="en-US" sz="1200" kern="100" spc="0">
                        <a:solidFill>
                          <a:srgbClr val="000000"/>
                        </a:solidFill>
                        <a:effectLst/>
                        <a:ea typeface="맑은 고딕"/>
                      </a:endParaRPr>
                    </a:p>
                  </a:txBody>
                  <a:tcPr marL="2353" marR="2353" marT="16944" marB="1694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15711">
                <a:tc>
                  <a:txBody>
                    <a:bodyPr vert="horz" lIns="2353" tIns="16944" rIns="2353" bIns="16944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200" b="1" kern="100" spc="5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변경사유</a:t>
                      </a:r>
                      <a:endParaRPr lang="ko-KR" altLang="en-US" sz="12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53" marR="2353" marT="16944" marB="1694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gridSpan="2">
                  <a:txBody>
                    <a:bodyPr vert="horz" lIns="2353" tIns="16944" rIns="2353" bIns="16944" anchor="ctr" anchorCtr="0"/>
                    <a:lstStyle/>
                    <a:p>
                      <a:pPr marL="0" marR="0" indent="0" algn="l" latinLnBrk="1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 </a:t>
                      </a:r>
                      <a:r>
                        <a:rPr lang="en-US" altLang="ko-KR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 iSCSI </a:t>
                      </a: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연결 시 네트워크 지연</a:t>
                      </a:r>
                      <a:r>
                        <a:rPr lang="en-US" altLang="ko-KR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·</a:t>
                      </a: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불안정 문제로 인한 서비스 지연 발생</a:t>
                      </a:r>
                      <a:endParaRPr lang="ko-KR" altLang="en-US" sz="1200" kern="100" spc="0">
                        <a:solidFill>
                          <a:srgbClr val="000000"/>
                        </a:solidFill>
                        <a:effectLst/>
                        <a:ea typeface="맑은 고딕"/>
                      </a:endParaRPr>
                    </a:p>
                  </a:txBody>
                  <a:tcPr marL="2353" marR="2353" marT="16944" marB="1694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2A2F2D9A-7A4A-D039-67F5-A8F42B2D3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13581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0482" name="_x233560376">
            <a:extLst>
              <a:ext uri="{FF2B5EF4-FFF2-40B4-BE49-F238E27FC236}">
                <a16:creationId xmlns:a16="http://schemas.microsoft.com/office/drawing/2014/main" id="{B64009AE-D521-1EED-BBEB-A19A8E50E3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42" r="7059"/>
          <a:stretch>
            <a:fillRect/>
          </a:stretch>
        </p:blipFill>
        <p:spPr bwMode="auto">
          <a:xfrm>
            <a:off x="1200675" y="1051182"/>
            <a:ext cx="3939293" cy="2718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64176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8B5BF-FEFF-16C0-75BD-DEAD2187C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558" y="220746"/>
            <a:ext cx="10515600" cy="789907"/>
          </a:xfrm>
        </p:spPr>
        <p:txBody>
          <a:bodyPr>
            <a:normAutofit/>
          </a:bodyPr>
          <a:lstStyle/>
          <a:p>
            <a:r>
              <a:rPr lang="ko-KR" altLang="en-US" sz="4000" b="1" dirty="0"/>
              <a:t>각 서비스 서버</a:t>
            </a:r>
            <a:endParaRPr lang="ko-KR" altLang="en-US" sz="4000" dirty="0"/>
          </a:p>
        </p:txBody>
      </p:sp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212558" y="1010652"/>
          <a:ext cx="11766884" cy="5642986"/>
        </p:xfrm>
        <a:graphic>
          <a:graphicData uri="http://schemas.openxmlformats.org/drawingml/2006/table">
            <a:tbl>
              <a:tblGrid>
                <a:gridCol w="2800715"/>
                <a:gridCol w="3066685"/>
                <a:gridCol w="5899484"/>
              </a:tblGrid>
              <a:tr h="337515">
                <a:tc gridSpan="2">
                  <a:txBody>
                    <a:bodyPr vert="horz" lIns="3360" tIns="24192" rIns="3360" bIns="24192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기획안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360" marR="3360" marT="24192" marB="2419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lIns="3360" tIns="24192" rIns="3360" bIns="24192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구축 결과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360" marR="3360" marT="24192" marB="2419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</a:tr>
              <a:tr h="3191749">
                <a:tc gridSpan="2">
                  <a:txBody>
                    <a:bodyPr vert="horz" lIns="3360" tIns="24192" rIns="3360" bIns="24192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endParaRPr lang="ko-KR" altLang="en-US" sz="6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360" marR="3360" marT="24192" marB="2419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lIns="3360" tIns="24192" rIns="3360" bIns="24192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endParaRPr lang="ko-KR" altLang="en-US" sz="6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360" marR="3360" marT="24192" marB="2419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337515">
                <a:tc>
                  <a:txBody>
                    <a:bodyPr vert="horz" lIns="3360" tIns="24192" rIns="3360" bIns="24192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5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서비스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360" marR="3360" marT="24192" marB="2419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gridSpan="2">
                  <a:txBody>
                    <a:bodyPr vert="horz" lIns="3360" tIns="24192" rIns="3360" bIns="24192" anchor="ctr" anchorCtr="0"/>
                    <a:lstStyle/>
                    <a:p>
                      <a:pPr marL="0" marR="0" indent="0" algn="l" latinLnBrk="1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 </a:t>
                      </a:r>
                      <a:r>
                        <a:rPr 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LOG, FTP, DNS</a:t>
                      </a:r>
                      <a:endParaRPr lang="en-US" sz="1400" kern="100" spc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3360" marR="3360" marT="24192" marB="2419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612639">
                <a:tc>
                  <a:txBody>
                    <a:bodyPr vert="horz" lIns="3360" tIns="24192" rIns="3360" bIns="24192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5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사용이유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360" marR="3360" marT="24192" marB="2419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gridSpan="2">
                  <a:txBody>
                    <a:bodyPr vert="horz" lIns="3360" tIns="24192" rIns="3360" bIns="24192" anchor="ctr" anchorCtr="0"/>
                    <a:lstStyle/>
                    <a:p>
                      <a:pPr marL="0" marR="0" indent="0" algn="l" latinLnBrk="1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r>
                        <a:rPr lang="en-US" altLang="ko-KR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</a:t>
                      </a: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r>
                        <a:rPr lang="en-US" altLang="ko-KR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FTP : </a:t>
                      </a: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내부 대용량의 파일 공유 시스템을 구현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  <a:ea typeface="맑은 고딕"/>
                      </a:endParaRPr>
                    </a:p>
                    <a:p>
                      <a:pPr marL="0" marR="0" indent="0" algn="l" latinLnBrk="1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r>
                        <a:rPr lang="en-US" altLang="ko-KR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</a:t>
                      </a: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r>
                        <a:rPr lang="en-US" altLang="ko-KR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DNS : </a:t>
                      </a: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도메인을 통해 접속하는 방식을 채택하여 </a:t>
                      </a:r>
                      <a:r>
                        <a:rPr lang="en-US" altLang="ko-KR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IP </a:t>
                      </a: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주소에 대한 유출 방지와 사용자 편의성을 고려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  <a:ea typeface="맑은 고딕"/>
                      </a:endParaRPr>
                    </a:p>
                  </a:txBody>
                  <a:tcPr marL="3360" marR="3360" marT="24192" marB="2419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534625">
                <a:tc>
                  <a:txBody>
                    <a:bodyPr vert="horz" lIns="3360" tIns="24192" rIns="3360" bIns="24192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5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변경사항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360" marR="3360" marT="24192" marB="2419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gridSpan="2">
                  <a:txBody>
                    <a:bodyPr vert="horz" lIns="3360" tIns="24192" rIns="3360" bIns="24192" anchor="ctr" anchorCtr="0"/>
                    <a:lstStyle/>
                    <a:p>
                      <a:pPr marL="0" marR="0" indent="0" algn="l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 </a:t>
                      </a:r>
                      <a:r>
                        <a:rPr lang="en-US" altLang="ko-KR" sz="14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&lt;</a:t>
                      </a: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변경 전</a:t>
                      </a:r>
                      <a:r>
                        <a:rPr lang="en-US" altLang="ko-KR" sz="14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&gt;</a:t>
                      </a:r>
                      <a:endParaRPr lang="en-US" altLang="ko-KR" sz="1400" kern="100" spc="0">
                        <a:solidFill>
                          <a:srgbClr val="000000"/>
                        </a:solidFill>
                        <a:effectLst/>
                        <a:ea typeface="맑은 고딕"/>
                      </a:endParaRPr>
                    </a:p>
                    <a:p>
                      <a:pPr marL="0" marR="0" indent="0" algn="l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r>
                        <a:rPr lang="en-US" altLang="ko-KR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 iSCSI</a:t>
                      </a: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로 구축 된 디스크 위에 모든 서비스 서버 </a:t>
                      </a:r>
                      <a:r>
                        <a:rPr lang="en-US" altLang="ko-KR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nfs </a:t>
                      </a: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연결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  <a:ea typeface="맑은 고딕"/>
                      </a:endParaRPr>
                    </a:p>
                    <a:p>
                      <a:pPr marL="0" marR="0" indent="0" algn="l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 </a:t>
                      </a:r>
                      <a:r>
                        <a:rPr lang="en-US" altLang="ko-KR" sz="14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&lt;</a:t>
                      </a: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변경 후</a:t>
                      </a:r>
                      <a:r>
                        <a:rPr lang="en-US" altLang="ko-KR" sz="14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&gt;</a:t>
                      </a:r>
                      <a:endParaRPr lang="en-US" altLang="ko-KR" sz="1400" kern="100" spc="0">
                        <a:solidFill>
                          <a:srgbClr val="000000"/>
                        </a:solidFill>
                        <a:effectLst/>
                        <a:ea typeface="맑은 고딕"/>
                      </a:endParaRPr>
                    </a:p>
                    <a:p>
                      <a:pPr marL="0" marR="0" indent="0" algn="l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r>
                        <a:rPr lang="en-US" altLang="ko-KR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 </a:t>
                      </a: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스토리지 내장 디스크에 </a:t>
                      </a:r>
                      <a:r>
                        <a:rPr lang="en-US" altLang="ko-KR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nfs </a:t>
                      </a: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연결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  <a:ea typeface="맑은 고딕"/>
                      </a:endParaRPr>
                    </a:p>
                  </a:txBody>
                  <a:tcPr marL="3360" marR="3360" marT="24192" marB="2419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121201">
                <a:tc>
                  <a:txBody>
                    <a:bodyPr vert="horz" lIns="3360" tIns="24192" rIns="3360" bIns="24192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5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변경사유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360" marR="3360" marT="24192" marB="2419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gridSpan="2">
                  <a:txBody>
                    <a:bodyPr vert="horz" lIns="3360" tIns="24192" rIns="3360" bIns="24192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en-US" altLang="ko-KR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iSCSI </a:t>
                      </a: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네트워크 지연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360" marR="3360" marT="24192" marB="2419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</a:tbl>
          </a:graphicData>
        </a:graphic>
      </p:graphicFrame>
      <p:pic>
        <p:nvPicPr>
          <p:cNvPr id="21506" name="_x233555496">
            <a:extLst>
              <a:ext uri="{FF2B5EF4-FFF2-40B4-BE49-F238E27FC236}">
                <a16:creationId xmlns:a16="http://schemas.microsoft.com/office/drawing/2014/main" id="{945BBD51-D60F-7A44-3802-F009C4486D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6604" y="1386949"/>
            <a:ext cx="3930666" cy="3083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05" name="_x231869920">
            <a:extLst>
              <a:ext uri="{FF2B5EF4-FFF2-40B4-BE49-F238E27FC236}">
                <a16:creationId xmlns:a16="http://schemas.microsoft.com/office/drawing/2014/main" id="{F1F9693A-BB1A-2502-0C12-08AC691B66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4730" y="1386949"/>
            <a:ext cx="3930588" cy="3083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83236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993919-6592-5400-DB09-98175F823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642" y="188663"/>
            <a:ext cx="10515600" cy="693654"/>
          </a:xfrm>
        </p:spPr>
        <p:txBody>
          <a:bodyPr>
            <a:normAutofit fontScale="90000"/>
          </a:bodyPr>
          <a:lstStyle/>
          <a:p>
            <a:r>
              <a:rPr lang="ko-KR" altLang="en-US" b="1" dirty="0"/>
              <a:t>웹 서비스 서버</a:t>
            </a:r>
            <a:endParaRPr lang="ko-KR" altLang="en-US" sz="4000" dirty="0"/>
          </a:p>
        </p:txBody>
      </p:sp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244642" y="800928"/>
          <a:ext cx="11702716" cy="5839896"/>
        </p:xfrm>
        <a:graphic>
          <a:graphicData uri="http://schemas.openxmlformats.org/drawingml/2006/table">
            <a:tbl>
              <a:tblGrid>
                <a:gridCol w="2785441"/>
                <a:gridCol w="3065917"/>
                <a:gridCol w="5851358"/>
              </a:tblGrid>
              <a:tr h="186512">
                <a:tc gridSpan="2">
                  <a:txBody>
                    <a:bodyPr vert="horz" lIns="2912" tIns="20965" rIns="2912" bIns="20965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기획안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912" marR="2912" marT="20965" marB="20965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lIns="2912" tIns="20965" rIns="2912" bIns="20965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구축 결과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912" marR="2912" marT="20965" marB="20965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</a:tr>
              <a:tr h="3724329">
                <a:tc gridSpan="2">
                  <a:txBody>
                    <a:bodyPr vert="horz" lIns="2912" tIns="20965" rIns="2912" bIns="20965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endParaRPr lang="ko-KR" altLang="en-US" sz="5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912" marR="2912" marT="20965" marB="20965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lIns="2912" tIns="20965" rIns="2912" bIns="20965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endParaRPr lang="ko-KR" altLang="en-US" sz="5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912" marR="2912" marT="20965" marB="20965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188390">
                <a:tc>
                  <a:txBody>
                    <a:bodyPr vert="horz" lIns="2912" tIns="20965" rIns="2912" bIns="20965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5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서비스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912" marR="2912" marT="20965" marB="20965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gridSpan="2">
                  <a:txBody>
                    <a:bodyPr vert="horz" lIns="2912" tIns="20965" rIns="2912" bIns="20965" anchor="ctr" anchorCtr="0"/>
                    <a:lstStyle/>
                    <a:p>
                      <a:pPr marL="0" marR="0" indent="0" algn="l" latinLnBrk="1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r>
                        <a:rPr 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Apache(PHP), Monitorix</a:t>
                      </a:r>
                      <a:endParaRPr lang="en-US" sz="1400" kern="100" spc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2912" marR="2912" marT="20965" marB="20965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882049">
                <a:tc>
                  <a:txBody>
                    <a:bodyPr vert="horz" lIns="2912" tIns="20965" rIns="2912" bIns="20965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5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사용이유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912" marR="2912" marT="20965" marB="20965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gridSpan="2">
                  <a:txBody>
                    <a:bodyPr vert="horz" lIns="2912" tIns="20965" rIns="2912" bIns="20965" anchor="ctr" anchorCtr="0"/>
                    <a:lstStyle/>
                    <a:p>
                      <a:pPr marL="0" marR="0" indent="0" algn="l" latinLnBrk="1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r>
                        <a:rPr lang="en-US" altLang="ko-KR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</a:t>
                      </a: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r>
                        <a:rPr lang="en-US" altLang="ko-KR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Apache : </a:t>
                      </a: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시나리오 기반 경찰청 사이트를 운영하는 웹 서버를 구현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  <a:ea typeface="맑은 고딕"/>
                      </a:endParaRPr>
                    </a:p>
                    <a:p>
                      <a:pPr marL="0" marR="0" indent="0" algn="l" latinLnBrk="1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r>
                        <a:rPr lang="en-US" altLang="ko-KR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</a:t>
                      </a: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r>
                        <a:rPr lang="en-US" altLang="ko-KR" sz="1400" kern="100" spc="-6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Virtual Hosting : Domain Based Virtual Hosting</a:t>
                      </a:r>
                      <a:r>
                        <a:rPr lang="ko-KR" altLang="en-US" sz="1400" kern="100" spc="-6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과 접속 허용 </a:t>
                      </a:r>
                      <a:r>
                        <a:rPr lang="en-US" altLang="ko-KR" sz="1400" kern="100" spc="-6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IP </a:t>
                      </a:r>
                      <a:r>
                        <a:rPr lang="ko-KR" altLang="en-US" sz="1400" kern="100" spc="-6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대역을 지정</a:t>
                      </a:r>
                      <a:endParaRPr lang="ko-KR" altLang="en-US" sz="1400" kern="100" spc="-60">
                        <a:solidFill>
                          <a:srgbClr val="000000"/>
                        </a:solidFill>
                        <a:effectLst/>
                        <a:ea typeface="맑은 고딕"/>
                      </a:endParaRPr>
                    </a:p>
                    <a:p>
                      <a:pPr marL="0" marR="0" indent="0" algn="l" latinLnBrk="1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                       외부용</a:t>
                      </a:r>
                      <a:r>
                        <a:rPr lang="en-US" altLang="ko-KR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, </a:t>
                      </a: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내부용 사이트를 각각 구성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  <a:ea typeface="맑은 고딕"/>
                      </a:endParaRPr>
                    </a:p>
                    <a:p>
                      <a:pPr marL="0" marR="0" indent="0" algn="l" latinLnBrk="1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r>
                        <a:rPr lang="en-US" altLang="ko-KR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</a:t>
                      </a: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r>
                        <a:rPr lang="en-US" altLang="ko-KR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php : </a:t>
                      </a: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웹 서버 운영과 관련하여 동적 리소스를 사용하기 위해서 사용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  <a:ea typeface="맑은 고딕"/>
                      </a:endParaRPr>
                    </a:p>
                    <a:p>
                      <a:pPr marL="0" marR="0" indent="0" algn="l" latinLnBrk="1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r>
                        <a:rPr lang="en-US" altLang="ko-KR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</a:t>
                      </a: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r>
                        <a:rPr lang="en-US" altLang="ko-KR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Monitorix : </a:t>
                      </a: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웹 서버를 운영하면서 트래픽이 몰려 서버가 다운되는 것에 대비하기 위해 모니터링용으로 사용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  <a:ea typeface="맑은 고딕"/>
                      </a:endParaRPr>
                    </a:p>
                  </a:txBody>
                  <a:tcPr marL="2912" marR="2912" marT="20965" marB="20965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172812">
                <a:tc>
                  <a:txBody>
                    <a:bodyPr vert="horz" lIns="2912" tIns="20965" rIns="2912" bIns="20965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5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변경사항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912" marR="2912" marT="20965" marB="20965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gridSpan="2">
                  <a:txBody>
                    <a:bodyPr vert="horz" lIns="2912" tIns="20965" rIns="2912" bIns="20965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</a:t>
                      </a:r>
                      <a:endParaRPr 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912" marR="2912" marT="20965" marB="20965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252397">
                <a:tc>
                  <a:txBody>
                    <a:bodyPr vert="horz" lIns="2912" tIns="20965" rIns="2912" bIns="20965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5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변경사유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912" marR="2912" marT="20965" marB="20965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gridSpan="2">
                  <a:txBody>
                    <a:bodyPr vert="horz" lIns="2912" tIns="20965" rIns="2912" bIns="20965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</a:t>
                      </a:r>
                      <a:endParaRPr 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912" marR="2912" marT="20965" marB="20965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</a:tbl>
          </a:graphicData>
        </a:graphic>
      </p:graphicFrame>
      <p:pic>
        <p:nvPicPr>
          <p:cNvPr id="22530" name="_x233555176">
            <a:extLst>
              <a:ext uri="{FF2B5EF4-FFF2-40B4-BE49-F238E27FC236}">
                <a16:creationId xmlns:a16="http://schemas.microsoft.com/office/drawing/2014/main" id="{CF5B0485-3D4C-B715-FCE9-6AD8465375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5059" y="1086934"/>
            <a:ext cx="2965450" cy="3610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29" name="_x231868560">
            <a:extLst>
              <a:ext uri="{FF2B5EF4-FFF2-40B4-BE49-F238E27FC236}">
                <a16:creationId xmlns:a16="http://schemas.microsoft.com/office/drawing/2014/main" id="{417411BC-D48F-0AA1-30DC-260DB69624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0926" y="1086934"/>
            <a:ext cx="3724633" cy="3610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41925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8F3236-BD10-1364-F34D-A167E6982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431" y="188662"/>
            <a:ext cx="10515600" cy="757822"/>
          </a:xfrm>
        </p:spPr>
        <p:txBody>
          <a:bodyPr>
            <a:normAutofit/>
          </a:bodyPr>
          <a:lstStyle/>
          <a:p>
            <a:r>
              <a:rPr lang="ko-KR" altLang="en-US" sz="4000" b="1" dirty="0"/>
              <a:t>웹 관리 팀</a:t>
            </a:r>
            <a:endParaRPr lang="ko-KR" altLang="en-US" sz="4000" dirty="0"/>
          </a:p>
        </p:txBody>
      </p:sp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260684" y="830949"/>
          <a:ext cx="11670632" cy="5862126"/>
        </p:xfrm>
        <a:graphic>
          <a:graphicData uri="http://schemas.openxmlformats.org/drawingml/2006/table">
            <a:tbl>
              <a:tblGrid>
                <a:gridCol w="2777805"/>
                <a:gridCol w="3121679"/>
                <a:gridCol w="5771148"/>
              </a:tblGrid>
              <a:tr h="227756">
                <a:tc gridSpan="2">
                  <a:txBody>
                    <a:bodyPr vert="horz" lIns="3495" tIns="25167" rIns="3495" bIns="25167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기획안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495" marR="3495" marT="25167" marB="2516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lIns="3495" tIns="25167" rIns="3495" bIns="25167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구축 결과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495" marR="3495" marT="25167" marB="2516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</a:tr>
              <a:tr h="4343631">
                <a:tc gridSpan="2">
                  <a:txBody>
                    <a:bodyPr vert="horz" lIns="3495" tIns="25167" rIns="3495" bIns="25167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endParaRPr lang="ko-KR" altLang="en-US" sz="6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495" marR="3495" marT="25167" marB="2516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lIns="3495" tIns="25167" rIns="3495" bIns="25167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endParaRPr lang="ko-KR" altLang="en-US" sz="6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495" marR="3495" marT="25167" marB="2516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202896">
                <a:tc>
                  <a:txBody>
                    <a:bodyPr vert="horz" lIns="3495" tIns="25167" rIns="3495" bIns="25167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5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서비스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495" marR="3495" marT="25167" marB="2516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gridSpan="2">
                  <a:txBody>
                    <a:bodyPr vert="horz" lIns="3495" tIns="25167" rIns="3495" bIns="25167" anchor="ctr" anchorCtr="0"/>
                    <a:lstStyle/>
                    <a:p>
                      <a:pPr marL="0" marR="0" indent="0" algn="l" latinLnBrk="1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r>
                        <a:rPr 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SMB</a:t>
                      </a:r>
                      <a:endParaRPr lang="en-US" sz="1400" kern="100" spc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3495" marR="3495" marT="25167" marB="2516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314568">
                <a:tc>
                  <a:txBody>
                    <a:bodyPr vert="horz" lIns="3495" tIns="25167" rIns="3495" bIns="25167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5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사용이유 </a:t>
                      </a:r>
                      <a:endParaRPr lang="ko-KR" altLang="en-US" sz="1400" b="1" kern="100" spc="50">
                        <a:solidFill>
                          <a:srgbClr val="000000"/>
                        </a:solidFill>
                        <a:effectLst/>
                        <a:ea typeface="맑은 고딕"/>
                      </a:endParaRPr>
                    </a:p>
                  </a:txBody>
                  <a:tcPr marL="3495" marR="3495" marT="25167" marB="2516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gridSpan="2">
                  <a:txBody>
                    <a:bodyPr vert="horz" lIns="3495" tIns="25167" rIns="3495" bIns="25167" anchor="ctr" anchorCtr="0"/>
                    <a:lstStyle/>
                    <a:p>
                      <a:pPr marL="0" marR="0" indent="0" algn="l" latinLnBrk="1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r>
                        <a:rPr lang="en-US" altLang="ko-KR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SMB : Apache </a:t>
                      </a: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운영에 필요한 설정 파일의 관리와 서비스 운영부서를 분리를 통한 협업환경의 편의성 제공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  <a:ea typeface="맑은 고딕"/>
                      </a:endParaRPr>
                    </a:p>
                    <a:p>
                      <a:pPr marL="0" marR="0" indent="0" algn="l" latinLnBrk="1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         및 웹 서비스 서버 트래픽 경감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  <a:ea typeface="맑은 고딕"/>
                      </a:endParaRPr>
                    </a:p>
                  </a:txBody>
                  <a:tcPr marL="3495" marR="3495" marT="25167" marB="2516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206744">
                <a:tc>
                  <a:txBody>
                    <a:bodyPr vert="horz" lIns="3495" tIns="25167" rIns="3495" bIns="25167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5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변경사항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495" marR="3495" marT="25167" marB="2516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gridSpan="2">
                  <a:txBody>
                    <a:bodyPr vert="horz" lIns="3495" tIns="25167" rIns="3495" bIns="25167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팀원 계정별 쿼터 적용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3495" marR="3495" marT="25167" marB="2516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120576">
                <a:tc>
                  <a:txBody>
                    <a:bodyPr vert="horz" lIns="3495" tIns="25167" rIns="3495" bIns="25167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5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변경사유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495" marR="3495" marT="25167" marB="2516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gridSpan="2">
                  <a:txBody>
                    <a:bodyPr vert="horz" lIns="3495" tIns="25167" rIns="3495" bIns="25167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</a:t>
                      </a:r>
                      <a:endParaRPr 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495" marR="3495" marT="25167" marB="2516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</a:tbl>
          </a:graphicData>
        </a:graphic>
      </p:graphicFrame>
      <p:pic>
        <p:nvPicPr>
          <p:cNvPr id="23554" name="_x233560136">
            <a:extLst>
              <a:ext uri="{FF2B5EF4-FFF2-40B4-BE49-F238E27FC236}">
                <a16:creationId xmlns:a16="http://schemas.microsoft.com/office/drawing/2014/main" id="{B71047B1-3BA7-B874-AA48-FCBB5CBEC8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6212" y="1174834"/>
            <a:ext cx="2329114" cy="4206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53" name="_x231869200">
            <a:extLst>
              <a:ext uri="{FF2B5EF4-FFF2-40B4-BE49-F238E27FC236}">
                <a16:creationId xmlns:a16="http://schemas.microsoft.com/office/drawing/2014/main" id="{54488B99-5429-7E08-AA6D-B29F3ED48A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0002" y="1174834"/>
            <a:ext cx="5562977" cy="4075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38591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B2BE63-61A2-AEB2-3C33-71D28F530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ko-KR" sz="5400" b="1" dirty="0"/>
              <a:t>5. </a:t>
            </a:r>
            <a:r>
              <a:rPr lang="ko-KR" altLang="en-US" sz="5400" b="1" dirty="0"/>
              <a:t>서버 구현 결과</a:t>
            </a:r>
          </a:p>
        </p:txBody>
      </p:sp>
    </p:spTree>
    <p:extLst>
      <p:ext uri="{BB962C8B-B14F-4D97-AF65-F5344CB8AC3E}">
        <p14:creationId xmlns:p14="http://schemas.microsoft.com/office/powerpoint/2010/main" val="16138844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82A5ECC-98CB-F5AE-1343-E6CF427888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737305"/>
              </p:ext>
            </p:extLst>
          </p:nvPr>
        </p:nvGraphicFramePr>
        <p:xfrm>
          <a:off x="256777" y="193956"/>
          <a:ext cx="11678446" cy="6351223"/>
        </p:xfrm>
        <a:graphic>
          <a:graphicData uri="http://schemas.openxmlformats.org/drawingml/2006/table">
            <a:tbl>
              <a:tblPr/>
              <a:tblGrid>
                <a:gridCol w="1868155">
                  <a:extLst>
                    <a:ext uri="{9D8B030D-6E8A-4147-A177-3AD203B41FA5}">
                      <a16:colId xmlns:a16="http://schemas.microsoft.com/office/drawing/2014/main" val="3683134995"/>
                    </a:ext>
                  </a:extLst>
                </a:gridCol>
                <a:gridCol w="9810291">
                  <a:extLst>
                    <a:ext uri="{9D8B030D-6E8A-4147-A177-3AD203B41FA5}">
                      <a16:colId xmlns:a16="http://schemas.microsoft.com/office/drawing/2014/main" val="1145654325"/>
                    </a:ext>
                  </a:extLst>
                </a:gridCol>
              </a:tblGrid>
              <a:tr h="444572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800" b="1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구현 결과</a:t>
                      </a:r>
                      <a:endParaRPr lang="ko-KR" altLang="en-US" sz="18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135" marR="6135" marT="44170" marB="4417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3039213"/>
                  </a:ext>
                </a:extLst>
              </a:tr>
              <a:tr h="5184756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18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135" marR="6135" marT="44170" marB="4417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1622432"/>
                  </a:ext>
                </a:extLst>
              </a:tr>
              <a:tr h="72189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800" b="1" kern="100" spc="5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설명</a:t>
                      </a:r>
                      <a:endParaRPr lang="ko-KR" altLang="en-US" sz="18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135" marR="6135" marT="44170" marB="4417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800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ww2.police.tj</a:t>
                      </a:r>
                      <a:r>
                        <a:rPr lang="ko-KR" altLang="en-US" sz="1800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는 </a:t>
                      </a:r>
                      <a:r>
                        <a:rPr lang="en-US" altLang="ko-KR" sz="1800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10.5.96.0/20 </a:t>
                      </a:r>
                      <a:r>
                        <a:rPr lang="ko-KR" altLang="en-US" sz="1800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대역의 네트워크만 접근할 수 있도록 설정한 결과</a:t>
                      </a:r>
                      <a:endParaRPr lang="ko-KR" altLang="en-US" sz="18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135" marR="6135" marT="44170" marB="4417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3051549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598A80E3-D37E-B7D7-1AA4-A0F0F81E31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0038" y="18065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4577" name="_x233561816">
            <a:extLst>
              <a:ext uri="{FF2B5EF4-FFF2-40B4-BE49-F238E27FC236}">
                <a16:creationId xmlns:a16="http://schemas.microsoft.com/office/drawing/2014/main" id="{45DF78B5-C183-A710-3CAE-30718B3986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3992" y="742782"/>
            <a:ext cx="9544015" cy="4984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E1A4683-1B71-DDF1-F2B6-6AF17C5EA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0038" y="22637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 </a:t>
            </a: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98832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D8499CA-F69F-7FA5-6784-1FAFA04380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0470311"/>
              </p:ext>
            </p:extLst>
          </p:nvPr>
        </p:nvGraphicFramePr>
        <p:xfrm>
          <a:off x="136334" y="218504"/>
          <a:ext cx="11847119" cy="6455012"/>
        </p:xfrm>
        <a:graphic>
          <a:graphicData uri="http://schemas.openxmlformats.org/drawingml/2006/table">
            <a:tbl>
              <a:tblPr/>
              <a:tblGrid>
                <a:gridCol w="1895138">
                  <a:extLst>
                    <a:ext uri="{9D8B030D-6E8A-4147-A177-3AD203B41FA5}">
                      <a16:colId xmlns:a16="http://schemas.microsoft.com/office/drawing/2014/main" val="328632155"/>
                    </a:ext>
                  </a:extLst>
                </a:gridCol>
                <a:gridCol w="9951981">
                  <a:extLst>
                    <a:ext uri="{9D8B030D-6E8A-4147-A177-3AD203B41FA5}">
                      <a16:colId xmlns:a16="http://schemas.microsoft.com/office/drawing/2014/main" val="2468028745"/>
                    </a:ext>
                  </a:extLst>
                </a:gridCol>
              </a:tblGrid>
              <a:tr h="496932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구현 결과</a:t>
                      </a:r>
                      <a:endParaRPr lang="ko-KR" altLang="en-US" sz="14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365" marR="5365" marT="38625" marB="38625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263571"/>
                  </a:ext>
                </a:extLst>
              </a:tr>
              <a:tr h="3019884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14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365" marR="5365" marT="38625" marB="38625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090928"/>
                  </a:ext>
                </a:extLst>
              </a:tr>
              <a:tr h="2299118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14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365" marR="5365" marT="38625" marB="38625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8083212"/>
                  </a:ext>
                </a:extLst>
              </a:tr>
              <a:tr h="63907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600" b="1" kern="100" spc="5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설명</a:t>
                      </a:r>
                      <a:endParaRPr lang="ko-KR" altLang="en-US" sz="16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365" marR="5365" marT="38625" marB="38625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600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Apache </a:t>
                      </a:r>
                      <a:r>
                        <a:rPr lang="ko-KR" altLang="en-US" sz="1600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서버에서 </a:t>
                      </a:r>
                      <a:r>
                        <a:rPr lang="en-US" altLang="ko-KR" sz="1600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test</a:t>
                      </a:r>
                      <a:r>
                        <a:rPr lang="ko-KR" altLang="en-US" sz="1600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파일을 만들고</a:t>
                      </a:r>
                      <a:r>
                        <a:rPr lang="en-US" altLang="ko-KR" sz="1600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600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위</a:t>
                      </a:r>
                      <a:r>
                        <a:rPr lang="en-US" altLang="ko-KR" sz="1600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1600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중앙 </a:t>
                      </a:r>
                      <a:r>
                        <a:rPr lang="en-US" altLang="ko-KR" sz="1600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Storage </a:t>
                      </a:r>
                      <a:r>
                        <a:rPr lang="ko-KR" altLang="en-US" sz="1600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서버에도 </a:t>
                      </a:r>
                      <a:r>
                        <a:rPr lang="en-US" altLang="ko-KR" sz="1600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600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아래</a:t>
                      </a:r>
                      <a:r>
                        <a:rPr lang="en-US" altLang="ko-KR" sz="1600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1600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생성되어 있는지 확인</a:t>
                      </a:r>
                      <a:endParaRPr lang="ko-KR" altLang="en-US" sz="16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365" marR="5365" marT="38625" marB="38625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2643097"/>
                  </a:ext>
                </a:extLst>
              </a:tr>
            </a:tbl>
          </a:graphicData>
        </a:graphic>
      </p:graphicFrame>
      <p:pic>
        <p:nvPicPr>
          <p:cNvPr id="25602" name="_x233560296">
            <a:extLst>
              <a:ext uri="{FF2B5EF4-FFF2-40B4-BE49-F238E27FC236}">
                <a16:creationId xmlns:a16="http://schemas.microsoft.com/office/drawing/2014/main" id="{0DBBA0A0-3326-AAFC-7B45-22BCA4DD01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0081" y="769227"/>
            <a:ext cx="8363628" cy="2960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01" name="_x233562696">
            <a:extLst>
              <a:ext uri="{FF2B5EF4-FFF2-40B4-BE49-F238E27FC236}">
                <a16:creationId xmlns:a16="http://schemas.microsoft.com/office/drawing/2014/main" id="{80F68413-3948-85B1-FF3A-061338EFC6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165" y="3731169"/>
            <a:ext cx="8287670" cy="2249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93AB33AC-DF9A-B4A1-DA40-FF3D409BA2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8025" y="18192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089D832-DF51-B5E7-34C8-50A7421537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8025" y="22764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27987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D04E900-BDBE-F7F0-1AE4-2B4127AE2B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097687"/>
              </p:ext>
            </p:extLst>
          </p:nvPr>
        </p:nvGraphicFramePr>
        <p:xfrm>
          <a:off x="155575" y="125161"/>
          <a:ext cx="11762987" cy="6607678"/>
        </p:xfrm>
        <a:graphic>
          <a:graphicData uri="http://schemas.openxmlformats.org/drawingml/2006/table">
            <a:tbl>
              <a:tblPr/>
              <a:tblGrid>
                <a:gridCol w="1287493">
                  <a:extLst>
                    <a:ext uri="{9D8B030D-6E8A-4147-A177-3AD203B41FA5}">
                      <a16:colId xmlns:a16="http://schemas.microsoft.com/office/drawing/2014/main" val="3778188248"/>
                    </a:ext>
                  </a:extLst>
                </a:gridCol>
                <a:gridCol w="10475494">
                  <a:extLst>
                    <a:ext uri="{9D8B030D-6E8A-4147-A177-3AD203B41FA5}">
                      <a16:colId xmlns:a16="http://schemas.microsoft.com/office/drawing/2014/main" val="377908630"/>
                    </a:ext>
                  </a:extLst>
                </a:gridCol>
              </a:tblGrid>
              <a:tr h="464397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구현 결과</a:t>
                      </a:r>
                      <a:endParaRPr lang="ko-KR" altLang="en-US" sz="14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448" marR="5448" marT="39224" marB="3922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7054793"/>
                  </a:ext>
                </a:extLst>
              </a:tr>
              <a:tr h="3250209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14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448" marR="5448" marT="39224" marB="3922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8209083"/>
                  </a:ext>
                </a:extLst>
              </a:tr>
              <a:tr h="2424934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14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448" marR="5448" marT="39224" marB="3922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9186336"/>
                  </a:ext>
                </a:extLst>
              </a:tr>
              <a:tr h="46813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600" b="1" kern="100" spc="5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설명</a:t>
                      </a:r>
                      <a:endParaRPr lang="ko-KR" altLang="en-US" sz="16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448" marR="5448" marT="39224" marB="3922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600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DNS </a:t>
                      </a:r>
                      <a:r>
                        <a:rPr lang="ko-KR" altLang="en-US" sz="1600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서버</a:t>
                      </a:r>
                      <a:r>
                        <a:rPr lang="en-US" altLang="ko-KR" sz="1600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600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위</a:t>
                      </a:r>
                      <a:r>
                        <a:rPr lang="en-US" altLang="ko-KR" sz="1600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1600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에서 </a:t>
                      </a:r>
                      <a:r>
                        <a:rPr lang="en-US" altLang="ko-KR" sz="1600" kern="10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nfs</a:t>
                      </a:r>
                      <a:r>
                        <a:rPr lang="ko-KR" altLang="en-US" sz="1600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를 통해서 마운트 한 정보</a:t>
                      </a:r>
                      <a:r>
                        <a:rPr lang="en-US" altLang="ko-KR" sz="1600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600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파일 생성 시 </a:t>
                      </a:r>
                      <a:r>
                        <a:rPr lang="en-US" altLang="ko-KR" sz="1600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Storage </a:t>
                      </a:r>
                      <a:r>
                        <a:rPr lang="ko-KR" altLang="en-US" sz="1600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서버</a:t>
                      </a:r>
                      <a:r>
                        <a:rPr lang="en-US" altLang="ko-KR" sz="1600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600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아래</a:t>
                      </a:r>
                      <a:r>
                        <a:rPr lang="en-US" altLang="ko-KR" sz="1600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1600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에서도 동일하게 생기는 것 확인</a:t>
                      </a:r>
                      <a:endParaRPr lang="ko-KR" altLang="en-US" sz="16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448" marR="5448" marT="39224" marB="3922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5320329"/>
                  </a:ext>
                </a:extLst>
              </a:tr>
            </a:tbl>
          </a:graphicData>
        </a:graphic>
      </p:graphicFrame>
      <p:sp>
        <p:nvSpPr>
          <p:cNvPr id="3" name="Rectangle 3">
            <a:extLst>
              <a:ext uri="{FF2B5EF4-FFF2-40B4-BE49-F238E27FC236}">
                <a16:creationId xmlns:a16="http://schemas.microsoft.com/office/drawing/2014/main" id="{F9304E2F-5919-92A0-62B6-1C81DE3038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575" y="125161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6626" name="_x233556776">
            <a:extLst>
              <a:ext uri="{FF2B5EF4-FFF2-40B4-BE49-F238E27FC236}">
                <a16:creationId xmlns:a16="http://schemas.microsoft.com/office/drawing/2014/main" id="{BF41A4C8-6DA3-90C5-A7FB-E6D976A8A7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0937" y="641035"/>
            <a:ext cx="8712260" cy="3189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25" name="_x233555896">
            <a:extLst>
              <a:ext uri="{FF2B5EF4-FFF2-40B4-BE49-F238E27FC236}">
                <a16:creationId xmlns:a16="http://schemas.microsoft.com/office/drawing/2014/main" id="{29A46487-95F5-A6D6-F654-8D1229F73B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5583" y="3889206"/>
            <a:ext cx="9682969" cy="2269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41910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6F3F058-64FC-E75C-6387-79D74E77CB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0817791"/>
              </p:ext>
            </p:extLst>
          </p:nvPr>
        </p:nvGraphicFramePr>
        <p:xfrm>
          <a:off x="139154" y="186532"/>
          <a:ext cx="11913691" cy="6580723"/>
        </p:xfrm>
        <a:graphic>
          <a:graphicData uri="http://schemas.openxmlformats.org/drawingml/2006/table">
            <a:tbl>
              <a:tblPr/>
              <a:tblGrid>
                <a:gridCol w="1905786">
                  <a:extLst>
                    <a:ext uri="{9D8B030D-6E8A-4147-A177-3AD203B41FA5}">
                      <a16:colId xmlns:a16="http://schemas.microsoft.com/office/drawing/2014/main" val="3814408195"/>
                    </a:ext>
                  </a:extLst>
                </a:gridCol>
                <a:gridCol w="10007905">
                  <a:extLst>
                    <a:ext uri="{9D8B030D-6E8A-4147-A177-3AD203B41FA5}">
                      <a16:colId xmlns:a16="http://schemas.microsoft.com/office/drawing/2014/main" val="435505826"/>
                    </a:ext>
                  </a:extLst>
                </a:gridCol>
              </a:tblGrid>
              <a:tr h="478010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구현 결과</a:t>
                      </a:r>
                      <a:endParaRPr lang="ko-KR" altLang="en-US" sz="14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16" marR="5616" marT="40432" marB="4043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494191"/>
                  </a:ext>
                </a:extLst>
              </a:tr>
              <a:tr h="3474321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14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16" marR="5616" marT="40432" marB="4043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0219922"/>
                  </a:ext>
                </a:extLst>
              </a:tr>
              <a:tr h="2225334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14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16" marR="5616" marT="40432" marB="4043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837543"/>
                  </a:ext>
                </a:extLst>
              </a:tr>
              <a:tr h="40305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600" b="1" kern="100" spc="5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설명</a:t>
                      </a:r>
                      <a:endParaRPr lang="ko-KR" altLang="en-US" sz="16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16" marR="5616" marT="40432" marB="4043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600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FTP </a:t>
                      </a:r>
                      <a:r>
                        <a:rPr lang="ko-KR" altLang="en-US" sz="1600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서버에서 사용자 계정 </a:t>
                      </a:r>
                      <a:r>
                        <a:rPr lang="en-US" altLang="ko-KR" sz="1600" kern="10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jh</a:t>
                      </a:r>
                      <a:r>
                        <a:rPr lang="ko-KR" altLang="en-US" sz="1600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를 새로 생성하니 중앙 서버에서도 동일하게 홈 디렉터리가 생성되는 것을 확인</a:t>
                      </a:r>
                      <a:endParaRPr lang="ko-KR" altLang="en-US" sz="16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16" marR="5616" marT="40432" marB="4043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0859362"/>
                  </a:ext>
                </a:extLst>
              </a:tr>
            </a:tbl>
          </a:graphicData>
        </a:graphic>
      </p:graphicFrame>
      <p:pic>
        <p:nvPicPr>
          <p:cNvPr id="27650" name="_x233559336">
            <a:extLst>
              <a:ext uri="{FF2B5EF4-FFF2-40B4-BE49-F238E27FC236}">
                <a16:creationId xmlns:a16="http://schemas.microsoft.com/office/drawing/2014/main" id="{0375CE5D-B22A-7A78-F09D-ACF5DC5110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5" y="701288"/>
            <a:ext cx="11447227" cy="3389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49" name="_x233558456">
            <a:extLst>
              <a:ext uri="{FF2B5EF4-FFF2-40B4-BE49-F238E27FC236}">
                <a16:creationId xmlns:a16="http://schemas.microsoft.com/office/drawing/2014/main" id="{E1E951AD-35D4-89B4-E134-D74EEDFB78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756" y="4149379"/>
            <a:ext cx="11006483" cy="2131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5A55C2D1-7E8C-6D8E-B47A-9C63A53FB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4675" y="18256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56B38C2-ECE6-2EBD-8C82-427E332ABC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4675" y="22828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 </a:t>
            </a: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83903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3A7D0B4-4699-6DB5-BA51-43F5483670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2177127"/>
              </p:ext>
            </p:extLst>
          </p:nvPr>
        </p:nvGraphicFramePr>
        <p:xfrm>
          <a:off x="287819" y="184476"/>
          <a:ext cx="11616361" cy="6562070"/>
        </p:xfrm>
        <a:graphic>
          <a:graphicData uri="http://schemas.openxmlformats.org/drawingml/2006/table">
            <a:tbl>
              <a:tblPr/>
              <a:tblGrid>
                <a:gridCol w="2963577">
                  <a:extLst>
                    <a:ext uri="{9D8B030D-6E8A-4147-A177-3AD203B41FA5}">
                      <a16:colId xmlns:a16="http://schemas.microsoft.com/office/drawing/2014/main" val="2429280257"/>
                    </a:ext>
                  </a:extLst>
                </a:gridCol>
                <a:gridCol w="5206804">
                  <a:extLst>
                    <a:ext uri="{9D8B030D-6E8A-4147-A177-3AD203B41FA5}">
                      <a16:colId xmlns:a16="http://schemas.microsoft.com/office/drawing/2014/main" val="2443271664"/>
                    </a:ext>
                  </a:extLst>
                </a:gridCol>
                <a:gridCol w="3445980">
                  <a:extLst>
                    <a:ext uri="{9D8B030D-6E8A-4147-A177-3AD203B41FA5}">
                      <a16:colId xmlns:a16="http://schemas.microsoft.com/office/drawing/2014/main" val="2577877992"/>
                    </a:ext>
                  </a:extLst>
                </a:gridCol>
              </a:tblGrid>
              <a:tr h="310824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구현 결과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448" marR="5448" marT="39224" marB="3922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0441580"/>
                  </a:ext>
                </a:extLst>
              </a:tr>
              <a:tr h="3181350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14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448" marR="5448" marT="39224" marB="3922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14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448" marR="5448" marT="39224" marB="3922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7626058"/>
                  </a:ext>
                </a:extLst>
              </a:tr>
              <a:tr h="2686050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448" marR="5448" marT="39224" marB="3922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1213803"/>
                  </a:ext>
                </a:extLst>
              </a:tr>
              <a:tr h="38384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600" b="1" kern="100" spc="5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설명</a:t>
                      </a:r>
                      <a:endParaRPr lang="ko-KR" altLang="en-US" sz="16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448" marR="5448" marT="39224" marB="3922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600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SMB(</a:t>
                      </a:r>
                      <a:r>
                        <a:rPr lang="ko-KR" altLang="en-US" sz="1600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중앙 서버의 </a:t>
                      </a:r>
                      <a:r>
                        <a:rPr lang="en-US" altLang="ko-KR" sz="1600" kern="10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smb</a:t>
                      </a:r>
                      <a:r>
                        <a:rPr lang="en-US" altLang="ko-KR" sz="1600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600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계정 목록</a:t>
                      </a:r>
                      <a:r>
                        <a:rPr lang="en-US" altLang="ko-KR" sz="1600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600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공유 자원 설정 현황</a:t>
                      </a:r>
                      <a:r>
                        <a:rPr lang="en-US" altLang="ko-KR" sz="1600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, 10.5.96.4</a:t>
                      </a:r>
                      <a:r>
                        <a:rPr lang="ko-KR" altLang="en-US" sz="1600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로 공유자원에 접속한 모습</a:t>
                      </a:r>
                      <a:endParaRPr lang="ko-KR" altLang="en-US" sz="16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448" marR="5448" marT="39224" marB="3922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7004825"/>
                  </a:ext>
                </a:extLst>
              </a:tr>
            </a:tbl>
          </a:graphicData>
        </a:graphic>
      </p:graphicFrame>
      <p:sp>
        <p:nvSpPr>
          <p:cNvPr id="3" name="Rectangle 4">
            <a:extLst>
              <a:ext uri="{FF2B5EF4-FFF2-40B4-BE49-F238E27FC236}">
                <a16:creationId xmlns:a16="http://schemas.microsoft.com/office/drawing/2014/main" id="{7D41B5FF-B5F7-920C-794E-EBAD849AB5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829" y="39787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8675" name="_x233560776">
            <a:extLst>
              <a:ext uri="{FF2B5EF4-FFF2-40B4-BE49-F238E27FC236}">
                <a16:creationId xmlns:a16="http://schemas.microsoft.com/office/drawing/2014/main" id="{0DE68164-E496-27BA-79CB-10B6F4BA05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24" y="581529"/>
            <a:ext cx="7882271" cy="2985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74" name="_x231866960">
            <a:extLst>
              <a:ext uri="{FF2B5EF4-FFF2-40B4-BE49-F238E27FC236}">
                <a16:creationId xmlns:a16="http://schemas.microsoft.com/office/drawing/2014/main" id="{130419FB-28E4-895C-8652-D8304C5E20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3644" y="581529"/>
            <a:ext cx="2314007" cy="5694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73" name="_x233562376">
            <a:extLst>
              <a:ext uri="{FF2B5EF4-FFF2-40B4-BE49-F238E27FC236}">
                <a16:creationId xmlns:a16="http://schemas.microsoft.com/office/drawing/2014/main" id="{FC2697F7-A1CF-9ADA-60E8-BA25EFE509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5776" y="3750356"/>
            <a:ext cx="4903412" cy="2526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5">
            <a:extLst>
              <a:ext uri="{FF2B5EF4-FFF2-40B4-BE49-F238E27FC236}">
                <a16:creationId xmlns:a16="http://schemas.microsoft.com/office/drawing/2014/main" id="{58CD0635-855D-FEE9-9C5D-B0F6B01951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829" y="85507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62648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7617DC3-4BA5-1F75-6DAA-60829174D0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5154883"/>
              </p:ext>
            </p:extLst>
          </p:nvPr>
        </p:nvGraphicFramePr>
        <p:xfrm>
          <a:off x="162560" y="491800"/>
          <a:ext cx="11866880" cy="5874400"/>
        </p:xfrm>
        <a:graphic>
          <a:graphicData uri="http://schemas.openxmlformats.org/drawingml/2006/table">
            <a:tbl>
              <a:tblPr/>
              <a:tblGrid>
                <a:gridCol w="1898298">
                  <a:extLst>
                    <a:ext uri="{9D8B030D-6E8A-4147-A177-3AD203B41FA5}">
                      <a16:colId xmlns:a16="http://schemas.microsoft.com/office/drawing/2014/main" val="3189638097"/>
                    </a:ext>
                  </a:extLst>
                </a:gridCol>
                <a:gridCol w="9968582">
                  <a:extLst>
                    <a:ext uri="{9D8B030D-6E8A-4147-A177-3AD203B41FA5}">
                      <a16:colId xmlns:a16="http://schemas.microsoft.com/office/drawing/2014/main" val="707210457"/>
                    </a:ext>
                  </a:extLst>
                </a:gridCol>
              </a:tblGrid>
              <a:tr h="321278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구현 결과</a:t>
                      </a:r>
                      <a:endParaRPr lang="ko-KR" altLang="en-US" sz="14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4498811"/>
                  </a:ext>
                </a:extLst>
              </a:tr>
              <a:tr h="5034342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14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0907364"/>
                  </a:ext>
                </a:extLst>
              </a:tr>
              <a:tr h="51878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600" b="1" kern="100" spc="5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설명</a:t>
                      </a:r>
                      <a:endParaRPr lang="ko-KR" altLang="en-US" sz="16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600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Disk quota </a:t>
                      </a:r>
                      <a:r>
                        <a:rPr lang="ko-KR" altLang="en-US" sz="1600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적용 여부 확인</a:t>
                      </a:r>
                      <a:endParaRPr lang="ko-KR" altLang="en-US" sz="16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1737682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F36843FD-2322-B6DF-CAB9-176457A77E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5738" y="207803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9697" name="_x233560376">
            <a:extLst>
              <a:ext uri="{FF2B5EF4-FFF2-40B4-BE49-F238E27FC236}">
                <a16:creationId xmlns:a16="http://schemas.microsoft.com/office/drawing/2014/main" id="{2C5F75E2-FFCE-4DCE-DE62-F74C92DCED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680" y="1082072"/>
            <a:ext cx="11724640" cy="4344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C14F2A0-AF6D-4C05-0E62-4F0D4177D1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5738" y="253523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 </a:t>
            </a: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03216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A4A8CDE-EB32-AE05-1D9C-0BB1DB2A32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8684580"/>
              </p:ext>
            </p:extLst>
          </p:nvPr>
        </p:nvGraphicFramePr>
        <p:xfrm>
          <a:off x="229870" y="231966"/>
          <a:ext cx="11695430" cy="6432528"/>
        </p:xfrm>
        <a:graphic>
          <a:graphicData uri="http://schemas.openxmlformats.org/drawingml/2006/table">
            <a:tbl>
              <a:tblPr/>
              <a:tblGrid>
                <a:gridCol w="1870872">
                  <a:extLst>
                    <a:ext uri="{9D8B030D-6E8A-4147-A177-3AD203B41FA5}">
                      <a16:colId xmlns:a16="http://schemas.microsoft.com/office/drawing/2014/main" val="3127595588"/>
                    </a:ext>
                  </a:extLst>
                </a:gridCol>
                <a:gridCol w="9824558">
                  <a:extLst>
                    <a:ext uri="{9D8B030D-6E8A-4147-A177-3AD203B41FA5}">
                      <a16:colId xmlns:a16="http://schemas.microsoft.com/office/drawing/2014/main" val="765589056"/>
                    </a:ext>
                  </a:extLst>
                </a:gridCol>
              </a:tblGrid>
              <a:tr h="562700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구현 결과</a:t>
                      </a:r>
                      <a:endParaRPr lang="ko-KR" altLang="en-US" sz="14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6480731"/>
                  </a:ext>
                </a:extLst>
              </a:tr>
              <a:tr h="3110584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16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2157515"/>
                  </a:ext>
                </a:extLst>
              </a:tr>
              <a:tr h="2362200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16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7480842"/>
                  </a:ext>
                </a:extLst>
              </a:tr>
              <a:tr h="39704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600" b="1" kern="100" spc="5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설명</a:t>
                      </a:r>
                      <a:endParaRPr lang="ko-KR" altLang="en-US" sz="16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600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Disk quota </a:t>
                      </a:r>
                      <a:r>
                        <a:rPr lang="ko-KR" altLang="en-US" sz="1600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적용 여부 확인</a:t>
                      </a:r>
                      <a:endParaRPr lang="ko-KR" altLang="en-US" sz="16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908552"/>
                  </a:ext>
                </a:extLst>
              </a:tr>
            </a:tbl>
          </a:graphicData>
        </a:graphic>
      </p:graphicFrame>
      <p:sp>
        <p:nvSpPr>
          <p:cNvPr id="3" name="Rectangle 3">
            <a:extLst>
              <a:ext uri="{FF2B5EF4-FFF2-40B4-BE49-F238E27FC236}">
                <a16:creationId xmlns:a16="http://schemas.microsoft.com/office/drawing/2014/main" id="{019F6D63-C35D-A2DF-A3FB-F1A06514C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5738" y="22796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0722" name="_x233561896">
            <a:extLst>
              <a:ext uri="{FF2B5EF4-FFF2-40B4-BE49-F238E27FC236}">
                <a16:creationId xmlns:a16="http://schemas.microsoft.com/office/drawing/2014/main" id="{FF51ECA5-BE78-6D71-9AFD-AC869FEC9C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545" y="1289878"/>
            <a:ext cx="11562080" cy="1979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21" name="_x231867760">
            <a:extLst>
              <a:ext uri="{FF2B5EF4-FFF2-40B4-BE49-F238E27FC236}">
                <a16:creationId xmlns:a16="http://schemas.microsoft.com/office/drawing/2014/main" id="{C30EDF43-916D-1E76-6DFF-E93D8DBA36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696" y="4391355"/>
            <a:ext cx="11504607" cy="1540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4">
            <a:extLst>
              <a:ext uri="{FF2B5EF4-FFF2-40B4-BE49-F238E27FC236}">
                <a16:creationId xmlns:a16="http://schemas.microsoft.com/office/drawing/2014/main" id="{1A0FBF7F-6D5C-57C1-CAEF-F850E9D165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5738" y="27368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 </a:t>
            </a: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77739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EA98DA-0BBD-60AA-C603-7927FE41B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ko-KR" sz="5400" b="1" dirty="0"/>
              <a:t>6. </a:t>
            </a:r>
            <a:r>
              <a:rPr lang="ko-KR" altLang="en-US" sz="5400" b="1" dirty="0"/>
              <a:t>파이썬</a:t>
            </a:r>
          </a:p>
        </p:txBody>
      </p:sp>
    </p:spTree>
    <p:extLst>
      <p:ext uri="{BB962C8B-B14F-4D97-AF65-F5344CB8AC3E}">
        <p14:creationId xmlns:p14="http://schemas.microsoft.com/office/powerpoint/2010/main" val="25302087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31DBEC-23C7-CFB3-0692-BBEC7927C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93675"/>
            <a:ext cx="10515600" cy="492125"/>
          </a:xfrm>
        </p:spPr>
        <p:txBody>
          <a:bodyPr>
            <a:normAutofit fontScale="90000"/>
          </a:bodyPr>
          <a:lstStyle/>
          <a:p>
            <a:r>
              <a:rPr lang="ko-KR" altLang="en-US" b="1" dirty="0"/>
              <a:t>코드 흐름도</a:t>
            </a:r>
            <a:endParaRPr lang="ko-KR" alt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D60CF0-8A27-014F-A0F4-8947F3EE0B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402C16-DF31-D9F6-16B3-F00050A5DA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799" y="228600"/>
            <a:ext cx="14238953" cy="416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1747" name="_x233562776">
            <a:extLst>
              <a:ext uri="{FF2B5EF4-FFF2-40B4-BE49-F238E27FC236}">
                <a16:creationId xmlns:a16="http://schemas.microsoft.com/office/drawing/2014/main" id="{F43AF710-D17E-B57D-AA89-2C77E5BBB3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48"/>
          <a:stretch>
            <a:fillRect/>
          </a:stretch>
        </p:blipFill>
        <p:spPr bwMode="auto">
          <a:xfrm>
            <a:off x="1447800" y="685800"/>
            <a:ext cx="9095873" cy="6094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26620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898EB1-A5C3-2326-A9D7-37A7FD93C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ko-KR" altLang="en-US" sz="9600" dirty="0"/>
              <a:t>😸감사합니다😁</a:t>
            </a:r>
          </a:p>
        </p:txBody>
      </p:sp>
    </p:spTree>
    <p:extLst>
      <p:ext uri="{BB962C8B-B14F-4D97-AF65-F5344CB8AC3E}">
        <p14:creationId xmlns:p14="http://schemas.microsoft.com/office/powerpoint/2010/main" val="376347927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968</ep:Words>
  <ep:PresentationFormat>와이드스크린</ep:PresentationFormat>
  <ep:Paragraphs>231</ep:Paragraphs>
  <ep:Slides>34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ep:HeadingPairs>
  <ep:TitlesOfParts>
    <vt:vector size="35" baseType="lpstr">
      <vt:lpstr>Office 테마</vt:lpstr>
      <vt:lpstr>6. 파이썬</vt:lpstr>
      <vt:lpstr>코드 흐름도</vt:lpstr>
      <vt:lpstr>😸감사합니다😁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데이터 센터</vt:lpstr>
      <vt:lpstr>데이터 / 스토리지 서버</vt:lpstr>
      <vt:lpstr>각 서비스 서버</vt:lpstr>
      <vt:lpstr>웹 서비스 서버</vt:lpstr>
      <vt:lpstr>웹 관리 팀</vt:lpstr>
      <vt:lpstr>슬라이드 24</vt:lpstr>
      <vt:lpstr>슬라이드 25</vt:lpstr>
      <vt:lpstr>슬라이드 26</vt:lpstr>
      <vt:lpstr>슬라이드 27</vt:lpstr>
      <vt:lpstr>슬라이드 28</vt:lpstr>
      <vt:lpstr>슬라이드 29</vt:lpstr>
      <vt:lpstr>슬라이드 30</vt:lpstr>
      <vt:lpstr>슬라이드 31</vt:lpstr>
      <vt:lpstr>슬라이드 32</vt:lpstr>
      <vt:lpstr>슬라이드 33</vt:lpstr>
      <vt:lpstr>슬라이드 34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2025-11-06T06:06:13.000</dcterms:created>
  <dc:creator>TJ</dc:creator>
  <cp:lastModifiedBy>TJ</cp:lastModifiedBy>
  <dcterms:modified xsi:type="dcterms:W3CDTF">2025-11-07T06:21:26.183</dcterms:modified>
  <cp:revision>5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