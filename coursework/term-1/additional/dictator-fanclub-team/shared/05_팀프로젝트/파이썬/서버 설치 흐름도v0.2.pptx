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61" r:id="rId4"/>
    <p:sldId id="262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>
        <p:scale>
          <a:sx n="50" d="100"/>
          <a:sy n="50" d="100"/>
        </p:scale>
        <p:origin x="79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22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9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457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78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10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21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01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409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7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30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6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A440-1733-CD19-CC75-34511E7C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1D4609-4712-906D-97CD-12C404071F8D}"/>
              </a:ext>
            </a:extLst>
          </p:cNvPr>
          <p:cNvGrpSpPr/>
          <p:nvPr/>
        </p:nvGrpSpPr>
        <p:grpSpPr>
          <a:xfrm>
            <a:off x="3092691" y="5869298"/>
            <a:ext cx="2430651" cy="490795"/>
            <a:chOff x="4004472" y="5586154"/>
            <a:chExt cx="5432567" cy="107387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B8D681-66D5-B74C-E34C-6CA72EB4F425}"/>
                </a:ext>
              </a:extLst>
            </p:cNvPr>
            <p:cNvSpPr/>
            <p:nvPr/>
          </p:nvSpPr>
          <p:spPr>
            <a:xfrm>
              <a:off x="4004472" y="5586154"/>
              <a:ext cx="5432567" cy="1070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93A821-F300-7BF9-18C8-693BB6F15CDF}"/>
                </a:ext>
              </a:extLst>
            </p:cNvPr>
            <p:cNvSpPr txBox="1"/>
            <p:nvPr/>
          </p:nvSpPr>
          <p:spPr>
            <a:xfrm>
              <a:off x="4160749" y="5723615"/>
              <a:ext cx="1664920" cy="47911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All Device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CC08F1-0615-13C5-7429-4831DFAEFD74}"/>
                </a:ext>
              </a:extLst>
            </p:cNvPr>
            <p:cNvSpPr txBox="1"/>
            <p:nvPr/>
          </p:nvSpPr>
          <p:spPr>
            <a:xfrm>
              <a:off x="4160749" y="6180914"/>
              <a:ext cx="1664920" cy="479116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Switch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F34768-60B2-DE4B-571F-376EB6CEFA65}"/>
                </a:ext>
              </a:extLst>
            </p:cNvPr>
            <p:cNvSpPr txBox="1"/>
            <p:nvPr/>
          </p:nvSpPr>
          <p:spPr>
            <a:xfrm>
              <a:off x="5875146" y="6180914"/>
              <a:ext cx="1664920" cy="4791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Router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4FB811-7E99-9CB7-CE01-2B0C7F987479}"/>
                </a:ext>
              </a:extLst>
            </p:cNvPr>
            <p:cNvSpPr txBox="1"/>
            <p:nvPr/>
          </p:nvSpPr>
          <p:spPr>
            <a:xfrm>
              <a:off x="7602673" y="6174803"/>
              <a:ext cx="1664920" cy="4791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Others..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990A5-F6A3-39A7-837B-94AFCDA442CD}"/>
              </a:ext>
            </a:extLst>
          </p:cNvPr>
          <p:cNvSpPr/>
          <p:nvPr/>
        </p:nvSpPr>
        <p:spPr>
          <a:xfrm>
            <a:off x="1395844" y="3706352"/>
            <a:ext cx="4141102" cy="5264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39E00-7358-6532-3D54-1C67DA668030}"/>
              </a:ext>
            </a:extLst>
          </p:cNvPr>
          <p:cNvSpPr/>
          <p:nvPr/>
        </p:nvSpPr>
        <p:spPr>
          <a:xfrm>
            <a:off x="1382239" y="4579356"/>
            <a:ext cx="960650" cy="101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CA4AC-01AD-3814-B960-CCCAAB7C1CDB}"/>
              </a:ext>
            </a:extLst>
          </p:cNvPr>
          <p:cNvSpPr/>
          <p:nvPr/>
        </p:nvSpPr>
        <p:spPr>
          <a:xfrm>
            <a:off x="4515113" y="4281448"/>
            <a:ext cx="1008229" cy="1491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8B698-1601-4EF9-59BD-6FCEAEFF9B4D}"/>
              </a:ext>
            </a:extLst>
          </p:cNvPr>
          <p:cNvSpPr/>
          <p:nvPr/>
        </p:nvSpPr>
        <p:spPr>
          <a:xfrm>
            <a:off x="1382239" y="5712368"/>
            <a:ext cx="960650" cy="673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FEF2B6-9C74-A3BC-4328-F2CBF715A869}"/>
              </a:ext>
            </a:extLst>
          </p:cNvPr>
          <p:cNvSpPr/>
          <p:nvPr/>
        </p:nvSpPr>
        <p:spPr>
          <a:xfrm>
            <a:off x="1435609" y="3988676"/>
            <a:ext cx="749976" cy="157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C89327-4476-9454-391F-D5B6AA1973F2}"/>
              </a:ext>
            </a:extLst>
          </p:cNvPr>
          <p:cNvSpPr/>
          <p:nvPr/>
        </p:nvSpPr>
        <p:spPr>
          <a:xfrm>
            <a:off x="3250996" y="3771580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A2A2B-DB61-9E61-AA3B-9C09FEBAFC2D}"/>
              </a:ext>
            </a:extLst>
          </p:cNvPr>
          <p:cNvSpPr/>
          <p:nvPr/>
        </p:nvSpPr>
        <p:spPr>
          <a:xfrm>
            <a:off x="3250996" y="3988675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3FDCA-AA9F-91DC-2CDD-3A443F357CE3}"/>
              </a:ext>
            </a:extLst>
          </p:cNvPr>
          <p:cNvSpPr/>
          <p:nvPr/>
        </p:nvSpPr>
        <p:spPr>
          <a:xfrm>
            <a:off x="2544530" y="3771580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27407-804C-F291-38F7-07FE87978CFE}"/>
              </a:ext>
            </a:extLst>
          </p:cNvPr>
          <p:cNvSpPr/>
          <p:nvPr/>
        </p:nvSpPr>
        <p:spPr>
          <a:xfrm>
            <a:off x="2544530" y="3988675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6A699-19A8-086D-47D3-EF5D125615CB}"/>
              </a:ext>
            </a:extLst>
          </p:cNvPr>
          <p:cNvSpPr txBox="1"/>
          <p:nvPr/>
        </p:nvSpPr>
        <p:spPr>
          <a:xfrm>
            <a:off x="4484524" y="3755190"/>
            <a:ext cx="1003801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823" dirty="0">
                <a:solidFill>
                  <a:sysClr val="windowText" lastClr="000000"/>
                </a:solidFill>
              </a:rPr>
              <a:t>Management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BC579-EC71-C84B-6758-11F356524B09}"/>
              </a:ext>
            </a:extLst>
          </p:cNvPr>
          <p:cNvSpPr txBox="1"/>
          <p:nvPr/>
        </p:nvSpPr>
        <p:spPr>
          <a:xfrm>
            <a:off x="4545278" y="4309608"/>
            <a:ext cx="960650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Core Service Zone</a:t>
            </a: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5940A106-A41C-B109-8978-1A49A349D25F}"/>
              </a:ext>
            </a:extLst>
          </p:cNvPr>
          <p:cNvSpPr/>
          <p:nvPr/>
        </p:nvSpPr>
        <p:spPr>
          <a:xfrm rot="10800000" flipH="1">
            <a:off x="3803847" y="3811579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41450FAB-426B-A31A-EE2A-6D9155B80BBE}"/>
              </a:ext>
            </a:extLst>
          </p:cNvPr>
          <p:cNvSpPr/>
          <p:nvPr/>
        </p:nvSpPr>
        <p:spPr>
          <a:xfrm flipH="1">
            <a:off x="2439150" y="3822131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0C9FF62B-3302-20ED-5643-4C726D2C7476}"/>
              </a:ext>
            </a:extLst>
          </p:cNvPr>
          <p:cNvSpPr/>
          <p:nvPr/>
        </p:nvSpPr>
        <p:spPr>
          <a:xfrm rot="11041649" flipH="1">
            <a:off x="3102913" y="3818945"/>
            <a:ext cx="122562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253FA75D-8FA6-411E-CCA3-2DCD83CBF967}"/>
              </a:ext>
            </a:extLst>
          </p:cNvPr>
          <p:cNvSpPr/>
          <p:nvPr/>
        </p:nvSpPr>
        <p:spPr>
          <a:xfrm flipH="1">
            <a:off x="3231096" y="3822131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EF57FB-0E21-7AA9-3924-F477EAD0FAE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2263497" y="4222075"/>
            <a:ext cx="685397" cy="535194"/>
          </a:xfrm>
          <a:prstGeom prst="bentConnector3">
            <a:avLst>
              <a:gd name="adj1" fmla="val 99964"/>
            </a:avLst>
          </a:prstGeom>
          <a:ln w="152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DBB2FDE-76CF-1F1F-7114-9195560186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55322" y="4174616"/>
            <a:ext cx="1297494" cy="1082922"/>
          </a:xfrm>
          <a:prstGeom prst="bentConnector3">
            <a:avLst>
              <a:gd name="adj1" fmla="val 3029"/>
            </a:avLst>
          </a:prstGeom>
          <a:ln w="161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4C7FCB-E7E7-3595-CF44-B7B1953582D3}"/>
              </a:ext>
            </a:extLst>
          </p:cNvPr>
          <p:cNvSpPr/>
          <p:nvPr/>
        </p:nvSpPr>
        <p:spPr>
          <a:xfrm>
            <a:off x="1544473" y="4807480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A74313-763B-037E-2EFA-3FB70BDD120F}"/>
              </a:ext>
            </a:extLst>
          </p:cNvPr>
          <p:cNvSpPr/>
          <p:nvPr/>
        </p:nvSpPr>
        <p:spPr>
          <a:xfrm>
            <a:off x="2897764" y="4379856"/>
            <a:ext cx="706466" cy="1765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iSCSI</a:t>
            </a:r>
            <a:endParaRPr lang="ko-KR" altLang="en-US" sz="823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1E17C-F2FD-3DEF-1B1D-325D89A36F31}"/>
              </a:ext>
            </a:extLst>
          </p:cNvPr>
          <p:cNvSpPr txBox="1"/>
          <p:nvPr/>
        </p:nvSpPr>
        <p:spPr>
          <a:xfrm>
            <a:off x="1505539" y="4605116"/>
            <a:ext cx="760921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Storage Zone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DE2E1-0ED1-5F03-C284-C8BD2C4EB05E}"/>
              </a:ext>
            </a:extLst>
          </p:cNvPr>
          <p:cNvSpPr txBox="1"/>
          <p:nvPr/>
        </p:nvSpPr>
        <p:spPr>
          <a:xfrm>
            <a:off x="1466783" y="5773417"/>
            <a:ext cx="760921" cy="3456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Internal User Zone</a:t>
            </a:r>
          </a:p>
        </p:txBody>
      </p:sp>
      <p:sp>
        <p:nvSpPr>
          <p:cNvPr id="51" name="오른쪽 대괄호 50">
            <a:extLst>
              <a:ext uri="{FF2B5EF4-FFF2-40B4-BE49-F238E27FC236}">
                <a16:creationId xmlns:a16="http://schemas.microsoft.com/office/drawing/2014/main" id="{7379B855-D9BC-0429-1228-812957D25CED}"/>
              </a:ext>
            </a:extLst>
          </p:cNvPr>
          <p:cNvSpPr/>
          <p:nvPr/>
        </p:nvSpPr>
        <p:spPr>
          <a:xfrm>
            <a:off x="5393298" y="5027345"/>
            <a:ext cx="55887" cy="410306"/>
          </a:xfrm>
          <a:prstGeom prst="rightBracket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1DAB601-1D2B-E401-0526-17F436415FA8}"/>
              </a:ext>
            </a:extLst>
          </p:cNvPr>
          <p:cNvGrpSpPr/>
          <p:nvPr/>
        </p:nvGrpSpPr>
        <p:grpSpPr>
          <a:xfrm>
            <a:off x="4606650" y="4680873"/>
            <a:ext cx="92476" cy="784910"/>
            <a:chOff x="8672738" y="2440036"/>
            <a:chExt cx="202341" cy="1717410"/>
          </a:xfrm>
        </p:grpSpPr>
        <p:sp>
          <p:nvSpPr>
            <p:cNvPr id="55" name="왼쪽 대괄호 54">
              <a:extLst>
                <a:ext uri="{FF2B5EF4-FFF2-40B4-BE49-F238E27FC236}">
                  <a16:creationId xmlns:a16="http://schemas.microsoft.com/office/drawing/2014/main" id="{748EA853-7454-BBAE-C562-318DB3B73A72}"/>
                </a:ext>
              </a:extLst>
            </p:cNvPr>
            <p:cNvSpPr/>
            <p:nvPr/>
          </p:nvSpPr>
          <p:spPr>
            <a:xfrm>
              <a:off x="8672738" y="2440036"/>
              <a:ext cx="176552" cy="893474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 dirty="0"/>
            </a:p>
          </p:txBody>
        </p:sp>
        <p:sp>
          <p:nvSpPr>
            <p:cNvPr id="56" name="왼쪽 대괄호 55">
              <a:extLst>
                <a:ext uri="{FF2B5EF4-FFF2-40B4-BE49-F238E27FC236}">
                  <a16:creationId xmlns:a16="http://schemas.microsoft.com/office/drawing/2014/main" id="{BAD856DD-E783-5150-6844-2DC03708E93D}"/>
                </a:ext>
              </a:extLst>
            </p:cNvPr>
            <p:cNvSpPr/>
            <p:nvPr/>
          </p:nvSpPr>
          <p:spPr>
            <a:xfrm>
              <a:off x="8680401" y="3333511"/>
              <a:ext cx="19467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/>
            </a:p>
          </p:txBody>
        </p:sp>
      </p:grpSp>
      <p:sp>
        <p:nvSpPr>
          <p:cNvPr id="59" name="화살표: 왼쪽 58">
            <a:extLst>
              <a:ext uri="{FF2B5EF4-FFF2-40B4-BE49-F238E27FC236}">
                <a16:creationId xmlns:a16="http://schemas.microsoft.com/office/drawing/2014/main" id="{A2278170-FF32-3AC5-7FFE-5BA0E5AEDB2D}"/>
              </a:ext>
            </a:extLst>
          </p:cNvPr>
          <p:cNvSpPr/>
          <p:nvPr/>
        </p:nvSpPr>
        <p:spPr>
          <a:xfrm>
            <a:off x="2342888" y="4931708"/>
            <a:ext cx="2267264" cy="304409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SAMBA</a:t>
            </a:r>
            <a:endParaRPr lang="ko-KR" altLang="en-US" sz="823" b="1" dirty="0"/>
          </a:p>
        </p:txBody>
      </p:sp>
      <p:sp>
        <p:nvSpPr>
          <p:cNvPr id="62" name="화살표: 위로 굽음 61">
            <a:extLst>
              <a:ext uri="{FF2B5EF4-FFF2-40B4-BE49-F238E27FC236}">
                <a16:creationId xmlns:a16="http://schemas.microsoft.com/office/drawing/2014/main" id="{4471FB88-027E-E65C-0B34-6467DD529345}"/>
              </a:ext>
            </a:extLst>
          </p:cNvPr>
          <p:cNvSpPr/>
          <p:nvPr/>
        </p:nvSpPr>
        <p:spPr>
          <a:xfrm rot="5400000">
            <a:off x="1487446" y="5263077"/>
            <a:ext cx="299834" cy="148917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792778-33E2-8DC8-A015-95B8BC5766EA}"/>
              </a:ext>
            </a:extLst>
          </p:cNvPr>
          <p:cNvSpPr/>
          <p:nvPr/>
        </p:nvSpPr>
        <p:spPr>
          <a:xfrm>
            <a:off x="1544473" y="5166953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50D712-0380-7F40-ED44-666C8DFB4459}"/>
              </a:ext>
            </a:extLst>
          </p:cNvPr>
          <p:cNvSpPr txBox="1"/>
          <p:nvPr/>
        </p:nvSpPr>
        <p:spPr>
          <a:xfrm>
            <a:off x="1657998" y="5352894"/>
            <a:ext cx="712053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3" b="1" dirty="0">
                <a:solidFill>
                  <a:srgbClr val="7030A0"/>
                </a:solidFill>
              </a:rPr>
              <a:t> DISK quota</a:t>
            </a:r>
            <a:endParaRPr lang="ko-KR" altLang="en-US" sz="823" b="1" dirty="0">
              <a:solidFill>
                <a:srgbClr val="7030A0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CACE959F-D647-4301-80BF-6205857E2979}"/>
              </a:ext>
            </a:extLst>
          </p:cNvPr>
          <p:cNvSpPr/>
          <p:nvPr/>
        </p:nvSpPr>
        <p:spPr>
          <a:xfrm>
            <a:off x="1732985" y="4890240"/>
            <a:ext cx="228517" cy="345876"/>
          </a:xfrm>
          <a:prstGeom prst="up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1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7416CE-A060-9A0E-23DA-A43FD7432502}"/>
              </a:ext>
            </a:extLst>
          </p:cNvPr>
          <p:cNvSpPr txBox="1"/>
          <p:nvPr/>
        </p:nvSpPr>
        <p:spPr>
          <a:xfrm>
            <a:off x="1671106" y="4978780"/>
            <a:ext cx="481222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23" b="1" dirty="0"/>
              <a:t>RAID 1</a:t>
            </a:r>
            <a:endParaRPr lang="ko-KR" altLang="en-US" sz="823" b="1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E4E16290-8457-B8DE-CA30-871EEB80B923}"/>
              </a:ext>
            </a:extLst>
          </p:cNvPr>
          <p:cNvSpPr/>
          <p:nvPr/>
        </p:nvSpPr>
        <p:spPr>
          <a:xfrm rot="16200000">
            <a:off x="1928962" y="3706371"/>
            <a:ext cx="299834" cy="148917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F1F319-1B6C-DEF9-2CE1-6A7E1CC7FD84}"/>
              </a:ext>
            </a:extLst>
          </p:cNvPr>
          <p:cNvSpPr/>
          <p:nvPr/>
        </p:nvSpPr>
        <p:spPr>
          <a:xfrm>
            <a:off x="1435609" y="3771580"/>
            <a:ext cx="749976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88748-DED6-73FE-FE6A-A730EC668426}"/>
              </a:ext>
            </a:extLst>
          </p:cNvPr>
          <p:cNvSpPr txBox="1"/>
          <p:nvPr/>
        </p:nvSpPr>
        <p:spPr>
          <a:xfrm>
            <a:off x="1315079" y="3565700"/>
            <a:ext cx="712053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23" b="1" dirty="0" err="1">
                <a:solidFill>
                  <a:srgbClr val="7030A0"/>
                </a:solidFill>
              </a:rPr>
              <a:t>Monitorix</a:t>
            </a:r>
            <a:endParaRPr lang="ko-KR" altLang="en-US" sz="823" b="1" dirty="0">
              <a:solidFill>
                <a:srgbClr val="7030A0"/>
              </a:solidFill>
            </a:endParaRPr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CEEF7E4-2BD8-3381-1463-D9461ED4AC0D}"/>
              </a:ext>
            </a:extLst>
          </p:cNvPr>
          <p:cNvSpPr/>
          <p:nvPr/>
        </p:nvSpPr>
        <p:spPr>
          <a:xfrm>
            <a:off x="2382417" y="5307518"/>
            <a:ext cx="1944759" cy="322926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DISK quota</a:t>
            </a:r>
            <a:endParaRPr lang="ko-KR" altLang="en-US" sz="823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1E069-0950-D9F7-ACCC-B9D3CCAC554B}"/>
              </a:ext>
            </a:extLst>
          </p:cNvPr>
          <p:cNvSpPr txBox="1"/>
          <p:nvPr/>
        </p:nvSpPr>
        <p:spPr>
          <a:xfrm>
            <a:off x="-849839" y="3439697"/>
            <a:ext cx="694263" cy="1991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3" b="1" dirty="0"/>
              <a:t>서비스</a:t>
            </a:r>
            <a:r>
              <a:rPr lang="en-US" altLang="ko-KR" sz="823" b="1" dirty="0"/>
              <a:t> LIST</a:t>
            </a:r>
          </a:p>
          <a:p>
            <a:endParaRPr lang="en-US" altLang="ko-KR" sz="823" b="1" dirty="0"/>
          </a:p>
          <a:p>
            <a:r>
              <a:rPr lang="en-US" altLang="ko-KR" sz="823" b="1" dirty="0"/>
              <a:t>iSCSI</a:t>
            </a:r>
          </a:p>
          <a:p>
            <a:r>
              <a:rPr lang="en-US" altLang="ko-KR" sz="823" b="1" dirty="0"/>
              <a:t>RAID 1</a:t>
            </a:r>
          </a:p>
          <a:p>
            <a:r>
              <a:rPr lang="en-US" altLang="ko-KR" sz="823" b="1" dirty="0" err="1"/>
              <a:t>Monitorix</a:t>
            </a:r>
            <a:endParaRPr lang="en-US" altLang="ko-KR" sz="823" b="1" dirty="0"/>
          </a:p>
          <a:p>
            <a:r>
              <a:rPr lang="en-US" altLang="ko-KR" sz="823" b="1" dirty="0"/>
              <a:t>Disk quota</a:t>
            </a:r>
          </a:p>
          <a:p>
            <a:r>
              <a:rPr lang="en-US" altLang="ko-KR" sz="823" b="1" dirty="0"/>
              <a:t>NFS</a:t>
            </a:r>
          </a:p>
          <a:p>
            <a:r>
              <a:rPr lang="en-US" altLang="ko-KR" sz="823" b="1" dirty="0"/>
              <a:t>SAMBA</a:t>
            </a:r>
          </a:p>
          <a:p>
            <a:r>
              <a:rPr lang="en-US" altLang="ko-KR" sz="823" b="1" dirty="0"/>
              <a:t>Virtual Host</a:t>
            </a:r>
          </a:p>
          <a:p>
            <a:r>
              <a:rPr lang="en-US" altLang="ko-KR" sz="823" b="1" dirty="0"/>
              <a:t>FTP</a:t>
            </a:r>
          </a:p>
          <a:p>
            <a:r>
              <a:rPr lang="en-US" altLang="ko-KR" sz="823" b="1" dirty="0"/>
              <a:t>VNC</a:t>
            </a:r>
          </a:p>
          <a:p>
            <a:r>
              <a:rPr lang="en-US" altLang="ko-KR" sz="823" b="1" dirty="0"/>
              <a:t>XRDP</a:t>
            </a:r>
          </a:p>
          <a:p>
            <a:r>
              <a:rPr lang="en-US" altLang="ko-KR" sz="823" b="1" dirty="0"/>
              <a:t>SSH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634FE-3087-7FE5-3111-5CBBE9CD226B}"/>
              </a:ext>
            </a:extLst>
          </p:cNvPr>
          <p:cNvSpPr/>
          <p:nvPr/>
        </p:nvSpPr>
        <p:spPr>
          <a:xfrm>
            <a:off x="4713754" y="4500417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A5478-7B15-179C-7471-AECC5A60FB41}"/>
              </a:ext>
            </a:extLst>
          </p:cNvPr>
          <p:cNvSpPr/>
          <p:nvPr/>
        </p:nvSpPr>
        <p:spPr>
          <a:xfrm>
            <a:off x="4713754" y="4986093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KR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766E2-A7C8-EC95-7BDF-0CF12B1D2553}"/>
              </a:ext>
            </a:extLst>
          </p:cNvPr>
          <p:cNvSpPr/>
          <p:nvPr/>
        </p:nvSpPr>
        <p:spPr>
          <a:xfrm>
            <a:off x="4713754" y="5396508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441E8-4968-1C1E-298D-9052A6F80146}"/>
              </a:ext>
            </a:extLst>
          </p:cNvPr>
          <p:cNvSpPr txBox="1"/>
          <p:nvPr/>
        </p:nvSpPr>
        <p:spPr>
          <a:xfrm>
            <a:off x="4714344" y="5155098"/>
            <a:ext cx="325495" cy="289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640" b="1" dirty="0">
                <a:solidFill>
                  <a:srgbClr val="7030A0"/>
                </a:solidFill>
              </a:rPr>
              <a:t>VNC</a:t>
            </a:r>
            <a:endParaRPr lang="ko-KR" altLang="en-US" sz="640" b="1" dirty="0">
              <a:solidFill>
                <a:srgbClr val="7030A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73BB86-21B5-1FB6-2B20-A37DD02E3645}"/>
              </a:ext>
            </a:extLst>
          </p:cNvPr>
          <p:cNvSpPr/>
          <p:nvPr/>
        </p:nvSpPr>
        <p:spPr>
          <a:xfrm>
            <a:off x="5275513" y="5155672"/>
            <a:ext cx="325495" cy="14249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FTP</a:t>
            </a:r>
            <a:endParaRPr lang="ko-KR" altLang="en-US" sz="823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4BECC-87E3-D211-642F-5B0AF41869E5}"/>
              </a:ext>
            </a:extLst>
          </p:cNvPr>
          <p:cNvSpPr txBox="1"/>
          <p:nvPr/>
        </p:nvSpPr>
        <p:spPr>
          <a:xfrm>
            <a:off x="4714194" y="4666817"/>
            <a:ext cx="663890" cy="19082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640" b="1" dirty="0" err="1">
                <a:solidFill>
                  <a:schemeClr val="bg1"/>
                </a:solidFill>
              </a:rPr>
              <a:t>Vitual</a:t>
            </a:r>
            <a:r>
              <a:rPr lang="en-US" altLang="ko-KR" sz="640" b="1" dirty="0">
                <a:solidFill>
                  <a:schemeClr val="bg1"/>
                </a:solidFill>
              </a:rPr>
              <a:t> Host</a:t>
            </a:r>
            <a:endParaRPr lang="ko-KR" altLang="en-US" sz="64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1798F-F6BE-1190-1CCB-7B7B8CCC681A}"/>
              </a:ext>
            </a:extLst>
          </p:cNvPr>
          <p:cNvSpPr txBox="1"/>
          <p:nvPr/>
        </p:nvSpPr>
        <p:spPr>
          <a:xfrm>
            <a:off x="4720149" y="5566391"/>
            <a:ext cx="325495" cy="289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640" b="1" dirty="0">
                <a:solidFill>
                  <a:srgbClr val="7030A0"/>
                </a:solidFill>
              </a:rPr>
              <a:t>XRDP</a:t>
            </a:r>
            <a:endParaRPr lang="ko-KR" altLang="en-US" sz="640" b="1" dirty="0">
              <a:solidFill>
                <a:srgbClr val="7030A0"/>
              </a:solidFill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7F56F90-C77C-6BCC-2F87-ACF1DA819916}"/>
              </a:ext>
            </a:extLst>
          </p:cNvPr>
          <p:cNvSpPr/>
          <p:nvPr/>
        </p:nvSpPr>
        <p:spPr>
          <a:xfrm>
            <a:off x="1443723" y="4185015"/>
            <a:ext cx="640153" cy="42451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NFS</a:t>
            </a:r>
            <a:endParaRPr lang="ko-KR" altLang="en-US" sz="823" b="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F44A2B4-846B-F0BE-1497-60983800C02C}"/>
              </a:ext>
            </a:extLst>
          </p:cNvPr>
          <p:cNvGrpSpPr/>
          <p:nvPr/>
        </p:nvGrpSpPr>
        <p:grpSpPr>
          <a:xfrm>
            <a:off x="2028240" y="4067646"/>
            <a:ext cx="2827599" cy="2130428"/>
            <a:chOff x="3031089" y="1491815"/>
            <a:chExt cx="6186883" cy="4661448"/>
          </a:xfrm>
        </p:grpSpPr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F30C6A6-4EBF-762D-52BB-FCE366D9F42C}"/>
                </a:ext>
              </a:extLst>
            </p:cNvPr>
            <p:cNvCxnSpPr>
              <a:cxnSpLocks/>
            </p:cNvCxnSpPr>
            <p:nvPr/>
          </p:nvCxnSpPr>
          <p:spPr>
            <a:xfrm>
              <a:off x="3164747" y="1517224"/>
              <a:ext cx="4412634" cy="463603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65B57A4-7190-3A70-F7DA-D168FAF4191E}"/>
                </a:ext>
              </a:extLst>
            </p:cNvPr>
            <p:cNvCxnSpPr>
              <a:cxnSpLocks/>
            </p:cNvCxnSpPr>
            <p:nvPr/>
          </p:nvCxnSpPr>
          <p:spPr>
            <a:xfrm>
              <a:off x="3205378" y="1577862"/>
              <a:ext cx="2738648" cy="4549992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02882018-51A1-6152-8D3D-FE4EB69D2D3A}"/>
                </a:ext>
              </a:extLst>
            </p:cNvPr>
            <p:cNvCxnSpPr>
              <a:cxnSpLocks/>
            </p:cNvCxnSpPr>
            <p:nvPr/>
          </p:nvCxnSpPr>
          <p:spPr>
            <a:xfrm>
              <a:off x="3521451" y="1745463"/>
              <a:ext cx="5696521" cy="438239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C0C2C29-A6A1-BCF3-B479-74E9943381FE}"/>
                </a:ext>
              </a:extLst>
            </p:cNvPr>
            <p:cNvCxnSpPr>
              <a:cxnSpLocks/>
            </p:cNvCxnSpPr>
            <p:nvPr/>
          </p:nvCxnSpPr>
          <p:spPr>
            <a:xfrm>
              <a:off x="3200193" y="1710112"/>
              <a:ext cx="57389" cy="100565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E8CF248-9C5A-2849-5A16-77B345D1BEBB}"/>
                </a:ext>
              </a:extLst>
            </p:cNvPr>
            <p:cNvSpPr/>
            <p:nvPr/>
          </p:nvSpPr>
          <p:spPr>
            <a:xfrm>
              <a:off x="3031089" y="1491815"/>
              <a:ext cx="712193" cy="311773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23" b="1" dirty="0"/>
                <a:t>SSH</a:t>
              </a:r>
              <a:endParaRPr lang="ko-KR" altLang="en-US" sz="823" b="1" dirty="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CBD879C-FCA1-006E-9BBD-735DA4FDB994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3743282" y="1647702"/>
              <a:ext cx="4692045" cy="63387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CB4D9A7-33A4-473B-4E74-677173C9F6B8}"/>
              </a:ext>
            </a:extLst>
          </p:cNvPr>
          <p:cNvGrpSpPr/>
          <p:nvPr/>
        </p:nvGrpSpPr>
        <p:grpSpPr>
          <a:xfrm>
            <a:off x="4396600" y="4689728"/>
            <a:ext cx="88974" cy="784910"/>
            <a:chOff x="8551156" y="3091868"/>
            <a:chExt cx="322638" cy="1717410"/>
          </a:xfrm>
          <a:noFill/>
        </p:grpSpPr>
        <p:sp>
          <p:nvSpPr>
            <p:cNvPr id="3" name="왼쪽 대괄호 2">
              <a:extLst>
                <a:ext uri="{FF2B5EF4-FFF2-40B4-BE49-F238E27FC236}">
                  <a16:creationId xmlns:a16="http://schemas.microsoft.com/office/drawing/2014/main" id="{605034CD-11C4-083D-C487-AF6923C394D3}"/>
                </a:ext>
              </a:extLst>
            </p:cNvPr>
            <p:cNvSpPr/>
            <p:nvPr/>
          </p:nvSpPr>
          <p:spPr>
            <a:xfrm>
              <a:off x="8561418" y="3091868"/>
              <a:ext cx="292598" cy="893474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 dirty="0"/>
            </a:p>
          </p:txBody>
        </p: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2297C5F9-BADD-67BC-55B0-7F15C5892EAC}"/>
                </a:ext>
              </a:extLst>
            </p:cNvPr>
            <p:cNvSpPr/>
            <p:nvPr/>
          </p:nvSpPr>
          <p:spPr>
            <a:xfrm>
              <a:off x="8551156" y="3985343"/>
              <a:ext cx="322638" cy="823935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/>
            </a:p>
          </p:txBody>
        </p:sp>
      </p:grp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B3E7B08-A00A-D559-99B9-793351EA72E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17796" y="5284249"/>
            <a:ext cx="1162576" cy="749418"/>
          </a:xfrm>
          <a:prstGeom prst="bentConnector3">
            <a:avLst>
              <a:gd name="adj1" fmla="val 2071"/>
            </a:avLst>
          </a:prstGeom>
          <a:ln w="1079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14100-8365-6871-3BDA-7E2B798628F6}"/>
              </a:ext>
            </a:extLst>
          </p:cNvPr>
          <p:cNvSpPr/>
          <p:nvPr/>
        </p:nvSpPr>
        <p:spPr>
          <a:xfrm>
            <a:off x="1465890" y="6129861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DHCP </a:t>
            </a:r>
            <a:r>
              <a:rPr lang="ko-KR" altLang="en-US" sz="823" dirty="0">
                <a:solidFill>
                  <a:sysClr val="windowText" lastClr="000000"/>
                </a:solidFill>
              </a:rPr>
              <a:t>서버</a:t>
            </a:r>
            <a:endParaRPr lang="en-US" altLang="ko-KR" sz="823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4D8BF17-E570-E65C-C34F-29B42B505E60}"/>
              </a:ext>
            </a:extLst>
          </p:cNvPr>
          <p:cNvSpPr/>
          <p:nvPr/>
        </p:nvSpPr>
        <p:spPr>
          <a:xfrm>
            <a:off x="2407698" y="6153353"/>
            <a:ext cx="325495" cy="1424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SMB</a:t>
            </a:r>
            <a:endParaRPr lang="ko-KR" altLang="en-US" sz="823" b="1" dirty="0"/>
          </a:p>
        </p:txBody>
      </p:sp>
    </p:spTree>
    <p:extLst>
      <p:ext uri="{BB962C8B-B14F-4D97-AF65-F5344CB8AC3E}">
        <p14:creationId xmlns:p14="http://schemas.microsoft.com/office/powerpoint/2010/main" val="28620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6" grpId="0" animBg="1"/>
      <p:bldP spid="51" grpId="0" animBg="1"/>
      <p:bldP spid="59" grpId="0" animBg="1"/>
      <p:bldP spid="62" grpId="0" animBg="1"/>
      <p:bldP spid="63" grpId="0"/>
      <p:bldP spid="42" grpId="0" animBg="1"/>
      <p:bldP spid="43" grpId="0"/>
      <p:bldP spid="67" grpId="0" animBg="1"/>
      <p:bldP spid="52" grpId="0" animBg="1"/>
      <p:bldP spid="39" grpId="0" animBg="1"/>
      <p:bldP spid="6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EFE955-3C71-13A8-DD1F-EE250FE85252}"/>
              </a:ext>
            </a:extLst>
          </p:cNvPr>
          <p:cNvSpPr/>
          <p:nvPr/>
        </p:nvSpPr>
        <p:spPr>
          <a:xfrm>
            <a:off x="2386611" y="537453"/>
            <a:ext cx="2086583" cy="679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796D34-25E7-606F-2E41-F06F915A53A0}"/>
              </a:ext>
            </a:extLst>
          </p:cNvPr>
          <p:cNvSpPr/>
          <p:nvPr/>
        </p:nvSpPr>
        <p:spPr>
          <a:xfrm>
            <a:off x="1999329" y="1600241"/>
            <a:ext cx="2861147" cy="742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환경변수 로드 및 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DE61EA-BE97-1C82-31D6-FF441571F816}"/>
              </a:ext>
            </a:extLst>
          </p:cNvPr>
          <p:cNvSpPr/>
          <p:nvPr/>
        </p:nvSpPr>
        <p:spPr>
          <a:xfrm>
            <a:off x="3639351" y="3227354"/>
            <a:ext cx="2861146" cy="1725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서비스 설정 파일 자동 생성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마운트 및 사용자 설정</a:t>
            </a:r>
            <a:endParaRPr lang="en-US" altLang="ko-KR" sz="1463" dirty="0">
              <a:solidFill>
                <a:schemeClr val="tx1"/>
              </a:solidFill>
            </a:endParaRPr>
          </a:p>
          <a:p>
            <a:endParaRPr lang="ko-KR" altLang="en-US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0BCFEA-4F68-8375-2DC1-4D3BFABEC6E7}"/>
              </a:ext>
            </a:extLst>
          </p:cNvPr>
          <p:cNvSpPr/>
          <p:nvPr/>
        </p:nvSpPr>
        <p:spPr>
          <a:xfrm>
            <a:off x="359308" y="3227354"/>
            <a:ext cx="3070594" cy="17256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네트워크 관리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대상 </a:t>
            </a:r>
            <a:r>
              <a:rPr lang="en-US" altLang="ko-KR" sz="1463" dirty="0">
                <a:solidFill>
                  <a:schemeClr val="tx1"/>
                </a:solidFill>
              </a:rPr>
              <a:t>IP </a:t>
            </a:r>
            <a:r>
              <a:rPr lang="ko-KR" altLang="en-US" sz="1463" dirty="0">
                <a:solidFill>
                  <a:schemeClr val="tx1"/>
                </a:solidFill>
              </a:rPr>
              <a:t>리스트 로드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</a:t>
            </a:r>
            <a:r>
              <a:rPr lang="en-US" altLang="ko-KR" sz="1463" dirty="0">
                <a:solidFill>
                  <a:schemeClr val="tx1"/>
                </a:solidFill>
              </a:rPr>
              <a:t>ping </a:t>
            </a:r>
            <a:r>
              <a:rPr lang="ko-KR" altLang="en-US" sz="1463" dirty="0">
                <a:solidFill>
                  <a:schemeClr val="tx1"/>
                </a:solidFill>
              </a:rPr>
              <a:t>테스트 반복 수행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연결 실패 시 로그 기록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로그 파일 주기적 압축 및 백업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D6608F-C752-5BF0-F7D1-F29E44D149A1}"/>
              </a:ext>
            </a:extLst>
          </p:cNvPr>
          <p:cNvSpPr/>
          <p:nvPr/>
        </p:nvSpPr>
        <p:spPr>
          <a:xfrm>
            <a:off x="3429902" y="5348490"/>
            <a:ext cx="2861147" cy="1725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 간 연동 검증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각 서비스 연결 테스트   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         (NFS/Samba/DB </a:t>
            </a:r>
            <a:r>
              <a:rPr lang="ko-KR" altLang="en-US" sz="1463" dirty="0">
                <a:solidFill>
                  <a:schemeClr val="tx1"/>
                </a:solidFill>
              </a:rPr>
              <a:t>등</a:t>
            </a:r>
            <a:r>
              <a:rPr lang="en-US" altLang="ko-KR" sz="1463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결과 로그 저장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오류 시 재시도 또는 알림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C58CA3-9335-A6CE-4A79-F583B1236072}"/>
              </a:ext>
            </a:extLst>
          </p:cNvPr>
          <p:cNvSpPr/>
          <p:nvPr/>
        </p:nvSpPr>
        <p:spPr>
          <a:xfrm>
            <a:off x="2386610" y="7517710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결과 리포트 생성 및 종료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3877AE9-F19F-CB63-55C2-4C36289010E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429903" y="1217173"/>
            <a:ext cx="0" cy="383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08CD45-FD4A-E67D-0D66-E22A29B7B966}"/>
              </a:ext>
            </a:extLst>
          </p:cNvPr>
          <p:cNvCxnSpPr>
            <a:cxnSpLocks/>
          </p:cNvCxnSpPr>
          <p:nvPr/>
        </p:nvCxnSpPr>
        <p:spPr>
          <a:xfrm flipH="1">
            <a:off x="2386610" y="2343191"/>
            <a:ext cx="1043291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45C49E1-3CF9-CE24-C3E2-D621C375B7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29903" y="2343191"/>
            <a:ext cx="1043290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52A420B-601A-CE5A-249C-591FA7CB740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860475" y="4953000"/>
            <a:ext cx="1" cy="3954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7E422BF-55C0-D925-602F-64624B7FE876}"/>
              </a:ext>
            </a:extLst>
          </p:cNvPr>
          <p:cNvCxnSpPr>
            <a:cxnSpLocks/>
          </p:cNvCxnSpPr>
          <p:nvPr/>
        </p:nvCxnSpPr>
        <p:spPr>
          <a:xfrm flipH="1">
            <a:off x="4058654" y="7074136"/>
            <a:ext cx="801821" cy="4435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92F030D-5695-AF11-286F-5634897DACBD}"/>
              </a:ext>
            </a:extLst>
          </p:cNvPr>
          <p:cNvCxnSpPr>
            <a:cxnSpLocks/>
          </p:cNvCxnSpPr>
          <p:nvPr/>
        </p:nvCxnSpPr>
        <p:spPr>
          <a:xfrm>
            <a:off x="2630907" y="4953000"/>
            <a:ext cx="0" cy="2564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6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E281-ED9B-EE36-85A9-895E9495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3C2E41-6070-856E-4D98-54C66C22D1E7}"/>
              </a:ext>
            </a:extLst>
          </p:cNvPr>
          <p:cNvSpPr/>
          <p:nvPr/>
        </p:nvSpPr>
        <p:spPr>
          <a:xfrm>
            <a:off x="2386611" y="537453"/>
            <a:ext cx="2086583" cy="679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6A7D12-ABA0-0D27-AF64-AF5ECCEAF7DA}"/>
              </a:ext>
            </a:extLst>
          </p:cNvPr>
          <p:cNvSpPr/>
          <p:nvPr/>
        </p:nvSpPr>
        <p:spPr>
          <a:xfrm>
            <a:off x="1999329" y="1600241"/>
            <a:ext cx="2861147" cy="742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환경변수 로드 및 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2CD2E1-0058-7C63-F102-B56FCAFF20A4}"/>
              </a:ext>
            </a:extLst>
          </p:cNvPr>
          <p:cNvSpPr/>
          <p:nvPr/>
        </p:nvSpPr>
        <p:spPr>
          <a:xfrm>
            <a:off x="3639351" y="3227354"/>
            <a:ext cx="2861146" cy="1725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서비스 설정 파일 자동 생성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마운트 및 사용자 설정</a:t>
            </a:r>
            <a:endParaRPr lang="en-US" altLang="ko-KR" sz="1463" dirty="0">
              <a:solidFill>
                <a:schemeClr val="tx1"/>
              </a:solidFill>
            </a:endParaRPr>
          </a:p>
          <a:p>
            <a:endParaRPr lang="ko-KR" altLang="en-US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518E02-CB0B-F61A-4755-7F7F97EC6714}"/>
              </a:ext>
            </a:extLst>
          </p:cNvPr>
          <p:cNvSpPr/>
          <p:nvPr/>
        </p:nvSpPr>
        <p:spPr>
          <a:xfrm>
            <a:off x="359308" y="3227354"/>
            <a:ext cx="3070594" cy="17256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네트워크 관리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대상 </a:t>
            </a:r>
            <a:r>
              <a:rPr lang="en-US" altLang="ko-KR" sz="1463" dirty="0">
                <a:solidFill>
                  <a:schemeClr val="tx1"/>
                </a:solidFill>
              </a:rPr>
              <a:t>IP </a:t>
            </a:r>
            <a:r>
              <a:rPr lang="ko-KR" altLang="en-US" sz="1463" dirty="0">
                <a:solidFill>
                  <a:schemeClr val="tx1"/>
                </a:solidFill>
              </a:rPr>
              <a:t>리스트 로드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</a:t>
            </a:r>
            <a:r>
              <a:rPr lang="en-US" altLang="ko-KR" sz="1463" dirty="0">
                <a:solidFill>
                  <a:schemeClr val="tx1"/>
                </a:solidFill>
              </a:rPr>
              <a:t>ping </a:t>
            </a:r>
            <a:r>
              <a:rPr lang="ko-KR" altLang="en-US" sz="1463" dirty="0">
                <a:solidFill>
                  <a:schemeClr val="tx1"/>
                </a:solidFill>
              </a:rPr>
              <a:t>테스트 반복 수행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연결 실패 시 로그 기록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로그 파일 주기적 압축 및 백업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C971B9-C325-3D0C-82B2-5AF41FCD6E18}"/>
              </a:ext>
            </a:extLst>
          </p:cNvPr>
          <p:cNvSpPr/>
          <p:nvPr/>
        </p:nvSpPr>
        <p:spPr>
          <a:xfrm>
            <a:off x="3429902" y="5348490"/>
            <a:ext cx="2861147" cy="1725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 간 연동 검증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각 서비스 연결 테스트   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         (NFS/Samba/DB </a:t>
            </a:r>
            <a:r>
              <a:rPr lang="ko-KR" altLang="en-US" sz="1463" dirty="0">
                <a:solidFill>
                  <a:schemeClr val="tx1"/>
                </a:solidFill>
              </a:rPr>
              <a:t>등</a:t>
            </a:r>
            <a:r>
              <a:rPr lang="en-US" altLang="ko-KR" sz="1463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결과 로그 저장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오류 시 재시도 또는 알림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E68AD5-A703-A74A-D8F0-36C27EEB4DFA}"/>
              </a:ext>
            </a:extLst>
          </p:cNvPr>
          <p:cNvSpPr/>
          <p:nvPr/>
        </p:nvSpPr>
        <p:spPr>
          <a:xfrm>
            <a:off x="2386610" y="7517710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결과 리포트 생성 및 종료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87D7A44-D51B-B626-35E9-C72883FD4FC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429903" y="1217173"/>
            <a:ext cx="0" cy="383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A8873A8-AAA3-DD4A-B643-2F23BB993354}"/>
              </a:ext>
            </a:extLst>
          </p:cNvPr>
          <p:cNvCxnSpPr>
            <a:cxnSpLocks/>
          </p:cNvCxnSpPr>
          <p:nvPr/>
        </p:nvCxnSpPr>
        <p:spPr>
          <a:xfrm flipH="1">
            <a:off x="2386610" y="2343191"/>
            <a:ext cx="1043291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1977FDD-F77E-BFD1-74CE-5F48AF4B6BC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29903" y="2343191"/>
            <a:ext cx="1043290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8040125-7AB5-2140-0A20-9D820B874C8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860475" y="4953000"/>
            <a:ext cx="1" cy="3954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F5AD42-CFF0-C9E2-0508-FFA19C3C4CA8}"/>
              </a:ext>
            </a:extLst>
          </p:cNvPr>
          <p:cNvCxnSpPr>
            <a:cxnSpLocks/>
          </p:cNvCxnSpPr>
          <p:nvPr/>
        </p:nvCxnSpPr>
        <p:spPr>
          <a:xfrm flipH="1">
            <a:off x="4058654" y="7074136"/>
            <a:ext cx="801821" cy="4435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45E0D3-0BCB-68FC-BC71-2D07476DDD8B}"/>
              </a:ext>
            </a:extLst>
          </p:cNvPr>
          <p:cNvCxnSpPr>
            <a:cxnSpLocks/>
          </p:cNvCxnSpPr>
          <p:nvPr/>
        </p:nvCxnSpPr>
        <p:spPr>
          <a:xfrm>
            <a:off x="2630907" y="4953000"/>
            <a:ext cx="0" cy="2564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46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F5E045-2863-02FF-9113-25B17F397FD8}"/>
              </a:ext>
            </a:extLst>
          </p:cNvPr>
          <p:cNvSpPr/>
          <p:nvPr/>
        </p:nvSpPr>
        <p:spPr>
          <a:xfrm>
            <a:off x="1663917" y="233640"/>
            <a:ext cx="3674411" cy="523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  코드  흐름도 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5D9666-8C45-0323-F228-6F9C095A8D79}"/>
              </a:ext>
            </a:extLst>
          </p:cNvPr>
          <p:cNvSpPr/>
          <p:nvPr/>
        </p:nvSpPr>
        <p:spPr>
          <a:xfrm>
            <a:off x="2810144" y="3451850"/>
            <a:ext cx="1237711" cy="388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ISCSI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CD97AA-8356-7C7E-0FE1-F34F53245439}"/>
              </a:ext>
            </a:extLst>
          </p:cNvPr>
          <p:cNvSpPr/>
          <p:nvPr/>
        </p:nvSpPr>
        <p:spPr>
          <a:xfrm>
            <a:off x="2029658" y="5812087"/>
            <a:ext cx="1110137" cy="39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NFS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B4661C1-542E-B65E-9597-69036F22A419}"/>
              </a:ext>
            </a:extLst>
          </p:cNvPr>
          <p:cNvCxnSpPr>
            <a:cxnSpLocks/>
          </p:cNvCxnSpPr>
          <p:nvPr/>
        </p:nvCxnSpPr>
        <p:spPr>
          <a:xfrm flipH="1">
            <a:off x="2498651" y="7527224"/>
            <a:ext cx="2003496" cy="43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6635DB3-8815-6374-629A-290495A92BA6}"/>
              </a:ext>
            </a:extLst>
          </p:cNvPr>
          <p:cNvCxnSpPr>
            <a:cxnSpLocks/>
          </p:cNvCxnSpPr>
          <p:nvPr/>
        </p:nvCxnSpPr>
        <p:spPr>
          <a:xfrm flipH="1">
            <a:off x="5304288" y="7481889"/>
            <a:ext cx="59835" cy="702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8D432E4-B297-B889-0901-ECEF7B6EBDC0}"/>
              </a:ext>
            </a:extLst>
          </p:cNvPr>
          <p:cNvCxnSpPr>
            <a:cxnSpLocks/>
          </p:cNvCxnSpPr>
          <p:nvPr/>
        </p:nvCxnSpPr>
        <p:spPr>
          <a:xfrm flipH="1">
            <a:off x="4037185" y="7502651"/>
            <a:ext cx="996533" cy="60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26C8C7F-159D-5E37-22DD-FAA375753548}"/>
              </a:ext>
            </a:extLst>
          </p:cNvPr>
          <p:cNvSpPr/>
          <p:nvPr/>
        </p:nvSpPr>
        <p:spPr>
          <a:xfrm>
            <a:off x="4037185" y="5803559"/>
            <a:ext cx="1110137" cy="39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SMB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7EB823-FA86-B1BC-1F13-DE7DED7E2D58}"/>
              </a:ext>
            </a:extLst>
          </p:cNvPr>
          <p:cNvSpPr/>
          <p:nvPr/>
        </p:nvSpPr>
        <p:spPr>
          <a:xfrm>
            <a:off x="2498651" y="857907"/>
            <a:ext cx="2003496" cy="693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시작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F2B5343-8C67-B729-E144-16105C589C06}"/>
              </a:ext>
            </a:extLst>
          </p:cNvPr>
          <p:cNvSpPr/>
          <p:nvPr/>
        </p:nvSpPr>
        <p:spPr>
          <a:xfrm>
            <a:off x="2238776" y="2653347"/>
            <a:ext cx="2380448" cy="693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Management Zone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1. ISCSI </a:t>
            </a:r>
            <a:r>
              <a:rPr lang="ko-KR" altLang="en-US" sz="1600" dirty="0">
                <a:solidFill>
                  <a:schemeClr val="tx1"/>
                </a:solidFill>
              </a:rPr>
              <a:t>설치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9763F8-46D6-4C52-FB59-E29CCAE5BCE4}"/>
              </a:ext>
            </a:extLst>
          </p:cNvPr>
          <p:cNvSpPr/>
          <p:nvPr/>
        </p:nvSpPr>
        <p:spPr>
          <a:xfrm>
            <a:off x="1954370" y="3931007"/>
            <a:ext cx="3092057" cy="18387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Storage Zone 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1. ISCSI  </a:t>
            </a:r>
            <a:r>
              <a:rPr lang="ko-KR" altLang="en-US" sz="1600" dirty="0">
                <a:solidFill>
                  <a:schemeClr val="tx1"/>
                </a:solidFill>
              </a:rPr>
              <a:t>클라 설치 및 마운트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2. RAID1, </a:t>
            </a:r>
            <a:r>
              <a:rPr lang="ko-KR" altLang="en-US" sz="1600" dirty="0" err="1">
                <a:solidFill>
                  <a:schemeClr val="tx1"/>
                </a:solidFill>
              </a:rPr>
              <a:t>파티셔닝</a:t>
            </a:r>
            <a:r>
              <a:rPr lang="ko-KR" altLang="en-US" sz="1600" dirty="0">
                <a:solidFill>
                  <a:schemeClr val="tx1"/>
                </a:solidFill>
              </a:rPr>
              <a:t> 및 포맷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3.  </a:t>
            </a:r>
            <a:r>
              <a:rPr lang="en-US" altLang="ko-KR" sz="1600" dirty="0" err="1">
                <a:solidFill>
                  <a:schemeClr val="tx1"/>
                </a:solidFill>
              </a:rPr>
              <a:t>Diskquota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설치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4.  NFS </a:t>
            </a:r>
            <a:r>
              <a:rPr lang="ko-KR" altLang="en-US" sz="1600" dirty="0">
                <a:solidFill>
                  <a:schemeClr val="tx1"/>
                </a:solidFill>
              </a:rPr>
              <a:t>서버 설치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5. SMB </a:t>
            </a:r>
            <a:r>
              <a:rPr lang="ko-KR" altLang="en-US" sz="1600" dirty="0">
                <a:solidFill>
                  <a:schemeClr val="tx1"/>
                </a:solidFill>
              </a:rPr>
              <a:t>서버 설치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7F02863-3C30-FF1D-553D-8AF5DC005752}"/>
              </a:ext>
            </a:extLst>
          </p:cNvPr>
          <p:cNvSpPr/>
          <p:nvPr/>
        </p:nvSpPr>
        <p:spPr>
          <a:xfrm>
            <a:off x="2152895" y="1768222"/>
            <a:ext cx="2604120" cy="693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패키지 설치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방화벽</a:t>
            </a:r>
            <a:r>
              <a:rPr lang="en-US" altLang="ko-KR" sz="1600" dirty="0">
                <a:solidFill>
                  <a:schemeClr val="tx1"/>
                </a:solidFill>
              </a:rPr>
              <a:t>, ssh </a:t>
            </a:r>
            <a:r>
              <a:rPr lang="ko-KR" altLang="en-US" sz="1600" dirty="0">
                <a:solidFill>
                  <a:schemeClr val="tx1"/>
                </a:solidFill>
              </a:rPr>
              <a:t>환경 설정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671FD1F-47DC-53B8-4C36-E40C01AFE2AB}"/>
              </a:ext>
            </a:extLst>
          </p:cNvPr>
          <p:cNvSpPr/>
          <p:nvPr/>
        </p:nvSpPr>
        <p:spPr>
          <a:xfrm>
            <a:off x="970546" y="6302480"/>
            <a:ext cx="2536460" cy="1204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  <a:r>
              <a:rPr lang="en-US" altLang="ko-KR" dirty="0">
                <a:solidFill>
                  <a:schemeClr val="tx1"/>
                </a:solidFill>
              </a:rPr>
              <a:t>PC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1. NFS </a:t>
            </a:r>
            <a:r>
              <a:rPr lang="ko-KR" altLang="en-US" dirty="0">
                <a:solidFill>
                  <a:schemeClr val="tx1"/>
                </a:solidFill>
              </a:rPr>
              <a:t>클라 설치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2. SMB </a:t>
            </a:r>
            <a:r>
              <a:rPr lang="ko-KR" altLang="en-US" dirty="0">
                <a:solidFill>
                  <a:schemeClr val="tx1"/>
                </a:solidFill>
              </a:rPr>
              <a:t>서버 설치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AA3CEDD-805C-99E0-775B-68B0848C2E4E}"/>
              </a:ext>
            </a:extLst>
          </p:cNvPr>
          <p:cNvSpPr/>
          <p:nvPr/>
        </p:nvSpPr>
        <p:spPr>
          <a:xfrm>
            <a:off x="3765488" y="6296339"/>
            <a:ext cx="2536460" cy="1204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Core Service Zone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SMB </a:t>
            </a:r>
            <a:r>
              <a:rPr lang="ko-KR" altLang="en-US" dirty="0">
                <a:solidFill>
                  <a:schemeClr val="tx1"/>
                </a:solidFill>
              </a:rPr>
              <a:t>클라 설치 및 마운트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19E50B0-239F-73E7-F8E9-A2F090E5EDE2}"/>
              </a:ext>
            </a:extLst>
          </p:cNvPr>
          <p:cNvCxnSpPr>
            <a:cxnSpLocks/>
          </p:cNvCxnSpPr>
          <p:nvPr/>
        </p:nvCxnSpPr>
        <p:spPr>
          <a:xfrm>
            <a:off x="3456438" y="1458547"/>
            <a:ext cx="0" cy="30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106683C-58B2-3863-628F-E2A3527EBAF2}"/>
              </a:ext>
            </a:extLst>
          </p:cNvPr>
          <p:cNvCxnSpPr>
            <a:cxnSpLocks/>
          </p:cNvCxnSpPr>
          <p:nvPr/>
        </p:nvCxnSpPr>
        <p:spPr>
          <a:xfrm>
            <a:off x="3437388" y="2353897"/>
            <a:ext cx="0" cy="30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5210B69-8C07-8502-E4AE-9B9619E2C4F6}"/>
              </a:ext>
            </a:extLst>
          </p:cNvPr>
          <p:cNvCxnSpPr>
            <a:cxnSpLocks/>
          </p:cNvCxnSpPr>
          <p:nvPr/>
        </p:nvCxnSpPr>
        <p:spPr>
          <a:xfrm>
            <a:off x="3418338" y="3211147"/>
            <a:ext cx="0" cy="719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AA4471A-7C95-2B25-1072-2086DB1C8A55}"/>
              </a:ext>
            </a:extLst>
          </p:cNvPr>
          <p:cNvCxnSpPr>
            <a:cxnSpLocks/>
          </p:cNvCxnSpPr>
          <p:nvPr/>
        </p:nvCxnSpPr>
        <p:spPr>
          <a:xfrm flipH="1">
            <a:off x="2498651" y="5791459"/>
            <a:ext cx="1120566" cy="504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BC48E53-C701-D36E-2FCB-5400C7977BE0}"/>
              </a:ext>
            </a:extLst>
          </p:cNvPr>
          <p:cNvCxnSpPr>
            <a:cxnSpLocks/>
          </p:cNvCxnSpPr>
          <p:nvPr/>
        </p:nvCxnSpPr>
        <p:spPr>
          <a:xfrm>
            <a:off x="3744543" y="5791459"/>
            <a:ext cx="969760" cy="469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C96C8C7-54D2-0091-4531-A1031D0EB309}"/>
              </a:ext>
            </a:extLst>
          </p:cNvPr>
          <p:cNvSpPr/>
          <p:nvPr/>
        </p:nvSpPr>
        <p:spPr>
          <a:xfrm>
            <a:off x="787117" y="7972643"/>
            <a:ext cx="2316149" cy="18387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웹서버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1. LAMP, FTP </a:t>
            </a:r>
            <a:r>
              <a:rPr lang="ko-KR" altLang="en-US" dirty="0">
                <a:solidFill>
                  <a:schemeClr val="tx1"/>
                </a:solidFill>
              </a:rPr>
              <a:t>설치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2. VNC, </a:t>
            </a:r>
            <a:r>
              <a:rPr lang="en-US" altLang="ko-KR" dirty="0" err="1">
                <a:solidFill>
                  <a:schemeClr val="tx1"/>
                </a:solidFill>
              </a:rPr>
              <a:t>MonitoriX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설치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9EE86F4-C5D9-EE7B-CF8C-34AB004CBBD0}"/>
              </a:ext>
            </a:extLst>
          </p:cNvPr>
          <p:cNvSpPr/>
          <p:nvPr/>
        </p:nvSpPr>
        <p:spPr>
          <a:xfrm>
            <a:off x="3175209" y="8072728"/>
            <a:ext cx="1444016" cy="17052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DNS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 DNS </a:t>
            </a:r>
            <a:r>
              <a:rPr lang="ko-KR" altLang="en-US" dirty="0">
                <a:solidFill>
                  <a:schemeClr val="tx1"/>
                </a:solidFill>
              </a:rPr>
              <a:t>설치  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25F5BCA-7847-4E7D-D23E-BB8EF84521E2}"/>
              </a:ext>
            </a:extLst>
          </p:cNvPr>
          <p:cNvSpPr/>
          <p:nvPr/>
        </p:nvSpPr>
        <p:spPr>
          <a:xfrm>
            <a:off x="4705005" y="8106120"/>
            <a:ext cx="1444016" cy="17052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DHCP </a:t>
            </a:r>
            <a:r>
              <a:rPr lang="ko-KR" altLang="en-US" dirty="0">
                <a:solidFill>
                  <a:schemeClr val="tx1"/>
                </a:solidFill>
              </a:rPr>
              <a:t>자동화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DHCP </a:t>
            </a:r>
            <a:r>
              <a:rPr lang="ko-KR" altLang="en-US" dirty="0">
                <a:solidFill>
                  <a:schemeClr val="tx1"/>
                </a:solidFill>
              </a:rPr>
              <a:t>설치  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58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</TotalTime>
  <Words>343</Words>
  <Application>Microsoft Office PowerPoint</Application>
  <PresentationFormat>A4 용지(210x297mm)</PresentationFormat>
  <Paragraphs>129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Hyerim Park</cp:lastModifiedBy>
  <cp:revision>13</cp:revision>
  <dcterms:created xsi:type="dcterms:W3CDTF">2025-10-31T02:17:32Z</dcterms:created>
  <dcterms:modified xsi:type="dcterms:W3CDTF">2025-11-06T04:06:21Z</dcterms:modified>
</cp:coreProperties>
</file>