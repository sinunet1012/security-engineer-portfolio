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4"/>
  </p:notesMasterIdLst>
  <p:sldIdLst>
    <p:sldId id="4500" r:id="rId2"/>
    <p:sldId id="256" r:id="rId3"/>
    <p:sldId id="258" r:id="rId4"/>
    <p:sldId id="274" r:id="rId5"/>
    <p:sldId id="279" r:id="rId6"/>
    <p:sldId id="4501" r:id="rId7"/>
    <p:sldId id="4502" r:id="rId8"/>
    <p:sldId id="4508" r:id="rId9"/>
    <p:sldId id="4504" r:id="rId10"/>
    <p:sldId id="4505" r:id="rId11"/>
    <p:sldId id="4506" r:id="rId12"/>
    <p:sldId id="4507" r:id="rId13"/>
    <p:sldId id="4511" r:id="rId14"/>
    <p:sldId id="4509" r:id="rId15"/>
    <p:sldId id="4512" r:id="rId16"/>
    <p:sldId id="4513" r:id="rId17"/>
    <p:sldId id="4514" r:id="rId18"/>
    <p:sldId id="4515" r:id="rId19"/>
    <p:sldId id="4516" r:id="rId20"/>
    <p:sldId id="4517" r:id="rId21"/>
    <p:sldId id="4518" r:id="rId22"/>
    <p:sldId id="4523" r:id="rId23"/>
    <p:sldId id="4519" r:id="rId24"/>
    <p:sldId id="4520" r:id="rId25"/>
    <p:sldId id="4521" r:id="rId26"/>
    <p:sldId id="4522" r:id="rId27"/>
    <p:sldId id="4524" r:id="rId28"/>
    <p:sldId id="4525" r:id="rId29"/>
    <p:sldId id="4526" r:id="rId30"/>
    <p:sldId id="4528" r:id="rId31"/>
    <p:sldId id="4531" r:id="rId32"/>
    <p:sldId id="4529" r:id="rId33"/>
    <p:sldId id="4530" r:id="rId34"/>
    <p:sldId id="4532" r:id="rId35"/>
    <p:sldId id="4533" r:id="rId36"/>
    <p:sldId id="4534" r:id="rId37"/>
    <p:sldId id="4535" r:id="rId38"/>
    <p:sldId id="4536" r:id="rId39"/>
    <p:sldId id="4537" r:id="rId40"/>
    <p:sldId id="4538" r:id="rId41"/>
    <p:sldId id="257" r:id="rId42"/>
    <p:sldId id="4539" r:id="rId43"/>
    <p:sldId id="4540" r:id="rId44"/>
    <p:sldId id="4546" r:id="rId45"/>
    <p:sldId id="4541" r:id="rId46"/>
    <p:sldId id="4542" r:id="rId47"/>
    <p:sldId id="4543" r:id="rId48"/>
    <p:sldId id="4544" r:id="rId49"/>
    <p:sldId id="4545" r:id="rId50"/>
    <p:sldId id="4547" r:id="rId51"/>
    <p:sldId id="259" r:id="rId52"/>
    <p:sldId id="260" r:id="rId53"/>
  </p:sldIdLst>
  <p:sldSz cx="12192000" cy="6858000"/>
  <p:notesSz cx="6858000" cy="9144000"/>
  <p:embeddedFontLst>
    <p:embeddedFont>
      <p:font typeface="Paperlogy 4 Regular" charset="-127"/>
      <p:regular r:id="rId55"/>
    </p:embeddedFont>
    <p:embeddedFont>
      <p:font typeface="Paperlogy 7 Bold" charset="-127"/>
      <p:bold r:id="rId56"/>
    </p:embeddedFont>
    <p:embeddedFont>
      <p:font typeface="맑은 고딕" panose="020B0503020000020004" pitchFamily="50" charset="-127"/>
      <p:regular r:id="rId57"/>
      <p:bold r:id="rId58"/>
    </p:embeddedFont>
    <p:embeddedFont>
      <p:font typeface="양재백두체B" panose="02020603020101020101" pitchFamily="18" charset="-127"/>
      <p:regular r:id="rId59"/>
    </p:embeddedFont>
    <p:embeddedFont>
      <p:font typeface="휴먼둥근헤드라인" panose="02030504000101010101" pitchFamily="18" charset="-127"/>
      <p:regular r:id="rId60"/>
    </p:embeddedFont>
    <p:embeddedFont>
      <p:font typeface="휴먼매직체" panose="02030504000101010101" pitchFamily="18" charset="-127"/>
      <p:regular r:id="rId6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2" autoAdjust="0"/>
    <p:restoredTop sz="94660"/>
  </p:normalViewPr>
  <p:slideViewPr>
    <p:cSldViewPr snapToGrid="0">
      <p:cViewPr varScale="1">
        <p:scale>
          <a:sx n="57" d="100"/>
          <a:sy n="57" d="100"/>
        </p:scale>
        <p:origin x="42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E1662-0D42-438E-A94A-1068F4EB44EF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72897-31CD-4806-9414-194027C5B0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46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sz="1800" dirty="0"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D5A6C3-189F-44CA-B6B6-74D4A216C84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827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D4C6F-467E-4B0E-829D-36DC7DEAC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525255-5724-450E-944D-D37D98659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D63D38-DC06-40AB-8A0F-5307A891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97FCD-F33D-45FE-A1F8-408634982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4D003-5233-4D34-8A9B-B68F77A0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7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7865B-1D2A-437B-8571-FA0F93A8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5E6D1-7CC7-4F15-B08D-B977C0C24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CFD34-979E-49D3-A6F7-98A4B4C3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F1A8D7-3D1C-4911-9DE7-037FEDAC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FE0F1-F91F-4C63-BCEB-2555BE36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9F012-0F7E-4590-8AFE-63FBEB7C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AE8BBC-BDC6-45D3-97F1-203B47C74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2BA5A5-950A-4D65-A465-BFA4ACFA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36584A-2A12-4785-A9F5-8F509522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0D7F8B-E07A-4BBA-82EC-AEE11986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74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68980-A28D-4FB5-9E0A-906AA315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9FA95A-42CE-47BD-A463-63F1A99DC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10F79-D936-4670-8E36-32FB77220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36F99E-BC33-4330-A4E1-EF8E9496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344D08-C74D-41A9-B755-67F262E3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6FE967-819F-4C58-9058-A63B9EC0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48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ADB80-4863-44F1-B634-1D30EF6A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2626EA-2F8A-4651-B9F7-318F81EB3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9554F3-B995-4C66-AF9F-191E0705C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EC2231-0E22-40B0-9DEF-264CF40EA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B0FB6E-CC75-44FB-B4F9-B65F20480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603D8B-4545-4179-ADED-26738AAF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92FB77-7AF5-43FE-B1DA-A6684E2C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B677A8-54FC-45D5-8F8E-4EBD632F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57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EA54F-C077-402A-82F0-21903226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E6CCF4-1590-4231-B99B-D1608111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C14284-5BD9-48CC-ACF6-122B0B9E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780F9E-6CF5-48B9-ACD6-60E87C0B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71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9FE0C8-3292-474C-9CF3-605C7E96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C65032-81ED-4843-8EE5-52703608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35CD5-D625-4D76-BF1B-875A0DB9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97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EF997-C03B-40DE-BD94-C5DF6937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9C6926-7771-4605-A97B-B0498A2D6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70ADE7-1CD9-44FE-8317-01F53F114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99CFF7-7191-4F56-B9D2-4E7A3CE3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E22C41-0C77-413F-BEC2-A02C0029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BD5699-DCEA-489B-9629-405C4A8B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46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F489C-C419-447E-BEF0-6A9E91C4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A8C02B-6336-4355-80C6-C5F8E55EE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625214-E59A-45F7-A8B0-938A0EABF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EB39B4-59E6-47D4-96C6-C36843AA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96D9D-E903-4D10-A675-F374EC4E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61443E-54FA-4CAF-AF75-3D2BEA5C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41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18E80-A928-4F73-883E-774B3A0E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30C2BD-6C1E-4365-97B4-38139765A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7C529D-4517-4E91-8FF1-631E2AB6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47738D-92BD-4E04-88C7-30BB60B7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67F61-5E57-41F5-B9FF-D5051B91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48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F5D169-D083-40F2-853E-A70AB306D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672793-CAA1-4156-8427-664F56722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87DC7-6939-408C-89FC-AAC3C7E5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5AD374-4C83-42AC-A564-8F043FF7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CBFADE-429B-450E-A25A-022F1CDF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233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20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6000">
              <a:srgbClr val="FFC000"/>
            </a:gs>
            <a:gs pos="71000">
              <a:srgbClr val="00B0F0"/>
            </a:gs>
            <a:gs pos="58000">
              <a:srgbClr val="00B050"/>
            </a:gs>
            <a:gs pos="43000">
              <a:srgbClr val="92D050"/>
            </a:gs>
            <a:gs pos="30000">
              <a:srgbClr val="FFFF00"/>
            </a:gs>
            <a:gs pos="95000">
              <a:srgbClr val="7030A0"/>
            </a:gs>
            <a:gs pos="82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02878C-3AAA-4FE0-88DC-7F9D05107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1D29FB-4BC1-4E25-881F-930D55773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022961-01F8-4DBA-BC9E-87DFE7AA7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83816-9934-4E53-A725-E1AB4BC0C5C5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3630F0-1B98-4A41-9D99-374F364A6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71102-9950-47A2-B506-E1B90ABDD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A3F14-2608-4B83-B94D-D3178789E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216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6.jpg"/><Relationship Id="rId7" Type="http://schemas.openxmlformats.org/officeDocument/2006/relationships/image" Target="../media/image3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2C3BCF5-BB9C-47B0-D1AD-4BD8197325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267EA4-602C-4905-E752-B6E2EA8AE3CB}"/>
              </a:ext>
            </a:extLst>
          </p:cNvPr>
          <p:cNvSpPr/>
          <p:nvPr/>
        </p:nvSpPr>
        <p:spPr>
          <a:xfrm rot="10800000" flipH="1">
            <a:off x="0" y="-1683"/>
            <a:ext cx="7380515" cy="7077039"/>
          </a:xfrm>
          <a:prstGeom prst="rect">
            <a:avLst/>
          </a:prstGeom>
          <a:gradFill flip="none" rotWithShape="1">
            <a:gsLst>
              <a:gs pos="22000">
                <a:srgbClr val="000000">
                  <a:alpha val="68000"/>
                </a:srgb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ore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95E00-7AC1-102D-47F1-9DDD77AFC6B7}"/>
              </a:ext>
            </a:extLst>
          </p:cNvPr>
          <p:cNvSpPr txBox="1"/>
          <p:nvPr/>
        </p:nvSpPr>
        <p:spPr>
          <a:xfrm>
            <a:off x="6678386" y="-4343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E25558-7B7B-8918-8591-7FB1F7368EC9}"/>
              </a:ext>
            </a:extLst>
          </p:cNvPr>
          <p:cNvSpPr txBox="1"/>
          <p:nvPr/>
        </p:nvSpPr>
        <p:spPr>
          <a:xfrm>
            <a:off x="623392" y="4640667"/>
            <a:ext cx="62397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000" b="1" i="0" u="none" strike="noStrike" kern="1200" cap="none" spc="-8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Paperlogy 7 Bold" pitchFamily="2" charset="-127"/>
                <a:ea typeface="Paperlogy 7 Bold" pitchFamily="2" charset="-127"/>
                <a:cs typeface="Waseem" pitchFamily="2" charset="-78"/>
              </a:rPr>
              <a:t>1</a:t>
            </a:r>
            <a:r>
              <a:rPr kumimoji="1" lang="ko-KR" altLang="en-US" sz="4000" b="1" i="0" u="none" strike="noStrike" kern="1200" cap="none" spc="-8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Paperlogy 7 Bold" pitchFamily="2" charset="-127"/>
                <a:ea typeface="Paperlogy 7 Bold" pitchFamily="2" charset="-127"/>
                <a:cs typeface="Waseem" pitchFamily="2" charset="-78"/>
              </a:rPr>
              <a:t>차 결과보고서</a:t>
            </a:r>
            <a:endParaRPr kumimoji="1" lang="en-US" altLang="ko-KR" sz="2800" b="1" i="0" u="none" strike="noStrike" kern="1200" cap="none" spc="-8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Paperlogy 7 Bold" pitchFamily="2" charset="-127"/>
              <a:ea typeface="Paperlogy 7 Bold" pitchFamily="2" charset="-127"/>
              <a:cs typeface="Waseem" pitchFamily="2" charset="-78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spc="-8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perlogy 4 Regular" pitchFamily="2" charset="-127"/>
                <a:ea typeface="Paperlogy 4 Regular" pitchFamily="2" charset="-127"/>
                <a:cs typeface="Waseem" pitchFamily="2" charset="-78"/>
              </a:rPr>
              <a:t>기업 네트워크 망 구축과 서버 구축 프로젝트</a:t>
            </a:r>
            <a:endParaRPr kumimoji="1" lang="en-US" altLang="ko-KR" sz="2800" spc="-8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perlogy 4 Regular" pitchFamily="2" charset="-127"/>
              <a:ea typeface="Paperlogy 4 Regular" pitchFamily="2" charset="-127"/>
              <a:cs typeface="Waseem" pitchFamily="2" charset="-78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88C6443-0D4D-F13E-28D2-51C513A0A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301" y="21108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38897904">
            <a:extLst>
              <a:ext uri="{FF2B5EF4-FFF2-40B4-BE49-F238E27FC236}">
                <a16:creationId xmlns:a16="http://schemas.microsoft.com/office/drawing/2014/main" id="{40451B3E-4B78-A9E3-0BF7-44831F336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1" y="3279098"/>
            <a:ext cx="2496723" cy="16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76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폭발: 14pt 7">
            <a:extLst>
              <a:ext uri="{FF2B5EF4-FFF2-40B4-BE49-F238E27FC236}">
                <a16:creationId xmlns:a16="http://schemas.microsoft.com/office/drawing/2014/main" id="{AC48C70F-FEEA-4DC2-BFFB-1BA4C1E44EB5}"/>
              </a:ext>
            </a:extLst>
          </p:cNvPr>
          <p:cNvSpPr/>
          <p:nvPr/>
        </p:nvSpPr>
        <p:spPr>
          <a:xfrm rot="1206640">
            <a:off x="420170" y="714098"/>
            <a:ext cx="6540333" cy="5377396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C8093F-07D5-443D-ACCB-8639B6884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49436" y="1822882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맛있게 만드려다</a:t>
            </a:r>
            <a:br>
              <a:rPr lang="en-US" altLang="ko-KR" sz="42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ko-KR" altLang="en-US" sz="42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시간이 없어서</a:t>
            </a:r>
            <a:r>
              <a:rPr lang="en-US" altLang="ko-KR" sz="42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!</a:t>
            </a:r>
            <a:br>
              <a:rPr lang="en-US" altLang="ko-KR" sz="42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en-US" altLang="ko-KR" sz="1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  <a:br>
              <a:rPr lang="en-US" altLang="ko-KR" sz="4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en-US" altLang="ko-KR" sz="20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- </a:t>
            </a:r>
            <a:r>
              <a:rPr lang="ko-KR" altLang="en-US" sz="20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어차피 발표는 내가 아니니까</a:t>
            </a:r>
            <a:r>
              <a:rPr lang="en-US" altLang="ko-KR" sz="20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-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264108-4164-49EB-A066-651841C48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59" y="5883013"/>
            <a:ext cx="6944810" cy="729495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♥ 팀원 </a:t>
            </a:r>
            <a:r>
              <a:rPr lang="en-US" altLang="ko-KR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나 너 우리</a:t>
            </a:r>
            <a:r>
              <a:rPr lang="en-US" altLang="ko-KR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!! </a:t>
            </a:r>
            <a:r>
              <a:rPr lang="ko-KR" altLang="en-US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♥</a:t>
            </a:r>
          </a:p>
        </p:txBody>
      </p:sp>
      <p:pic>
        <p:nvPicPr>
          <p:cNvPr id="7" name="그림 6" descr="텍스트, 벡터그래픽이(가) 표시된 사진&#10;&#10;자동 생성된 설명">
            <a:extLst>
              <a:ext uri="{FF2B5EF4-FFF2-40B4-BE49-F238E27FC236}">
                <a16:creationId xmlns:a16="http://schemas.microsoft.com/office/drawing/2014/main" id="{BA00299E-7ADA-4730-B1FA-3CB113BBC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70" t="20671"/>
          <a:stretch/>
        </p:blipFill>
        <p:spPr>
          <a:xfrm>
            <a:off x="6366075" y="1021938"/>
            <a:ext cx="5942941" cy="5989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85D47D-9990-472F-A3EC-1379B59027C7}"/>
              </a:ext>
            </a:extLst>
          </p:cNvPr>
          <p:cNvSpPr txBox="1"/>
          <p:nvPr/>
        </p:nvSpPr>
        <p:spPr>
          <a:xfrm>
            <a:off x="6661220" y="1447190"/>
            <a:ext cx="1299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 err="1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독재자팬클럽팀</a:t>
            </a:r>
            <a:endParaRPr lang="ko-KR" altLang="en-US" sz="2400" dirty="0"/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3B8F0AFE-B2A2-43A4-9D19-26587A6F8BD2}"/>
              </a:ext>
            </a:extLst>
          </p:cNvPr>
          <p:cNvSpPr/>
          <p:nvPr/>
        </p:nvSpPr>
        <p:spPr>
          <a:xfrm>
            <a:off x="8657862" y="324093"/>
            <a:ext cx="3217762" cy="790444"/>
          </a:xfrm>
          <a:prstGeom prst="wedgeRoundRectCallout">
            <a:avLst>
              <a:gd name="adj1" fmla="val 2189"/>
              <a:gd name="adj2" fmla="val 90042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제발 경청하지 마세요</a:t>
            </a:r>
          </a:p>
        </p:txBody>
      </p:sp>
    </p:spTree>
    <p:extLst>
      <p:ext uri="{BB962C8B-B14F-4D97-AF65-F5344CB8AC3E}">
        <p14:creationId xmlns:p14="http://schemas.microsoft.com/office/powerpoint/2010/main" val="428845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벡터그래픽이(가) 표시된 사진&#10;&#10;자동 생성된 설명">
            <a:extLst>
              <a:ext uri="{FF2B5EF4-FFF2-40B4-BE49-F238E27FC236}">
                <a16:creationId xmlns:a16="http://schemas.microsoft.com/office/drawing/2014/main" id="{BA00299E-7ADA-4730-B1FA-3CB113BBC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70" t="20671"/>
          <a:stretch/>
        </p:blipFill>
        <p:spPr>
          <a:xfrm>
            <a:off x="6366075" y="1021938"/>
            <a:ext cx="5942941" cy="5989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85D47D-9990-472F-A3EC-1379B59027C7}"/>
              </a:ext>
            </a:extLst>
          </p:cNvPr>
          <p:cNvSpPr txBox="1"/>
          <p:nvPr/>
        </p:nvSpPr>
        <p:spPr>
          <a:xfrm>
            <a:off x="6741128" y="1589169"/>
            <a:ext cx="10770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목차</a:t>
            </a:r>
            <a:endParaRPr lang="ko-KR" altLang="en-US" sz="3200" dirty="0"/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3B8F0AFE-B2A2-43A4-9D19-26587A6F8BD2}"/>
              </a:ext>
            </a:extLst>
          </p:cNvPr>
          <p:cNvSpPr/>
          <p:nvPr/>
        </p:nvSpPr>
        <p:spPr>
          <a:xfrm>
            <a:off x="8657862" y="324093"/>
            <a:ext cx="3217762" cy="790444"/>
          </a:xfrm>
          <a:prstGeom prst="wedgeRoundRectCallout">
            <a:avLst>
              <a:gd name="adj1" fmla="val 2189"/>
              <a:gd name="adj2" fmla="val 90042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흐린 눈으로 봐주세요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02B27A-F7F5-4B6D-965E-1076D95D14FC}"/>
              </a:ext>
            </a:extLst>
          </p:cNvPr>
          <p:cNvSpPr/>
          <p:nvPr/>
        </p:nvSpPr>
        <p:spPr>
          <a:xfrm>
            <a:off x="636608" y="-1"/>
            <a:ext cx="559443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FAF1D8-19A9-4777-84E0-C15DAA8454C0}"/>
              </a:ext>
            </a:extLst>
          </p:cNvPr>
          <p:cNvSpPr txBox="1"/>
          <p:nvPr/>
        </p:nvSpPr>
        <p:spPr>
          <a:xfrm>
            <a:off x="906683" y="1021938"/>
            <a:ext cx="54593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ko-KR" altLang="en-US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개요</a:t>
            </a: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en-US" altLang="ko-KR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</a:t>
            </a:r>
            <a:r>
              <a:rPr lang="ko-KR" altLang="en-US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목표달성 현황</a:t>
            </a: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marL="342900" indent="-342900">
              <a:buAutoNum type="arabicPeriod"/>
            </a:pP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en-US" altLang="ko-KR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3. </a:t>
            </a:r>
            <a:r>
              <a:rPr lang="ko-KR" altLang="en-US" sz="2000" i="1" strike="sngStrike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우리의 미래</a:t>
            </a:r>
            <a:endParaRPr lang="en-US" altLang="ko-KR" sz="2800" i="1" strike="sngStrike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ko-KR" altLang="en-US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시스템 구축 상세결과</a:t>
            </a: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en-US" altLang="ko-KR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4. </a:t>
            </a:r>
            <a:r>
              <a:rPr lang="ko-KR" altLang="en-US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자동화 스크립트 개발 결과</a:t>
            </a: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en-US" altLang="ko-KR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5. </a:t>
            </a:r>
            <a:r>
              <a:rPr lang="ko-KR" altLang="en-US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로그 분석 및 테스트 결과</a:t>
            </a: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en-US" altLang="ko-KR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6. </a:t>
            </a:r>
            <a:r>
              <a:rPr lang="ko-KR" altLang="en-US" sz="2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종합의견 및 향후 과제</a:t>
            </a: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marL="342900" indent="-342900">
              <a:buAutoNum type="arabicPeriod"/>
            </a:pPr>
            <a:endParaRPr lang="en-US" altLang="ko-KR" sz="280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marL="342900" indent="-342900">
              <a:buAutoNum type="arabicPeriod"/>
            </a:pP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8687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03139" y="236437"/>
            <a:ext cx="51388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1. </a:t>
            </a:r>
            <a:r>
              <a:rPr lang="ko-KR" altLang="en-US" sz="5000" b="1" dirty="0">
                <a:solidFill>
                  <a:srgbClr val="FF0D0D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프</a:t>
            </a:r>
            <a:r>
              <a:rPr lang="ko-KR" altLang="en-US" sz="5000" b="1" dirty="0">
                <a:solidFill>
                  <a:srgbClr val="FFFF00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로</a:t>
            </a:r>
            <a:r>
              <a:rPr lang="ko-KR" altLang="en-US" sz="5000" b="1" dirty="0">
                <a:solidFill>
                  <a:srgbClr val="00B050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젝</a:t>
            </a:r>
            <a:r>
              <a:rPr lang="ko-KR" altLang="en-US" sz="5000" b="1" dirty="0">
                <a:solidFill>
                  <a:srgbClr val="00B0F0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트 </a:t>
            </a:r>
            <a:r>
              <a:rPr lang="ko-KR" altLang="en-US" sz="5000" b="1" dirty="0">
                <a:solidFill>
                  <a:srgbClr val="7030A0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개요</a:t>
            </a:r>
            <a:endParaRPr lang="en-US" altLang="ko-KR" sz="5000" b="1" dirty="0">
              <a:solidFill>
                <a:srgbClr val="7030A0"/>
              </a:solidFill>
              <a:latin typeface="굴림" panose="020B0600000101010101" pitchFamily="50" charset="-127"/>
              <a:ea typeface="굴림" panose="020B0600000101010101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1FE23A-45B4-20FB-4851-3A821EDB7CD1}"/>
              </a:ext>
            </a:extLst>
          </p:cNvPr>
          <p:cNvSpPr/>
          <p:nvPr/>
        </p:nvSpPr>
        <p:spPr>
          <a:xfrm>
            <a:off x="508669" y="1098210"/>
            <a:ext cx="11327731" cy="5404189"/>
          </a:xfrm>
          <a:prstGeom prst="rect">
            <a:avLst/>
          </a:prstGeom>
          <a:blipFill dpi="0" rotWithShape="1">
            <a:blip r:embed="rId2">
              <a:alphaModFix amt="66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BC99A991-EA4D-F164-83F7-31B9BB438FC5}"/>
              </a:ext>
            </a:extLst>
          </p:cNvPr>
          <p:cNvSpPr txBox="1"/>
          <p:nvPr/>
        </p:nvSpPr>
        <p:spPr>
          <a:xfrm>
            <a:off x="574627" y="1340444"/>
            <a:ext cx="111087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base">
              <a:buFontTx/>
              <a:buChar char="-"/>
            </a:pPr>
            <a:r>
              <a:rPr lang="en-US" altLang="ko-KR" sz="2400" b="1" dirty="0">
                <a:latin typeface="+mj-lt"/>
              </a:rPr>
              <a:t>Frame Relay, Routing, Road Balancing, PVST, VTP(+inter VLAN)</a:t>
            </a:r>
            <a:r>
              <a:rPr lang="ko-KR" altLang="en-US" sz="2400" b="1" dirty="0">
                <a:latin typeface="+mj-lt"/>
              </a:rPr>
              <a:t>의 기술을 활용하여 본사와 해외지사의 원활한 통신이 가능한 네트워크를 구축</a:t>
            </a:r>
            <a:endParaRPr lang="en-US" altLang="ko-KR" sz="2400" b="1" dirty="0">
              <a:latin typeface="+mj-lt"/>
            </a:endParaRPr>
          </a:p>
          <a:p>
            <a:pPr marL="285750" indent="-285750" fontAlgn="base">
              <a:buFontTx/>
              <a:buChar char="-"/>
            </a:pPr>
            <a:endParaRPr lang="en-US" altLang="ko-KR" sz="2400" b="1" dirty="0">
              <a:latin typeface="+mj-lt"/>
            </a:endParaRPr>
          </a:p>
          <a:p>
            <a:pPr marL="342900" indent="-342900" fontAlgn="base">
              <a:buFontTx/>
              <a:buChar char="-"/>
            </a:pPr>
            <a:r>
              <a:rPr lang="ko-KR" altLang="en-US" sz="2400" b="1" dirty="0">
                <a:latin typeface="+mj-lt"/>
              </a:rPr>
              <a:t>외부의 원격 서버</a:t>
            </a:r>
            <a:r>
              <a:rPr lang="en-US" altLang="ko-KR" sz="2400" b="1" dirty="0">
                <a:latin typeface="+mj-lt"/>
              </a:rPr>
              <a:t>(iSCSI)</a:t>
            </a:r>
            <a:r>
              <a:rPr lang="ko-KR" altLang="en-US" sz="2400" b="1" dirty="0">
                <a:latin typeface="+mj-lt"/>
              </a:rPr>
              <a:t>를 활용하여 내부의 스토리지를 안정적으로 구축</a:t>
            </a:r>
            <a:r>
              <a:rPr lang="en-US" altLang="ko-KR" sz="2400" b="1" dirty="0">
                <a:latin typeface="+mj-lt"/>
              </a:rPr>
              <a:t>(</a:t>
            </a:r>
            <a:r>
              <a:rPr lang="en-US" altLang="ko-KR" sz="2400" b="1" dirty="0" err="1">
                <a:latin typeface="+mj-lt"/>
              </a:rPr>
              <a:t>iSCSI,XEN,Esxi,Virtual</a:t>
            </a:r>
            <a:r>
              <a:rPr lang="en-US" altLang="ko-KR" sz="2400" b="1" dirty="0">
                <a:latin typeface="+mj-lt"/>
              </a:rPr>
              <a:t> Server,RAID1) </a:t>
            </a:r>
          </a:p>
          <a:p>
            <a:pPr marL="342900" indent="-342900" fontAlgn="base">
              <a:buFontTx/>
              <a:buChar char="-"/>
            </a:pPr>
            <a:endParaRPr lang="ko-KR" altLang="en-US" sz="2400" b="1" dirty="0">
              <a:latin typeface="+mj-lt"/>
            </a:endParaRPr>
          </a:p>
          <a:p>
            <a:pPr marL="342900" indent="-342900" fontAlgn="base">
              <a:buFontTx/>
              <a:buChar char="-"/>
            </a:pPr>
            <a:r>
              <a:rPr lang="ko-KR" altLang="en-US" sz="2400" b="1" dirty="0">
                <a:latin typeface="+mj-lt"/>
              </a:rPr>
              <a:t>관리</a:t>
            </a:r>
            <a:r>
              <a:rPr lang="en-US" altLang="ko-KR" sz="2400" b="1" dirty="0">
                <a:latin typeface="+mj-lt"/>
              </a:rPr>
              <a:t>PC</a:t>
            </a:r>
            <a:r>
              <a:rPr lang="ko-KR" altLang="en-US" sz="2400" b="1" dirty="0">
                <a:latin typeface="+mj-lt"/>
              </a:rPr>
              <a:t>를 활용한 중앙제어</a:t>
            </a:r>
            <a:r>
              <a:rPr lang="en-US" altLang="ko-KR" sz="2400" b="1" dirty="0">
                <a:latin typeface="+mj-lt"/>
              </a:rPr>
              <a:t>, </a:t>
            </a:r>
            <a:r>
              <a:rPr lang="ko-KR" altLang="en-US" sz="2400" b="1" dirty="0">
                <a:latin typeface="+mj-lt"/>
              </a:rPr>
              <a:t>관리 자동화 및 </a:t>
            </a:r>
            <a:r>
              <a:rPr lang="ko-KR" altLang="en-US" sz="2400" b="1" dirty="0" err="1">
                <a:latin typeface="+mj-lt"/>
              </a:rPr>
              <a:t>원격협업</a:t>
            </a:r>
            <a:r>
              <a:rPr lang="en-US" altLang="ko-KR" sz="2400" b="1" dirty="0">
                <a:latin typeface="+mj-lt"/>
              </a:rPr>
              <a:t>(Disk quota, </a:t>
            </a:r>
            <a:r>
              <a:rPr lang="en-US" altLang="ko-KR" sz="2400" b="1" dirty="0" err="1">
                <a:latin typeface="+mj-lt"/>
              </a:rPr>
              <a:t>Monitorix</a:t>
            </a:r>
            <a:r>
              <a:rPr lang="en-US" altLang="ko-KR" sz="2400" b="1" dirty="0">
                <a:latin typeface="+mj-lt"/>
              </a:rPr>
              <a:t>, DHCP, VNC, XRDP)</a:t>
            </a:r>
          </a:p>
          <a:p>
            <a:pPr marL="342900" indent="-342900" fontAlgn="base">
              <a:buFontTx/>
              <a:buChar char="-"/>
            </a:pPr>
            <a:endParaRPr lang="ko-KR" altLang="en-US" sz="2400" b="1" dirty="0">
              <a:latin typeface="+mj-lt"/>
            </a:endParaRPr>
          </a:p>
          <a:p>
            <a:pPr fontAlgn="base"/>
            <a:r>
              <a:rPr lang="en-US" altLang="ko-KR" sz="2400" b="1" dirty="0">
                <a:latin typeface="+mj-lt"/>
              </a:rPr>
              <a:t>- </a:t>
            </a:r>
            <a:r>
              <a:rPr lang="ko-KR" altLang="en-US" sz="2400" b="1" dirty="0" err="1">
                <a:latin typeface="+mj-lt"/>
              </a:rPr>
              <a:t>필요최소한의</a:t>
            </a:r>
            <a:r>
              <a:rPr lang="ko-KR" altLang="en-US" sz="2400" b="1" dirty="0">
                <a:latin typeface="+mj-lt"/>
              </a:rPr>
              <a:t> 원칙에 따른 파일접근 활용 </a:t>
            </a:r>
            <a:r>
              <a:rPr lang="en-US" altLang="ko-KR" sz="2400" b="1" dirty="0">
                <a:latin typeface="+mj-lt"/>
              </a:rPr>
              <a:t>(FTP/NFS/SAMBA)</a:t>
            </a:r>
            <a:endParaRPr lang="ko-KR" altLang="en-US" sz="2400" b="1" dirty="0">
              <a:latin typeface="+mj-lt"/>
            </a:endParaRPr>
          </a:p>
          <a:p>
            <a:pPr marL="342900" indent="-342900" fontAlgn="base">
              <a:buFontTx/>
              <a:buChar char="-"/>
            </a:pPr>
            <a:r>
              <a:rPr lang="ko-KR" altLang="en-US" sz="2400" b="1" dirty="0">
                <a:latin typeface="+mj-lt"/>
              </a:rPr>
              <a:t>리눅스 기본환경 세팅 </a:t>
            </a:r>
            <a:r>
              <a:rPr lang="en-US" altLang="ko-KR" sz="2400" b="1" dirty="0">
                <a:latin typeface="+mj-lt"/>
              </a:rPr>
              <a:t>(LAMP)</a:t>
            </a:r>
          </a:p>
          <a:p>
            <a:pPr marL="342900" indent="-342900" fontAlgn="base">
              <a:buFontTx/>
              <a:buChar char="-"/>
            </a:pPr>
            <a:endParaRPr lang="ko-KR" altLang="en-US" sz="2400" b="1" dirty="0">
              <a:latin typeface="+mj-lt"/>
            </a:endParaRPr>
          </a:p>
          <a:p>
            <a:pPr fontAlgn="base"/>
            <a:r>
              <a:rPr lang="en-US" altLang="ko-KR" sz="2400" b="1" dirty="0">
                <a:latin typeface="+mj-lt"/>
              </a:rPr>
              <a:t>- </a:t>
            </a:r>
            <a:r>
              <a:rPr lang="ko-KR" altLang="en-US" sz="2400" b="1" dirty="0">
                <a:latin typeface="+mj-lt"/>
              </a:rPr>
              <a:t>각 분야별 서비스 서버 구축 </a:t>
            </a:r>
            <a:r>
              <a:rPr lang="en-US" altLang="ko-KR" sz="2400" b="1" dirty="0">
                <a:latin typeface="+mj-lt"/>
              </a:rPr>
              <a:t>( DNS</a:t>
            </a:r>
            <a:r>
              <a:rPr lang="ko-KR" altLang="en-US" sz="2400" b="1" dirty="0">
                <a:latin typeface="+mj-lt"/>
              </a:rPr>
              <a:t>서버</a:t>
            </a:r>
            <a:r>
              <a:rPr lang="en-US" altLang="ko-KR" sz="2400" b="1" dirty="0">
                <a:latin typeface="+mj-lt"/>
              </a:rPr>
              <a:t>, APACHE(httpd) </a:t>
            </a:r>
            <a:r>
              <a:rPr lang="ko-KR" altLang="en-US" sz="2400" b="1" dirty="0">
                <a:latin typeface="+mj-lt"/>
              </a:rPr>
              <a:t>서버</a:t>
            </a:r>
            <a:r>
              <a:rPr lang="en-US" altLang="ko-KR" sz="2400" b="1" dirty="0">
                <a:latin typeface="+mj-lt"/>
              </a:rPr>
              <a:t>, DHCP</a:t>
            </a:r>
            <a:r>
              <a:rPr lang="ko-KR" altLang="en-US" sz="2400" b="1" dirty="0">
                <a:latin typeface="+mj-lt"/>
              </a:rPr>
              <a:t>서버 </a:t>
            </a:r>
          </a:p>
          <a:p>
            <a:pPr marL="285750" indent="-285750" fontAlgn="base">
              <a:buFontTx/>
              <a:buChar char="-"/>
            </a:pPr>
            <a:endParaRPr lang="ko-KR" alt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381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9098A146-11FC-E37D-24BE-30B37811EBC3}"/>
              </a:ext>
            </a:extLst>
          </p:cNvPr>
          <p:cNvGrpSpPr/>
          <p:nvPr/>
        </p:nvGrpSpPr>
        <p:grpSpPr>
          <a:xfrm>
            <a:off x="1519635" y="1987305"/>
            <a:ext cx="998621" cy="3569933"/>
            <a:chOff x="6936568" y="1691897"/>
            <a:chExt cx="998621" cy="390717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BA80F4B-2F33-0B95-FD2C-32B79D2A24C2}"/>
                </a:ext>
              </a:extLst>
            </p:cNvPr>
            <p:cNvGrpSpPr/>
            <p:nvPr/>
          </p:nvGrpSpPr>
          <p:grpSpPr>
            <a:xfrm>
              <a:off x="7256292" y="2029142"/>
              <a:ext cx="351510" cy="3035775"/>
              <a:chOff x="6834445" y="2856612"/>
              <a:chExt cx="351510" cy="3035775"/>
            </a:xfrm>
            <a:solidFill>
              <a:srgbClr val="E6DC60"/>
            </a:solidFill>
          </p:grpSpPr>
          <p:sp>
            <p:nvSpPr>
              <p:cNvPr id="15" name="사각형: 둥근 위쪽 모서리 49">
                <a:extLst>
                  <a:ext uri="{FF2B5EF4-FFF2-40B4-BE49-F238E27FC236}">
                    <a16:creationId xmlns:a16="http://schemas.microsoft.com/office/drawing/2014/main" id="{9D709477-CB73-07E2-6BF1-E04902EADC9C}"/>
                  </a:ext>
                </a:extLst>
              </p:cNvPr>
              <p:cNvSpPr/>
              <p:nvPr/>
            </p:nvSpPr>
            <p:spPr>
              <a:xfrm>
                <a:off x="6834445" y="3209183"/>
                <a:ext cx="351510" cy="2683204"/>
              </a:xfrm>
              <a:prstGeom prst="round2SameRect">
                <a:avLst>
                  <a:gd name="adj1" fmla="val 28142"/>
                  <a:gd name="adj2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B81C3936-CD00-FACA-998A-DA9A7CBF531B}"/>
                  </a:ext>
                </a:extLst>
              </p:cNvPr>
              <p:cNvSpPr/>
              <p:nvPr/>
            </p:nvSpPr>
            <p:spPr>
              <a:xfrm>
                <a:off x="6877153" y="2856612"/>
                <a:ext cx="266093" cy="26609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FBC68C-3D0C-0509-8F70-8CBEF11D8624}"/>
                </a:ext>
              </a:extLst>
            </p:cNvPr>
            <p:cNvSpPr txBox="1"/>
            <p:nvPr/>
          </p:nvSpPr>
          <p:spPr>
            <a:xfrm>
              <a:off x="6974783" y="1691897"/>
              <a:ext cx="811801" cy="370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80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AB31D0-622A-E670-07DC-DD8150326654}"/>
                </a:ext>
              </a:extLst>
            </p:cNvPr>
            <p:cNvSpPr txBox="1"/>
            <p:nvPr/>
          </p:nvSpPr>
          <p:spPr>
            <a:xfrm>
              <a:off x="6936568" y="5337465"/>
              <a:ext cx="99862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서버</a:t>
              </a: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2EFCFE4-A65F-5B1F-8545-6F74C0EEFDF2}"/>
              </a:ext>
            </a:extLst>
          </p:cNvPr>
          <p:cNvGrpSpPr/>
          <p:nvPr/>
        </p:nvGrpSpPr>
        <p:grpSpPr>
          <a:xfrm>
            <a:off x="464093" y="1650061"/>
            <a:ext cx="998621" cy="4076455"/>
            <a:chOff x="6936568" y="1691897"/>
            <a:chExt cx="998621" cy="4076455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2FD35B11-1500-511B-CCA4-4B3FF1701825}"/>
                </a:ext>
              </a:extLst>
            </p:cNvPr>
            <p:cNvGrpSpPr/>
            <p:nvPr/>
          </p:nvGrpSpPr>
          <p:grpSpPr>
            <a:xfrm>
              <a:off x="7256292" y="2029142"/>
              <a:ext cx="351510" cy="3035775"/>
              <a:chOff x="6834445" y="2856612"/>
              <a:chExt cx="351510" cy="3035775"/>
            </a:xfrm>
            <a:solidFill>
              <a:srgbClr val="E6DC60"/>
            </a:solidFill>
          </p:grpSpPr>
          <p:sp>
            <p:nvSpPr>
              <p:cNvPr id="48" name="사각형: 둥근 위쪽 모서리 49">
                <a:extLst>
                  <a:ext uri="{FF2B5EF4-FFF2-40B4-BE49-F238E27FC236}">
                    <a16:creationId xmlns:a16="http://schemas.microsoft.com/office/drawing/2014/main" id="{F8F24BC5-A8CE-A10F-4D34-651B46CA2C3F}"/>
                  </a:ext>
                </a:extLst>
              </p:cNvPr>
              <p:cNvSpPr/>
              <p:nvPr/>
            </p:nvSpPr>
            <p:spPr>
              <a:xfrm>
                <a:off x="6834445" y="3209183"/>
                <a:ext cx="351510" cy="2683204"/>
              </a:xfrm>
              <a:prstGeom prst="round2SameRect">
                <a:avLst>
                  <a:gd name="adj1" fmla="val 28142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59A446F8-37F0-30C0-96B7-1E35D3522F3A}"/>
                  </a:ext>
                </a:extLst>
              </p:cNvPr>
              <p:cNvSpPr/>
              <p:nvPr/>
            </p:nvSpPr>
            <p:spPr>
              <a:xfrm>
                <a:off x="6877153" y="2856612"/>
                <a:ext cx="266093" cy="26609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D6AAB29-64EF-4753-F6E5-337B6E244B01}"/>
                </a:ext>
              </a:extLst>
            </p:cNvPr>
            <p:cNvSpPr txBox="1"/>
            <p:nvPr/>
          </p:nvSpPr>
          <p:spPr>
            <a:xfrm>
              <a:off x="6974783" y="1691897"/>
              <a:ext cx="81180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100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4A4291-EE16-63DB-CE0C-8122636B081C}"/>
                </a:ext>
              </a:extLst>
            </p:cNvPr>
            <p:cNvSpPr txBox="1"/>
            <p:nvPr/>
          </p:nvSpPr>
          <p:spPr>
            <a:xfrm>
              <a:off x="6936568" y="5337465"/>
              <a:ext cx="9986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네트워크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	</a:t>
              </a: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AB2D79C-D186-35CC-6B68-2760CADB8EB5}"/>
              </a:ext>
            </a:extLst>
          </p:cNvPr>
          <p:cNvGrpSpPr/>
          <p:nvPr/>
        </p:nvGrpSpPr>
        <p:grpSpPr>
          <a:xfrm>
            <a:off x="2575178" y="1862081"/>
            <a:ext cx="998621" cy="3695157"/>
            <a:chOff x="6936568" y="1691897"/>
            <a:chExt cx="998621" cy="3907178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1991EFEF-11AB-916F-4C68-9C9BC7A7DDBC}"/>
                </a:ext>
              </a:extLst>
            </p:cNvPr>
            <p:cNvGrpSpPr/>
            <p:nvPr/>
          </p:nvGrpSpPr>
          <p:grpSpPr>
            <a:xfrm>
              <a:off x="7256292" y="2029142"/>
              <a:ext cx="351510" cy="3035775"/>
              <a:chOff x="6834445" y="2856612"/>
              <a:chExt cx="351510" cy="3035775"/>
            </a:xfrm>
            <a:solidFill>
              <a:srgbClr val="E6DC60"/>
            </a:solidFill>
          </p:grpSpPr>
          <p:sp>
            <p:nvSpPr>
              <p:cNvPr id="54" name="사각형: 둥근 위쪽 모서리 49">
                <a:extLst>
                  <a:ext uri="{FF2B5EF4-FFF2-40B4-BE49-F238E27FC236}">
                    <a16:creationId xmlns:a16="http://schemas.microsoft.com/office/drawing/2014/main" id="{A7EAFD51-E58D-2028-A703-A628A24DE966}"/>
                  </a:ext>
                </a:extLst>
              </p:cNvPr>
              <p:cNvSpPr/>
              <p:nvPr/>
            </p:nvSpPr>
            <p:spPr>
              <a:xfrm>
                <a:off x="6834445" y="3209183"/>
                <a:ext cx="351510" cy="2683204"/>
              </a:xfrm>
              <a:prstGeom prst="round2SameRect">
                <a:avLst>
                  <a:gd name="adj1" fmla="val 28142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FD1FDCB-4B9B-1B0A-51BB-255D84E610B2}"/>
                  </a:ext>
                </a:extLst>
              </p:cNvPr>
              <p:cNvSpPr/>
              <p:nvPr/>
            </p:nvSpPr>
            <p:spPr>
              <a:xfrm>
                <a:off x="6877153" y="2856612"/>
                <a:ext cx="266093" cy="2660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F9CBF8-8ACE-298F-5CC7-BA23CE3E5636}"/>
                </a:ext>
              </a:extLst>
            </p:cNvPr>
            <p:cNvSpPr txBox="1"/>
            <p:nvPr/>
          </p:nvSpPr>
          <p:spPr>
            <a:xfrm>
              <a:off x="6974783" y="1691897"/>
              <a:ext cx="811801" cy="3579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90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155CF5-873A-522D-CBFA-90C307928F3E}"/>
                </a:ext>
              </a:extLst>
            </p:cNvPr>
            <p:cNvSpPr txBox="1"/>
            <p:nvPr/>
          </p:nvSpPr>
          <p:spPr>
            <a:xfrm>
              <a:off x="6936568" y="5337465"/>
              <a:ext cx="99862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코드 자동화</a:t>
              </a: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F5BBA6E0-19C8-B3F1-A314-082560D238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11144" r="66856" b="57127"/>
          <a:stretch/>
        </p:blipFill>
        <p:spPr>
          <a:xfrm>
            <a:off x="553301" y="4595561"/>
            <a:ext cx="857837" cy="74663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584666D-839A-9546-FB1E-BEC5B16FB6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11144" r="66856" b="57127"/>
          <a:stretch/>
        </p:blipFill>
        <p:spPr>
          <a:xfrm>
            <a:off x="2645571" y="4552301"/>
            <a:ext cx="857837" cy="751354"/>
          </a:xfrm>
          <a:prstGeom prst="rect">
            <a:avLst/>
          </a:prstGeom>
        </p:spPr>
      </p:pic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5300D3F1-313C-4B5B-F2A9-3B09E9267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39494"/>
              </p:ext>
            </p:extLst>
          </p:nvPr>
        </p:nvGraphicFramePr>
        <p:xfrm>
          <a:off x="4987329" y="933836"/>
          <a:ext cx="6968964" cy="4351339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874156">
                  <a:extLst>
                    <a:ext uri="{9D8B030D-6E8A-4147-A177-3AD203B41FA5}">
                      <a16:colId xmlns:a16="http://schemas.microsoft.com/office/drawing/2014/main" val="2806133969"/>
                    </a:ext>
                  </a:extLst>
                </a:gridCol>
                <a:gridCol w="5166370">
                  <a:extLst>
                    <a:ext uri="{9D8B030D-6E8A-4147-A177-3AD203B41FA5}">
                      <a16:colId xmlns:a16="http://schemas.microsoft.com/office/drawing/2014/main" val="1837094886"/>
                    </a:ext>
                  </a:extLst>
                </a:gridCol>
                <a:gridCol w="928438">
                  <a:extLst>
                    <a:ext uri="{9D8B030D-6E8A-4147-A177-3AD203B41FA5}">
                      <a16:colId xmlns:a16="http://schemas.microsoft.com/office/drawing/2014/main" val="3387629410"/>
                    </a:ext>
                  </a:extLst>
                </a:gridCol>
              </a:tblGrid>
              <a:tr h="2204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</a:rPr>
                        <a:t>구분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</a:rPr>
                        <a:t>구현 목표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</a:rPr>
                        <a:t>달성도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2609186098"/>
                  </a:ext>
                </a:extLst>
              </a:tr>
              <a:tr h="7823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</a:rPr>
                        <a:t>네트워크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Frame Relay, Routing, Road Balancing, PVST, VTP(+inter VLAN)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의 기술을 활용하여 본사와 해외지사의 원활한 통신이 가능한 네트워크를 구축</a:t>
                      </a: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4255922357"/>
                  </a:ext>
                </a:extLst>
              </a:tr>
              <a:tr h="425456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</a:rPr>
                        <a:t>서버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관리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PC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를 활용한 중앙제어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관리 자동화 및 원격협업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(Disk quota, Monitorix, DHCP, VNC, XRDP)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FF0000"/>
                          </a:solidFill>
                          <a:effectLst/>
                        </a:rPr>
                        <a:t>60%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2958054868"/>
                  </a:ext>
                </a:extLst>
              </a:tr>
              <a:tr h="358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0" marR="0" indent="-12700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필요최소한의 원칙에 따른 파일접근 활용 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(FTP/NFS/SAMBA)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3486694779"/>
                  </a:ext>
                </a:extLst>
              </a:tr>
              <a:tr h="358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0" marR="0" indent="-12700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리눅스 기본환경 세팅 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(LAMP)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1676175953"/>
                  </a:ext>
                </a:extLst>
              </a:tr>
              <a:tr h="425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각 분야별 서비스 서버 구축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(DNS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서버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, APACHE(httpd)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서버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, DHCP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서버 </a:t>
                      </a: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2205233171"/>
                  </a:ext>
                </a:extLst>
              </a:tr>
              <a:tr h="29660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</a:rPr>
                        <a:t>코드 자동화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네트워크의 관리 자동화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통신상태 확인용 및 로그 아카이빙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3751434339"/>
                  </a:ext>
                </a:extLst>
              </a:tr>
              <a:tr h="2966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각 서버의 서비스 설치 자동화</a:t>
                      </a: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FF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540189998"/>
                  </a:ext>
                </a:extLst>
              </a:tr>
              <a:tr h="2966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서버간 서비스 연결 자동화</a:t>
                      </a: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FF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2223324900"/>
                  </a:ext>
                </a:extLst>
              </a:tr>
              <a:tr h="29660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</a:rPr>
                        <a:t>로그분석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로그분석을 통한 접속기록 관리 자동화</a:t>
                      </a: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FF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562815649"/>
                  </a:ext>
                </a:extLst>
              </a:tr>
              <a:tr h="2966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유효하지 않은 접근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해킹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</a:rPr>
                        <a:t>차단</a:t>
                      </a: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2487692008"/>
                  </a:ext>
                </a:extLst>
              </a:tr>
              <a:tr h="2966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</a:rPr>
                        <a:t>내부 기밀 유출 및 해킹 시도 탐지</a:t>
                      </a:r>
                    </a:p>
                  </a:txBody>
                  <a:tcPr marL="56213" marR="56213" marT="15541" marB="1554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56213" marR="56213" marT="15541" marB="15541" anchor="ctr"/>
                </a:tc>
                <a:extLst>
                  <a:ext uri="{0D108BD9-81ED-4DB2-BD59-A6C34878D82A}">
                    <a16:rowId xmlns:a16="http://schemas.microsoft.com/office/drawing/2014/main" val="3908296949"/>
                  </a:ext>
                </a:extLst>
              </a:tr>
            </a:tbl>
          </a:graphicData>
        </a:graphic>
      </p:graphicFrame>
      <p:grpSp>
        <p:nvGrpSpPr>
          <p:cNvPr id="56" name="그룹 55">
            <a:extLst>
              <a:ext uri="{FF2B5EF4-FFF2-40B4-BE49-F238E27FC236}">
                <a16:creationId xmlns:a16="http://schemas.microsoft.com/office/drawing/2014/main" id="{E472EA7D-3539-80C5-54FE-4CB6BB4B6FEE}"/>
              </a:ext>
            </a:extLst>
          </p:cNvPr>
          <p:cNvGrpSpPr/>
          <p:nvPr/>
        </p:nvGrpSpPr>
        <p:grpSpPr>
          <a:xfrm>
            <a:off x="1660469" y="4585252"/>
            <a:ext cx="688435" cy="710377"/>
            <a:chOff x="6748040" y="1282429"/>
            <a:chExt cx="1018573" cy="1051038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02FF419B-D2A1-B6E2-72A8-A268883EE8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35" r="50548" b="78927"/>
            <a:stretch/>
          </p:blipFill>
          <p:spPr>
            <a:xfrm>
              <a:off x="6748040" y="1282429"/>
              <a:ext cx="1018573" cy="1051038"/>
            </a:xfrm>
            <a:prstGeom prst="rect">
              <a:avLst/>
            </a:prstGeom>
          </p:spPr>
        </p:pic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D00ACE9B-F204-2592-6FE3-BECEF191F32E}"/>
                </a:ext>
              </a:extLst>
            </p:cNvPr>
            <p:cNvCxnSpPr/>
            <p:nvPr/>
          </p:nvCxnSpPr>
          <p:spPr>
            <a:xfrm>
              <a:off x="7061835" y="1470660"/>
              <a:ext cx="83820" cy="211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02A0C5B4-CDAE-90BF-A3D0-66B0E87182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7326" y="1434465"/>
              <a:ext cx="1333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95304E0E-86C7-1F2D-8665-DA2139DEB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4435" y="1434465"/>
              <a:ext cx="3501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804CEA4-057E-1313-65F0-80C47E2CEC9A}"/>
              </a:ext>
            </a:extLst>
          </p:cNvPr>
          <p:cNvGrpSpPr/>
          <p:nvPr/>
        </p:nvGrpSpPr>
        <p:grpSpPr>
          <a:xfrm>
            <a:off x="3577098" y="2339876"/>
            <a:ext cx="998621" cy="3166563"/>
            <a:chOff x="6936568" y="1691897"/>
            <a:chExt cx="998621" cy="3907178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57FB9041-2C5F-1C49-FD4D-190B80A79F2D}"/>
                </a:ext>
              </a:extLst>
            </p:cNvPr>
            <p:cNvGrpSpPr/>
            <p:nvPr/>
          </p:nvGrpSpPr>
          <p:grpSpPr>
            <a:xfrm>
              <a:off x="7256292" y="2029142"/>
              <a:ext cx="351510" cy="3035775"/>
              <a:chOff x="6834445" y="2856612"/>
              <a:chExt cx="351510" cy="3035775"/>
            </a:xfrm>
            <a:solidFill>
              <a:srgbClr val="E6DC60"/>
            </a:solidFill>
          </p:grpSpPr>
          <p:sp>
            <p:nvSpPr>
              <p:cNvPr id="65" name="사각형: 둥근 위쪽 모서리 49">
                <a:extLst>
                  <a:ext uri="{FF2B5EF4-FFF2-40B4-BE49-F238E27FC236}">
                    <a16:creationId xmlns:a16="http://schemas.microsoft.com/office/drawing/2014/main" id="{C1F46B93-E0E5-DCDB-A036-DCE8449A8778}"/>
                  </a:ext>
                </a:extLst>
              </p:cNvPr>
              <p:cNvSpPr/>
              <p:nvPr/>
            </p:nvSpPr>
            <p:spPr>
              <a:xfrm>
                <a:off x="6834445" y="3209183"/>
                <a:ext cx="351510" cy="2683204"/>
              </a:xfrm>
              <a:prstGeom prst="round2SameRect">
                <a:avLst>
                  <a:gd name="adj1" fmla="val 28142"/>
                  <a:gd name="adj2" fmla="val 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77AD9459-D94D-ED55-13C5-F6CF43EBE423}"/>
                  </a:ext>
                </a:extLst>
              </p:cNvPr>
              <p:cNvSpPr/>
              <p:nvPr/>
            </p:nvSpPr>
            <p:spPr>
              <a:xfrm>
                <a:off x="6877153" y="2856612"/>
                <a:ext cx="266093" cy="26609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+mn-cs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04EBFDD-13D1-266A-8B65-302D9B71724F}"/>
                </a:ext>
              </a:extLst>
            </p:cNvPr>
            <p:cNvSpPr txBox="1"/>
            <p:nvPr/>
          </p:nvSpPr>
          <p:spPr>
            <a:xfrm>
              <a:off x="6974783" y="1691897"/>
              <a:ext cx="811801" cy="4177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70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7208AD2-6ADC-67BC-5C9C-B392E5016F9A}"/>
                </a:ext>
              </a:extLst>
            </p:cNvPr>
            <p:cNvSpPr txBox="1"/>
            <p:nvPr/>
          </p:nvSpPr>
          <p:spPr>
            <a:xfrm>
              <a:off x="6936568" y="5337465"/>
              <a:ext cx="99862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960803" dist="38100" dir="2700000" algn="tl" rotWithShape="0">
                      <a:prstClr val="black"/>
                    </a:outerShdw>
                  </a:effectLst>
                  <a:uLnTx/>
                  <a:uFillTx/>
                  <a:latin typeface="Paperlogy 4 Regular" pitchFamily="2" charset="-127"/>
                  <a:ea typeface="Paperlogy 4 Regular" pitchFamily="2" charset="-127"/>
                  <a:cs typeface="Pretendard" panose="02000503000000020004" pitchFamily="2" charset="-127"/>
                </a:rPr>
                <a:t>로그 분석</a:t>
              </a: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960803" dist="38100" dir="2700000" algn="tl" rotWithShape="0">
                    <a:prstClr val="black"/>
                  </a:outerShdw>
                </a:effectLst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634CD48-231A-85A3-465C-6F9F50040C91}"/>
              </a:ext>
            </a:extLst>
          </p:cNvPr>
          <p:cNvGrpSpPr/>
          <p:nvPr/>
        </p:nvGrpSpPr>
        <p:grpSpPr>
          <a:xfrm>
            <a:off x="3717932" y="4585252"/>
            <a:ext cx="688435" cy="710377"/>
            <a:chOff x="6748040" y="1282429"/>
            <a:chExt cx="1018573" cy="1051038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8F653980-9F02-370C-2ECE-9BD692DD98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35" r="50548" b="78927"/>
            <a:stretch/>
          </p:blipFill>
          <p:spPr>
            <a:xfrm>
              <a:off x="6748040" y="1282429"/>
              <a:ext cx="1018573" cy="1051038"/>
            </a:xfrm>
            <a:prstGeom prst="rect">
              <a:avLst/>
            </a:prstGeom>
          </p:spPr>
        </p:pic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2404B90C-C850-0296-9B7F-0AE81C7A5A63}"/>
                </a:ext>
              </a:extLst>
            </p:cNvPr>
            <p:cNvCxnSpPr/>
            <p:nvPr/>
          </p:nvCxnSpPr>
          <p:spPr>
            <a:xfrm>
              <a:off x="7061835" y="1470660"/>
              <a:ext cx="83820" cy="211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CE26F5EF-49D0-A9E2-ED29-D3AA159EF8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7326" y="1434465"/>
              <a:ext cx="1333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1AD357C4-6128-7197-4E1B-53335A73C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4435" y="1434465"/>
              <a:ext cx="3501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2" name="폭발: 14pt 71">
            <a:extLst>
              <a:ext uri="{FF2B5EF4-FFF2-40B4-BE49-F238E27FC236}">
                <a16:creationId xmlns:a16="http://schemas.microsoft.com/office/drawing/2014/main" id="{1994C3E4-E8D0-1F9C-67F7-F7A84FC7834E}"/>
              </a:ext>
            </a:extLst>
          </p:cNvPr>
          <p:cNvSpPr/>
          <p:nvPr/>
        </p:nvSpPr>
        <p:spPr>
          <a:xfrm rot="638724">
            <a:off x="918532" y="2357582"/>
            <a:ext cx="4655760" cy="2537881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D825C9-6B75-EB3E-7990-92585FC4E355}"/>
              </a:ext>
            </a:extLst>
          </p:cNvPr>
          <p:cNvSpPr txBox="1"/>
          <p:nvPr/>
        </p:nvSpPr>
        <p:spPr>
          <a:xfrm>
            <a:off x="21770" y="3244304"/>
            <a:ext cx="609777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n-cs"/>
              </a:rPr>
              <a:t>100%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n-cs"/>
              </a:rPr>
              <a:t>달성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n-cs"/>
              </a:rPr>
              <a:t>!</a:t>
            </a:r>
            <a:endParaRPr lang="en-US" altLang="ko-KR" i="1" strike="sngStrike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algn="ctr"/>
            <a:r>
              <a:rPr lang="ko-KR" altLang="en-US" i="1" strike="sngStrike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네트워크만</a:t>
            </a:r>
            <a:endParaRPr lang="en-US" altLang="ko-KR" i="1" strike="sngStrike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D8A8CB78-8BFF-34D0-FF8B-1F52E7923F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2" r="53178"/>
          <a:stretch/>
        </p:blipFill>
        <p:spPr>
          <a:xfrm>
            <a:off x="6657260" y="2636874"/>
            <a:ext cx="5013885" cy="422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9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2"/>
          <a:stretch/>
        </p:blipFill>
        <p:spPr>
          <a:xfrm>
            <a:off x="8873067" y="3641780"/>
            <a:ext cx="3025498" cy="3216220"/>
          </a:xfrm>
          <a:prstGeom prst="rect">
            <a:avLst/>
          </a:prstGeom>
        </p:spPr>
      </p:pic>
      <p:sp>
        <p:nvSpPr>
          <p:cNvPr id="3" name="타원형 설명선 2"/>
          <p:cNvSpPr/>
          <p:nvPr/>
        </p:nvSpPr>
        <p:spPr>
          <a:xfrm>
            <a:off x="6660764" y="3216220"/>
            <a:ext cx="2212303" cy="2072899"/>
          </a:xfrm>
          <a:prstGeom prst="wedgeEllipseCallout">
            <a:avLst>
              <a:gd name="adj1" fmla="val 73233"/>
              <a:gd name="adj2" fmla="val 342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" name="TextBox 4"/>
          <p:cNvSpPr txBox="1"/>
          <p:nvPr/>
        </p:nvSpPr>
        <p:spPr>
          <a:xfrm>
            <a:off x="6900071" y="3744837"/>
            <a:ext cx="1733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네트워크부터</a:t>
            </a:r>
            <a:endParaRPr lang="en-US" altLang="ko-KR" sz="2000" b="1" dirty="0">
              <a:latin typeface="굴림" panose="020B0600000101010101" pitchFamily="50" charset="-127"/>
              <a:ea typeface="굴림" panose="020B0600000101010101" pitchFamily="50" charset="-127"/>
              <a:cs typeface="Arial Unicode MS" panose="020B0604020202020204" pitchFamily="50" charset="-127"/>
            </a:endParaRPr>
          </a:p>
          <a:p>
            <a:pPr algn="ctr"/>
            <a:r>
              <a:rPr lang="ko-KR" altLang="en-US" sz="2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자세히 볼까요</a:t>
            </a:r>
            <a:r>
              <a:rPr lang="en-US" altLang="ko-KR" sz="2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 rot="20437171">
            <a:off x="8690025" y="3306256"/>
            <a:ext cx="1258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latin typeface="양재백두체B" panose="02020603020101020101" pitchFamily="18" charset="-127"/>
                <a:ea typeface="양재백두체B" panose="02020603020101020101" pitchFamily="18" charset="-127"/>
                <a:cs typeface="Arial Unicode MS" panose="020B0604020202020204" pitchFamily="50" charset="-127"/>
              </a:rPr>
              <a:t>Oh…</a:t>
            </a:r>
          </a:p>
        </p:txBody>
      </p:sp>
      <p:pic>
        <p:nvPicPr>
          <p:cNvPr id="3073" name="_x240374512">
            <a:extLst>
              <a:ext uri="{FF2B5EF4-FFF2-40B4-BE49-F238E27FC236}">
                <a16:creationId xmlns:a16="http://schemas.microsoft.com/office/drawing/2014/main" id="{0A30B566-C8F5-B061-5E71-8832205A7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330" y="2073804"/>
            <a:ext cx="4808515" cy="271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63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FCDDB-0F78-C528-D851-777982C8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A9D8E5A-B4D9-705C-2647-DC22B86A6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666479"/>
              </p:ext>
            </p:extLst>
          </p:nvPr>
        </p:nvGraphicFramePr>
        <p:xfrm>
          <a:off x="0" y="0"/>
          <a:ext cx="12192000" cy="6895126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941455325"/>
                    </a:ext>
                  </a:extLst>
                </a:gridCol>
              </a:tblGrid>
              <a:tr h="50408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</a:rPr>
                        <a:t>1. </a:t>
                      </a:r>
                      <a:r>
                        <a:rPr lang="ko-KR" altLang="en-US" sz="2400" kern="0" spc="0" dirty="0" err="1">
                          <a:solidFill>
                            <a:srgbClr val="000000"/>
                          </a:solidFill>
                          <a:effectLst/>
                        </a:rPr>
                        <a:t>브릿지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</a:rPr>
                        <a:t> 구역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35563029"/>
                  </a:ext>
                </a:extLst>
              </a:tr>
              <a:tr h="539092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465657712"/>
                  </a:ext>
                </a:extLst>
              </a:tr>
              <a:tr h="5040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</a:rPr>
                        <a:t>세부 사항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00165293"/>
                  </a:ext>
                </a:extLst>
              </a:tr>
              <a:tr h="4589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해외지사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8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외부망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 모두 </a:t>
                      </a:r>
                      <a:r>
                        <a:rPr lang="ko-KR" altLang="en-US" sz="18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브릿지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 연결을 통해 인터넷 통신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91027332"/>
                  </a:ext>
                </a:extLst>
              </a:tr>
            </a:tbl>
          </a:graphicData>
        </a:graphic>
      </p:graphicFrame>
      <p:pic>
        <p:nvPicPr>
          <p:cNvPr id="4097" name="_x238902944">
            <a:extLst>
              <a:ext uri="{FF2B5EF4-FFF2-40B4-BE49-F238E27FC236}">
                <a16:creationId xmlns:a16="http://schemas.microsoft.com/office/drawing/2014/main" id="{8B1EFDAB-2A0B-4826-A4B8-E1FFC555A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33" y="500063"/>
            <a:ext cx="10583333" cy="541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56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677AB-E71C-D650-26BC-313A690A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0155820-DF7A-F959-61C3-7F6F9FBC6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87559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941455325"/>
                    </a:ext>
                  </a:extLst>
                </a:gridCol>
              </a:tblGrid>
              <a:tr h="564748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</a:rPr>
                        <a:t>2.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</a:rPr>
                        <a:t>본사 네트워크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35563029"/>
                  </a:ext>
                </a:extLst>
              </a:tr>
              <a:tr h="494040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465657712"/>
                  </a:ext>
                </a:extLst>
              </a:tr>
              <a:tr h="461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00165293"/>
                  </a:ext>
                </a:extLst>
              </a:tr>
              <a:tr h="89088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본사 네트워크는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128.1.0.0 /19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주소 대역 사용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8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슈퍼넷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 사용하여 내부 라우팅 수행</a:t>
                      </a: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- Frame-Relay </a:t>
                      </a:r>
                      <a:r>
                        <a:rPr lang="en-US" altLang="ko-KR" sz="18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MutiPoint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설정으로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대의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L3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라우터간 로드 </a:t>
                      </a:r>
                      <a:r>
                        <a:rPr lang="ko-KR" altLang="en-US" sz="18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밸런싱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 구성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910273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96E4484-5676-FE8A-CF25-67808D96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_x240374592">
            <a:extLst>
              <a:ext uri="{FF2B5EF4-FFF2-40B4-BE49-F238E27FC236}">
                <a16:creationId xmlns:a16="http://schemas.microsoft.com/office/drawing/2014/main" id="{0837E2EE-5FC4-E4DD-74DC-1C7CB6728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116" y="643466"/>
            <a:ext cx="9311217" cy="536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89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7873-FC85-A670-078A-F254F0157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8E2AAA5-6879-AB64-3DF7-A9BD33255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92540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941455325"/>
                    </a:ext>
                  </a:extLst>
                </a:gridCol>
              </a:tblGrid>
              <a:tr h="69330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(L3)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구역 상세 네트워크 구성도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35563029"/>
                  </a:ext>
                </a:extLst>
              </a:tr>
              <a:tr h="484766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465657712"/>
                  </a:ext>
                </a:extLst>
              </a:tr>
              <a:tr h="4532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00165293"/>
                  </a:ext>
                </a:extLst>
              </a:tr>
              <a:tr h="86374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910273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626A0AF-609D-D7C1-64B5-F06C20949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240374592">
            <a:extLst>
              <a:ext uri="{FF2B5EF4-FFF2-40B4-BE49-F238E27FC236}">
                <a16:creationId xmlns:a16="http://schemas.microsoft.com/office/drawing/2014/main" id="{565717DB-3CD3-7F89-B4C1-940D49A3C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82" y="457200"/>
            <a:ext cx="931121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C8002E5-6368-ECF3-C5F0-8115BD07A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284458"/>
              </p:ext>
            </p:extLst>
          </p:nvPr>
        </p:nvGraphicFramePr>
        <p:xfrm>
          <a:off x="0" y="4271424"/>
          <a:ext cx="8070833" cy="2586576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675965">
                  <a:extLst>
                    <a:ext uri="{9D8B030D-6E8A-4147-A177-3AD203B41FA5}">
                      <a16:colId xmlns:a16="http://schemas.microsoft.com/office/drawing/2014/main" val="3626776929"/>
                    </a:ext>
                  </a:extLst>
                </a:gridCol>
                <a:gridCol w="6394868">
                  <a:extLst>
                    <a:ext uri="{9D8B030D-6E8A-4147-A177-3AD203B41FA5}">
                      <a16:colId xmlns:a16="http://schemas.microsoft.com/office/drawing/2014/main" val="2942655309"/>
                    </a:ext>
                  </a:extLst>
                </a:gridCol>
              </a:tblGrid>
              <a:tr h="4494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기술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내용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91545"/>
                  </a:ext>
                </a:extLst>
              </a:tr>
              <a:tr h="8140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Frame-Relay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본사 구역 내 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R9, R10 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제외한 라우터들을 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Muti-Point 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설정으로 연결하여 회선 비용 절감 및 다중 경로 활용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로드 </a:t>
                      </a:r>
                      <a:r>
                        <a:rPr lang="ko-KR" altLang="en-US" sz="1400" b="1" kern="0" spc="0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밸런싱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672734"/>
                  </a:ext>
                </a:extLst>
              </a:tr>
              <a:tr h="5090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b="1" kern="0" spc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NAT(PAT)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외부에서의 접근을 차단하고 내부에서는 외부 통신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. 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공인 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IP 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주소 절약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70695"/>
                  </a:ext>
                </a:extLst>
              </a:tr>
              <a:tr h="8140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b="1" kern="0" spc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PPP(CHAP)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두 장비간 연결하는 상대 장비의 신원 확인</a:t>
                      </a:r>
                      <a:r>
                        <a:rPr lang="en-US" altLang="ko-KR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. 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해당 장비에 접속하여 설정 </a:t>
                      </a:r>
                      <a:r>
                        <a:rPr lang="ko-KR" altLang="en-US" sz="1400" b="1" kern="0" spc="0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변경같은</a:t>
                      </a: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장비 관리할 수 있는 권한 부여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451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20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CDE9A98-A89F-09B8-399A-112E1F9CD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060622"/>
              </p:ext>
            </p:extLst>
          </p:nvPr>
        </p:nvGraphicFramePr>
        <p:xfrm>
          <a:off x="0" y="-1"/>
          <a:ext cx="12191999" cy="68737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47033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470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1100065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406966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설명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</a:rPr>
                        <a:t>:PAT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설정한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</a:rPr>
                        <a:t>R9(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라우터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에 실제 사설망에서 외부로 나갈 때 변환된 공인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</a:rPr>
                        <a:t>IP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주소 및 포트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892115"/>
                  </a:ext>
                </a:extLst>
              </a:tr>
              <a:tr h="4049937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309964"/>
                  </a:ext>
                </a:extLst>
              </a:tr>
              <a:tr h="406966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설명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와이어샤크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pic>
        <p:nvPicPr>
          <p:cNvPr id="7170" name="_x240371552">
            <a:extLst>
              <a:ext uri="{FF2B5EF4-FFF2-40B4-BE49-F238E27FC236}">
                <a16:creationId xmlns:a16="http://schemas.microsoft.com/office/drawing/2014/main" id="{8A14BC4C-4BA8-5E94-0964-91D8239C7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13871"/>
            <a:ext cx="12191999" cy="110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_x213507128">
            <a:extLst>
              <a:ext uri="{FF2B5EF4-FFF2-40B4-BE49-F238E27FC236}">
                <a16:creationId xmlns:a16="http://schemas.microsoft.com/office/drawing/2014/main" id="{62DC8B0C-05F2-BCCD-9651-E22985868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469095"/>
            <a:ext cx="12192001" cy="401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폭발: 14pt 5">
            <a:extLst>
              <a:ext uri="{FF2B5EF4-FFF2-40B4-BE49-F238E27FC236}">
                <a16:creationId xmlns:a16="http://schemas.microsoft.com/office/drawing/2014/main" id="{9CF6F704-CD65-1696-7CEC-170ADE6CD430}"/>
              </a:ext>
            </a:extLst>
          </p:cNvPr>
          <p:cNvSpPr/>
          <p:nvPr/>
        </p:nvSpPr>
        <p:spPr>
          <a:xfrm rot="638724">
            <a:off x="9416015" y="2503"/>
            <a:ext cx="2893117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NAT(PAT)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953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4E953-1924-238C-7B54-2418C287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48C46E2-739B-F947-F573-6F00D98E4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92704"/>
              </p:ext>
            </p:extLst>
          </p:nvPr>
        </p:nvGraphicFramePr>
        <p:xfrm>
          <a:off x="0" y="0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572092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5720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5182917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309964"/>
                  </a:ext>
                </a:extLst>
              </a:tr>
              <a:tr h="530900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설명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와이어샤크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E5D74618-A2C9-386B-230E-932C2E582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582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240376592">
            <a:extLst>
              <a:ext uri="{FF2B5EF4-FFF2-40B4-BE49-F238E27FC236}">
                <a16:creationId xmlns:a16="http://schemas.microsoft.com/office/drawing/2014/main" id="{62730349-BBBA-8FBB-798D-2AEF4E45F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570313"/>
            <a:ext cx="12191999" cy="371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폭발: 14pt 2">
            <a:extLst>
              <a:ext uri="{FF2B5EF4-FFF2-40B4-BE49-F238E27FC236}">
                <a16:creationId xmlns:a16="http://schemas.microsoft.com/office/drawing/2014/main" id="{BCA5F755-196E-50A9-BEC4-9883043E1789}"/>
              </a:ext>
            </a:extLst>
          </p:cNvPr>
          <p:cNvSpPr/>
          <p:nvPr/>
        </p:nvSpPr>
        <p:spPr>
          <a:xfrm rot="638724">
            <a:off x="9416015" y="2504"/>
            <a:ext cx="2893117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CAHP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44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8C01-71BE-5CC4-E3B3-BE8073EB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9DA7327-2FC1-4597-1C45-841913B04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735456"/>
              </p:ext>
            </p:extLst>
          </p:nvPr>
        </p:nvGraphicFramePr>
        <p:xfrm>
          <a:off x="0" y="0"/>
          <a:ext cx="12192000" cy="6895126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941455325"/>
                    </a:ext>
                  </a:extLst>
                </a:gridCol>
              </a:tblGrid>
              <a:tr h="50408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2400" kern="0" spc="0" dirty="0">
                          <a:solidFill>
                            <a:srgbClr val="000000"/>
                          </a:solidFill>
                          <a:effectLst/>
                        </a:rPr>
                        <a:t>3. </a:t>
                      </a:r>
                      <a:r>
                        <a:rPr lang="ko-KR" altLang="en-US" sz="2400" kern="0" spc="0" dirty="0">
                          <a:solidFill>
                            <a:srgbClr val="000000"/>
                          </a:solidFill>
                          <a:effectLst/>
                        </a:rPr>
                        <a:t>지사 네트워크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35563029"/>
                  </a:ext>
                </a:extLst>
              </a:tr>
              <a:tr h="539092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465657712"/>
                  </a:ext>
                </a:extLst>
              </a:tr>
              <a:tr h="5040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00165293"/>
                  </a:ext>
                </a:extLst>
              </a:tr>
              <a:tr h="4589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스위치간 이중화 및 로드 </a:t>
                      </a:r>
                      <a:r>
                        <a:rPr lang="ko-KR" altLang="en-US" sz="18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밸런싱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 구성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(PVST+)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및 다중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VLAN 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</a:rPr>
                        <a:t>구성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910273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319D149-7815-51DF-E06B-368AC8A5A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217" name="_x240372192">
            <a:extLst>
              <a:ext uri="{FF2B5EF4-FFF2-40B4-BE49-F238E27FC236}">
                <a16:creationId xmlns:a16="http://schemas.microsoft.com/office/drawing/2014/main" id="{9465DE39-532E-5A22-0DC1-AB5056568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457200"/>
            <a:ext cx="8415867" cy="564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357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7FB1-9BBD-E35E-363D-CA72FBAD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_x240372192">
            <a:extLst>
              <a:ext uri="{FF2B5EF4-FFF2-40B4-BE49-F238E27FC236}">
                <a16:creationId xmlns:a16="http://schemas.microsoft.com/office/drawing/2014/main" id="{850FF418-E262-88CD-654F-71FAD20E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457200"/>
            <a:ext cx="8415867" cy="564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72E990-7A94-21EA-2ED5-77DDC1F39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02718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941455325"/>
                    </a:ext>
                  </a:extLst>
                </a:gridCol>
              </a:tblGrid>
              <a:tr h="69330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(L2)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구역 상세 네트워크 구성도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35563029"/>
                  </a:ext>
                </a:extLst>
              </a:tr>
              <a:tr h="484766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465657712"/>
                  </a:ext>
                </a:extLst>
              </a:tr>
              <a:tr h="4532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00165293"/>
                  </a:ext>
                </a:extLst>
              </a:tr>
              <a:tr h="86374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910273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C339AB2-66EB-2CCA-4638-1FC334BDC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_x240372192">
            <a:extLst>
              <a:ext uri="{FF2B5EF4-FFF2-40B4-BE49-F238E27FC236}">
                <a16:creationId xmlns:a16="http://schemas.microsoft.com/office/drawing/2014/main" id="{104DA8F1-8897-A724-426D-B50FC4AFB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400" y="609600"/>
            <a:ext cx="8415867" cy="564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67C6958-4D30-84B7-597C-3A9F5AAEE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927631"/>
              </p:ext>
            </p:extLst>
          </p:nvPr>
        </p:nvGraphicFramePr>
        <p:xfrm>
          <a:off x="0" y="4108493"/>
          <a:ext cx="8070833" cy="2749507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675965">
                  <a:extLst>
                    <a:ext uri="{9D8B030D-6E8A-4147-A177-3AD203B41FA5}">
                      <a16:colId xmlns:a16="http://schemas.microsoft.com/office/drawing/2014/main" val="3626776929"/>
                    </a:ext>
                  </a:extLst>
                </a:gridCol>
                <a:gridCol w="6394868">
                  <a:extLst>
                    <a:ext uri="{9D8B030D-6E8A-4147-A177-3AD203B41FA5}">
                      <a16:colId xmlns:a16="http://schemas.microsoft.com/office/drawing/2014/main" val="2942655309"/>
                    </a:ext>
                  </a:extLst>
                </a:gridCol>
              </a:tblGrid>
              <a:tr h="4494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기술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내용</a:t>
                      </a:r>
                    </a:p>
                  </a:txBody>
                  <a:tcPr marL="47200" marR="47200" marT="13049" marB="13049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91545"/>
                  </a:ext>
                </a:extLst>
              </a:tr>
              <a:tr h="8140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VTP</a:t>
                      </a:r>
                      <a:endParaRPr lang="en-US" sz="14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Server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모드 설정하여 </a:t>
                      </a: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Client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모드의 스위치 정보 동기화</a:t>
                      </a: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, Transparent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모드 설정하여 독립적인 </a:t>
                      </a: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VLAN 30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구성</a:t>
                      </a:r>
                      <a:endParaRPr lang="ko-KR" altLang="en-US" sz="14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672734"/>
                  </a:ext>
                </a:extLst>
              </a:tr>
              <a:tr h="5090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InterVLAN</a:t>
                      </a:r>
                      <a:endParaRPr lang="en-US" sz="1400" kern="0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VLAN 10 ~ 50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분리 구성 </a:t>
                      </a: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/ R11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라우터의 </a:t>
                      </a:r>
                      <a:r>
                        <a:rPr lang="ko-KR" altLang="en-US" sz="1400" kern="0" spc="0" dirty="0" err="1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서브인터페이스를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 통한 </a:t>
                      </a:r>
                      <a:r>
                        <a:rPr lang="en-US" altLang="ko-KR" sz="1400" kern="0" spc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InterVLAN</a:t>
                      </a: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라우팅 구성</a:t>
                      </a:r>
                      <a:endParaRPr lang="ko-KR" altLang="en-US" sz="14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70695"/>
                  </a:ext>
                </a:extLst>
              </a:tr>
              <a:tr h="8140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PVST+</a:t>
                      </a:r>
                      <a:endParaRPr lang="en-US" sz="1400" kern="0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VLAN 40, 50 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에 대해 </a:t>
                      </a:r>
                      <a:r>
                        <a:rPr lang="ko-KR" altLang="en-US" sz="1400" kern="0" spc="0" dirty="0" err="1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루트브릿지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 설정 </a:t>
                      </a: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(SW7, 8 </a:t>
                      </a:r>
                      <a:r>
                        <a:rPr lang="ko-KR" altLang="en-US" sz="1400" kern="0" spc="0" dirty="0" err="1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루트브릿지</a:t>
                      </a:r>
                      <a:r>
                        <a:rPr lang="ko-KR" altLang="en-US" sz="1400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 역할 수행</a:t>
                      </a:r>
                      <a:r>
                        <a:rPr lang="en-US" altLang="ko-KR" sz="1400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4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451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992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7E7C-E843-2B3C-A1C6-D0BDA853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C69C285-3574-D147-29A2-01249D405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177457"/>
              </p:ext>
            </p:extLst>
          </p:nvPr>
        </p:nvGraphicFramePr>
        <p:xfrm>
          <a:off x="0" y="-1"/>
          <a:ext cx="12191999" cy="687060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74134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800621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181005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VTP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Server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모드 동작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6" name="폭발: 14pt 5">
            <a:extLst>
              <a:ext uri="{FF2B5EF4-FFF2-40B4-BE49-F238E27FC236}">
                <a16:creationId xmlns:a16="http://schemas.microsoft.com/office/drawing/2014/main" id="{69C38E40-0417-AD4A-8853-9B71288D59D8}"/>
              </a:ext>
            </a:extLst>
          </p:cNvPr>
          <p:cNvSpPr/>
          <p:nvPr/>
        </p:nvSpPr>
        <p:spPr>
          <a:xfrm rot="638724">
            <a:off x="9416015" y="2503"/>
            <a:ext cx="2893117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VTP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40BCA3C-D9FB-0A38-CEA4-199AB1ECC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289" name="_x240368832">
            <a:extLst>
              <a:ext uri="{FF2B5EF4-FFF2-40B4-BE49-F238E27FC236}">
                <a16:creationId xmlns:a16="http://schemas.microsoft.com/office/drawing/2014/main" id="{370C4374-8324-D125-8273-F7DD264AB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651" y="954792"/>
            <a:ext cx="5651883" cy="214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B930D07F-753D-9342-31D3-2A0A75C99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291" name="_x240370112">
            <a:extLst>
              <a:ext uri="{FF2B5EF4-FFF2-40B4-BE49-F238E27FC236}">
                <a16:creationId xmlns:a16="http://schemas.microsoft.com/office/drawing/2014/main" id="{8F1D90E3-3E21-7E49-BCAB-3D0B11022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949" y="3102508"/>
            <a:ext cx="9721286" cy="307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135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634AF-6EF2-5426-5ED9-3564C873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DA671D-35B7-0C80-C5A6-157A91CAF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113455"/>
              </p:ext>
            </p:extLst>
          </p:nvPr>
        </p:nvGraphicFramePr>
        <p:xfrm>
          <a:off x="0" y="-1"/>
          <a:ext cx="12191999" cy="687060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74134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800621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181005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Client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모드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- Server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S10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스위치의 정보를 동기화하여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Revision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값 같음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6" name="폭발: 14pt 5">
            <a:extLst>
              <a:ext uri="{FF2B5EF4-FFF2-40B4-BE49-F238E27FC236}">
                <a16:creationId xmlns:a16="http://schemas.microsoft.com/office/drawing/2014/main" id="{02EF1753-E451-E598-C7B6-BFC3FB8F9731}"/>
              </a:ext>
            </a:extLst>
          </p:cNvPr>
          <p:cNvSpPr/>
          <p:nvPr/>
        </p:nvSpPr>
        <p:spPr>
          <a:xfrm rot="638724">
            <a:off x="9416015" y="2503"/>
            <a:ext cx="2893117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VTP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6C031F7-9625-E383-FD25-F624BFDDF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289" name="_x240368832">
            <a:extLst>
              <a:ext uri="{FF2B5EF4-FFF2-40B4-BE49-F238E27FC236}">
                <a16:creationId xmlns:a16="http://schemas.microsoft.com/office/drawing/2014/main" id="{42CB86AE-0705-9253-7F73-FDACF99DD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651" y="954792"/>
            <a:ext cx="5651883" cy="214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B016A9F5-B30B-747D-4E90-DEBE1C729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4A7684-E4FA-6F64-50D5-962531AD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4337" name="_x240368752">
            <a:extLst>
              <a:ext uri="{FF2B5EF4-FFF2-40B4-BE49-F238E27FC236}">
                <a16:creationId xmlns:a16="http://schemas.microsoft.com/office/drawing/2014/main" id="{AF1C7215-B7AF-7CBB-59C1-93BD4401B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22" y="3102508"/>
            <a:ext cx="10883755" cy="314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858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74434-B9E5-A0A6-C7F5-143D5E41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4FCCD3-1334-67B1-AB0B-472DFF3B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170351"/>
              </p:ext>
            </p:extLst>
          </p:nvPr>
        </p:nvGraphicFramePr>
        <p:xfrm>
          <a:off x="0" y="-1"/>
          <a:ext cx="12191999" cy="687060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74134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800621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181005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Transparent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모드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- Revision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값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0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6" name="폭발: 14pt 5">
            <a:extLst>
              <a:ext uri="{FF2B5EF4-FFF2-40B4-BE49-F238E27FC236}">
                <a16:creationId xmlns:a16="http://schemas.microsoft.com/office/drawing/2014/main" id="{71D0BFEC-61DC-C2B2-AA90-EE88ACE1636E}"/>
              </a:ext>
            </a:extLst>
          </p:cNvPr>
          <p:cNvSpPr/>
          <p:nvPr/>
        </p:nvSpPr>
        <p:spPr>
          <a:xfrm rot="638724">
            <a:off x="9416015" y="2503"/>
            <a:ext cx="2893117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VTP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2BDF767-B5C9-E379-74A9-1E4CE6C2E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289" name="_x240368832">
            <a:extLst>
              <a:ext uri="{FF2B5EF4-FFF2-40B4-BE49-F238E27FC236}">
                <a16:creationId xmlns:a16="http://schemas.microsoft.com/office/drawing/2014/main" id="{A512CDBA-5CB6-1A7F-2C16-210281412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651" y="954792"/>
            <a:ext cx="5651883" cy="214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F1C97758-9729-9513-AABA-737C202AC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4AAC1B-470E-E63E-D3A5-29BE790DC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8CAEC9B-418C-F183-09D5-5A2E0534C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5361" name="_x240370192">
            <a:extLst>
              <a:ext uri="{FF2B5EF4-FFF2-40B4-BE49-F238E27FC236}">
                <a16:creationId xmlns:a16="http://schemas.microsoft.com/office/drawing/2014/main" id="{84F8A55A-66D7-B348-45CB-FE3B1B540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37" y="3102508"/>
            <a:ext cx="10346510" cy="317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632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0CEA8-2B9D-E721-26D2-CE2D596B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29681B-7CB9-F136-5FB4-3801113A9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16039"/>
              </p:ext>
            </p:extLst>
          </p:nvPr>
        </p:nvGraphicFramePr>
        <p:xfrm>
          <a:off x="0" y="-1"/>
          <a:ext cx="12191999" cy="687060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74134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800621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181005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S10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스위치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VLAN 10, IP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정보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6" name="폭발: 14pt 5">
            <a:extLst>
              <a:ext uri="{FF2B5EF4-FFF2-40B4-BE49-F238E27FC236}">
                <a16:creationId xmlns:a16="http://schemas.microsoft.com/office/drawing/2014/main" id="{0AD0C131-6ADD-914D-6771-C19EA8919E59}"/>
              </a:ext>
            </a:extLst>
          </p:cNvPr>
          <p:cNvSpPr/>
          <p:nvPr/>
        </p:nvSpPr>
        <p:spPr>
          <a:xfrm rot="638724">
            <a:off x="8902623" y="-45328"/>
            <a:ext cx="3410966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VLAN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PVST+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74289F8-9D1E-72CD-D03D-67AC7DB69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E565264-F619-2055-66C9-1032E3421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58B727-984E-C4EF-3153-E92EE1D2C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9351B2C-0A7F-219E-226F-4E54D379D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756DE8B-6284-865A-83A7-AED240152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5" name="_x240369712">
            <a:extLst>
              <a:ext uri="{FF2B5EF4-FFF2-40B4-BE49-F238E27FC236}">
                <a16:creationId xmlns:a16="http://schemas.microsoft.com/office/drawing/2014/main" id="{75300A52-63F1-EBBD-1462-4A7E5AE7D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847" y="852336"/>
            <a:ext cx="3605104" cy="179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A4646C04-755E-7E27-C762-6E1E0A738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7" name="_x240369312">
            <a:extLst>
              <a:ext uri="{FF2B5EF4-FFF2-40B4-BE49-F238E27FC236}">
                <a16:creationId xmlns:a16="http://schemas.microsoft.com/office/drawing/2014/main" id="{022A10F9-521E-4DD6-7EDE-4D06839AC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999" y="2645307"/>
            <a:ext cx="8940800" cy="352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8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CA70-0721-52EE-B8D9-87F8494D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889EC82-02BC-110E-6290-8CBA0EC7A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46113"/>
              </p:ext>
            </p:extLst>
          </p:nvPr>
        </p:nvGraphicFramePr>
        <p:xfrm>
          <a:off x="0" y="-1"/>
          <a:ext cx="12191999" cy="688839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5695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0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71518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269663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S12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스위치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VLAN 20, IP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정보</a:t>
                      </a: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VLAN 20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S12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스위치에서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VLAN 10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S10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스위치로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ping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통신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6" name="폭발: 14pt 5">
            <a:extLst>
              <a:ext uri="{FF2B5EF4-FFF2-40B4-BE49-F238E27FC236}">
                <a16:creationId xmlns:a16="http://schemas.microsoft.com/office/drawing/2014/main" id="{1770300C-AC7C-AB5E-6DF3-2E8D8C139548}"/>
              </a:ext>
            </a:extLst>
          </p:cNvPr>
          <p:cNvSpPr/>
          <p:nvPr/>
        </p:nvSpPr>
        <p:spPr>
          <a:xfrm rot="638724">
            <a:off x="8902623" y="-45328"/>
            <a:ext cx="3410966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VLAN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PVST+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32C49E9-C38C-853C-7FD8-4AC9E8A56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15A785B-02FE-C290-758A-2981E2D5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6C3029-251A-E62A-ED6D-D7DB9C0DC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6F3130B-BF07-4BA5-3192-39A376002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9B0748F-F885-8CDC-A3A7-D154D8FF3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5" name="_x240369712">
            <a:extLst>
              <a:ext uri="{FF2B5EF4-FFF2-40B4-BE49-F238E27FC236}">
                <a16:creationId xmlns:a16="http://schemas.microsoft.com/office/drawing/2014/main" id="{63E76D53-DD1E-8A6C-625E-5106ECF2B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847" y="852336"/>
            <a:ext cx="3605104" cy="179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7807FF42-4978-4EF2-785E-7CCF4573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E00AE72-AB77-D96E-4356-62B500344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409" name="_x240369232">
            <a:extLst>
              <a:ext uri="{FF2B5EF4-FFF2-40B4-BE49-F238E27FC236}">
                <a16:creationId xmlns:a16="http://schemas.microsoft.com/office/drawing/2014/main" id="{49D02082-AD02-9354-044B-EF23120F7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003" y="2630390"/>
            <a:ext cx="8145683" cy="346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592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573E-3DF1-BA23-6C3D-0D219934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E4E0EB-4105-DFAC-EEA8-9A033EDE4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448834"/>
              </p:ext>
            </p:extLst>
          </p:nvPr>
        </p:nvGraphicFramePr>
        <p:xfrm>
          <a:off x="0" y="-1"/>
          <a:ext cx="12269216" cy="68653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90170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28570">
                  <a:extLst>
                    <a:ext uri="{9D8B030D-6E8A-4147-A177-3AD203B41FA5}">
                      <a16:colId xmlns:a16="http://schemas.microsoft.com/office/drawing/2014/main" val="2696814062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5695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0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715180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269663">
                <a:tc gridSpan="3">
                  <a:txBody>
                    <a:bodyPr/>
                    <a:lstStyle/>
                    <a:p>
                      <a:pPr fontAlgn="base"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S7 : VLAN 50 Root Bridge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선출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S8 : VLAN 40 Root Bridge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선출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6" name="폭발: 14pt 5">
            <a:extLst>
              <a:ext uri="{FF2B5EF4-FFF2-40B4-BE49-F238E27FC236}">
                <a16:creationId xmlns:a16="http://schemas.microsoft.com/office/drawing/2014/main" id="{45680C63-64C8-057E-A4ED-5249559D6F21}"/>
              </a:ext>
            </a:extLst>
          </p:cNvPr>
          <p:cNvSpPr/>
          <p:nvPr/>
        </p:nvSpPr>
        <p:spPr>
          <a:xfrm rot="638724">
            <a:off x="8902623" y="-45328"/>
            <a:ext cx="3410966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VLAN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PVST+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DEA834-8F9D-78AE-D7A0-B2DF58DE3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BB41A3-31E1-F81D-702B-73FDD1EDD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2FA754-9427-66A4-A177-6994D4470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D9C7690-98A7-74C6-B104-3437CBF8C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48E8123-702C-9D71-4BCD-87D09CF01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469CA40-1273-EFA0-CF0A-474C11681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0091029-3B28-6069-E7C9-61EF51829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CA83F7F-A336-1B50-3DA9-22483F13C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33" name="_x240369152">
            <a:extLst>
              <a:ext uri="{FF2B5EF4-FFF2-40B4-BE49-F238E27FC236}">
                <a16:creationId xmlns:a16="http://schemas.microsoft.com/office/drawing/2014/main" id="{D1782807-D56B-4C4F-1237-4072AD79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1332"/>
            <a:ext cx="6096000" cy="470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C10D5528-DBB6-E7DB-7604-D00B742FB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35" name="_x240370672">
            <a:extLst>
              <a:ext uri="{FF2B5EF4-FFF2-40B4-BE49-F238E27FC236}">
                <a16:creationId xmlns:a16="http://schemas.microsoft.com/office/drawing/2014/main" id="{9C8D98CA-60EC-098D-0AEE-AC9CBA1D6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931331"/>
            <a:ext cx="6096000" cy="470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761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1E63B7E-EAF8-2F6A-3661-BD4A3C61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9457" name="_x240370672">
            <a:extLst>
              <a:ext uri="{FF2B5EF4-FFF2-40B4-BE49-F238E27FC236}">
                <a16:creationId xmlns:a16="http://schemas.microsoft.com/office/drawing/2014/main" id="{85C611F6-8455-FE2A-6866-BD9537820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533" y="413480"/>
            <a:ext cx="9668934" cy="603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463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8F23F-BEFD-EA14-4D64-B63CCF5B9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8F0010D-4062-4314-089D-E8DA30367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ACD1F02-8252-9846-C80C-5E83DE313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_x240369712">
            <a:extLst>
              <a:ext uri="{FF2B5EF4-FFF2-40B4-BE49-F238E27FC236}">
                <a16:creationId xmlns:a16="http://schemas.microsoft.com/office/drawing/2014/main" id="{0C759E0A-ADF0-A348-1CCE-6EBE954CF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165" y="374340"/>
            <a:ext cx="8711670" cy="610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406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전자책] 보노보노 47권 | 이가라시 미키오 | 거북이북스 - 예스24">
            <a:extLst>
              <a:ext uri="{FF2B5EF4-FFF2-40B4-BE49-F238E27FC236}">
                <a16:creationId xmlns:a16="http://schemas.microsoft.com/office/drawing/2014/main" id="{1637257E-D325-92B0-68AC-0F1B34A4F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77"/>
          <a:stretch>
            <a:fillRect/>
          </a:stretch>
        </p:blipFill>
        <p:spPr bwMode="auto">
          <a:xfrm>
            <a:off x="2319866" y="1297262"/>
            <a:ext cx="7552266" cy="528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651CAC-574F-0DD6-0C8A-EBC4B6B5C45B}"/>
              </a:ext>
            </a:extLst>
          </p:cNvPr>
          <p:cNvSpPr txBox="1"/>
          <p:nvPr/>
        </p:nvSpPr>
        <p:spPr>
          <a:xfrm>
            <a:off x="448264" y="573987"/>
            <a:ext cx="112954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★ 스토리지 서버</a:t>
            </a:r>
            <a:r>
              <a:rPr lang="en-US" altLang="ko-KR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★</a:t>
            </a:r>
            <a:endParaRPr lang="en-US" altLang="ko-KR" sz="8800" b="1" dirty="0">
              <a:ln>
                <a:solidFill>
                  <a:srgbClr val="FF0000"/>
                </a:solidFill>
              </a:ln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C692966-BB81-D272-E567-8D5BBCE25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865" y="2561102"/>
            <a:ext cx="1486371" cy="8678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BBE2781-73D1-BC8C-01E5-2E5387BAA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235" y="2820650"/>
            <a:ext cx="1272149" cy="12721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913B25F-9A84-698D-776F-1588F9FCA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44" y="4092799"/>
            <a:ext cx="1071562" cy="10715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42D467D-CB6B-EA18-457B-FA72CCA9F7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620" y="4454167"/>
            <a:ext cx="1420388" cy="14203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6E3D00C-29CC-E7BE-F19D-C27211A567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783" y="2134212"/>
            <a:ext cx="1219200" cy="1219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C9ED04E-0206-39A3-C0E3-58C537D6F5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028" y="4628580"/>
            <a:ext cx="1071562" cy="107156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8D8106B-7B9C-8CD0-F5DE-FA22716F8D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017" y="5535212"/>
            <a:ext cx="1641323" cy="91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74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A2EC-9EAF-4901-189A-980773A3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C51C19-C8B3-7B2C-489F-6B6FDC509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325001"/>
              </p:ext>
            </p:extLst>
          </p:nvPr>
        </p:nvGraphicFramePr>
        <p:xfrm>
          <a:off x="0" y="-1"/>
          <a:ext cx="12191999" cy="68653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5695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0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71518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269663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target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동작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4D454047-87D9-ADA3-788A-E36D0B325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1DAB5B6-6E5C-FE17-CFEE-F0C155BD3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3FCF33-DA56-7E09-8121-3AB19E792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6F886D7-7099-0D8F-6D5D-459A4B01D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4D8FFCA-BE9B-9B9B-4BA1-CEEA3D47F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E184E81-CBCD-3720-5CF8-BEB98659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CB4AF05-DCDC-4AD1-31E6-AC8D9307E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5BEC245C-9B0A-3422-6E83-B8B74469F4B4}"/>
              </a:ext>
            </a:extLst>
          </p:cNvPr>
          <p:cNvSpPr/>
          <p:nvPr/>
        </p:nvSpPr>
        <p:spPr>
          <a:xfrm rot="638724">
            <a:off x="4390517" y="14048"/>
            <a:ext cx="3410966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iSCSI </a:t>
            </a:r>
            <a:r>
              <a:rPr lang="ko-KR" altLang="en-US" sz="2000" b="1" dirty="0">
                <a:solidFill>
                  <a:srgbClr val="FF0000"/>
                </a:solidFill>
              </a:rPr>
              <a:t>서버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1B30B1-74A0-EA47-E661-4735773E2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1505" name="_x240368992">
            <a:extLst>
              <a:ext uri="{FF2B5EF4-FFF2-40B4-BE49-F238E27FC236}">
                <a16:creationId xmlns:a16="http://schemas.microsoft.com/office/drawing/2014/main" id="{9B0D0B16-8DAC-7A96-AB95-3389453CD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03" y="1408643"/>
            <a:ext cx="10739563" cy="404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C1BC837-E992-9FAD-8694-EDC0E2D96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347" y="13113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7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B795-A3B8-896E-4165-33DCB372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7B027D-E1F2-9D68-6704-469DD5FA5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269734"/>
              </p:ext>
            </p:extLst>
          </p:nvPr>
        </p:nvGraphicFramePr>
        <p:xfrm>
          <a:off x="0" y="-1"/>
          <a:ext cx="12191999" cy="68653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5695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0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71518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269663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targetcli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iscsi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설정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하단 사진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: iqn.2004-10.com.ubuntu:01:1c5861495e7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로 변경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72C68014-3183-854F-9FBB-45F089758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0DD9B70-6BA0-1279-F8E2-0600F7528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437ACD-619A-FDBA-B8E1-061073E45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D361A75-A2C8-36E3-5910-59930F1B7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A59E13B-A980-3BE1-218B-E1A3286ED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4C3E743-1E37-75FB-7774-5DD3B5263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2529" name="_x240369552">
            <a:extLst>
              <a:ext uri="{FF2B5EF4-FFF2-40B4-BE49-F238E27FC236}">
                <a16:creationId xmlns:a16="http://schemas.microsoft.com/office/drawing/2014/main" id="{93B1D93C-9713-7257-C5ED-69B3CFBD5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870" y="914401"/>
            <a:ext cx="7366529" cy="536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583E8110-C28C-B776-519A-070B1DD62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0FC02B69-E9E5-EB6E-3DF4-C9718BD497DE}"/>
              </a:ext>
            </a:extLst>
          </p:cNvPr>
          <p:cNvSpPr/>
          <p:nvPr/>
        </p:nvSpPr>
        <p:spPr>
          <a:xfrm rot="638724">
            <a:off x="4390517" y="14048"/>
            <a:ext cx="3410966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iSCSI </a:t>
            </a:r>
            <a:r>
              <a:rPr lang="ko-KR" altLang="en-US" sz="2000" b="1" dirty="0">
                <a:solidFill>
                  <a:srgbClr val="FF0000"/>
                </a:solidFill>
              </a:rPr>
              <a:t>서버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EFF5D44-67F9-A952-9946-E5270A199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3426944-A461-FD2E-9209-FE83FF39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417E193-5865-A500-CE15-AE4BA59E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347" y="13113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68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648B-30E2-949E-A256-49DDC0BF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98E0D25-6644-81E6-2C8D-A82B34663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121778"/>
              </p:ext>
            </p:extLst>
          </p:nvPr>
        </p:nvGraphicFramePr>
        <p:xfrm>
          <a:off x="0" y="-1"/>
          <a:ext cx="12191999" cy="68653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5695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0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71518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269663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Monitorix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동작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BDB24DF9-5D0F-F046-1766-E2D48B16C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1A4CE63-09CF-640B-63DF-F0A305449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B35BEF-C6CD-37ED-BF6F-CDC3E8146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40ECE0E-1AF0-9152-CB4C-F79BF11A7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AEE8939-7C39-9B22-6722-913BD73D0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19547DD-6A5E-E734-3C70-4D5FBD318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3" name="_x240369552">
            <a:extLst>
              <a:ext uri="{FF2B5EF4-FFF2-40B4-BE49-F238E27FC236}">
                <a16:creationId xmlns:a16="http://schemas.microsoft.com/office/drawing/2014/main" id="{6D67C9C2-3581-97D1-B0EA-E4CE090E1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01" y="1013401"/>
            <a:ext cx="9465574" cy="506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1D70D65-2CF0-502A-797A-9EFF71EF2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BD85F40F-75C6-AFFC-427E-BDCED2F71CD7}"/>
              </a:ext>
            </a:extLst>
          </p:cNvPr>
          <p:cNvSpPr/>
          <p:nvPr/>
        </p:nvSpPr>
        <p:spPr>
          <a:xfrm rot="638724">
            <a:off x="4390517" y="14048"/>
            <a:ext cx="3410966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B352B87-5B62-809C-7691-3C0D58B7A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516854F-B675-59CD-220A-6BDDB64EC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3086AAA-B899-BB5D-D629-19DDD59C4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FF987EA-0D7C-63AB-AC2B-551EED9F9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5" name="_x240370912">
            <a:extLst>
              <a:ext uri="{FF2B5EF4-FFF2-40B4-BE49-F238E27FC236}">
                <a16:creationId xmlns:a16="http://schemas.microsoft.com/office/drawing/2014/main" id="{F4AABC23-BB9E-2568-94A8-68F23354EA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58" t="14042" r="26840" b="51578"/>
          <a:stretch>
            <a:fillRect/>
          </a:stretch>
        </p:blipFill>
        <p:spPr bwMode="auto">
          <a:xfrm>
            <a:off x="5155143" y="381000"/>
            <a:ext cx="1550458" cy="72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837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C39D3-5E50-F6A9-D3DA-B1BFAD9E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60C2517-6FD8-D7E1-1CFA-CB0C21957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34320"/>
              </p:ext>
            </p:extLst>
          </p:nvPr>
        </p:nvGraphicFramePr>
        <p:xfrm>
          <a:off x="0" y="-1"/>
          <a:ext cx="12191999" cy="68653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5695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0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71518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269663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Monitorix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접속 확인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128.1.12.4:8080/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Monitorix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A67794A7-389B-B7E4-C739-41DDAED64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BCC8A3F-316A-15EE-E542-BA996F418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0049CC-07BE-5166-D81E-6A63908C4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A7746E7-7C7B-3361-8E52-64A7085C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40901DC-5268-9711-CB15-D8F189EB2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577" name="_x240368992">
            <a:extLst>
              <a:ext uri="{FF2B5EF4-FFF2-40B4-BE49-F238E27FC236}">
                <a16:creationId xmlns:a16="http://schemas.microsoft.com/office/drawing/2014/main" id="{FFE5B8FA-57BD-3A04-E8CC-611236C6D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573" y="951442"/>
            <a:ext cx="8950854" cy="520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C7EB91E8-E5A4-346C-3EBE-335396F79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971B294-3A6E-6666-60FE-14AEFFCDB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95341B69-6C93-DBEF-C2DB-967743FC41EB}"/>
              </a:ext>
            </a:extLst>
          </p:cNvPr>
          <p:cNvSpPr/>
          <p:nvPr/>
        </p:nvSpPr>
        <p:spPr>
          <a:xfrm rot="638724">
            <a:off x="4390517" y="14048"/>
            <a:ext cx="3410966" cy="1368710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DF2C7CA-B011-8094-F404-A407569C9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DB16928-5A4C-353A-A107-C39435D30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9D4DAA1-8AD2-115E-59FC-7F54F32D2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304A7A2-CF5C-E115-19F8-C7D3E9B43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5" name="_x240370912">
            <a:extLst>
              <a:ext uri="{FF2B5EF4-FFF2-40B4-BE49-F238E27FC236}">
                <a16:creationId xmlns:a16="http://schemas.microsoft.com/office/drawing/2014/main" id="{2C489B2C-FA4F-9009-8453-71CBCE9F2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58" t="14042" r="26840" b="51578"/>
          <a:stretch>
            <a:fillRect/>
          </a:stretch>
        </p:blipFill>
        <p:spPr bwMode="auto">
          <a:xfrm>
            <a:off x="5155143" y="381000"/>
            <a:ext cx="1550458" cy="72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7CBF8DA3-AD7E-5446-483B-76AD4FEB8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892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49633-BEA8-F6B5-D94C-A1DF28CC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667AF46-12A0-7A38-74F4-C53DFDB77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86389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Iscsi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, RAID1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설정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278E4FDE-2370-2C40-BF28-7ACD36820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70DA80-B74F-6E4E-9E04-C3402C27E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E38649-3C50-52A3-7FD9-AEC08DAC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F32977B-D184-4F08-7A6E-C31FBEFE6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37CDF29-EFB8-9D73-694A-EB4F81E83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5FDD495-866A-5E77-04D1-1978A01B7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6625" name="_x240370912">
            <a:extLst>
              <a:ext uri="{FF2B5EF4-FFF2-40B4-BE49-F238E27FC236}">
                <a16:creationId xmlns:a16="http://schemas.microsoft.com/office/drawing/2014/main" id="{453B95B5-6FF1-A8A3-FE25-394F49E29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540" y="951442"/>
            <a:ext cx="7420917" cy="544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EB5B996-66D2-BCA8-D471-3F4C878E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85B383C8-276D-5BF1-C9F1-20CAF7FE8DA7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</a:rPr>
              <a:t>스토리지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(</a:t>
            </a:r>
            <a:r>
              <a:rPr lang="en-US" altLang="ko-KR" sz="2000" b="1" dirty="0" err="1">
                <a:solidFill>
                  <a:srgbClr val="FF0000"/>
                </a:solidFill>
              </a:rPr>
              <a:t>iscsi</a:t>
            </a:r>
            <a:r>
              <a:rPr lang="en-US" altLang="ko-KR" sz="2000" b="1" dirty="0">
                <a:solidFill>
                  <a:srgbClr val="FF0000"/>
                </a:solidFill>
              </a:rPr>
              <a:t>, raid1,nfs, </a:t>
            </a:r>
            <a:r>
              <a:rPr lang="en-US" altLang="ko-KR" sz="2000" b="1" dirty="0" err="1">
                <a:solidFill>
                  <a:srgbClr val="FF0000"/>
                </a:solidFill>
              </a:rPr>
              <a:t>smb</a:t>
            </a:r>
            <a:r>
              <a:rPr lang="en-US" altLang="ko-KR" sz="2000" b="1" dirty="0">
                <a:solidFill>
                  <a:srgbClr val="FF0000"/>
                </a:solidFill>
              </a:rPr>
              <a:t>, disk quota)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C93EC17-0C29-B85D-BF14-AAE814F72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F0E3E88-A565-D277-9F1F-CA2AEF54D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AEB765F-772A-4642-DFE3-E6034EB51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127833E7-DE50-E339-0EEB-4DDE5FEC7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3051DD8-AB39-DE7C-202D-8280ED790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4BA6B44-6915-B6A3-7D82-238AAC5BF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D1EB5BD-3EF1-3E2B-1CE9-2AA553B96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183" y="-2"/>
            <a:ext cx="1219200" cy="1219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EBC7FEE-B8CC-5900-4066-5967D0335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619" y="217012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30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F69B-B7DC-C113-FAF3-01709AA46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9FEA25F-021B-1295-C154-3B743C819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121610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Disk quota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설정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C856A60-F13C-C62A-6011-64C5F8809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6ED7804-5A37-3F62-3041-09722528A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BB95CF-344B-D4D7-E0CC-1A26EBEE3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22A7545-5412-D4AA-C469-B1FDE258E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3B910A0-865C-6438-5F1A-4DB833CE0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24EFC56-3E9D-F340-BC28-5DB845EE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FD305E5-90F5-C392-93EC-2776143D2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136FDEF1-B090-930D-5239-9E88DEB583D2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</a:rPr>
              <a:t>스토리지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(</a:t>
            </a:r>
            <a:r>
              <a:rPr lang="en-US" altLang="ko-KR" sz="2000" b="1" dirty="0" err="1">
                <a:solidFill>
                  <a:srgbClr val="FF0000"/>
                </a:solidFill>
              </a:rPr>
              <a:t>iscsi</a:t>
            </a:r>
            <a:r>
              <a:rPr lang="en-US" altLang="ko-KR" sz="2000" b="1" dirty="0">
                <a:solidFill>
                  <a:srgbClr val="FF0000"/>
                </a:solidFill>
              </a:rPr>
              <a:t>, raid1,nfs, </a:t>
            </a:r>
            <a:r>
              <a:rPr lang="en-US" altLang="ko-KR" sz="2000" b="1" dirty="0" err="1">
                <a:solidFill>
                  <a:srgbClr val="FF0000"/>
                </a:solidFill>
              </a:rPr>
              <a:t>smb</a:t>
            </a:r>
            <a:r>
              <a:rPr lang="en-US" altLang="ko-KR" sz="2000" b="1" dirty="0">
                <a:solidFill>
                  <a:srgbClr val="FF0000"/>
                </a:solidFill>
              </a:rPr>
              <a:t>, disk quota)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1BC4C01-0B84-B07F-3669-E14F4BF94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0CA55FE-9E0D-717C-69BC-167BF40C6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32D2421-A0AF-FD6B-AD94-779BC75F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3B255D7-519F-BE5F-808F-AE2FF6EDE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6342FCE-3B5D-12A4-BA60-D0D3BA286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3D224A7-9D93-59BF-0A9C-F9B3DEB9B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6B365A1-9093-6741-8935-35112E684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7649" name="_x240369472">
            <a:extLst>
              <a:ext uri="{FF2B5EF4-FFF2-40B4-BE49-F238E27FC236}">
                <a16:creationId xmlns:a16="http://schemas.microsoft.com/office/drawing/2014/main" id="{85F7C253-7BF1-D83A-6BF2-71DD3EAB3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55" y="1878018"/>
            <a:ext cx="11047245" cy="402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88E97C9-1295-A21A-57EB-EEB2A4D7A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071" y="275729"/>
            <a:ext cx="1641323" cy="91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95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75F3-5CFF-35A1-B017-7DE51845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A6F498A-E8AA-0DE4-C803-94457DF95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04812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NFS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동작 및 설정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4FF7587B-2865-4D27-E4B8-269B1DEB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5713C8E-51BD-471F-A88D-9611F2D18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887DC0-889B-B70C-155A-C3DCFA40C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2175FA8-CFA8-8F15-490E-872015585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ABA0DB3-D9ED-65E4-E9C9-1FDB74C2C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F6091F-A8F3-6C3B-BE4E-937E16D7C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8673" name="_x240369872">
            <a:extLst>
              <a:ext uri="{FF2B5EF4-FFF2-40B4-BE49-F238E27FC236}">
                <a16:creationId xmlns:a16="http://schemas.microsoft.com/office/drawing/2014/main" id="{29891BF3-8C54-9AE7-1317-324567B9D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93" y="1592021"/>
            <a:ext cx="10984011" cy="428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8B9A1FF-F511-7BF8-8905-0DAD2FD32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82B146FC-99D1-DC92-BF53-D856B463C611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</a:rPr>
              <a:t>스토리지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(</a:t>
            </a:r>
            <a:r>
              <a:rPr lang="en-US" altLang="ko-KR" sz="2000" b="1" dirty="0" err="1">
                <a:solidFill>
                  <a:srgbClr val="FF0000"/>
                </a:solidFill>
              </a:rPr>
              <a:t>iscsi</a:t>
            </a:r>
            <a:r>
              <a:rPr lang="en-US" altLang="ko-KR" sz="2000" b="1" dirty="0">
                <a:solidFill>
                  <a:srgbClr val="FF0000"/>
                </a:solidFill>
              </a:rPr>
              <a:t>, raid1,nfs, </a:t>
            </a:r>
            <a:r>
              <a:rPr lang="en-US" altLang="ko-KR" sz="2000" b="1" dirty="0" err="1">
                <a:solidFill>
                  <a:srgbClr val="FF0000"/>
                </a:solidFill>
              </a:rPr>
              <a:t>smb</a:t>
            </a:r>
            <a:r>
              <a:rPr lang="en-US" altLang="ko-KR" sz="2000" b="1" dirty="0">
                <a:solidFill>
                  <a:srgbClr val="FF0000"/>
                </a:solidFill>
              </a:rPr>
              <a:t>, disk quota)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9EE03CC-410A-286A-655A-8ACCAEAB5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A27BC2B-AB82-0DA8-2F77-0DC0CBC26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25E6B19-C75D-2B35-6AF1-919777148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A69233A-20CC-7BCB-62E1-0360E5F83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645C449-2AA1-7236-5924-B9AD078F8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1A2B281-6BF8-5DAC-644C-1A65263F6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099B54B-0966-AE9E-F446-F074616C5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14C687E-7DA8-36B4-83EC-1B97C1FB8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2C940B7-DE66-6391-FA32-2AD14A665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487" y="88848"/>
            <a:ext cx="1420388" cy="142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01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938D7-0430-F331-3A6A-A6339306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752502-631B-75DB-CED3-886D6AF26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23076"/>
              </p:ext>
            </p:extLst>
          </p:nvPr>
        </p:nvGraphicFramePr>
        <p:xfrm>
          <a:off x="0" y="-1"/>
          <a:ext cx="12269216" cy="68653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90170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28570">
                  <a:extLst>
                    <a:ext uri="{9D8B030D-6E8A-4147-A177-3AD203B41FA5}">
                      <a16:colId xmlns:a16="http://schemas.microsoft.com/office/drawing/2014/main" val="2696814062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5695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07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715180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26966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SMB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및 설정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SMB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Storage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4DCD356-D740-A0B2-BA60-0C3B0874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375830D-5166-81D1-B677-3779410BC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D24A02-80E6-571E-0076-A263C9585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FEB0FD5-C38D-2C74-8C43-C77F685AC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FC9FB35-1D88-28DF-A5BC-2CED89271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F8276E4-2CF3-31DD-57DC-93F402BDB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AB9D5DD-2558-D015-7E34-A6F116970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D3F06D4-2DD7-2A6A-E24D-3A1661743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5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2D4377D-9F28-918B-EC8F-3962554E3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F60D75D-4100-15CE-F990-833D996C4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1745" name="_x240370192">
            <a:extLst>
              <a:ext uri="{FF2B5EF4-FFF2-40B4-BE49-F238E27FC236}">
                <a16:creationId xmlns:a16="http://schemas.microsoft.com/office/drawing/2014/main" id="{EC703D4C-C1A0-A058-0C31-4DD8D2B21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4760"/>
            <a:ext cx="6096000" cy="503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2D5C35DF-20D9-28D4-DCFE-0C0BC9E9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1747" name="_x240370592">
            <a:extLst>
              <a:ext uri="{FF2B5EF4-FFF2-40B4-BE49-F238E27FC236}">
                <a16:creationId xmlns:a16="http://schemas.microsoft.com/office/drawing/2014/main" id="{E7F7960F-7157-A653-11C8-AD1197288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81212"/>
            <a:ext cx="6173216" cy="506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폭발: 14pt 14">
            <a:extLst>
              <a:ext uri="{FF2B5EF4-FFF2-40B4-BE49-F238E27FC236}">
                <a16:creationId xmlns:a16="http://schemas.microsoft.com/office/drawing/2014/main" id="{B86A4BD5-27FE-79E0-2340-7199B696193C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</a:rPr>
              <a:t>스토리지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(</a:t>
            </a:r>
            <a:r>
              <a:rPr lang="en-US" altLang="ko-KR" sz="2000" b="1" dirty="0" err="1">
                <a:solidFill>
                  <a:srgbClr val="FF0000"/>
                </a:solidFill>
              </a:rPr>
              <a:t>iscsi</a:t>
            </a:r>
            <a:r>
              <a:rPr lang="en-US" altLang="ko-KR" sz="2000" b="1" dirty="0">
                <a:solidFill>
                  <a:srgbClr val="FF0000"/>
                </a:solidFill>
              </a:rPr>
              <a:t>, raid1,nfs, </a:t>
            </a:r>
            <a:r>
              <a:rPr lang="en-US" altLang="ko-KR" sz="2000" b="1" dirty="0" err="1">
                <a:solidFill>
                  <a:srgbClr val="FF0000"/>
                </a:solidFill>
              </a:rPr>
              <a:t>smb</a:t>
            </a:r>
            <a:r>
              <a:rPr lang="en-US" altLang="ko-KR" sz="2000" b="1" dirty="0">
                <a:solidFill>
                  <a:srgbClr val="FF0000"/>
                </a:solidFill>
              </a:rPr>
              <a:t>, disk quota)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03F5599-D13B-3A7A-EDFE-97ACBDD0D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474" y="14519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6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7E8EE-9180-1D56-AC8A-45C61729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E4BD36-3FEB-498E-E589-1A06A9DD45BC}"/>
              </a:ext>
            </a:extLst>
          </p:cNvPr>
          <p:cNvSpPr txBox="1"/>
          <p:nvPr/>
        </p:nvSpPr>
        <p:spPr>
          <a:xfrm>
            <a:off x="448264" y="573987"/>
            <a:ext cx="112954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★ 코어 서비스★</a:t>
            </a:r>
            <a:endParaRPr lang="en-US" altLang="ko-KR" sz="8800" b="1" dirty="0">
              <a:ln>
                <a:solidFill>
                  <a:srgbClr val="FF0000"/>
                </a:solidFill>
              </a:ln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F1A31A2-05E2-B75B-CB69-BF5149FAB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255" y="2893218"/>
            <a:ext cx="1446549" cy="14465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11E8617-83BE-776F-492F-DFFE36A1D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599" y="2893218"/>
            <a:ext cx="1880468" cy="14824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1311971-0B0C-E557-D7F7-A33C328D1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885" y="2714625"/>
            <a:ext cx="195262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01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6297-1265-CDDF-951F-7866E926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B91BDEF-9595-EF8B-4FBD-20E360F12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977581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DNS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동작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2EC58AD0-3625-76B8-000C-B3B104309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6FE7B23-6746-5D87-51A9-F95111AA6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E9F1D9-09E5-5F50-C2C1-2D1F2DB9A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A6C22A-94D2-1293-C25F-A3AF416FB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3D62B0E-DA11-85B2-8A3D-BFE39BA97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9A7C82A-B883-9434-A68A-84AF0B968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C6F4DB7-101B-79D0-1BB8-C8E93CC28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C7914434-4E98-2E01-1A48-98FD23E43B59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DNS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90866E4-0AE7-2B17-0974-55A7493F6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F56AC62-00C4-1818-4AF7-8B712BA3B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8184704-0530-6E7A-CF55-A292336C0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2EF1344-0FB2-2435-80E6-1DE92964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2503FD1-E0F7-BC3C-86B6-B739B9D75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8C91E9B-D872-45A5-5AA5-6594BAD51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6ECB455-D383-A482-F636-94A8AB894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1D73967-0C31-4E10-4947-50DF81514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2F9441A-5ED2-ECC9-7F54-BF7DFB6AC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9F1319B-97EF-0F93-5449-C427A9CB5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055" y="217012"/>
            <a:ext cx="1071562" cy="1071562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5AABD67A-3ACB-7A69-E1D7-AA0D9D72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2769" name="_x240370832">
            <a:extLst>
              <a:ext uri="{FF2B5EF4-FFF2-40B4-BE49-F238E27FC236}">
                <a16:creationId xmlns:a16="http://schemas.microsoft.com/office/drawing/2014/main" id="{44C63C15-B750-C33F-8A8E-17FF8D22B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14" y="2339773"/>
            <a:ext cx="11004370" cy="227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673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E7BB-E107-056C-A743-C479E9784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C06AB3-0498-8838-179C-D58C770FB5EA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등록된 모든 도메인에 대한 레코드 정보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(SOA, NS)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235BA283-E34D-B8E7-C14C-9D9A28130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B3A88FE-65C3-0099-1B98-5C7C1CFD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49432B-A9FE-A952-375F-A5635D0FF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65CB3B-D610-0D84-FDE7-770B01423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CBD19AE-AD73-9EAA-25EC-9C6DDDD7B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2C1FF34-F214-E667-A1BA-60F766EC7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3793" name="_x240370512">
            <a:extLst>
              <a:ext uri="{FF2B5EF4-FFF2-40B4-BE49-F238E27FC236}">
                <a16:creationId xmlns:a16="http://schemas.microsoft.com/office/drawing/2014/main" id="{4318E9A1-6D6B-845D-8E5E-6D4E1D689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7" y="457200"/>
            <a:ext cx="12095163" cy="584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75DBB3F7-0A5C-01BD-9265-461ED8B27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206EEC2-5A46-1C68-AC7A-357D09B66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3086EFA-FD53-B3AE-A215-9A3A4D4CD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F2AC37B-974E-31EA-8F08-3D86F689F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491FB462-0525-0C3C-0924-4452D2130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76DEC51-327D-333E-10D8-8E3D66A52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35254EE-315A-9EB3-88E7-66CEB7255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340C508-4FB8-11E8-AB57-DBE324B33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B2F4E95-33B1-3AE3-7177-B7876A0BC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폭발: 14pt 21">
            <a:extLst>
              <a:ext uri="{FF2B5EF4-FFF2-40B4-BE49-F238E27FC236}">
                <a16:creationId xmlns:a16="http://schemas.microsoft.com/office/drawing/2014/main" id="{E2C166F7-9BBD-E426-F992-0C2E399345C9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DNS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8EC16E7-B64B-4D1B-6CDD-1AD233222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7ECEDDD-9754-1119-4E9C-1237D1A6B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055" y="217012"/>
            <a:ext cx="1071562" cy="1071562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BC7F67BC-2818-8792-E034-BC63EF81E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470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A6D0-F2DF-3FF1-AEDF-7F9F4EF1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77CD66-ED36-2C9D-8E91-DF87FEE80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375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DHCP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동작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FABED00A-1F78-BAE2-F6FB-26538D5B9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5AB3E3C-F081-20ED-8270-D53E200B5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F0A5E8-23D8-9D09-C48B-63A63ED6C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4FB8B9-1961-B6E2-6F12-8B4F1E38F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2781811-455A-9282-0934-0F3226AF8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1537B7-B6C9-24ED-5199-8BB5AE6B4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96BE234-2D5B-B9D2-65E9-0B0618A62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356D1108-811C-225B-1CB4-5F6FC0B56D0D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DHCP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C9A3B8B-A7A0-CF1C-2AED-12187F8DC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A67CC04-D5FA-A83D-0989-BEF5BCC3A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4BC9EBB-1A8D-3413-6110-AE590E218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D5B34CD-7655-BF96-A30C-03816CBA0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5A3C781-78C9-0E80-68A1-94069644A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04D70B3-B96E-7477-D357-7AEA9A541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E635AFD-E486-E4CD-9D94-B48CCED91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EDB7DC2-5812-6D4D-739D-D066A93A9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E79DE79-A409-1A5D-7578-C90D7CE6C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9CA6D91-6A06-8256-1D43-26613C3B9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639D563-22ED-5922-DB3B-0A67B800E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671" y="-2"/>
            <a:ext cx="1880468" cy="1482436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1608A977-87E9-93C1-85C9-17461DCC9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12849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4817" name="_x240370272">
            <a:extLst>
              <a:ext uri="{FF2B5EF4-FFF2-40B4-BE49-F238E27FC236}">
                <a16:creationId xmlns:a16="http://schemas.microsoft.com/office/drawing/2014/main" id="{87FCB108-DB0B-2AAB-FFE4-DF1F2ABB3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3" y="1753935"/>
            <a:ext cx="10474587" cy="383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095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3CD8-1333-2482-9CE5-28AFBB5D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72810EF-9C79-CBB7-5529-81466B6C3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509780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DHCP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설정 파일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(/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etc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dhcp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dhcpd.conf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설정 추가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E0C459A1-D2E5-A543-79C9-C5BBC897E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8D43D56-B04A-5AC2-11D7-FB4BA47DC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12738A-1BB3-EB2D-2C71-FC52C99B8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AF1453B-00EC-C300-2E4D-3A2E5D23A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B59EC2-8D8D-7B66-AE1D-52435D770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404A66C-F0BA-7DC5-506C-A3DF7AAE1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949D42A-BCB8-597C-1AA4-1FA15DD61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6995B06C-C69E-0636-D1DD-654722C1DE6C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DHCP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A1837DD-DB5D-DCD0-9BE6-755984868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6AA3EC5-36BA-DEF9-A93E-DD8454C3E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A29E11A-176A-4BE5-9A1E-1471904DA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CB63CD6-6531-8EDD-5DDF-EF2EA41CB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945828D-A667-6144-0049-4576C592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7B13644-9D30-C809-8074-9C872971B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D9B820A-97D0-F348-5542-CE6F16179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BF753B6-001D-42BC-0111-B35FA51EE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AD86F642-DF22-7F10-B1D0-B116CC527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712DAFD-9007-CC7C-B390-FBAE8B142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2ED4D01-EA13-435A-E291-983B84879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671" y="-2"/>
            <a:ext cx="1880468" cy="1482436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87283DB4-0CDF-14AD-562F-A626F3A49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12849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BDC399B8-A5CE-742F-6403-172E2D4A4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6865" name="_x240369232">
            <a:extLst>
              <a:ext uri="{FF2B5EF4-FFF2-40B4-BE49-F238E27FC236}">
                <a16:creationId xmlns:a16="http://schemas.microsoft.com/office/drawing/2014/main" id="{BD715F88-A85A-1103-A335-409B76F92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562" y="1824276"/>
            <a:ext cx="8060266" cy="39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163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E1902-B9A0-6A0F-C214-5005DC6E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E26D23D-4818-7FBA-1358-276CF5B30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04705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공유 받을 파일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mnt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dhcp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생성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사용자 계정 생성 및 비밀번호 설정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마운트 설정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A389792-FB7C-3E73-DDAA-27D1CE4C6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67EE31-4872-101B-4049-30FA836F0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A6B6AB-95DB-F55A-FC62-A3B4EC2A0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5BCEB2-83DB-0C37-30C3-F79B9D5A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8A4CD32-5491-9929-7C7B-1F094CF52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46CD3D6-7796-E5C4-560D-142218A65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5C32E56-859C-E481-9422-03F2EC400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7AFB9968-62F0-350C-9A89-2046663125C3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DHCP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24ED2FF-8B51-125F-DA42-06470A5E4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F11224C-5ADA-FA66-0B76-497D8C636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8869F57-FDFA-F790-2695-2DF2FEE83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D3BC8987-F148-BDA4-E043-74E88065C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63FFAE3-937B-5E93-FE50-F7E87D150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675AFB1-728A-B8FC-3CAA-1CBCECF5F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998DED7-3773-D0D3-DC5F-4143EF6F3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2AB9D48-B93B-3AC1-6564-3FE711DD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FF52F4B-7DBC-00ED-7716-44CB29334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BC9B85FD-E8C3-5DDF-F65C-949D7329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AC13613-D44F-C1E9-D364-2D7D27260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671" y="-2"/>
            <a:ext cx="1880468" cy="1482436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9F86C5F7-5546-FA1B-95DD-A670A388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12849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1A8F689-3BAE-33C4-B674-078F74EA2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F3035945-30A6-8687-544C-949BB4D82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A94497C3-DA47-BD9A-8A0A-ED1BA838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7891" name="_x240370352">
            <a:extLst>
              <a:ext uri="{FF2B5EF4-FFF2-40B4-BE49-F238E27FC236}">
                <a16:creationId xmlns:a16="http://schemas.microsoft.com/office/drawing/2014/main" id="{50AFDC86-E991-1262-23B0-E6702C627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700" y="2542327"/>
            <a:ext cx="8286597" cy="105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6">
            <a:extLst>
              <a:ext uri="{FF2B5EF4-FFF2-40B4-BE49-F238E27FC236}">
                <a16:creationId xmlns:a16="http://schemas.microsoft.com/office/drawing/2014/main" id="{3CAC19BD-2C90-C747-05D7-7D61D4E5A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7893" name="_x240370192">
            <a:extLst>
              <a:ext uri="{FF2B5EF4-FFF2-40B4-BE49-F238E27FC236}">
                <a16:creationId xmlns:a16="http://schemas.microsoft.com/office/drawing/2014/main" id="{6AB0CC97-FFFD-BC92-8973-89045704A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67" y="3957212"/>
            <a:ext cx="11700698" cy="107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332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7873-300A-F953-A2E9-08708635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52716C-0DA2-4052-90C9-EFA002FF3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87792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웹브라우저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 접속확인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http://128.1.12.5  / apache2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실행확인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1994595-54B1-B49E-C687-9CA1F1624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2D9FCF5-1E01-1495-7B37-5E940C7E3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D50A1C-44F6-350A-6639-5B1D266F4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1691053-B6C1-CD93-3600-9090FE7A1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EAABA88-A56B-5659-79DC-A0D85E73B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F018D0C-A1A9-F9CD-9C7B-A2D09F967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AC42189-1AEB-32F6-4824-E9078A612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DAEC1DD4-A72D-F72C-39E3-04715D675E57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WEB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  <a:endParaRPr lang="en-US" altLang="ko-KR" sz="36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(KR, EN)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4D31F8D-257D-166E-E53D-F5C17BE28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644B361-4CD2-C434-37DE-C6E88885B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B15E4C9-A713-0090-E73B-C6B7E6958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701F8A5-FF7B-ED66-AFA5-478903F79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F330463-ECAF-55E9-48DC-799EC5B9B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5961283-538E-DF97-8AE8-BA2C05AC1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8109C79-B703-733C-58CD-398D3200A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403527C-B05D-B8E1-3E81-2A78ABE89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126B1BA-AC54-012C-4669-D3C843178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C42AEC6-5B6A-B2E1-8EBE-A412D370A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6B50F0A-2B59-DCDB-6CC8-D7EB424EE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12849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D4D34566-3C0A-E6CE-81DB-E83F2B493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8913" name="_x240369952">
            <a:extLst>
              <a:ext uri="{FF2B5EF4-FFF2-40B4-BE49-F238E27FC236}">
                <a16:creationId xmlns:a16="http://schemas.microsoft.com/office/drawing/2014/main" id="{0FC5869F-6CD6-E687-E0AA-9732B6846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8" y="1935469"/>
            <a:ext cx="6530862" cy="344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4">
            <a:extLst>
              <a:ext uri="{FF2B5EF4-FFF2-40B4-BE49-F238E27FC236}">
                <a16:creationId xmlns:a16="http://schemas.microsoft.com/office/drawing/2014/main" id="{7528C5B2-8D49-152E-39B8-D9D5A36DE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8915" name="_x240371072">
            <a:extLst>
              <a:ext uri="{FF2B5EF4-FFF2-40B4-BE49-F238E27FC236}">
                <a16:creationId xmlns:a16="http://schemas.microsoft.com/office/drawing/2014/main" id="{0B6E7DA0-A2C1-3CEF-503E-A65C69409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640" y="2323530"/>
            <a:ext cx="7306741" cy="207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581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03ED-8DD4-5284-155A-0E53B07F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F1D926-AC0D-95A5-8692-5DB9CD11E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621638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MariaDB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실행 확인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A5B44B4-CDA3-DCF8-F64A-34B030605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6A05741-F7CD-4373-F1D7-952FF4E15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BA3ADA-D564-08DF-3DD2-371B600F2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32C5683-7D74-BF21-1671-C153DB27C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E4D150D-0CC0-D514-6034-A8F90DED3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9A18A81-0E9E-36D3-C6FB-FBC73C7D1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9937" name="_x240369792">
            <a:extLst>
              <a:ext uri="{FF2B5EF4-FFF2-40B4-BE49-F238E27FC236}">
                <a16:creationId xmlns:a16="http://schemas.microsoft.com/office/drawing/2014/main" id="{9EA36A3E-47A6-DBA1-EBFD-E11BE931B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806" y="1324822"/>
            <a:ext cx="9102304" cy="451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8D68266-0E4A-56C7-55EA-3ABA4711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06D4BBBD-016D-DC84-0F5D-040A35CB3E4E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WEB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  <a:endParaRPr lang="en-US" altLang="ko-KR" sz="36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(KR, EN)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969B1E4-7310-10A6-7301-D496F242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F5F8B84-3D46-512D-4699-801D04741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115B7E8-B2D5-13AE-6C64-C56131E6A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E33AD4A-1439-7453-4EB6-02A975E85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9811940-84F8-D1E5-38FA-6B9DDE344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3BCDA41-1826-0261-9423-52C110916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A3D4271-4226-8474-D3C6-E93419D30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16CF9801-4BA7-8E08-C2F6-4AF10057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50EC6D5-4B43-0F95-9D75-30E96C6B6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7552BB5D-27D5-11CB-F42F-7AB56F7E0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E5B4BAC6-C112-9741-87C4-488DD3DA0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12849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78813B04-2CDE-90E6-C795-DA8C6359D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774732CB-008E-67F1-54BA-8786A457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C809676B-5EC3-09DC-08D7-5C1C1CD2D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63" y="64082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1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C10C8-9DA1-61F8-D317-9AFB8C65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1FC7CDF-6067-F6B3-07FB-01BD397D1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59957"/>
              </p:ext>
            </p:extLst>
          </p:nvPr>
        </p:nvGraphicFramePr>
        <p:xfrm>
          <a:off x="0" y="-1"/>
          <a:ext cx="12191999" cy="685800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1523">
                  <a:extLst>
                    <a:ext uri="{9D8B030D-6E8A-4147-A177-3AD203B41FA5}">
                      <a16:colId xmlns:a16="http://schemas.microsoft.com/office/drawing/2014/main" val="870251889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806865860"/>
                    </a:ext>
                  </a:extLst>
                </a:gridCol>
                <a:gridCol w="3041523">
                  <a:extLst>
                    <a:ext uri="{9D8B030D-6E8A-4147-A177-3AD203B41FA5}">
                      <a16:colId xmlns:a16="http://schemas.microsoft.com/office/drawing/2014/main" val="3324066018"/>
                    </a:ext>
                  </a:extLst>
                </a:gridCol>
                <a:gridCol w="3067430">
                  <a:extLst>
                    <a:ext uri="{9D8B030D-6E8A-4147-A177-3AD203B41FA5}">
                      <a16:colId xmlns:a16="http://schemas.microsoft.com/office/drawing/2014/main" val="293508521"/>
                    </a:ext>
                  </a:extLst>
                </a:gridCol>
              </a:tblGrid>
              <a:tr h="460528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기술 구현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432162"/>
                  </a:ext>
                </a:extLst>
              </a:tr>
              <a:tr h="421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위치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본사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</a:rPr>
                        <a:t>기술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</a:rPr>
                        <a:t>NAT(PAT)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128667932"/>
                  </a:ext>
                </a:extLst>
              </a:tr>
              <a:tr h="466287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205969"/>
                  </a:ext>
                </a:extLst>
              </a:tr>
              <a:tr h="1313176">
                <a:tc grid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</a:rPr>
                        <a:t>phpmyadmin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</a:rPr>
                        <a:t>화면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11333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34889404-E4EC-8289-1169-75494A42F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B96A89-7155-1632-657E-69041E27D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64F69F-2E01-D6E4-8DB5-90503B88E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D2C6131-AE29-587D-83C5-FD0C1F2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6453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197D23E-B674-4C7B-4CE3-08A68E643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389AE53-396D-AA38-575D-9BB167CCF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0C06938-3317-58A0-3B8A-A0C11CD99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2181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폭발: 14pt 5">
            <a:extLst>
              <a:ext uri="{FF2B5EF4-FFF2-40B4-BE49-F238E27FC236}">
                <a16:creationId xmlns:a16="http://schemas.microsoft.com/office/drawing/2014/main" id="{F8B1580C-498C-1405-C5A0-868FED9B486B}"/>
              </a:ext>
            </a:extLst>
          </p:cNvPr>
          <p:cNvSpPr/>
          <p:nvPr/>
        </p:nvSpPr>
        <p:spPr>
          <a:xfrm rot="638724">
            <a:off x="3359729" y="-385001"/>
            <a:ext cx="6000017" cy="2309194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WEB </a:t>
            </a:r>
            <a:r>
              <a:rPr lang="ko-KR" altLang="en-US" sz="3600" b="1" dirty="0">
                <a:solidFill>
                  <a:srgbClr val="FF0000"/>
                </a:solidFill>
              </a:rPr>
              <a:t>서버</a:t>
            </a:r>
            <a:endParaRPr lang="en-US" altLang="ko-KR" sz="3600" b="1" dirty="0">
              <a:solidFill>
                <a:srgbClr val="FF0000"/>
              </a:solidFill>
            </a:endParaRPr>
          </a:p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(KR, EN)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1CCB151-8A7D-9AEA-8250-578D4863B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951442"/>
            <a:ext cx="18501979" cy="83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C9D4400-583A-1DA9-4C2C-A8F029E9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334" y="457200"/>
            <a:ext cx="15236988" cy="55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DB845B2-D0D0-5F40-DF73-5D03DCCD9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A8828C83-8DD4-E8AF-8128-B4A46BE5C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E0B2C99-DB28-56CF-A829-ED6033B99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99463DD-623B-3877-4F6D-DABAFDA3A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C1359D2-E216-4455-BAED-94D4CBA01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733EA8D-8BD4-4D2F-EB17-2489A9FC9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1E99F16-4378-1062-8A72-F9032DE5B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EFE21B95-B594-78B6-AA54-525CA0394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AE73BA3A-A1F3-7ECC-9D47-13CEC40C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03" y="12849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A4A05A58-2292-752E-8AC9-C84130E14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40C1C4F3-B86B-5670-28AC-085F6D520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E7ABE213-CEF1-0300-5077-F502F312E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63" y="64082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9BCD6775-6FD9-52C0-E5E5-3503340F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61" name="_x240369872">
            <a:extLst>
              <a:ext uri="{FF2B5EF4-FFF2-40B4-BE49-F238E27FC236}">
                <a16:creationId xmlns:a16="http://schemas.microsoft.com/office/drawing/2014/main" id="{6884D8EF-1227-3202-641A-34C8DE0EC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1928041"/>
            <a:ext cx="11467595" cy="345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811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94F9-D8F7-F822-B6E9-84D6A397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8C619A-613B-D045-34E3-8D1BDE3C4EA8}"/>
              </a:ext>
            </a:extLst>
          </p:cNvPr>
          <p:cNvSpPr txBox="1"/>
          <p:nvPr/>
        </p:nvSpPr>
        <p:spPr>
          <a:xfrm>
            <a:off x="448264" y="573987"/>
            <a:ext cx="112954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★ 자동화 스크립트★</a:t>
            </a:r>
            <a:endParaRPr lang="en-US" altLang="ko-KR" sz="8800" b="1" dirty="0">
              <a:ln>
                <a:solidFill>
                  <a:srgbClr val="FF0000"/>
                </a:solidFill>
              </a:ln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06A9F9-BC2B-47A4-9072-775696060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235" y="2550213"/>
            <a:ext cx="6667500" cy="3733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3B7BE85-BA31-2118-A377-8516B27B3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8" y="2296213"/>
            <a:ext cx="5322651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12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EBA897-2EE2-4E59-9707-18DC6338E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11144" r="66856" b="57127"/>
          <a:stretch/>
        </p:blipFill>
        <p:spPr>
          <a:xfrm>
            <a:off x="636608" y="1606101"/>
            <a:ext cx="1156974" cy="10069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0047EEB-448F-49BD-8489-B34A9BD12B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11144" r="66856" b="57127"/>
          <a:stretch/>
        </p:blipFill>
        <p:spPr>
          <a:xfrm>
            <a:off x="636608" y="3297934"/>
            <a:ext cx="1156974" cy="10069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8ADEFE-2F17-4E87-A72C-12A573D427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11144" r="66856" b="57127"/>
          <a:stretch/>
        </p:blipFill>
        <p:spPr>
          <a:xfrm>
            <a:off x="636608" y="5128663"/>
            <a:ext cx="1156974" cy="1006996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ECFD9C7C-A493-4C1C-B64F-A9405FF2A305}"/>
              </a:ext>
            </a:extLst>
          </p:cNvPr>
          <p:cNvGrpSpPr/>
          <p:nvPr/>
        </p:nvGrpSpPr>
        <p:grpSpPr>
          <a:xfrm>
            <a:off x="6748040" y="1516345"/>
            <a:ext cx="1018573" cy="1051038"/>
            <a:chOff x="6748040" y="1282429"/>
            <a:chExt cx="1018573" cy="105103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8AA2611-CF07-4B42-8EAF-27F71CD131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35" r="50548" b="78927"/>
            <a:stretch/>
          </p:blipFill>
          <p:spPr>
            <a:xfrm>
              <a:off x="6748040" y="1282429"/>
              <a:ext cx="1018573" cy="1051038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C7F3704-4377-4B59-B9FA-DFD526EDEB44}"/>
                </a:ext>
              </a:extLst>
            </p:cNvPr>
            <p:cNvCxnSpPr/>
            <p:nvPr/>
          </p:nvCxnSpPr>
          <p:spPr>
            <a:xfrm>
              <a:off x="7061835" y="1470660"/>
              <a:ext cx="83820" cy="211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1A910E5-3A7E-4E4E-8FF1-D3981ACCD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7326" y="1434465"/>
              <a:ext cx="1333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C854BB5-28F5-4345-9DB2-824493A47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4435" y="1434465"/>
              <a:ext cx="3501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80CD64A-A3EA-4D20-A2FA-E70DA4129C64}"/>
              </a:ext>
            </a:extLst>
          </p:cNvPr>
          <p:cNvGrpSpPr/>
          <p:nvPr/>
        </p:nvGrpSpPr>
        <p:grpSpPr>
          <a:xfrm>
            <a:off x="6761374" y="3253892"/>
            <a:ext cx="1018573" cy="1051038"/>
            <a:chOff x="6748040" y="1282429"/>
            <a:chExt cx="1018573" cy="1051038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AD70BE7-E516-426D-969C-FC62852EF7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35" r="50548" b="78927"/>
            <a:stretch/>
          </p:blipFill>
          <p:spPr>
            <a:xfrm>
              <a:off x="6748040" y="1282429"/>
              <a:ext cx="1018573" cy="1051038"/>
            </a:xfrm>
            <a:prstGeom prst="rect">
              <a:avLst/>
            </a:prstGeom>
          </p:spPr>
        </p:pic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380EC4E-C010-40E7-A9E2-9B0AEE6DCCBB}"/>
                </a:ext>
              </a:extLst>
            </p:cNvPr>
            <p:cNvCxnSpPr/>
            <p:nvPr/>
          </p:nvCxnSpPr>
          <p:spPr>
            <a:xfrm>
              <a:off x="7061835" y="1470660"/>
              <a:ext cx="83820" cy="2114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0FEFF2C-85C3-4ED4-99C7-2792614A7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7326" y="1434465"/>
              <a:ext cx="1333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16AD31F-AA7E-4F60-BCA2-A117286022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4435" y="1434465"/>
              <a:ext cx="35015" cy="2247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9DB907D-135A-4FD5-8C4A-FFFAF6D312E9}"/>
              </a:ext>
            </a:extLst>
          </p:cNvPr>
          <p:cNvSpPr/>
          <p:nvPr/>
        </p:nvSpPr>
        <p:spPr>
          <a:xfrm>
            <a:off x="0" y="0"/>
            <a:ext cx="12192000" cy="1286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ysClr val="windowText" lastClr="00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자동화 스크립트 주요 기능</a:t>
            </a:r>
            <a:endParaRPr lang="en-US" altLang="ko-KR" sz="4000" dirty="0">
              <a:solidFill>
                <a:sysClr val="windowText" lastClr="00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3" name="말풍선: 모서리가 둥근 사각형 22">
            <a:extLst>
              <a:ext uri="{FF2B5EF4-FFF2-40B4-BE49-F238E27FC236}">
                <a16:creationId xmlns:a16="http://schemas.microsoft.com/office/drawing/2014/main" id="{679392AE-8380-48BC-B3D9-6AD94EE75CFF}"/>
              </a:ext>
            </a:extLst>
          </p:cNvPr>
          <p:cNvSpPr/>
          <p:nvPr/>
        </p:nvSpPr>
        <p:spPr>
          <a:xfrm>
            <a:off x="2302868" y="1696712"/>
            <a:ext cx="3217762" cy="790444"/>
          </a:xfrm>
          <a:prstGeom prst="wedgeRoundRectCallout">
            <a:avLst>
              <a:gd name="adj1" fmla="val -61915"/>
              <a:gd name="adj2" fmla="val -2772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rgbClr val="FFFF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네트워크 관리 자동화</a:t>
            </a:r>
          </a:p>
        </p:txBody>
      </p:sp>
      <p:sp>
        <p:nvSpPr>
          <p:cNvPr id="24" name="말풍선: 모서리가 둥근 사각형 23">
            <a:extLst>
              <a:ext uri="{FF2B5EF4-FFF2-40B4-BE49-F238E27FC236}">
                <a16:creationId xmlns:a16="http://schemas.microsoft.com/office/drawing/2014/main" id="{BD692B5A-81B9-4F0F-BA18-AE92A088F4AD}"/>
              </a:ext>
            </a:extLst>
          </p:cNvPr>
          <p:cNvSpPr/>
          <p:nvPr/>
        </p:nvSpPr>
        <p:spPr>
          <a:xfrm>
            <a:off x="2271931" y="3405928"/>
            <a:ext cx="3533445" cy="790444"/>
          </a:xfrm>
          <a:prstGeom prst="wedgeRoundRectCallout">
            <a:avLst>
              <a:gd name="adj1" fmla="val -61915"/>
              <a:gd name="adj2" fmla="val -2772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rgbClr val="FFFF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서비스 연결 자동화</a:t>
            </a:r>
          </a:p>
        </p:txBody>
      </p:sp>
      <p:sp>
        <p:nvSpPr>
          <p:cNvPr id="25" name="말풍선: 모서리가 둥근 사각형 24">
            <a:extLst>
              <a:ext uri="{FF2B5EF4-FFF2-40B4-BE49-F238E27FC236}">
                <a16:creationId xmlns:a16="http://schemas.microsoft.com/office/drawing/2014/main" id="{1122F9E0-E893-4759-8FE0-3C2BD2050947}"/>
              </a:ext>
            </a:extLst>
          </p:cNvPr>
          <p:cNvSpPr/>
          <p:nvPr/>
        </p:nvSpPr>
        <p:spPr>
          <a:xfrm>
            <a:off x="2294889" y="5161288"/>
            <a:ext cx="3217762" cy="790444"/>
          </a:xfrm>
          <a:prstGeom prst="wedgeRoundRectCallout">
            <a:avLst>
              <a:gd name="adj1" fmla="val -61915"/>
              <a:gd name="adj2" fmla="val -2772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rgbClr val="FFFF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서비스 설치 자동화</a:t>
            </a:r>
          </a:p>
        </p:txBody>
      </p:sp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F378E12A-F7F4-4399-811E-5300A8BF2081}"/>
              </a:ext>
            </a:extLst>
          </p:cNvPr>
          <p:cNvSpPr/>
          <p:nvPr/>
        </p:nvSpPr>
        <p:spPr>
          <a:xfrm>
            <a:off x="8337630" y="1696712"/>
            <a:ext cx="3217762" cy="790444"/>
          </a:xfrm>
          <a:prstGeom prst="wedgeRoundRectCallout">
            <a:avLst>
              <a:gd name="adj1" fmla="val -61915"/>
              <a:gd name="adj2" fmla="val -2772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유희영 님이</a:t>
            </a:r>
          </a:p>
        </p:txBody>
      </p:sp>
      <p:sp>
        <p:nvSpPr>
          <p:cNvPr id="27" name="말풍선: 모서리가 둥근 사각형 26">
            <a:extLst>
              <a:ext uri="{FF2B5EF4-FFF2-40B4-BE49-F238E27FC236}">
                <a16:creationId xmlns:a16="http://schemas.microsoft.com/office/drawing/2014/main" id="{935A7778-17E5-4D3C-B42B-0BDA6893EEEC}"/>
              </a:ext>
            </a:extLst>
          </p:cNvPr>
          <p:cNvSpPr/>
          <p:nvPr/>
        </p:nvSpPr>
        <p:spPr>
          <a:xfrm>
            <a:off x="8337630" y="3384189"/>
            <a:ext cx="3217762" cy="790444"/>
          </a:xfrm>
          <a:prstGeom prst="wedgeRoundRectCallout">
            <a:avLst>
              <a:gd name="adj1" fmla="val -61915"/>
              <a:gd name="adj2" fmla="val -2772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다 </a:t>
            </a:r>
            <a:r>
              <a:rPr lang="ko-KR" altLang="en-US" sz="36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만듬</a:t>
            </a:r>
            <a:endParaRPr lang="ko-KR" altLang="en-US" sz="36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8" name="폭발: 14pt 27">
            <a:extLst>
              <a:ext uri="{FF2B5EF4-FFF2-40B4-BE49-F238E27FC236}">
                <a16:creationId xmlns:a16="http://schemas.microsoft.com/office/drawing/2014/main" id="{C020FE18-77CB-43DA-AC73-C13D03F40901}"/>
              </a:ext>
            </a:extLst>
          </p:cNvPr>
          <p:cNvSpPr/>
          <p:nvPr/>
        </p:nvSpPr>
        <p:spPr>
          <a:xfrm rot="638724">
            <a:off x="7043060" y="4304656"/>
            <a:ext cx="4655760" cy="2537881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6A2745-61EE-4B33-82E5-2F3DA5C3AF12}"/>
              </a:ext>
            </a:extLst>
          </p:cNvPr>
          <p:cNvSpPr txBox="1"/>
          <p:nvPr/>
        </p:nvSpPr>
        <p:spPr>
          <a:xfrm>
            <a:off x="6186605" y="5197147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 err="1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초연결</a:t>
            </a:r>
            <a:r>
              <a:rPr lang="en-US" altLang="ko-KR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! </a:t>
            </a:r>
            <a:r>
              <a:rPr lang="ko-KR" altLang="en-US" sz="2400" dirty="0" err="1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초지능</a:t>
            </a:r>
            <a:r>
              <a:rPr lang="en-US" altLang="ko-KR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!</a:t>
            </a:r>
          </a:p>
          <a:p>
            <a:pPr algn="ctr"/>
            <a:r>
              <a:rPr lang="ko-KR" altLang="en-US" sz="2400" dirty="0" err="1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초융합</a:t>
            </a:r>
            <a:r>
              <a:rPr lang="en-US" altLang="ko-KR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!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16997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DF44546-CE0E-85EE-C953-56FF19882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1985" name="_x240369552">
            <a:extLst>
              <a:ext uri="{FF2B5EF4-FFF2-40B4-BE49-F238E27FC236}">
                <a16:creationId xmlns:a16="http://schemas.microsoft.com/office/drawing/2014/main" id="{4BBCE7F5-BCA4-DF37-2D31-319DFA953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" y="-13341"/>
            <a:ext cx="5580592" cy="687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Picture 4" descr="개구리 #개구리짤 #눈물개구리 #우울 #컴퓨터 #눈팅만.. : 네이버 블로그">
            <a:extLst>
              <a:ext uri="{FF2B5EF4-FFF2-40B4-BE49-F238E27FC236}">
                <a16:creationId xmlns:a16="http://schemas.microsoft.com/office/drawing/2014/main" id="{7319A97F-E022-CB55-8EA8-1F8078C8B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48236" y="898526"/>
            <a:ext cx="4564061" cy="327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C1F200-6656-63A9-2760-42EA3AA75BA8}"/>
              </a:ext>
            </a:extLst>
          </p:cNvPr>
          <p:cNvSpPr txBox="1"/>
          <p:nvPr/>
        </p:nvSpPr>
        <p:spPr>
          <a:xfrm>
            <a:off x="3678237" y="3422329"/>
            <a:ext cx="11295471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99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6732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D2476-B034-6B89-195E-69E475DD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A64E31D-D772-16C3-980B-09A7F157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02882-5A03-3503-7D56-6CEDA7C9FA73}"/>
              </a:ext>
            </a:extLst>
          </p:cNvPr>
          <p:cNvSpPr txBox="1"/>
          <p:nvPr/>
        </p:nvSpPr>
        <p:spPr>
          <a:xfrm>
            <a:off x="3678237" y="3422329"/>
            <a:ext cx="11295471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99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…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B9FB671-EF4B-5FED-D392-6F6ADAD57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4033" name="_x240372752">
            <a:extLst>
              <a:ext uri="{FF2B5EF4-FFF2-40B4-BE49-F238E27FC236}">
                <a16:creationId xmlns:a16="http://schemas.microsoft.com/office/drawing/2014/main" id="{274D6FED-6BC6-CE39-6710-150D17F1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03" y="0"/>
            <a:ext cx="5977949" cy="689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36" name="Picture 4" descr="질문 답변해줬는데 칼삭하네 | 메이플 인벤">
            <a:extLst>
              <a:ext uri="{FF2B5EF4-FFF2-40B4-BE49-F238E27FC236}">
                <a16:creationId xmlns:a16="http://schemas.microsoft.com/office/drawing/2014/main" id="{FFB6A0CF-43E5-983A-55B1-E030A01F2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93576" y="867834"/>
            <a:ext cx="4762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775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12F6B94-CBC5-7873-65C2-5C434DC2A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200" y="423862"/>
            <a:ext cx="6096000" cy="6010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11817F-47B3-A73B-BC54-19C9C1CBB9C0}"/>
              </a:ext>
            </a:extLst>
          </p:cNvPr>
          <p:cNvSpPr txBox="1"/>
          <p:nvPr/>
        </p:nvSpPr>
        <p:spPr>
          <a:xfrm>
            <a:off x="270934" y="2453587"/>
            <a:ext cx="806213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충격적인</a:t>
            </a:r>
            <a:endParaRPr lang="en-US" altLang="ko-KR" sz="8800" b="1" dirty="0">
              <a:ln>
                <a:solidFill>
                  <a:srgbClr val="FF0000"/>
                </a:solidFill>
              </a:ln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algn="ctr"/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테스트 결과</a:t>
            </a:r>
            <a:r>
              <a:rPr lang="en-US" altLang="ko-KR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…</a:t>
            </a:r>
            <a:endParaRPr lang="ko-KR" altLang="en-US" sz="8800" b="1" dirty="0">
              <a:ln>
                <a:solidFill>
                  <a:srgbClr val="FF0000"/>
                </a:solidFill>
              </a:ln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76619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4F4A67-51A0-712E-3E0C-1FF0FEE3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04" y="1076187"/>
            <a:ext cx="11908191" cy="40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75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2FB2EFD-974B-F664-09CA-8C88CE28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97" y="0"/>
            <a:ext cx="8288736" cy="68496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3C5E567-6A17-DCD6-3017-6F7DB6C71C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2" r="53178"/>
          <a:stretch/>
        </p:blipFill>
        <p:spPr>
          <a:xfrm>
            <a:off x="8491109" y="3742267"/>
            <a:ext cx="3700891" cy="31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86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07FAB-7142-8F7E-F22D-25930E5C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65FDD63-7174-ABDF-8B08-0C252F1994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2" r="53178"/>
          <a:stretch/>
        </p:blipFill>
        <p:spPr>
          <a:xfrm>
            <a:off x="8491109" y="3742267"/>
            <a:ext cx="3700891" cy="311573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6876C0-B397-2686-5B58-4D6CDA30F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29" y="1127051"/>
            <a:ext cx="10991990" cy="198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888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13C527B-824E-9B8D-96FF-FCD12137D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070455"/>
              </p:ext>
            </p:extLst>
          </p:nvPr>
        </p:nvGraphicFramePr>
        <p:xfrm>
          <a:off x="435610" y="494252"/>
          <a:ext cx="10943590" cy="588961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84135">
                  <a:extLst>
                    <a:ext uri="{9D8B030D-6E8A-4147-A177-3AD203B41FA5}">
                      <a16:colId xmlns:a16="http://schemas.microsoft.com/office/drawing/2014/main" val="3159968696"/>
                    </a:ext>
                  </a:extLst>
                </a:gridCol>
                <a:gridCol w="3498372">
                  <a:extLst>
                    <a:ext uri="{9D8B030D-6E8A-4147-A177-3AD203B41FA5}">
                      <a16:colId xmlns:a16="http://schemas.microsoft.com/office/drawing/2014/main" val="1034458668"/>
                    </a:ext>
                  </a:extLst>
                </a:gridCol>
                <a:gridCol w="6061083">
                  <a:extLst>
                    <a:ext uri="{9D8B030D-6E8A-4147-A177-3AD203B41FA5}">
                      <a16:colId xmlns:a16="http://schemas.microsoft.com/office/drawing/2014/main" val="575343230"/>
                    </a:ext>
                  </a:extLst>
                </a:gridCol>
              </a:tblGrid>
              <a:tr h="626175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서비스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주요 분석 로그 데이터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분석 정책 및 목적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72164102"/>
                  </a:ext>
                </a:extLst>
              </a:tr>
              <a:tr h="1357833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SSH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 시도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IP,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 날짜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시간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로그인 성공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실패 여부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보안 강화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 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단일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IP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에서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분 이내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5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회 이상 로그인 실패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무차별 대입 공격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(Brute-Force Attack)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으로 간주하고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'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점검 대상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'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으로 분류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하여 관리자에게 통보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29801073"/>
                  </a:ext>
                </a:extLst>
              </a:tr>
              <a:tr h="1357833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FTP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실제 사용자 계정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(real user),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전송 일시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파일 크기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전송 방향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업로드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다운로드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정보 유출 방지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 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실제 사용자 계정으로 업무 외 시간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예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: 20:00~08:00)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에 서버에서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1GB 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이상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의 대용량 파일을 다운로드할 경우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비인가 정보 유출 시도로 판단하고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점검 대상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으로 분류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657571542"/>
                  </a:ext>
                </a:extLst>
              </a:tr>
              <a:tr h="1189942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SAMBA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 사용자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ID,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IP,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 날짜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시간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감사 추적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내부 사용자의 파일서버 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접속 기록을 자동으로 </a:t>
                      </a:r>
                      <a:r>
                        <a:rPr lang="ko-KR" altLang="en-US" sz="1800" b="1" kern="0" spc="0" dirty="0" err="1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아카이빙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하여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수동으로 관리하던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'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접속기록대장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'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을 대체하고 감사 추적성을 확보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952418702"/>
                  </a:ext>
                </a:extLst>
              </a:tr>
              <a:tr h="1357833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NFS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 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IP,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 날짜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시간</a:t>
                      </a:r>
                      <a:r>
                        <a:rPr lang="en-US" altLang="ko-KR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권한 변경 내역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2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감사 추적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내부 시스템 간의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NFS 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마운트 기록 및 권한 변경 이력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을 자동으로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아카이빙하여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'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접속기록대장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'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및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'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권한변경대장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'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을 대체하고 관리 효율성을 증대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367993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9352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E62D534-CCE4-A700-3F05-48D00BC42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448604"/>
              </p:ext>
            </p:extLst>
          </p:nvPr>
        </p:nvGraphicFramePr>
        <p:xfrm>
          <a:off x="415976" y="0"/>
          <a:ext cx="6899225" cy="689841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1252">
                  <a:extLst>
                    <a:ext uri="{9D8B030D-6E8A-4147-A177-3AD203B41FA5}">
                      <a16:colId xmlns:a16="http://schemas.microsoft.com/office/drawing/2014/main" val="4213814879"/>
                    </a:ext>
                  </a:extLst>
                </a:gridCol>
                <a:gridCol w="1722942">
                  <a:extLst>
                    <a:ext uri="{9D8B030D-6E8A-4147-A177-3AD203B41FA5}">
                      <a16:colId xmlns:a16="http://schemas.microsoft.com/office/drawing/2014/main" val="1202505647"/>
                    </a:ext>
                  </a:extLst>
                </a:gridCol>
                <a:gridCol w="1722942">
                  <a:extLst>
                    <a:ext uri="{9D8B030D-6E8A-4147-A177-3AD203B41FA5}">
                      <a16:colId xmlns:a16="http://schemas.microsoft.com/office/drawing/2014/main" val="1663484959"/>
                    </a:ext>
                  </a:extLst>
                </a:gridCol>
                <a:gridCol w="619199">
                  <a:extLst>
                    <a:ext uri="{9D8B030D-6E8A-4147-A177-3AD203B41FA5}">
                      <a16:colId xmlns:a16="http://schemas.microsoft.com/office/drawing/2014/main" val="2192792"/>
                    </a:ext>
                  </a:extLst>
                </a:gridCol>
                <a:gridCol w="619199">
                  <a:extLst>
                    <a:ext uri="{9D8B030D-6E8A-4147-A177-3AD203B41FA5}">
                      <a16:colId xmlns:a16="http://schemas.microsoft.com/office/drawing/2014/main" val="4240959756"/>
                    </a:ext>
                  </a:extLst>
                </a:gridCol>
                <a:gridCol w="517897">
                  <a:extLst>
                    <a:ext uri="{9D8B030D-6E8A-4147-A177-3AD203B41FA5}">
                      <a16:colId xmlns:a16="http://schemas.microsoft.com/office/drawing/2014/main" val="805746416"/>
                    </a:ext>
                  </a:extLst>
                </a:gridCol>
                <a:gridCol w="517897">
                  <a:extLst>
                    <a:ext uri="{9D8B030D-6E8A-4147-A177-3AD203B41FA5}">
                      <a16:colId xmlns:a16="http://schemas.microsoft.com/office/drawing/2014/main" val="3932351202"/>
                    </a:ext>
                  </a:extLst>
                </a:gridCol>
                <a:gridCol w="517897">
                  <a:extLst>
                    <a:ext uri="{9D8B030D-6E8A-4147-A177-3AD203B41FA5}">
                      <a16:colId xmlns:a16="http://schemas.microsoft.com/office/drawing/2014/main" val="2164080561"/>
                    </a:ext>
                  </a:extLst>
                </a:gridCol>
              </a:tblGrid>
              <a:tr h="17775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구분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구현 목표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지표 기준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정량화 기준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예상 달성도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완료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달성도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591751183"/>
                  </a:ext>
                </a:extLst>
              </a:tr>
              <a:tr h="149876">
                <a:tc rowSpan="20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네트워크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본사 ↔ 지사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ping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명령으로 상대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IP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가 응답 여부 확인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ping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응답시간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1000ms ↓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3117328154"/>
                  </a:ext>
                </a:extLst>
              </a:tr>
              <a:tr h="149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1300ms ↓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70%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29736"/>
                  </a:ext>
                </a:extLst>
              </a:tr>
              <a:tr h="149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1500ms ↓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40%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405383"/>
                  </a:ext>
                </a:extLst>
              </a:tr>
              <a:tr h="149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1500ms ↑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044432"/>
                  </a:ext>
                </a:extLst>
              </a:tr>
              <a:tr h="89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VLAN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나누기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VTP + inter VLAN)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VLAN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끼리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ping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으로 통신가능여부 확인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(TP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에서 생성한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vlan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제외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transparent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에서 생성한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vlan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이 외부와 통신이 안되는지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ping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통신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1349626659"/>
                  </a:ext>
                </a:extLst>
              </a:tr>
              <a:tr h="89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불가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657744"/>
                  </a:ext>
                </a:extLst>
              </a:tr>
              <a:tr h="89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TP-ping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통신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743308"/>
                  </a:ext>
                </a:extLst>
              </a:tr>
              <a:tr h="1731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불가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987634"/>
                  </a:ext>
                </a:extLst>
              </a:tr>
              <a:tr h="974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로드밸런싱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두 경로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라우터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가 있을 때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한쪽 케이블 빼도 통신 유지되는지 보기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ping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손실률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 손실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1536088986"/>
                  </a:ext>
                </a:extLst>
              </a:tr>
              <a:tr h="1494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1~2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 손실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80%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228299"/>
                  </a:ext>
                </a:extLst>
              </a:tr>
              <a:tr h="964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회↑손실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818036"/>
                  </a:ext>
                </a:extLst>
              </a:tr>
              <a:tr h="964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PVST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스위치에서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show spanning-tree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명령으로 루프 유무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루프감지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0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3306345087"/>
                  </a:ext>
                </a:extLst>
              </a:tr>
              <a:tr h="102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 ↑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47158"/>
                  </a:ext>
                </a:extLst>
              </a:tr>
              <a:tr h="117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PAT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내부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IP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가 외부로 나갈 때 주소 변환 정상 동작 여부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ping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외부 사이트 접속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성공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3619789676"/>
                  </a:ext>
                </a:extLst>
              </a:tr>
              <a:tr h="1140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실패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981982"/>
                  </a:ext>
                </a:extLst>
              </a:tr>
              <a:tr h="117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ISCSI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타 스토리지 서버와의 연결 상태 및 접근 여부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iscsiadm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으로 세션 확인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확인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4195037556"/>
                  </a:ext>
                </a:extLst>
              </a:tr>
              <a:tr h="1434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확인불가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820911"/>
                  </a:ext>
                </a:extLst>
              </a:tr>
              <a:tr h="141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RAID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디스크 묶음 상태 및 복구 가능 여부 점검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(mdadm --detail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모든 디스크 정상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mdadm --detail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디스크 확인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ALL -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정상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3902083595"/>
                  </a:ext>
                </a:extLst>
              </a:tr>
              <a:tr h="114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결함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건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80%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291651"/>
                  </a:ext>
                </a:extLst>
              </a:tr>
              <a:tr h="1494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결함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건↑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639231"/>
                  </a:ext>
                </a:extLst>
              </a:tr>
              <a:tr h="91556">
                <a:tc rowSpan="1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서버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DHCP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PC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가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IP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를 자동으로 받을 수 있도록 설정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제외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pool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등록된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IP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미할당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IP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자동 할당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자동 할당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2006354981"/>
                  </a:ext>
                </a:extLst>
              </a:tr>
              <a:tr h="916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미할당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673877"/>
                  </a:ext>
                </a:extLst>
              </a:tr>
              <a:tr h="89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제외 </a:t>
                      </a: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IP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미발견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47767"/>
                  </a:ext>
                </a:extLst>
              </a:tr>
              <a:tr h="89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40737"/>
                  </a:ext>
                </a:extLst>
              </a:tr>
              <a:tr h="1074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DNS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서버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nslookup www.google.com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명령 시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IP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가 정상 표시되는지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화면에 </a:t>
                      </a: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IP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표시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표시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2119171721"/>
                  </a:ext>
                </a:extLst>
              </a:tr>
              <a:tr h="113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미표시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834748"/>
                  </a:ext>
                </a:extLst>
              </a:tr>
              <a:tr h="177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웹서버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Apache)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브라우저에 서버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IP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입력 시 페이지 표시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페이지 로드 성공통과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웹페이지 확인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3686784187"/>
                  </a:ext>
                </a:extLst>
              </a:tr>
              <a:tr h="177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웹페이지 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확인 불가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340051"/>
                  </a:ext>
                </a:extLst>
              </a:tr>
              <a:tr h="2585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파일공유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FTP/NFS/Samba)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클라이언트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PC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에서 공유폴더 접속해 파일 읽기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쓰기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파일탐색기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FTP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접속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로그인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접속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3153948850"/>
                  </a:ext>
                </a:extLst>
              </a:tr>
              <a:tr h="121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실패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642919"/>
                  </a:ext>
                </a:extLst>
              </a:tr>
              <a:tr h="964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파일 공유 가능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공유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404909"/>
                  </a:ext>
                </a:extLst>
              </a:tr>
              <a:tr h="1026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공유 불가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329368"/>
                  </a:ext>
                </a:extLst>
              </a:tr>
              <a:tr h="1074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원격접속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VNC/XRDP)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관리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PC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에서 서버 데스크탑 원격 접속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원격 접속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접속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FF0000"/>
                          </a:solidFill>
                          <a:effectLst/>
                        </a:rPr>
                        <a:t>0%</a:t>
                      </a:r>
                      <a:endParaRPr 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2126179616"/>
                  </a:ext>
                </a:extLst>
              </a:tr>
              <a:tr h="170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접속 불가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168476"/>
                  </a:ext>
                </a:extLst>
              </a:tr>
              <a:tr h="89467">
                <a:tc rowSpan="5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자동화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스크립트로 설치 자동화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스크립트 실행 시 오류 없이 패키지 자동 설치 확인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오류건수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FF0000"/>
                          </a:solidFill>
                          <a:effectLst/>
                        </a:rPr>
                        <a:t>80%</a:t>
                      </a:r>
                      <a:endParaRPr 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2684879656"/>
                  </a:ext>
                </a:extLst>
              </a:tr>
              <a:tr h="89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회↓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80%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906539"/>
                  </a:ext>
                </a:extLst>
              </a:tr>
              <a:tr h="89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회↑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980781"/>
                  </a:ext>
                </a:extLst>
              </a:tr>
              <a:tr h="104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서비스 자동시작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서버 재부팅 후 서비스가 자동 실행되는지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서비스 자동시작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자동 실행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1438417326"/>
                  </a:ext>
                </a:extLst>
              </a:tr>
              <a:tr h="1056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미실행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551983"/>
                  </a:ext>
                </a:extLst>
              </a:tr>
              <a:tr h="177751">
                <a:tc rowSpan="10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로그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b="1" kern="0" spc="0">
                          <a:solidFill>
                            <a:srgbClr val="000000"/>
                          </a:solidFill>
                          <a:effectLst/>
                        </a:rPr>
                        <a:t>분석</a:t>
                      </a:r>
                      <a:endParaRPr lang="ko-KR" altLang="en-US" sz="5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SAMBA-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접근권한 관리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/root/log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디렉토리에서 통합관리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디렉토리내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samba_pm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파일 생성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누락률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로그누락 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1573390774"/>
                  </a:ext>
                </a:extLst>
              </a:tr>
              <a:tr h="233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 미발견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802287"/>
                  </a:ext>
                </a:extLst>
              </a:tr>
              <a:tr h="177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SAMBA -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접속기록 관리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/root/log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디렉토리에서 통합관리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디렉토리내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samba_acc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파일 생성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누락률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로그누락 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1287553190"/>
                  </a:ext>
                </a:extLst>
              </a:tr>
              <a:tr h="208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 미발견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90560"/>
                  </a:ext>
                </a:extLst>
              </a:tr>
              <a:tr h="177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NFS-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접속기록 관리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/root/log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디렉토리에서 통합관리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디렉토리내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nfs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파일 생성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누락률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로그누락 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1831013092"/>
                  </a:ext>
                </a:extLst>
              </a:tr>
              <a:tr h="208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 미발견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31765"/>
                  </a:ext>
                </a:extLst>
              </a:tr>
              <a:tr h="177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ssh-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유효하지않은 접근 관리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/root/log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디렉토리에서 통합관리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디렉토리내 </a:t>
                      </a: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ssh log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파일 생성 확인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누락률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로그누락 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3925776278"/>
                  </a:ext>
                </a:extLst>
              </a:tr>
              <a:tr h="208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 미발견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601397"/>
                  </a:ext>
                </a:extLst>
              </a:tr>
              <a:tr h="177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FTP-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내부 기밀 유출 및 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500" kern="0" spc="0">
                          <a:solidFill>
                            <a:srgbClr val="000000"/>
                          </a:solidFill>
                          <a:effectLst/>
                        </a:rPr>
                        <a:t>- /root/log </a:t>
                      </a: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디렉토리에서 통합관리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누락률 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로그누락 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</a:p>
                  </a:txBody>
                  <a:tcPr marL="18524" marR="18524" marT="5121" marB="5121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extLst>
                  <a:ext uri="{0D108BD9-81ED-4DB2-BD59-A6C34878D82A}">
                    <a16:rowId xmlns:a16="http://schemas.microsoft.com/office/drawing/2014/main" val="2496090936"/>
                  </a:ext>
                </a:extLst>
              </a:tr>
              <a:tr h="177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500" kern="0" spc="0">
                          <a:solidFill>
                            <a:srgbClr val="000000"/>
                          </a:solidFill>
                          <a:effectLst/>
                        </a:rPr>
                        <a:t>로그 누락 미발견</a:t>
                      </a:r>
                    </a:p>
                  </a:txBody>
                  <a:tcPr marL="18524" marR="18524" marT="5121" marB="5121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500" kern="0" spc="0" dirty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</a:p>
                  </a:txBody>
                  <a:tcPr marL="18524" marR="18524" marT="5121" marB="5121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939860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17AF5AF5-6F6B-2109-6B4A-B3D9FDE1CB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2"/>
          <a:stretch/>
        </p:blipFill>
        <p:spPr>
          <a:xfrm>
            <a:off x="8021053" y="2736056"/>
            <a:ext cx="3877512" cy="4121944"/>
          </a:xfrm>
          <a:prstGeom prst="rect">
            <a:avLst/>
          </a:prstGeom>
        </p:spPr>
      </p:pic>
      <p:sp>
        <p:nvSpPr>
          <p:cNvPr id="7" name="타원형 설명선 2">
            <a:extLst>
              <a:ext uri="{FF2B5EF4-FFF2-40B4-BE49-F238E27FC236}">
                <a16:creationId xmlns:a16="http://schemas.microsoft.com/office/drawing/2014/main" id="{26381C4A-EEDD-CF37-B6F6-CCB3FBA15888}"/>
              </a:ext>
            </a:extLst>
          </p:cNvPr>
          <p:cNvSpPr/>
          <p:nvPr/>
        </p:nvSpPr>
        <p:spPr>
          <a:xfrm>
            <a:off x="2726267" y="1989595"/>
            <a:ext cx="4289347" cy="4138489"/>
          </a:xfrm>
          <a:prstGeom prst="wedgeEllipseCallout">
            <a:avLst>
              <a:gd name="adj1" fmla="val 73233"/>
              <a:gd name="adj2" fmla="val 342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5F29D-2F00-DF99-0DEA-B480E178C702}"/>
              </a:ext>
            </a:extLst>
          </p:cNvPr>
          <p:cNvSpPr txBox="1"/>
          <p:nvPr/>
        </p:nvSpPr>
        <p:spPr>
          <a:xfrm>
            <a:off x="3343687" y="3089343"/>
            <a:ext cx="2882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그래도 네트워크 구축은 </a:t>
            </a:r>
            <a:r>
              <a:rPr lang="en-US" altLang="ko-KR" sz="3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100</a:t>
            </a:r>
            <a:r>
              <a:rPr lang="ko-KR" altLang="en-US" sz="3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퍼센트 다 함</a:t>
            </a:r>
            <a:endParaRPr lang="en-US" altLang="ko-KR" sz="3000" b="1" dirty="0">
              <a:latin typeface="굴림" panose="020B0600000101010101" pitchFamily="50" charset="-127"/>
              <a:ea typeface="굴림" panose="020B0600000101010101" pitchFamily="50" charset="-127"/>
              <a:cs typeface="Arial Unicode MS" panose="020B0604020202020204" pitchFamily="50" charset="-127"/>
            </a:endParaRPr>
          </a:p>
          <a:p>
            <a:pPr algn="ctr"/>
            <a:r>
              <a:rPr lang="ko-KR" altLang="en-US" sz="3000" b="1" dirty="0" err="1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엣헴</a:t>
            </a:r>
            <a:r>
              <a:rPr lang="en-US" altLang="ko-KR" sz="3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00261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ED49-7897-CF42-8B98-42856B32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EF14F4C-F585-AC77-A9BB-805C37CCEE59}"/>
              </a:ext>
            </a:extLst>
          </p:cNvPr>
          <p:cNvSpPr txBox="1"/>
          <p:nvPr/>
        </p:nvSpPr>
        <p:spPr>
          <a:xfrm rot="1327601">
            <a:off x="7866375" y="3745673"/>
            <a:ext cx="1258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latin typeface="양재백두체B" panose="02020603020101020101" pitchFamily="18" charset="-127"/>
                <a:ea typeface="양재백두체B" panose="02020603020101020101" pitchFamily="18" charset="-127"/>
                <a:cs typeface="Arial Unicode MS" panose="020B0604020202020204" pitchFamily="50" charset="-127"/>
              </a:rPr>
              <a:t>NO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525595-4436-5291-F479-77FD2E1EA666}"/>
              </a:ext>
            </a:extLst>
          </p:cNvPr>
          <p:cNvSpPr txBox="1"/>
          <p:nvPr/>
        </p:nvSpPr>
        <p:spPr>
          <a:xfrm rot="20437171">
            <a:off x="4042755" y="4707587"/>
            <a:ext cx="1258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latin typeface="양재백두체B" panose="02020603020101020101" pitchFamily="18" charset="-127"/>
                <a:ea typeface="양재백두체B" panose="02020603020101020101" pitchFamily="18" charset="-127"/>
                <a:cs typeface="Arial Unicode MS" panose="020B0604020202020204" pitchFamily="50" charset="-127"/>
              </a:rPr>
              <a:t>Oh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A13AEF-DEFE-A35A-56DE-F62A350EC551}"/>
              </a:ext>
            </a:extLst>
          </p:cNvPr>
          <p:cNvSpPr/>
          <p:nvPr/>
        </p:nvSpPr>
        <p:spPr>
          <a:xfrm>
            <a:off x="0" y="92111"/>
            <a:ext cx="11717867" cy="6516211"/>
          </a:xfrm>
          <a:prstGeom prst="rect">
            <a:avLst/>
          </a:prstGeom>
          <a:blipFill dpi="0" rotWithShape="1">
            <a:blip r:embed="rId2">
              <a:alphaModFix amt="66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A010822E-D1CD-0A3E-5CA8-F27EDA8F3508}"/>
              </a:ext>
            </a:extLst>
          </p:cNvPr>
          <p:cNvSpPr txBox="1"/>
          <p:nvPr/>
        </p:nvSpPr>
        <p:spPr>
          <a:xfrm>
            <a:off x="65959" y="292011"/>
            <a:ext cx="1165190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1200" b="1" dirty="0"/>
              <a:t>6.2. </a:t>
            </a:r>
            <a:r>
              <a:rPr lang="ko-KR" altLang="en-US" sz="1200" b="1" dirty="0"/>
              <a:t>보완 및 개선 필요사항</a:t>
            </a:r>
            <a:endParaRPr lang="ko-KR" altLang="en-US" sz="1200" dirty="0"/>
          </a:p>
          <a:p>
            <a:pPr fontAlgn="base"/>
            <a:r>
              <a:rPr lang="en-US" altLang="ko-KR" sz="1200" b="1" dirty="0"/>
              <a:t>- </a:t>
            </a:r>
            <a:r>
              <a:rPr lang="ko-KR" altLang="en-US" sz="1200" b="1" dirty="0"/>
              <a:t>네트워크 안정성 강화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1) VTP </a:t>
            </a:r>
            <a:r>
              <a:rPr lang="ko-KR" altLang="en-US" sz="1200" dirty="0"/>
              <a:t>설정 재검토 필요</a:t>
            </a:r>
          </a:p>
          <a:p>
            <a:pPr fontAlgn="base"/>
            <a:r>
              <a:rPr lang="en-US" altLang="ko-KR" sz="1200" dirty="0"/>
              <a:t>Transparent </a:t>
            </a:r>
            <a:r>
              <a:rPr lang="ko-KR" altLang="en-US" sz="1200" dirty="0"/>
              <a:t>모드로 설정된 스위치</a:t>
            </a:r>
            <a:r>
              <a:rPr lang="en-US" altLang="ko-KR" sz="1200" dirty="0"/>
              <a:t>(ESW1 </a:t>
            </a:r>
            <a:r>
              <a:rPr lang="ko-KR" altLang="en-US" sz="1200" dirty="0"/>
              <a:t>추정</a:t>
            </a:r>
            <a:r>
              <a:rPr lang="en-US" altLang="ko-KR" sz="1200" dirty="0"/>
              <a:t>)</a:t>
            </a:r>
            <a:r>
              <a:rPr lang="ko-KR" altLang="en-US" sz="1200" dirty="0"/>
              <a:t>에서 발생한 </a:t>
            </a:r>
            <a:r>
              <a:rPr lang="en-US" altLang="ko-KR" sz="1200" dirty="0"/>
              <a:t>VLAN </a:t>
            </a:r>
            <a:r>
              <a:rPr lang="ko-KR" altLang="en-US" sz="1200" dirty="0"/>
              <a:t>정보 전달 오류는 </a:t>
            </a:r>
            <a:r>
              <a:rPr lang="en-US" altLang="ko-KR" sz="1200" dirty="0"/>
              <a:t>VTP Pruning </a:t>
            </a:r>
            <a:r>
              <a:rPr lang="ko-KR" altLang="en-US" sz="1200" dirty="0"/>
              <a:t>기능에서 기인함 </a:t>
            </a:r>
          </a:p>
          <a:p>
            <a:pPr fontAlgn="base"/>
            <a:r>
              <a:rPr lang="en-US" altLang="ko-KR" sz="1200" dirty="0"/>
              <a:t>VTP </a:t>
            </a:r>
            <a:r>
              <a:rPr lang="ko-KR" altLang="en-US" sz="1200" dirty="0"/>
              <a:t>서버에 해당 </a:t>
            </a:r>
            <a:r>
              <a:rPr lang="en-US" altLang="ko-KR" sz="1200" dirty="0"/>
              <a:t>VLAN </a:t>
            </a:r>
            <a:r>
              <a:rPr lang="ko-KR" altLang="en-US" sz="1200" dirty="0"/>
              <a:t>정보가 없어 다른 스위치로 전파되지 않는 문제를 해결하기 위해</a:t>
            </a:r>
            <a:r>
              <a:rPr lang="en-US" altLang="ko-KR" sz="1200" dirty="0"/>
              <a:t>, VTP </a:t>
            </a:r>
            <a:r>
              <a:rPr lang="ko-KR" altLang="en-US" sz="1200" dirty="0"/>
              <a:t>설정 및 </a:t>
            </a:r>
            <a:r>
              <a:rPr lang="en-US" altLang="ko-KR" sz="1200" dirty="0"/>
              <a:t>Pruning </a:t>
            </a:r>
            <a:r>
              <a:rPr lang="ko-KR" altLang="en-US" sz="1200" dirty="0"/>
              <a:t>옵션을 재검토하고 전체 네트워크의 </a:t>
            </a:r>
            <a:r>
              <a:rPr lang="en-US" altLang="ko-KR" sz="1200" dirty="0"/>
              <a:t>VLAN </a:t>
            </a:r>
            <a:r>
              <a:rPr lang="ko-KR" altLang="en-US" sz="1200" dirty="0"/>
              <a:t>정보가 일관성 있게 동기화되도록 수정 요함</a:t>
            </a:r>
          </a:p>
          <a:p>
            <a:pPr fontAlgn="base"/>
            <a:r>
              <a:rPr lang="en-US" altLang="ko-KR" sz="1200" dirty="0"/>
              <a:t>2) SSH </a:t>
            </a:r>
            <a:r>
              <a:rPr lang="ko-KR" altLang="en-US" sz="1200" dirty="0"/>
              <a:t>타임아웃 최적화 </a:t>
            </a:r>
          </a:p>
          <a:p>
            <a:pPr fontAlgn="base"/>
            <a:r>
              <a:rPr lang="en-US" altLang="ko-KR" sz="1200" dirty="0"/>
              <a:t>SSH </a:t>
            </a:r>
            <a:r>
              <a:rPr lang="ko-KR" altLang="en-US" sz="1200" dirty="0"/>
              <a:t>접속 시 타임아웃을 </a:t>
            </a:r>
            <a:r>
              <a:rPr lang="en-US" altLang="ko-KR" sz="1200" dirty="0"/>
              <a:t>60</a:t>
            </a:r>
            <a:r>
              <a:rPr lang="ko-KR" altLang="en-US" sz="1200" dirty="0"/>
              <a:t>초로 설정하였는데</a:t>
            </a:r>
            <a:r>
              <a:rPr lang="en-US" altLang="ko-KR" sz="1200" dirty="0"/>
              <a:t>, </a:t>
            </a:r>
            <a:r>
              <a:rPr lang="ko-KR" altLang="en-US" sz="1200" dirty="0"/>
              <a:t>이는 네트워크 불안정과 맞물려 원격 작업의 효율성을 크게 저하시키는 원인이 됨</a:t>
            </a:r>
            <a:r>
              <a:rPr lang="en-US" altLang="ko-KR" sz="1200" dirty="0"/>
              <a:t>. </a:t>
            </a:r>
            <a:r>
              <a:rPr lang="ko-KR" altLang="en-US" sz="1200" dirty="0"/>
              <a:t>안정적인 원격 관리를 위해 </a:t>
            </a:r>
            <a:r>
              <a:rPr lang="en-US" altLang="ko-KR" sz="1200" dirty="0" err="1"/>
              <a:t>ip</a:t>
            </a:r>
            <a:r>
              <a:rPr lang="en-US" altLang="ko-KR" sz="1200" dirty="0"/>
              <a:t> ssh time-out </a:t>
            </a:r>
            <a:r>
              <a:rPr lang="ko-KR" altLang="en-US" sz="1200" dirty="0"/>
              <a:t>값을 </a:t>
            </a:r>
            <a:r>
              <a:rPr lang="en-US" altLang="ko-KR" sz="1200" dirty="0"/>
              <a:t>300</a:t>
            </a:r>
            <a:r>
              <a:rPr lang="ko-KR" altLang="en-US" sz="1200" dirty="0"/>
              <a:t>초 이상으로 충분히 늘려 예상치 못한 연결 끊김 현상을 최소화 하여야 함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en-US" altLang="ko-KR" sz="1200" b="1" dirty="0"/>
              <a:t>- </a:t>
            </a:r>
            <a:r>
              <a:rPr lang="ko-KR" altLang="en-US" sz="1200" b="1" dirty="0"/>
              <a:t>서버 접근성 및 호환성 확보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1)</a:t>
            </a:r>
            <a:r>
              <a:rPr lang="ko-KR" altLang="en-US" sz="1200" dirty="0"/>
              <a:t>원격 데스크톱 접속 오류 해결이 요구됨</a:t>
            </a:r>
          </a:p>
          <a:p>
            <a:pPr fontAlgn="base"/>
            <a:r>
              <a:rPr lang="ko-KR" altLang="en-US" sz="1200" dirty="0"/>
              <a:t>관리 </a:t>
            </a:r>
            <a:r>
              <a:rPr lang="en-US" altLang="ko-KR" sz="1200" dirty="0"/>
              <a:t>PC</a:t>
            </a:r>
            <a:r>
              <a:rPr lang="ko-KR" altLang="en-US" sz="1200" dirty="0"/>
              <a:t>에서 </a:t>
            </a:r>
            <a:r>
              <a:rPr lang="en-US" altLang="ko-KR" sz="1200" dirty="0"/>
              <a:t>VNC </a:t>
            </a:r>
            <a:r>
              <a:rPr lang="ko-KR" altLang="en-US" sz="1200" dirty="0"/>
              <a:t>및 </a:t>
            </a:r>
            <a:r>
              <a:rPr lang="en-US" altLang="ko-KR" sz="1200" dirty="0"/>
              <a:t>XRDP</a:t>
            </a:r>
            <a:r>
              <a:rPr lang="ko-KR" altLang="en-US" sz="1200" dirty="0"/>
              <a:t>를 이용한 웹 서버 원격 접속 실패는 아직 원인을 </a:t>
            </a:r>
            <a:r>
              <a:rPr lang="ko-KR" altLang="en-US" sz="1200" dirty="0" err="1"/>
              <a:t>알수는</a:t>
            </a:r>
            <a:r>
              <a:rPr lang="ko-KR" altLang="en-US" sz="1200" dirty="0"/>
              <a:t> 없으나 여러 </a:t>
            </a:r>
            <a:r>
              <a:rPr lang="ko-KR" altLang="en-US" sz="1200" dirty="0" err="1"/>
              <a:t>환경적인요인에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기인했을것이라</a:t>
            </a:r>
            <a:r>
              <a:rPr lang="ko-KR" altLang="en-US" sz="1200" dirty="0"/>
              <a:t> 추정</a:t>
            </a:r>
            <a:r>
              <a:rPr lang="en-US" altLang="ko-KR" sz="1200" dirty="0"/>
              <a:t>. </a:t>
            </a:r>
            <a:r>
              <a:rPr lang="ko-KR" altLang="en-US" sz="1200" dirty="0"/>
              <a:t>각 서버의 </a:t>
            </a:r>
            <a:r>
              <a:rPr lang="en-US" altLang="ko-KR" sz="1200" dirty="0"/>
              <a:t>GUI </a:t>
            </a:r>
            <a:r>
              <a:rPr lang="ko-KR" altLang="en-US" sz="1200" dirty="0"/>
              <a:t>환경 설정과 방화벽 </a:t>
            </a:r>
            <a:r>
              <a:rPr lang="ko-KR" altLang="en-US" sz="1200" dirty="0" err="1"/>
              <a:t>해제되어있는지</a:t>
            </a:r>
            <a:r>
              <a:rPr lang="ko-KR" altLang="en-US" sz="1200" dirty="0"/>
              <a:t> 여부를 면밀히 검토하고</a:t>
            </a:r>
            <a:r>
              <a:rPr lang="en-US" altLang="ko-KR" sz="1200" dirty="0"/>
              <a:t>, VNC/XRDP </a:t>
            </a:r>
            <a:r>
              <a:rPr lang="ko-KR" altLang="en-US" sz="1200" dirty="0"/>
              <a:t>서비스 설정을 </a:t>
            </a:r>
            <a:r>
              <a:rPr lang="ko-KR" altLang="en-US" sz="1200" dirty="0" err="1"/>
              <a:t>표준화하여</a:t>
            </a:r>
            <a:r>
              <a:rPr lang="ko-KR" altLang="en-US" sz="1200" dirty="0"/>
              <a:t> 접속 호환성 및 안정성을 확보하여야 함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en-US" altLang="ko-KR" sz="1200" b="1" dirty="0"/>
              <a:t>- </a:t>
            </a:r>
            <a:r>
              <a:rPr lang="ko-KR" altLang="en-US" sz="1200" b="1" dirty="0"/>
              <a:t>자동화 스크립트 신뢰성 향상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1) </a:t>
            </a:r>
            <a:r>
              <a:rPr lang="ko-KR" altLang="en-US" sz="1200" dirty="0"/>
              <a:t>네트워크 오류 대응 로직 추가</a:t>
            </a:r>
          </a:p>
          <a:p>
            <a:pPr fontAlgn="base"/>
            <a:r>
              <a:rPr lang="ko-KR" altLang="en-US" sz="1200" dirty="0"/>
              <a:t>원격 </a:t>
            </a:r>
            <a:r>
              <a:rPr lang="en-US" altLang="ko-KR" sz="1200" dirty="0"/>
              <a:t>SSH </a:t>
            </a:r>
            <a:r>
              <a:rPr lang="ko-KR" altLang="en-US" sz="1200" dirty="0"/>
              <a:t>연결을 기반으로 하는 자동화 스크립트가 네트워크 불안정으로 인해 중단되는 문제를 해결할 </a:t>
            </a:r>
            <a:r>
              <a:rPr lang="ko-KR" altLang="en-US" sz="1200" dirty="0" err="1"/>
              <a:t>필요가있음</a:t>
            </a:r>
            <a:r>
              <a:rPr lang="en-US" altLang="ko-KR" sz="1200" dirty="0"/>
              <a:t>. </a:t>
            </a:r>
            <a:r>
              <a:rPr lang="ko-KR" altLang="en-US" sz="1200" dirty="0"/>
              <a:t>스크립트 실행 중 연결이 끊겼을 때 자동으로 재시도하는 로직을 추가하고</a:t>
            </a:r>
            <a:r>
              <a:rPr lang="en-US" altLang="ko-KR" sz="1200" dirty="0"/>
              <a:t>, </a:t>
            </a:r>
            <a:r>
              <a:rPr lang="ko-KR" altLang="en-US" sz="1200" dirty="0"/>
              <a:t>특정 단계에서 실패할 경우 해당 부분부터 이어서 실행할 수 있는 기능을 구현하여 스크립트의 안정성과 완성도를 향후 보완하여야 할 필요가 있음</a:t>
            </a:r>
          </a:p>
          <a:p>
            <a:pPr fontAlgn="base"/>
            <a:r>
              <a:rPr lang="en-US" altLang="ko-KR" sz="1200" b="1" dirty="0"/>
              <a:t>- </a:t>
            </a:r>
            <a:r>
              <a:rPr lang="ko-KR" altLang="en-US" sz="1200" b="1" dirty="0"/>
              <a:t>로그 분석 시스템 권한 문제 해결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1) NFS/SMB </a:t>
            </a:r>
            <a:r>
              <a:rPr lang="ko-KR" altLang="en-US" sz="1200" dirty="0"/>
              <a:t>접근 권한 재설계</a:t>
            </a:r>
            <a:r>
              <a:rPr lang="en-US" altLang="ko-KR" sz="1200" dirty="0"/>
              <a:t>: </a:t>
            </a:r>
            <a:r>
              <a:rPr lang="ko-KR" altLang="en-US" sz="1200" dirty="0"/>
              <a:t>스토리지 서버에 취합된 로그를 관리 </a:t>
            </a:r>
            <a:r>
              <a:rPr lang="en-US" altLang="ko-KR" sz="1200" dirty="0"/>
              <a:t>PC</a:t>
            </a:r>
            <a:r>
              <a:rPr lang="ko-KR" altLang="en-US" sz="1200" dirty="0"/>
              <a:t>에서 접근하지 못한 것은 </a:t>
            </a:r>
            <a:r>
              <a:rPr lang="en-US" altLang="ko-KR" sz="1200" dirty="0"/>
              <a:t>NFS </a:t>
            </a:r>
            <a:r>
              <a:rPr lang="ko-KR" altLang="en-US" sz="1200" dirty="0"/>
              <a:t>서버의 권한 설정 오류 및 서버</a:t>
            </a:r>
            <a:r>
              <a:rPr lang="en-US" altLang="ko-KR" sz="1200" dirty="0"/>
              <a:t>-</a:t>
            </a:r>
            <a:r>
              <a:rPr lang="ko-KR" altLang="en-US" sz="1200" dirty="0"/>
              <a:t>클라이언트 간 </a:t>
            </a:r>
            <a:r>
              <a:rPr lang="en-US" altLang="ko-KR" sz="1200" dirty="0"/>
              <a:t>UID/GID </a:t>
            </a:r>
            <a:r>
              <a:rPr lang="ko-KR" altLang="en-US" sz="1200" dirty="0"/>
              <a:t>불일치 문제일 가능성이 높습니다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관리 </a:t>
            </a:r>
            <a:r>
              <a:rPr lang="en-US" altLang="ko-KR" sz="1200" dirty="0"/>
              <a:t>PC</a:t>
            </a:r>
            <a:r>
              <a:rPr lang="ko-KR" altLang="en-US" sz="1200" dirty="0"/>
              <a:t>에 명확한 읽기</a:t>
            </a:r>
            <a:r>
              <a:rPr lang="en-US" altLang="ko-KR" sz="1200" dirty="0"/>
              <a:t>/</a:t>
            </a:r>
            <a:r>
              <a:rPr lang="ko-KR" altLang="en-US" sz="1200" dirty="0"/>
              <a:t>쓰기 권한을 부여하도록 </a:t>
            </a:r>
            <a:r>
              <a:rPr lang="en-US" altLang="ko-KR" sz="1200" dirty="0"/>
              <a:t>NFS </a:t>
            </a:r>
            <a:r>
              <a:rPr lang="ko-KR" altLang="en-US" sz="1200" dirty="0"/>
              <a:t>설정을 수정하고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사용자 계정의 </a:t>
            </a:r>
            <a:r>
              <a:rPr lang="en-US" altLang="ko-KR" sz="1200" dirty="0"/>
              <a:t>UID/GID</a:t>
            </a:r>
            <a:r>
              <a:rPr lang="ko-KR" altLang="en-US" sz="1200" dirty="0"/>
              <a:t>를 통일하여 원활한 로그 접근 및 관리가 이루어지도록 개선해야 합니다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en-US" altLang="ko-KR" sz="1200" b="1" dirty="0"/>
              <a:t>6.3. </a:t>
            </a:r>
            <a:r>
              <a:rPr lang="ko-KR" altLang="en-US" sz="1200" b="1" dirty="0"/>
              <a:t>종합 결론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무역회사의 본사와 해외지사 간 원활한 통신을 목표로</a:t>
            </a:r>
            <a:r>
              <a:rPr lang="en-US" altLang="ko-KR" sz="1200" dirty="0"/>
              <a:t>, Frame Relay, PVST+, VLAN </a:t>
            </a:r>
            <a:r>
              <a:rPr lang="ko-KR" altLang="en-US" sz="1200" dirty="0"/>
              <a:t>등 핵심 네트워크 기술을 성공적으로 적용하여 안정적인 통신 기반을 구축하였습니다</a:t>
            </a:r>
            <a:r>
              <a:rPr lang="en-US" altLang="ko-KR" sz="1200" dirty="0"/>
              <a:t>. 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또한</a:t>
            </a:r>
            <a:r>
              <a:rPr lang="en-US" altLang="ko-KR" sz="1200" dirty="0"/>
              <a:t>, iSCSI</a:t>
            </a:r>
            <a:r>
              <a:rPr lang="ko-KR" altLang="en-US" sz="1200" dirty="0"/>
              <a:t>를 활용한 스토리지 구축</a:t>
            </a:r>
            <a:r>
              <a:rPr lang="en-US" altLang="ko-KR" sz="1200" dirty="0"/>
              <a:t>, LAMP </a:t>
            </a:r>
            <a:r>
              <a:rPr lang="ko-KR" altLang="en-US" sz="1200" dirty="0"/>
              <a:t>환경의 웹 서버 및 </a:t>
            </a:r>
            <a:r>
              <a:rPr lang="en-US" altLang="ko-KR" sz="1200" dirty="0"/>
              <a:t>DNS, DHCP </a:t>
            </a:r>
            <a:r>
              <a:rPr lang="ko-KR" altLang="en-US" sz="1200" dirty="0"/>
              <a:t>등 필수 서버 인프라를 설계대로 구현 완료하였습니다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특히</a:t>
            </a:r>
            <a:r>
              <a:rPr lang="en-US" altLang="ko-KR" sz="1200" dirty="0"/>
              <a:t>, Python </a:t>
            </a:r>
            <a:r>
              <a:rPr lang="ko-KR" altLang="en-US" sz="1200" dirty="0"/>
              <a:t>스크립트를 통한 네트워크 및 서버 관리 자동화를 시도하여 운영 효율성 증대의 가능성을 확인하였습니다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프로젝트 수행 과정에서 </a:t>
            </a:r>
            <a:r>
              <a:rPr lang="en-US" altLang="ko-KR" sz="1200" dirty="0"/>
              <a:t>VTP </a:t>
            </a:r>
            <a:r>
              <a:rPr lang="ko-KR" altLang="en-US" sz="1200" dirty="0"/>
              <a:t>설정 오류</a:t>
            </a:r>
            <a:r>
              <a:rPr lang="en-US" altLang="ko-KR" sz="1200" dirty="0"/>
              <a:t>, </a:t>
            </a:r>
            <a:r>
              <a:rPr lang="ko-KR" altLang="en-US" sz="1200" dirty="0"/>
              <a:t>짧은 </a:t>
            </a:r>
            <a:r>
              <a:rPr lang="en-US" altLang="ko-KR" sz="1200" dirty="0"/>
              <a:t>SSH </a:t>
            </a:r>
            <a:r>
              <a:rPr lang="ko-KR" altLang="en-US" sz="1200" dirty="0"/>
              <a:t>타임아웃으로 인한 연결 불안정</a:t>
            </a:r>
            <a:r>
              <a:rPr lang="en-US" altLang="ko-KR" sz="1200" dirty="0"/>
              <a:t>, </a:t>
            </a:r>
            <a:r>
              <a:rPr lang="ko-KR" altLang="en-US" sz="1200" dirty="0"/>
              <a:t>원격 데스크톱 접속 실패 등의 문제점이 발견되었습니다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향후 네트워크 안정성 확보와 원격 관리 효율성 증대를 위해 반드시 개선할 예정입니다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자동화 스크립트는 네트워크 불안정으로 인해 실행이 중단되는 문제가 발생했으며</a:t>
            </a:r>
            <a:r>
              <a:rPr lang="en-US" altLang="ko-KR" sz="1200" dirty="0"/>
              <a:t>, </a:t>
            </a:r>
            <a:r>
              <a:rPr lang="ko-KR" altLang="en-US" sz="1200" dirty="0"/>
              <a:t>로그 관리 시스템은 </a:t>
            </a:r>
            <a:r>
              <a:rPr lang="en-US" altLang="ko-KR" sz="1200" dirty="0"/>
              <a:t>NFS </a:t>
            </a:r>
            <a:r>
              <a:rPr lang="ko-KR" altLang="en-US" sz="1200" dirty="0"/>
              <a:t>권한 설정 미흡으로 데이터 접근에 실패하는 한계를 보였습니다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결론적으로</a:t>
            </a:r>
            <a:r>
              <a:rPr lang="en-US" altLang="ko-KR" sz="1200" dirty="0"/>
              <a:t>, 1</a:t>
            </a:r>
            <a:r>
              <a:rPr lang="ko-KR" altLang="en-US" sz="1200" dirty="0"/>
              <a:t>차 프로젝트는 핵심 네트워크 및 서버 인프라 구축이라는 목표를 성공적으로 달성했으나</a:t>
            </a:r>
            <a:r>
              <a:rPr lang="en-US" altLang="ko-KR" sz="1200" dirty="0"/>
              <a:t>, </a:t>
            </a:r>
            <a:r>
              <a:rPr lang="ko-KR" altLang="en-US" sz="1200" dirty="0"/>
              <a:t>안정성</a:t>
            </a:r>
            <a:r>
              <a:rPr lang="en-US" altLang="ko-KR" sz="1200" dirty="0"/>
              <a:t>, </a:t>
            </a:r>
            <a:r>
              <a:rPr lang="ko-KR" altLang="en-US" sz="1200" dirty="0"/>
              <a:t>접근성</a:t>
            </a:r>
            <a:r>
              <a:rPr lang="en-US" altLang="ko-KR" sz="1200" dirty="0"/>
              <a:t>, </a:t>
            </a:r>
            <a:r>
              <a:rPr lang="ko-KR" altLang="en-US" sz="1200" dirty="0"/>
              <a:t>자동화 완성도 측면에서는 보완이 필요한 것으로 평가됩니다</a:t>
            </a:r>
            <a:r>
              <a:rPr lang="en-US" altLang="ko-KR" sz="1200" dirty="0"/>
              <a:t>. </a:t>
            </a:r>
            <a:r>
              <a:rPr lang="ko-KR" altLang="en-US" sz="1200" dirty="0"/>
              <a:t>향후 과제는 발견된 문제점들을 해결하여 시스템의 안정성을 극대화하고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자동화 스크립트의 신뢰도를 높이는 동시에 테스트 코드를 제작</a:t>
            </a:r>
            <a:r>
              <a:rPr lang="en-US" altLang="ko-KR" sz="1200" dirty="0"/>
              <a:t>/</a:t>
            </a:r>
            <a:r>
              <a:rPr lang="ko-KR" altLang="en-US" sz="1200" dirty="0"/>
              <a:t>활용하여 보다 완성도 높고 효율성 높은 </a:t>
            </a:r>
            <a:r>
              <a:rPr lang="en-US" altLang="ko-KR" sz="1200" dirty="0"/>
              <a:t>IT </a:t>
            </a:r>
            <a:r>
              <a:rPr lang="ko-KR" altLang="en-US" sz="1200" dirty="0"/>
              <a:t>인프라 구축을 위해 노력하겠습니다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 err="1"/>
              <a:t>수고많으셨습니다</a:t>
            </a:r>
            <a:r>
              <a:rPr lang="en-US" altLang="ko-KR" sz="1200" dirty="0"/>
              <a:t>.!!!!!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56AFF1-234D-35BA-2405-83DCF0C88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709" y="1553385"/>
            <a:ext cx="2418013" cy="1807465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128AC25E-C96B-0E14-AC11-1C13E1DD1D55}"/>
              </a:ext>
            </a:extLst>
          </p:cNvPr>
          <p:cNvSpPr txBox="1"/>
          <p:nvPr/>
        </p:nvSpPr>
        <p:spPr>
          <a:xfrm>
            <a:off x="3553853" y="1615164"/>
            <a:ext cx="288296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제발 그만해</a:t>
            </a:r>
            <a:r>
              <a:rPr lang="en-US" altLang="ko-KR" sz="2000" b="1" dirty="0">
                <a:latin typeface="굴림" panose="020B0600000101010101" pitchFamily="50" charset="-127"/>
                <a:ea typeface="굴림" panose="020B0600000101010101" pitchFamily="50" charset="-127"/>
                <a:cs typeface="Arial Unicode MS" panose="020B0604020202020204" pitchFamily="50" charset="-127"/>
              </a:rPr>
              <a:t>222…</a:t>
            </a:r>
          </a:p>
        </p:txBody>
      </p:sp>
      <p:sp>
        <p:nvSpPr>
          <p:cNvPr id="3" name="폭발: 14pt 2">
            <a:extLst>
              <a:ext uri="{FF2B5EF4-FFF2-40B4-BE49-F238E27FC236}">
                <a16:creationId xmlns:a16="http://schemas.microsoft.com/office/drawing/2014/main" id="{4F97F222-6420-3314-0660-8EB374FDB580}"/>
              </a:ext>
            </a:extLst>
          </p:cNvPr>
          <p:cNvSpPr/>
          <p:nvPr/>
        </p:nvSpPr>
        <p:spPr>
          <a:xfrm rot="638724">
            <a:off x="3859059" y="2282957"/>
            <a:ext cx="6764663" cy="3934588"/>
          </a:xfrm>
          <a:prstGeom prst="irregularSeal2">
            <a:avLst/>
          </a:prstGeom>
          <a:solidFill>
            <a:srgbClr val="FFCC29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rgbClr val="FF0000"/>
                </a:solidFill>
              </a:rPr>
              <a:t>종합 의견은</a:t>
            </a:r>
            <a:endParaRPr lang="en-US" altLang="ko-KR" sz="2800" dirty="0">
              <a:solidFill>
                <a:srgbClr val="FF0000"/>
              </a:solidFill>
            </a:endParaRPr>
          </a:p>
          <a:p>
            <a:pPr algn="ctr"/>
            <a:r>
              <a:rPr lang="ko-KR" altLang="en-US" sz="2800" dirty="0">
                <a:solidFill>
                  <a:srgbClr val="FF0000"/>
                </a:solidFill>
              </a:rPr>
              <a:t>팀장님이 잘 설명해주실 겁니다 </a:t>
            </a:r>
            <a:r>
              <a:rPr lang="ko-KR" altLang="en-US" sz="2800" dirty="0" err="1">
                <a:solidFill>
                  <a:srgbClr val="FF0000"/>
                </a:solidFill>
              </a:rPr>
              <a:t>ㅎㅎ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5634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EBA897-2EE2-4E59-9707-18DC6338E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2" r="53178"/>
          <a:stretch/>
        </p:blipFill>
        <p:spPr>
          <a:xfrm>
            <a:off x="3589057" y="2636874"/>
            <a:ext cx="5013885" cy="4221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7182C3-F231-4F55-88BC-AC3CF75C9B47}"/>
              </a:ext>
            </a:extLst>
          </p:cNvPr>
          <p:cNvSpPr txBox="1"/>
          <p:nvPr/>
        </p:nvSpPr>
        <p:spPr>
          <a:xfrm>
            <a:off x="2064930" y="692520"/>
            <a:ext cx="8062137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★ </a:t>
            </a:r>
            <a:r>
              <a:rPr lang="en-US" altLang="ko-KR" sz="8800" b="1" dirty="0" err="1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QnA</a:t>
            </a:r>
            <a:r>
              <a:rPr lang="en-US" altLang="ko-KR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ko-KR" altLang="en-US" sz="8800" b="1" dirty="0">
                <a:ln>
                  <a:solidFill>
                    <a:srgbClr val="FF0000"/>
                  </a:solidFill>
                </a:ln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★</a:t>
            </a:r>
            <a:endParaRPr lang="en-US" altLang="ko-KR" sz="8800" b="1" dirty="0">
              <a:ln>
                <a:solidFill>
                  <a:srgbClr val="FF0000"/>
                </a:solidFill>
              </a:ln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algn="ctr"/>
            <a:endParaRPr lang="en-US" altLang="ko-KR" sz="1100" b="1" dirty="0">
              <a:ln>
                <a:solidFill>
                  <a:srgbClr val="FF0000"/>
                </a:solidFill>
              </a:ln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algn="ctr"/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(</a:t>
            </a:r>
            <a:r>
              <a:rPr lang="ko-KR" alt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공격적인 질문 무서워요</a:t>
            </a:r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..</a:t>
            </a:r>
            <a:r>
              <a:rPr lang="ko-KR" altLang="en-US" sz="36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ㅠㅠ</a:t>
            </a:r>
            <a:r>
              <a:rPr lang="en-US" altLang="ko-KR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)</a:t>
            </a:r>
            <a:r>
              <a:rPr lang="ko-KR" altLang="en-US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36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0219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EBA897-2EE2-4E59-9707-18DC6338E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2" r="53178"/>
          <a:stretch/>
        </p:blipFill>
        <p:spPr>
          <a:xfrm>
            <a:off x="3690666" y="2807963"/>
            <a:ext cx="4810664" cy="4050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7182C3-F231-4F55-88BC-AC3CF75C9B47}"/>
              </a:ext>
            </a:extLst>
          </p:cNvPr>
          <p:cNvSpPr txBox="1"/>
          <p:nvPr/>
        </p:nvSpPr>
        <p:spPr>
          <a:xfrm>
            <a:off x="2064930" y="841376"/>
            <a:ext cx="8062137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6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감사합니다</a:t>
            </a:r>
            <a:r>
              <a:rPr lang="en-US" altLang="ko-KR" sz="6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!!</a:t>
            </a:r>
          </a:p>
          <a:p>
            <a:pPr algn="ctr"/>
            <a:endParaRPr lang="en-US" altLang="ko-KR" sz="600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pPr algn="ctr"/>
            <a:r>
              <a:rPr lang="ko-KR" altLang="en-US" sz="5400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좋은 하루</a:t>
            </a:r>
            <a:r>
              <a:rPr lang="ko-KR" altLang="en-US" sz="5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보내세요</a:t>
            </a:r>
            <a:r>
              <a:rPr lang="en-US" altLang="ko-KR" sz="5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~!</a:t>
            </a:r>
            <a:endParaRPr lang="ko-KR" altLang="en-US" sz="540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" name="말풍선: 모서리가 둥근 사각형 1">
            <a:extLst>
              <a:ext uri="{FF2B5EF4-FFF2-40B4-BE49-F238E27FC236}">
                <a16:creationId xmlns:a16="http://schemas.microsoft.com/office/drawing/2014/main" id="{816E9A43-F548-4A72-829E-9832F4490F9B}"/>
              </a:ext>
            </a:extLst>
          </p:cNvPr>
          <p:cNvSpPr/>
          <p:nvPr/>
        </p:nvSpPr>
        <p:spPr>
          <a:xfrm>
            <a:off x="8195423" y="5348176"/>
            <a:ext cx="2339163" cy="1010093"/>
          </a:xfrm>
          <a:prstGeom prst="wedgeRoundRectCallout">
            <a:avLst>
              <a:gd name="adj1" fmla="val -69923"/>
              <a:gd name="adj2" fmla="val 5658"/>
              <a:gd name="adj3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함께해서 즐거웠고</a:t>
            </a:r>
            <a:endParaRPr lang="en-US" altLang="ko-KR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다음에도 다시 </a:t>
            </a:r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ㅁ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C6303792-ABBA-4004-8C5B-474DA4962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87" y="5983322"/>
            <a:ext cx="5013885" cy="729495"/>
          </a:xfrm>
        </p:spPr>
        <p:txBody>
          <a:bodyPr>
            <a:normAutofit lnSpcReduction="10000"/>
          </a:bodyPr>
          <a:lstStyle/>
          <a:p>
            <a:pPr algn="l"/>
            <a:r>
              <a:rPr lang="ko-KR" altLang="en-US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♥ 팀원분들 고생 많으셨습니다</a:t>
            </a:r>
            <a:r>
              <a:rPr lang="en-US" altLang="ko-KR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짱짱맨</a:t>
            </a:r>
            <a:r>
              <a:rPr lang="ko-KR" altLang="en-US" dirty="0">
                <a:solidFill>
                  <a:schemeClr val="bg1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♥</a:t>
            </a:r>
          </a:p>
        </p:txBody>
      </p:sp>
    </p:spTree>
    <p:extLst>
      <p:ext uri="{BB962C8B-B14F-4D97-AF65-F5344CB8AC3E}">
        <p14:creationId xmlns:p14="http://schemas.microsoft.com/office/powerpoint/2010/main" val="15553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2493</Words>
  <Application>Microsoft Office PowerPoint</Application>
  <PresentationFormat>와이드스크린</PresentationFormat>
  <Paragraphs>583</Paragraphs>
  <Slides>52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1" baseType="lpstr">
      <vt:lpstr>맑은 고딕</vt:lpstr>
      <vt:lpstr>양재백두체B</vt:lpstr>
      <vt:lpstr>휴먼매직체</vt:lpstr>
      <vt:lpstr>Paperlogy 7 Bold</vt:lpstr>
      <vt:lpstr>굴림</vt:lpstr>
      <vt:lpstr>Paperlogy 4 Regular</vt:lpstr>
      <vt:lpstr>Arial</vt:lpstr>
      <vt:lpstr>휴먼둥근헤드라인</vt:lpstr>
      <vt:lpstr>Office 테마</vt:lpstr>
      <vt:lpstr>PowerPoint 프레젠테이션</vt:lpstr>
      <vt:lpstr>맛있게 만드려다 시간이 없어서!    - 어차피 발표는 내가 아니니까 -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4차 산업혁명 통시적 분석    - 우리의 미래는!? ㅠㅠ -</dc:title>
  <dc:creator>신채연</dc:creator>
  <cp:lastModifiedBy>TJ</cp:lastModifiedBy>
  <cp:revision>11</cp:revision>
  <dcterms:created xsi:type="dcterms:W3CDTF">2021-04-08T08:43:24Z</dcterms:created>
  <dcterms:modified xsi:type="dcterms:W3CDTF">2025-11-07T07:00:57Z</dcterms:modified>
</cp:coreProperties>
</file>