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63" r:id="rId3"/>
    <p:sldId id="258" r:id="rId4"/>
    <p:sldId id="259" r:id="rId5"/>
    <p:sldId id="262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4" r:id="rId16"/>
    <p:sldId id="275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20" r:id="rId32"/>
    <p:sldId id="321" r:id="rId33"/>
    <p:sldId id="323" r:id="rId34"/>
    <p:sldId id="324" r:id="rId35"/>
    <p:sldId id="322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2F7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9491596-B74A-43ED-AE7C-16E4F1FA5DAC}" type="datetime1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A2337025-AB64-455D-98DE-0944E18D9E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9766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0525F-E360-11E5-058B-9D8D3F7A9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BDDD38-ECA7-8F42-CB5F-5B06352CD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FFE394-8894-E8C2-B197-DC7044718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2FDFF-C663-88BF-6008-4FAACF35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8031C-2F66-AE3F-7316-E23DC82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9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A9F84-ADF4-74AC-9DE2-D0FCAB3C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4D4AA-7116-BCFE-175B-686B0B3F2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48C9ED-DC8E-407A-FB7C-BE1AE89D2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9EA5-85FD-5DB3-B360-11B0529E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D4C8F-E9D5-FA30-DFDF-27E4E275B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59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01B6-53C8-E78A-1CF9-209C5C38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DCBFCB-75F6-B4C9-0838-FEC6E1204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4C287-562D-FADC-E14F-6B9EDAE8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692E4-BA6A-5B14-398C-A1E0D907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6158F4-EAE4-0E73-DA9A-1BBCFC69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36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16FC08-9C38-64C0-7E3D-6D8A71B8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394C-3B0C-19D1-9DE0-A2532ECCD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74D018-B81D-3F70-7A8F-90FCF61AA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DB138-8C00-D19A-2487-9230FBD65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8FF77-5A69-8674-4587-13417B1F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48492-3A54-375D-3099-8A4CE3509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148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EEA9B-7741-28AD-14FB-3783724E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AE9EF-61C2-B802-819B-C9245A5F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2C15E-940D-A038-E898-E891B85FD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8E62A8-A8FC-6082-B75A-064D607D1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DF0C68-6C88-476A-B5BD-F90A6529C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16951D-83A4-0206-3E8F-E2BBDB95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1D4DFB-2D6D-1AAD-FDB5-600971045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A2A0C42-9158-13B9-660B-638A62783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86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C85E7-3D52-4D2A-8A65-848DF7D48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10E49D-0D1D-12BE-1C19-084B14A8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56EEB-7B84-AF18-CBED-D3B2517F6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371449-3823-4B02-825C-92510DC9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2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FA432D-F9AE-04B9-D142-10E8EAA2C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0D8503-0E2B-C848-06A7-C347D26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1440BA-6AF5-D118-0803-85B3DF41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60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BB02F-DBFC-F6A8-486F-973C5CE9E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427B6C-9089-4608-6FE1-CAFE25044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193F31-1640-E916-D2AB-2E66CF0B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D347E-DE40-8BCE-229F-1F49B8AB3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20CC6-2E73-83B6-0E9A-7EF8AB48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1DC20D-1FAA-0E23-3AFC-0D7CE36F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33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E38D8-ECB4-3753-93E5-929DA354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D9F59B-7077-FAEA-F5D8-C2332DC74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4A1A94-4D26-A81D-C8E3-9FD1741B9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41CEA-4BE2-D220-AC83-13EB6D65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64E6-B3C8-305E-38EF-A376382C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863663-6838-8074-8369-5BA9285A9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02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9C2E1-4638-6036-CC68-F03227D6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515DAD-2E7B-C638-182A-311EB8049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9BFA4-C640-718D-98C7-FB8F8C519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64973-BB91-9F0C-122A-F799857D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10CC8-1CB6-34FB-755A-0F93385F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783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367D4E-4CAA-33DC-DEDF-7E47ECD8B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EA5C92-828F-3F26-4F8D-048157698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3A6E68-CDD5-0DFE-2C89-5E8ED342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5EE22-F5F4-982D-45A0-071AC9772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E134F3-4284-0EF1-5238-956DD5FC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443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85DF0C-B37A-1CE3-9D6A-BDBDB20C9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7BDB7C-C240-F4BE-FF4E-8B6B9CDE4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BFC84-2525-812C-F237-947D91A6B5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B3AA4-B80A-44D7-B45E-4FF93F3F77BC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E7FDD-713E-6998-1969-8B8A0273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2DB176-B3FA-CEE4-E66A-075C6D963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E09CE-0B66-44D1-9EE0-72DC4FE7DA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580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334AA-4680-CF84-5422-FED5A22E4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1494" y="192505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프로젝트 결과보고서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B5D7F6-6A07-CFE0-E4D9-011EDE315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718426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fontAlgn="base" latinLnBrk="0"/>
            <a:r>
              <a:rPr lang="ko-KR" altLang="en-US" b="1" dirty="0"/>
              <a:t>보안사고 해결 시나리오의 구현을 통한</a:t>
            </a:r>
            <a:endParaRPr lang="ko-KR" altLang="en-US" dirty="0"/>
          </a:p>
          <a:p>
            <a:pPr fontAlgn="base" latinLnBrk="0"/>
            <a:r>
              <a:rPr lang="ko-KR" altLang="en-US" b="1" dirty="0"/>
              <a:t>네트워크 및 서버 관리 역량 강화</a:t>
            </a:r>
            <a:endParaRPr lang="ko-KR" altLang="en-US" dirty="0"/>
          </a:p>
          <a:p>
            <a:pPr algn="r" fontAlgn="base" latinLnBrk="0"/>
            <a:r>
              <a:rPr lang="en-US" altLang="ko-KR" sz="1800" b="1" dirty="0"/>
              <a:t>Team : </a:t>
            </a:r>
            <a:r>
              <a:rPr lang="ko-KR" altLang="en-US" sz="1800" b="1" dirty="0" err="1"/>
              <a:t>취업할래말래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팀장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지상</a:t>
            </a:r>
            <a:endParaRPr lang="ko-KR" altLang="en-US" sz="1800" dirty="0"/>
          </a:p>
          <a:p>
            <a:pPr algn="r" fontAlgn="base" latinLnBrk="0"/>
            <a:r>
              <a:rPr lang="ko-KR" altLang="en-US" sz="1800" b="1" dirty="0"/>
              <a:t>팀원 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현지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지형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혜원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한얼</a:t>
            </a: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E36A890-285B-12D8-11A5-B0B85C94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2505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33562776">
            <a:extLst>
              <a:ext uri="{FF2B5EF4-FFF2-40B4-BE49-F238E27FC236}">
                <a16:creationId xmlns:a16="http://schemas.microsoft.com/office/drawing/2014/main" id="{BD14A6BD-47E9-D0EB-C838-AD897AFA7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518" y="1052721"/>
            <a:ext cx="5668963" cy="334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3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55663-E3B2-2239-1DF0-BCA78446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dirty="0"/>
              <a:t>1. </a:t>
            </a:r>
            <a:r>
              <a:rPr lang="ko-KR" altLang="en-US" sz="5400" dirty="0"/>
              <a:t>네트워크 구성도</a:t>
            </a:r>
          </a:p>
        </p:txBody>
      </p:sp>
    </p:spTree>
    <p:extLst>
      <p:ext uri="{BB962C8B-B14F-4D97-AF65-F5344CB8AC3E}">
        <p14:creationId xmlns:p14="http://schemas.microsoft.com/office/powerpoint/2010/main" val="152831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07080-1E6A-1476-CDC6-EB33A7F2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48A9F7-5740-FAFE-493C-928AA0C7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42A316-7654-E694-8400-DCF41119D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0781" y="13096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233561096">
            <a:extLst>
              <a:ext uri="{FF2B5EF4-FFF2-40B4-BE49-F238E27FC236}">
                <a16:creationId xmlns:a16="http://schemas.microsoft.com/office/drawing/2014/main" id="{FBF733D5-EF86-7105-297D-29C697C7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72" y="1309687"/>
            <a:ext cx="10369455" cy="497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02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AEFF8-19BD-A2FB-A9DA-D048F1D4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네트워크 물리 구성도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5D295-60E7-F6A3-7840-852947FBF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516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055F071-2401-CC5A-D02E-91B6DFB9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953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233561176">
            <a:extLst>
              <a:ext uri="{FF2B5EF4-FFF2-40B4-BE49-F238E27FC236}">
                <a16:creationId xmlns:a16="http://schemas.microsoft.com/office/drawing/2014/main" id="{456AED3C-D529-9377-2426-FF6C9C9FA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1248568"/>
            <a:ext cx="9909175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4C6B9-D32B-EF52-6D05-718AE482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14" y="2268991"/>
            <a:ext cx="10105571" cy="2320018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2. </a:t>
            </a:r>
            <a:r>
              <a:rPr lang="ko-KR" altLang="en-US" sz="5400" b="1" dirty="0"/>
              <a:t>네트워크 구역별 구축 결과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57339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ABC38FE3-29CF-A966-75F5-F6B7DC6D2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670841"/>
              </p:ext>
            </p:extLst>
          </p:nvPr>
        </p:nvGraphicFramePr>
        <p:xfrm>
          <a:off x="1558212" y="156755"/>
          <a:ext cx="9558280" cy="6412702"/>
        </p:xfrm>
        <a:graphic>
          <a:graphicData uri="http://schemas.openxmlformats.org/drawingml/2006/table">
            <a:tbl>
              <a:tblPr/>
              <a:tblGrid>
                <a:gridCol w="1317756">
                  <a:extLst>
                    <a:ext uri="{9D8B030D-6E8A-4147-A177-3AD203B41FA5}">
                      <a16:colId xmlns:a16="http://schemas.microsoft.com/office/drawing/2014/main" val="1147670498"/>
                    </a:ext>
                  </a:extLst>
                </a:gridCol>
                <a:gridCol w="4172814">
                  <a:extLst>
                    <a:ext uri="{9D8B030D-6E8A-4147-A177-3AD203B41FA5}">
                      <a16:colId xmlns:a16="http://schemas.microsoft.com/office/drawing/2014/main" val="4108862225"/>
                    </a:ext>
                  </a:extLst>
                </a:gridCol>
                <a:gridCol w="4067710">
                  <a:extLst>
                    <a:ext uri="{9D8B030D-6E8A-4147-A177-3AD203B41FA5}">
                      <a16:colId xmlns:a16="http://schemas.microsoft.com/office/drawing/2014/main" val="2034365612"/>
                    </a:ext>
                  </a:extLst>
                </a:gridCol>
              </a:tblGrid>
              <a:tr h="312230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전체 구성도 구축 결과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1091"/>
                  </a:ext>
                </a:extLst>
              </a:tr>
              <a:tr h="4287561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16532"/>
                  </a:ext>
                </a:extLst>
              </a:tr>
              <a:tr h="4448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42474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Static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네트워크 경로를 명확히 통제하고 일관된 트래픽 흐름을 유지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일관된 경로 선택과 보안성을 제공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57637"/>
                  </a:ext>
                </a:extLst>
              </a:tr>
              <a:tr h="60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Summary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경로로 전달되는 네트워크 대역을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supernet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하여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라우팅 설정 최소화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축약 가능한 네트워크 대역이 같은 경로 이용 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한 번에 지정 가능 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805869"/>
                  </a:ext>
                </a:extLst>
              </a:tr>
              <a:tr h="38378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Default Routing</a:t>
                      </a:r>
                      <a:endParaRPr 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정의되지 않은 목적지 트래픽을 처리하기 위함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알 수 없는 목적지로 향하는 패킷을 지정된 기본 경로를 통해 전달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90" marR="5490" marT="39527" marB="3952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13497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4634BF64-34E2-231B-7B9E-A808713ED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550759"/>
            <a:ext cx="13035267" cy="537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69" name="_x233561496">
            <a:extLst>
              <a:ext uri="{FF2B5EF4-FFF2-40B4-BE49-F238E27FC236}">
                <a16:creationId xmlns:a16="http://schemas.microsoft.com/office/drawing/2014/main" id="{96D3D637-01A8-54DD-059C-763D714D3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1" b="6291"/>
          <a:stretch>
            <a:fillRect/>
          </a:stretch>
        </p:blipFill>
        <p:spPr bwMode="auto">
          <a:xfrm>
            <a:off x="2225674" y="550759"/>
            <a:ext cx="8208839" cy="411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8B1362B-0686-687D-31ED-8DA885475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467" y="1153742"/>
            <a:ext cx="13035267" cy="25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1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FAE0B758-903B-6934-50E2-090313AE0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811510"/>
              </p:ext>
            </p:extLst>
          </p:nvPr>
        </p:nvGraphicFramePr>
        <p:xfrm>
          <a:off x="439838" y="202352"/>
          <a:ext cx="11134846" cy="6453296"/>
        </p:xfrm>
        <a:graphic>
          <a:graphicData uri="http://schemas.openxmlformats.org/drawingml/2006/table">
            <a:tbl>
              <a:tblPr/>
              <a:tblGrid>
                <a:gridCol w="1984048">
                  <a:extLst>
                    <a:ext uri="{9D8B030D-6E8A-4147-A177-3AD203B41FA5}">
                      <a16:colId xmlns:a16="http://schemas.microsoft.com/office/drawing/2014/main" val="3174762485"/>
                    </a:ext>
                  </a:extLst>
                </a:gridCol>
                <a:gridCol w="3108813">
                  <a:extLst>
                    <a:ext uri="{9D8B030D-6E8A-4147-A177-3AD203B41FA5}">
                      <a16:colId xmlns:a16="http://schemas.microsoft.com/office/drawing/2014/main" val="1848900712"/>
                    </a:ext>
                  </a:extLst>
                </a:gridCol>
                <a:gridCol w="393539">
                  <a:extLst>
                    <a:ext uri="{9D8B030D-6E8A-4147-A177-3AD203B41FA5}">
                      <a16:colId xmlns:a16="http://schemas.microsoft.com/office/drawing/2014/main" val="2565430353"/>
                    </a:ext>
                  </a:extLst>
                </a:gridCol>
                <a:gridCol w="561648">
                  <a:extLst>
                    <a:ext uri="{9D8B030D-6E8A-4147-A177-3AD203B41FA5}">
                      <a16:colId xmlns:a16="http://schemas.microsoft.com/office/drawing/2014/main" val="261346284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232403308"/>
                    </a:ext>
                  </a:extLst>
                </a:gridCol>
                <a:gridCol w="3925655">
                  <a:extLst>
                    <a:ext uri="{9D8B030D-6E8A-4147-A177-3AD203B41FA5}">
                      <a16:colId xmlns:a16="http://schemas.microsoft.com/office/drawing/2014/main" val="1381712691"/>
                    </a:ext>
                  </a:extLst>
                </a:gridCol>
              </a:tblGrid>
              <a:tr h="3370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36557"/>
                  </a:ext>
                </a:extLst>
              </a:tr>
              <a:tr h="1901913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R1</a:t>
                      </a:r>
                      <a:endParaRPr 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499665"/>
                  </a:ext>
                </a:extLst>
              </a:tr>
              <a:tr h="110181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R3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098960"/>
                  </a:ext>
                </a:extLst>
              </a:tr>
              <a:tr h="169062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R5</a:t>
                      </a:r>
                      <a:endParaRPr 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endParaRPr lang="ko-KR" altLang="en-US" dirty="0"/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984855"/>
                  </a:ext>
                </a:extLst>
              </a:tr>
              <a:tr h="31349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90000"/>
                        </a:lnSpc>
                        <a:buNone/>
                      </a:pP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8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34204"/>
                  </a:ext>
                </a:extLst>
              </a:tr>
              <a:tr h="11084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Frame-Relay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Multipoint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이용한 네트워크 대역 절약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buNone/>
                      </a:pPr>
                      <a:endParaRPr lang="en-US" sz="7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FRSW1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각 라우터마다 하나의 회선으로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 포트인 것처럼 사용 가능하게 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35" marR="4635" marT="33374" marB="3337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90524"/>
                  </a:ext>
                </a:extLst>
              </a:tr>
            </a:tbl>
          </a:graphicData>
        </a:graphic>
      </p:graphicFrame>
      <p:pic>
        <p:nvPicPr>
          <p:cNvPr id="8201" name="_x233561656">
            <a:extLst>
              <a:ext uri="{FF2B5EF4-FFF2-40B4-BE49-F238E27FC236}">
                <a16:creationId xmlns:a16="http://schemas.microsoft.com/office/drawing/2014/main" id="{80F10B5A-405B-552F-4696-A8777DB3C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8"/>
          <a:stretch>
            <a:fillRect/>
          </a:stretch>
        </p:blipFill>
        <p:spPr bwMode="auto">
          <a:xfrm>
            <a:off x="498715" y="1260387"/>
            <a:ext cx="5010834" cy="356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_x233559096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01446" y="624301"/>
            <a:ext cx="4632120" cy="1760399"/>
          </a:xfrm>
          <a:prstGeom prst="rect">
            <a:avLst/>
          </a:prstGeom>
          <a:noFill/>
        </p:spPr>
      </p:pic>
      <p:pic>
        <p:nvPicPr>
          <p:cNvPr id="8199" name="_x148413728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03358" y="2471475"/>
            <a:ext cx="4530208" cy="1029218"/>
          </a:xfrm>
          <a:prstGeom prst="rect">
            <a:avLst/>
          </a:prstGeom>
          <a:noFill/>
        </p:spPr>
      </p:pic>
      <p:pic>
        <p:nvPicPr>
          <p:cNvPr id="8198" name="_x237389992"/>
          <p:cNvPicPr>
            <a:picLocks noChangeAspect="1" noChangeArrowheads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007261" y="3587468"/>
            <a:ext cx="5366723" cy="1634158"/>
          </a:xfrm>
          <a:prstGeom prst="rect">
            <a:avLst/>
          </a:prstGeom>
          <a:noFill/>
        </p:spPr>
      </p:pic>
      <p:sp>
        <p:nvSpPr>
          <p:cNvPr id="7" name="Rectangle 10">
            <a:extLst>
              <a:ext uri="{FF2B5EF4-FFF2-40B4-BE49-F238E27FC236}">
                <a16:creationId xmlns:a16="http://schemas.microsoft.com/office/drawing/2014/main" id="{3C841671-30A6-1334-D1DA-E25344BB3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984" y="5095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7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55C51F2-479E-336A-0403-1BDDA6262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75453"/>
              </p:ext>
            </p:extLst>
          </p:nvPr>
        </p:nvGraphicFramePr>
        <p:xfrm>
          <a:off x="298215" y="245568"/>
          <a:ext cx="11595569" cy="6366864"/>
        </p:xfrm>
        <a:graphic>
          <a:graphicData uri="http://schemas.openxmlformats.org/drawingml/2006/table">
            <a:tbl>
              <a:tblPr/>
              <a:tblGrid>
                <a:gridCol w="1506404">
                  <a:extLst>
                    <a:ext uri="{9D8B030D-6E8A-4147-A177-3AD203B41FA5}">
                      <a16:colId xmlns:a16="http://schemas.microsoft.com/office/drawing/2014/main" val="874611176"/>
                    </a:ext>
                  </a:extLst>
                </a:gridCol>
                <a:gridCol w="4349438">
                  <a:extLst>
                    <a:ext uri="{9D8B030D-6E8A-4147-A177-3AD203B41FA5}">
                      <a16:colId xmlns:a16="http://schemas.microsoft.com/office/drawing/2014/main" val="3230075080"/>
                    </a:ext>
                  </a:extLst>
                </a:gridCol>
                <a:gridCol w="696686">
                  <a:extLst>
                    <a:ext uri="{9D8B030D-6E8A-4147-A177-3AD203B41FA5}">
                      <a16:colId xmlns:a16="http://schemas.microsoft.com/office/drawing/2014/main" val="452646800"/>
                    </a:ext>
                  </a:extLst>
                </a:gridCol>
                <a:gridCol w="5043041">
                  <a:extLst>
                    <a:ext uri="{9D8B030D-6E8A-4147-A177-3AD203B41FA5}">
                      <a16:colId xmlns:a16="http://schemas.microsoft.com/office/drawing/2014/main" val="1412729706"/>
                    </a:ext>
                  </a:extLst>
                </a:gridCol>
              </a:tblGrid>
              <a:tr h="5245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413603"/>
                  </a:ext>
                </a:extLst>
              </a:tr>
              <a:tr h="358412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(Wireshark </a:t>
                      </a: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캡처</a:t>
                      </a:r>
                      <a:r>
                        <a:rPr lang="en-US" altLang="ko-KR" sz="12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543579"/>
                  </a:ext>
                </a:extLst>
              </a:tr>
              <a:tr h="5245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0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0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788283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CHAP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3WAY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인증 방식으로 라우터 간에 확인된 라우터만 연결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R7, R8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해킹동아리에서 경찰서로 이어지는 라우터와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신뢰성 있는 통신 가능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56965"/>
                  </a:ext>
                </a:extLst>
              </a:tr>
              <a:tr h="8668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NAT(access-list)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해킹 동아리 쪽 네트워크 대역이 사설 대역이므로 외부와 통신 시 공인 대역으로 변환하기 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R8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사설 네트워크 대역과 공인 네트워크 대역 매핑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59" marR="5659" marT="40746" marB="40746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44840"/>
                  </a:ext>
                </a:extLst>
              </a:tr>
            </a:tbl>
          </a:graphicData>
        </a:graphic>
      </p:graphicFrame>
      <p:pic>
        <p:nvPicPr>
          <p:cNvPr id="9218" name="_x233556296">
            <a:extLst>
              <a:ext uri="{FF2B5EF4-FFF2-40B4-BE49-F238E27FC236}">
                <a16:creationId xmlns:a16="http://schemas.microsoft.com/office/drawing/2014/main" id="{8A5D3238-679F-6B29-D7DE-C6E3298EE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60" y="799566"/>
            <a:ext cx="4198679" cy="34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_x148413488">
            <a:extLst>
              <a:ext uri="{FF2B5EF4-FFF2-40B4-BE49-F238E27FC236}">
                <a16:creationId xmlns:a16="http://schemas.microsoft.com/office/drawing/2014/main" id="{09ED57A7-3A56-B8EE-977D-98447D43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6363" y="1565194"/>
            <a:ext cx="4987811" cy="1783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3345669A-09AF-0B81-4921-B418E79CE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6978" y="11079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3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218D52-BF49-1883-F579-29422FB335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20453"/>
              </p:ext>
            </p:extLst>
          </p:nvPr>
        </p:nvGraphicFramePr>
        <p:xfrm>
          <a:off x="187806" y="278198"/>
          <a:ext cx="11816387" cy="6301603"/>
        </p:xfrm>
        <a:graphic>
          <a:graphicData uri="http://schemas.openxmlformats.org/drawingml/2006/table">
            <a:tbl>
              <a:tblPr/>
              <a:tblGrid>
                <a:gridCol w="1235852">
                  <a:extLst>
                    <a:ext uri="{9D8B030D-6E8A-4147-A177-3AD203B41FA5}">
                      <a16:colId xmlns:a16="http://schemas.microsoft.com/office/drawing/2014/main" val="916382943"/>
                    </a:ext>
                  </a:extLst>
                </a:gridCol>
                <a:gridCol w="3415963">
                  <a:extLst>
                    <a:ext uri="{9D8B030D-6E8A-4147-A177-3AD203B41FA5}">
                      <a16:colId xmlns:a16="http://schemas.microsoft.com/office/drawing/2014/main" val="1070174390"/>
                    </a:ext>
                  </a:extLst>
                </a:gridCol>
                <a:gridCol w="795794">
                  <a:extLst>
                    <a:ext uri="{9D8B030D-6E8A-4147-A177-3AD203B41FA5}">
                      <a16:colId xmlns:a16="http://schemas.microsoft.com/office/drawing/2014/main" val="1673601454"/>
                    </a:ext>
                  </a:extLst>
                </a:gridCol>
                <a:gridCol w="6368778">
                  <a:extLst>
                    <a:ext uri="{9D8B030D-6E8A-4147-A177-3AD203B41FA5}">
                      <a16:colId xmlns:a16="http://schemas.microsoft.com/office/drawing/2014/main" val="1461738990"/>
                    </a:ext>
                  </a:extLst>
                </a:gridCol>
              </a:tblGrid>
              <a:tr h="42832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638801"/>
                  </a:ext>
                </a:extLst>
              </a:tr>
              <a:tr h="1173730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SW3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48791"/>
                  </a:ext>
                </a:extLst>
              </a:tr>
              <a:tr h="118375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SW4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740005"/>
                  </a:ext>
                </a:extLst>
              </a:tr>
              <a:tr h="171620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SW10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(Root)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272072"/>
                  </a:ext>
                </a:extLst>
              </a:tr>
              <a:tr h="55617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43089"/>
                  </a:ext>
                </a:extLst>
              </a:tr>
              <a:tr h="414467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(Spanning Tree Protocol)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링구조로 연결된 스위치에 패킷이 전달될 무한 </a:t>
                      </a:r>
                      <a:r>
                        <a:rPr lang="ko-KR" altLang="en-US" sz="1400" kern="0" spc="-3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루핑</a:t>
                      </a:r>
                      <a:r>
                        <a:rPr lang="ko-KR" altLang="en-US" sz="1400" kern="0" spc="-3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현상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ESW3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스위치의 포트 중에서 우선순위가 낮은 포트를 차단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157256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ESW4 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69104"/>
                  </a:ext>
                </a:extLst>
              </a:tr>
              <a:tr h="4144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ESW10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07" marR="4607" marT="33171" marB="3317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837489"/>
                  </a:ext>
                </a:extLst>
              </a:tr>
            </a:tbl>
          </a:graphicData>
        </a:graphic>
      </p:graphicFrame>
      <p:pic>
        <p:nvPicPr>
          <p:cNvPr id="10245" name="_x203943592">
            <a:extLst>
              <a:ext uri="{FF2B5EF4-FFF2-40B4-BE49-F238E27FC236}">
                <a16:creationId xmlns:a16="http://schemas.microsoft.com/office/drawing/2014/main" id="{930B4A35-4BF0-9D15-581D-501C424C5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8" r="21864" b="8383"/>
          <a:stretch>
            <a:fillRect/>
          </a:stretch>
        </p:blipFill>
        <p:spPr bwMode="auto">
          <a:xfrm>
            <a:off x="247277" y="1125651"/>
            <a:ext cx="4452431" cy="363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_x233558696">
            <a:extLst>
              <a:ext uri="{FF2B5EF4-FFF2-40B4-BE49-F238E27FC236}">
                <a16:creationId xmlns:a16="http://schemas.microsoft.com/office/drawing/2014/main" id="{61606A08-1BCE-FD0B-4FCB-241B345C2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7" b="10945"/>
          <a:stretch>
            <a:fillRect/>
          </a:stretch>
        </p:blipFill>
        <p:spPr bwMode="auto">
          <a:xfrm>
            <a:off x="5666246" y="944161"/>
            <a:ext cx="6278476" cy="63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3" name="_x47185304">
            <a:extLst>
              <a:ext uri="{FF2B5EF4-FFF2-40B4-BE49-F238E27FC236}">
                <a16:creationId xmlns:a16="http://schemas.microsoft.com/office/drawing/2014/main" id="{119B9184-9367-6B78-0BC3-D818543A9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19" b="18121"/>
          <a:stretch>
            <a:fillRect/>
          </a:stretch>
        </p:blipFill>
        <p:spPr bwMode="auto">
          <a:xfrm>
            <a:off x="5683696" y="2181490"/>
            <a:ext cx="6261026" cy="5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_x207324168">
            <a:extLst>
              <a:ext uri="{FF2B5EF4-FFF2-40B4-BE49-F238E27FC236}">
                <a16:creationId xmlns:a16="http://schemas.microsoft.com/office/drawing/2014/main" id="{83C73F21-D136-B048-5034-D024540C9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285" y="3165717"/>
            <a:ext cx="3841149" cy="57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_x207326088">
            <a:extLst>
              <a:ext uri="{FF2B5EF4-FFF2-40B4-BE49-F238E27FC236}">
                <a16:creationId xmlns:a16="http://schemas.microsoft.com/office/drawing/2014/main" id="{71B60CCD-AB73-7E5C-2A6E-ABF516760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9" b="12050"/>
          <a:stretch>
            <a:fillRect/>
          </a:stretch>
        </p:blipFill>
        <p:spPr bwMode="auto">
          <a:xfrm>
            <a:off x="5750284" y="3744135"/>
            <a:ext cx="6194438" cy="92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8189FB84-C6C0-FCE8-1691-CA426B2BC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876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18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30220B-56DD-6C9F-DBAF-4C607A1FE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864300"/>
              </p:ext>
            </p:extLst>
          </p:nvPr>
        </p:nvGraphicFramePr>
        <p:xfrm>
          <a:off x="296779" y="292319"/>
          <a:ext cx="11598441" cy="6312914"/>
        </p:xfrm>
        <a:graphic>
          <a:graphicData uri="http://schemas.openxmlformats.org/drawingml/2006/table">
            <a:tbl>
              <a:tblPr/>
              <a:tblGrid>
                <a:gridCol w="1246097">
                  <a:extLst>
                    <a:ext uri="{9D8B030D-6E8A-4147-A177-3AD203B41FA5}">
                      <a16:colId xmlns:a16="http://schemas.microsoft.com/office/drawing/2014/main" val="2065845456"/>
                    </a:ext>
                  </a:extLst>
                </a:gridCol>
                <a:gridCol w="3478303">
                  <a:extLst>
                    <a:ext uri="{9D8B030D-6E8A-4147-A177-3AD203B41FA5}">
                      <a16:colId xmlns:a16="http://schemas.microsoft.com/office/drawing/2014/main" val="1870395853"/>
                    </a:ext>
                  </a:extLst>
                </a:gridCol>
                <a:gridCol w="1876926">
                  <a:extLst>
                    <a:ext uri="{9D8B030D-6E8A-4147-A177-3AD203B41FA5}">
                      <a16:colId xmlns:a16="http://schemas.microsoft.com/office/drawing/2014/main" val="2050584530"/>
                    </a:ext>
                  </a:extLst>
                </a:gridCol>
                <a:gridCol w="4997115">
                  <a:extLst>
                    <a:ext uri="{9D8B030D-6E8A-4147-A177-3AD203B41FA5}">
                      <a16:colId xmlns:a16="http://schemas.microsoft.com/office/drawing/2014/main" val="4210451879"/>
                    </a:ext>
                  </a:extLst>
                </a:gridCol>
              </a:tblGrid>
              <a:tr h="23337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394977"/>
                  </a:ext>
                </a:extLst>
              </a:tr>
              <a:tr h="2582243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(DHCP)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97444"/>
                  </a:ext>
                </a:extLst>
              </a:tr>
              <a:tr h="195793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(PAT)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887505"/>
                  </a:ext>
                </a:extLst>
              </a:tr>
              <a:tr h="26862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54519"/>
                  </a:ext>
                </a:extLst>
              </a:tr>
              <a:tr h="4760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연결된 각 장비에 자동으로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할당해주기 위함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R2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DHCP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서버로서 관제센터 내부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들의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주어진 대역에 맞춰 할당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77191"/>
                  </a:ext>
                </a:extLst>
              </a:tr>
              <a:tr h="6835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PAT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내부에서 사용하는 다수의 사설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외부와 통신할 때에는 하나의 공인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변환하여 사용할 수 있도록 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관제센터에서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여러명이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각자의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업무를 하지만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외부 네트워크 통신시에는 하나의 관제센터 공인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IP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통신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848" marR="4848" marT="34902" marB="3490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670520"/>
                  </a:ext>
                </a:extLst>
              </a:tr>
            </a:tbl>
          </a:graphicData>
        </a:graphic>
      </p:graphicFrame>
      <p:pic>
        <p:nvPicPr>
          <p:cNvPr id="11267" name="_x231863600">
            <a:extLst>
              <a:ext uri="{FF2B5EF4-FFF2-40B4-BE49-F238E27FC236}">
                <a16:creationId xmlns:a16="http://schemas.microsoft.com/office/drawing/2014/main" id="{59959091-C20F-D604-9498-A599B046F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79" y="1952625"/>
            <a:ext cx="4676618" cy="233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_x233556936">
            <a:extLst>
              <a:ext uri="{FF2B5EF4-FFF2-40B4-BE49-F238E27FC236}">
                <a16:creationId xmlns:a16="http://schemas.microsoft.com/office/drawing/2014/main" id="{E3823F44-A002-D18A-BB76-9F9079965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120273"/>
            <a:ext cx="4959785" cy="166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_x231866800">
            <a:extLst>
              <a:ext uri="{FF2B5EF4-FFF2-40B4-BE49-F238E27FC236}">
                <a16:creationId xmlns:a16="http://schemas.microsoft.com/office/drawing/2014/main" id="{BB7CCA2A-C93D-1659-9961-3DF3DFC9E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429000"/>
            <a:ext cx="4939772" cy="152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96A703E1-DB1D-362B-3DED-BA44A339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52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365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89BBFA-A01A-92EE-7E6A-F8F2065FC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010309"/>
              </p:ext>
            </p:extLst>
          </p:nvPr>
        </p:nvGraphicFramePr>
        <p:xfrm>
          <a:off x="287258" y="322650"/>
          <a:ext cx="11617483" cy="6212700"/>
        </p:xfrm>
        <a:graphic>
          <a:graphicData uri="http://schemas.openxmlformats.org/drawingml/2006/table">
            <a:tbl>
              <a:tblPr/>
              <a:tblGrid>
                <a:gridCol w="1308029">
                  <a:extLst>
                    <a:ext uri="{9D8B030D-6E8A-4147-A177-3AD203B41FA5}">
                      <a16:colId xmlns:a16="http://schemas.microsoft.com/office/drawing/2014/main" val="3290034667"/>
                    </a:ext>
                  </a:extLst>
                </a:gridCol>
                <a:gridCol w="3714754">
                  <a:extLst>
                    <a:ext uri="{9D8B030D-6E8A-4147-A177-3AD203B41FA5}">
                      <a16:colId xmlns:a16="http://schemas.microsoft.com/office/drawing/2014/main" val="1858788209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14811900"/>
                    </a:ext>
                  </a:extLst>
                </a:gridCol>
                <a:gridCol w="6007325">
                  <a:extLst>
                    <a:ext uri="{9D8B030D-6E8A-4147-A177-3AD203B41FA5}">
                      <a16:colId xmlns:a16="http://schemas.microsoft.com/office/drawing/2014/main" val="3355568071"/>
                    </a:ext>
                  </a:extLst>
                </a:gridCol>
              </a:tblGrid>
              <a:tr h="5060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118763"/>
                  </a:ext>
                </a:extLst>
              </a:tr>
              <a:tr h="39941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1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470002"/>
                  </a:ext>
                </a:extLst>
              </a:tr>
              <a:tr h="5626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1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583511"/>
                  </a:ext>
                </a:extLst>
              </a:tr>
              <a:tr h="114988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SSH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보안성을 강화한 원격 접속 프로토콜을 적용하여 비밀번호 노출 방지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R9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중학생 해킹동아리에서 비밀번호를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스니핑으로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알아낼 수 있었던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Telnet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의 보안취약점을 개선하여 </a:t>
                      </a:r>
                      <a:r>
                        <a:rPr lang="ko-KR" altLang="en-US" sz="1400" kern="0" spc="0" dirty="0" err="1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해쉬함수로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 암호화된 비밀번호로 원격접속을 구현함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908469"/>
                  </a:ext>
                </a:extLst>
              </a:tr>
            </a:tbl>
          </a:graphicData>
        </a:graphic>
      </p:graphicFrame>
      <p:pic>
        <p:nvPicPr>
          <p:cNvPr id="12290" name="_x231864480">
            <a:extLst>
              <a:ext uri="{FF2B5EF4-FFF2-40B4-BE49-F238E27FC236}">
                <a16:creationId xmlns:a16="http://schemas.microsoft.com/office/drawing/2014/main" id="{42E111C1-B6AA-9665-24B6-DF135D4C7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58" y="1062760"/>
            <a:ext cx="4892843" cy="3516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_x233560536">
            <a:extLst>
              <a:ext uri="{FF2B5EF4-FFF2-40B4-BE49-F238E27FC236}">
                <a16:creationId xmlns:a16="http://schemas.microsoft.com/office/drawing/2014/main" id="{C2404566-5179-D43B-2355-22C7D5D65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748" y="2028825"/>
            <a:ext cx="5970993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F4FC7C9-81FD-2A99-2C21-4413875BC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028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662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B6D0511-F875-7A11-3BAC-180DBD415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205073"/>
              </p:ext>
            </p:extLst>
          </p:nvPr>
        </p:nvGraphicFramePr>
        <p:xfrm>
          <a:off x="193336" y="205555"/>
          <a:ext cx="11790116" cy="6446889"/>
        </p:xfrm>
        <a:graphic>
          <a:graphicData uri="http://schemas.openxmlformats.org/drawingml/2006/table">
            <a:tbl>
              <a:tblPr/>
              <a:tblGrid>
                <a:gridCol w="2073175">
                  <a:extLst>
                    <a:ext uri="{9D8B030D-6E8A-4147-A177-3AD203B41FA5}">
                      <a16:colId xmlns:a16="http://schemas.microsoft.com/office/drawing/2014/main" val="255696378"/>
                    </a:ext>
                  </a:extLst>
                </a:gridCol>
                <a:gridCol w="3556773">
                  <a:extLst>
                    <a:ext uri="{9D8B030D-6E8A-4147-A177-3AD203B41FA5}">
                      <a16:colId xmlns:a16="http://schemas.microsoft.com/office/drawing/2014/main" val="2156168231"/>
                    </a:ext>
                  </a:extLst>
                </a:gridCol>
                <a:gridCol w="2374232">
                  <a:extLst>
                    <a:ext uri="{9D8B030D-6E8A-4147-A177-3AD203B41FA5}">
                      <a16:colId xmlns:a16="http://schemas.microsoft.com/office/drawing/2014/main" val="346918148"/>
                    </a:ext>
                  </a:extLst>
                </a:gridCol>
                <a:gridCol w="1023687">
                  <a:extLst>
                    <a:ext uri="{9D8B030D-6E8A-4147-A177-3AD203B41FA5}">
                      <a16:colId xmlns:a16="http://schemas.microsoft.com/office/drawing/2014/main" val="3373572773"/>
                    </a:ext>
                  </a:extLst>
                </a:gridCol>
                <a:gridCol w="2762249">
                  <a:extLst>
                    <a:ext uri="{9D8B030D-6E8A-4147-A177-3AD203B41FA5}">
                      <a16:colId xmlns:a16="http://schemas.microsoft.com/office/drawing/2014/main" val="2720076353"/>
                    </a:ext>
                  </a:extLst>
                </a:gridCol>
              </a:tblGrid>
              <a:tr h="3250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구역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935078"/>
                  </a:ext>
                </a:extLst>
              </a:tr>
              <a:tr h="1124929"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 (Server)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658126"/>
                  </a:ext>
                </a:extLst>
              </a:tr>
              <a:tr h="11691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 (Client)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171650"/>
                  </a:ext>
                </a:extLst>
              </a:tr>
              <a:tr h="131066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 (Trans-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b="1" kern="100" spc="4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parent)</a:t>
                      </a:r>
                      <a:endParaRPr 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92476"/>
                  </a:ext>
                </a:extLst>
              </a:tr>
              <a:tr h="361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기술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사용목적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역할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20647"/>
                  </a:ext>
                </a:extLst>
              </a:tr>
              <a:tr h="62355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VTP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하나의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Server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장비에서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을 설정하고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이 정보를 연결된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Client 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스위치에 일괄적으로 적용하기 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SW5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(SERVER)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경찰서 내 각 부서마다 사용되는 </a:t>
                      </a:r>
                      <a:r>
                        <a:rPr lang="en-US" altLang="ko-KR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 </a:t>
                      </a:r>
                      <a:r>
                        <a:rPr lang="ko-KR" altLang="en-US" sz="1400" kern="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생성 및 관리</a:t>
                      </a:r>
                      <a:endParaRPr lang="ko-KR" alt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182813"/>
                  </a:ext>
                </a:extLst>
              </a:tr>
              <a:tr h="6235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SW6~9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(CLIENT)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서버로부터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정보를 받아 적용함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902036"/>
                  </a:ext>
                </a:extLst>
              </a:tr>
              <a:tr h="9085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SW12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(TRANSPARENT)</a:t>
                      </a:r>
                      <a:endParaRPr lang="en-US" sz="14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같은 </a:t>
                      </a:r>
                      <a:r>
                        <a:rPr lang="en-US" altLang="ko-KR" sz="14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VLAN</a:t>
                      </a:r>
                      <a:r>
                        <a:rPr lang="ko-KR" altLang="en-US" sz="1400" kern="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으로 묶이지만 설정은 독립적으로 가능하므로 해당 부서 업무의 무결성을 위함</a:t>
                      </a:r>
                      <a:endParaRPr lang="ko-KR" altLang="en-US" sz="14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96" marR="4396" marT="31653" marB="3165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623403"/>
                  </a:ext>
                </a:extLst>
              </a:tr>
            </a:tbl>
          </a:graphicData>
        </a:graphic>
      </p:graphicFrame>
      <p:pic>
        <p:nvPicPr>
          <p:cNvPr id="13316" name="_x239209200">
            <a:extLst>
              <a:ext uri="{FF2B5EF4-FFF2-40B4-BE49-F238E27FC236}">
                <a16:creationId xmlns:a16="http://schemas.microsoft.com/office/drawing/2014/main" id="{5DD82A16-904A-23F3-A99D-614C41775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9" y="554038"/>
            <a:ext cx="4773612" cy="352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_x233557816">
            <a:extLst>
              <a:ext uri="{FF2B5EF4-FFF2-40B4-BE49-F238E27FC236}">
                <a16:creationId xmlns:a16="http://schemas.microsoft.com/office/drawing/2014/main" id="{AB249EC0-8363-C8E8-8FE5-2A60D3FF8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564356"/>
            <a:ext cx="29749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_x233555656">
            <a:extLst>
              <a:ext uri="{FF2B5EF4-FFF2-40B4-BE49-F238E27FC236}">
                <a16:creationId xmlns:a16="http://schemas.microsoft.com/office/drawing/2014/main" id="{B6196C64-752A-ECBF-4615-F66344A8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1692275"/>
            <a:ext cx="2990850" cy="112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3" name="_x239203040">
            <a:extLst>
              <a:ext uri="{FF2B5EF4-FFF2-40B4-BE49-F238E27FC236}">
                <a16:creationId xmlns:a16="http://schemas.microsoft.com/office/drawing/2014/main" id="{F135465F-8C74-0247-949B-266174F6F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8188" y="2871788"/>
            <a:ext cx="3038475" cy="121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5CBD74EA-84A1-5731-AE1E-55EDA5FDF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17954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316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14982-0B7A-6623-0D52-81F1C769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3. </a:t>
            </a:r>
            <a:r>
              <a:rPr lang="ko-KR" altLang="en-US" sz="5400" b="1" dirty="0"/>
              <a:t>서버 구성도</a:t>
            </a:r>
          </a:p>
        </p:txBody>
      </p:sp>
    </p:spTree>
    <p:extLst>
      <p:ext uri="{BB962C8B-B14F-4D97-AF65-F5344CB8AC3E}">
        <p14:creationId xmlns:p14="http://schemas.microsoft.com/office/powerpoint/2010/main" val="2595716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3AA88-BC26-433C-3F5F-CE2C9B60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96"/>
            <a:ext cx="10515600" cy="1024482"/>
          </a:xfrm>
        </p:spPr>
        <p:txBody>
          <a:bodyPr/>
          <a:lstStyle/>
          <a:p>
            <a:r>
              <a:rPr lang="ko-KR" altLang="en-US" dirty="0"/>
              <a:t>서비스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B08186-F16D-FC70-AE1A-6F14F3557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3278"/>
            <a:ext cx="10515600" cy="4983685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4D54F0-67C7-1099-FAC9-602CBAB5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385" name="_x239210160">
            <a:extLst>
              <a:ext uri="{FF2B5EF4-FFF2-40B4-BE49-F238E27FC236}">
                <a16:creationId xmlns:a16="http://schemas.microsoft.com/office/drawing/2014/main" id="{5E952019-F881-BD86-5AAF-48B65B64C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32" y="1193278"/>
            <a:ext cx="11033936" cy="520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01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9BF4B-AED5-A4AA-EF0E-94D175D3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950327"/>
          </a:xfrm>
        </p:spPr>
        <p:txBody>
          <a:bodyPr/>
          <a:lstStyle/>
          <a:p>
            <a:r>
              <a:rPr lang="ko-KR" altLang="en-US" dirty="0"/>
              <a:t>서버 구성도 기획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9581E-E789-C0C4-BB26-2E393B019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947"/>
            <a:ext cx="10515600" cy="5054016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1A11C1A-7E52-7877-F0BC-252486C61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7409" name="_x239203280">
            <a:extLst>
              <a:ext uri="{FF2B5EF4-FFF2-40B4-BE49-F238E27FC236}">
                <a16:creationId xmlns:a16="http://schemas.microsoft.com/office/drawing/2014/main" id="{81C076C1-0B98-29EC-28BE-75106F6FE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31366"/>
            <a:ext cx="10010275" cy="5754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964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140ED-3E50-650A-5AE4-0028EF3E7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704"/>
            <a:ext cx="10515600" cy="870117"/>
          </a:xfrm>
        </p:spPr>
        <p:txBody>
          <a:bodyPr/>
          <a:lstStyle/>
          <a:p>
            <a:r>
              <a:rPr lang="ko-KR" altLang="en-US" dirty="0"/>
              <a:t>서버 구축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7DF8A7-2CFB-590E-BD6C-BFCD70B19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821"/>
            <a:ext cx="10515600" cy="5102142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726A92-94FD-6C98-655D-F3D821736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6ED0209-C627-87BA-4012-CE469314B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39224A9-724C-8960-BB0B-0DD899F8A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233556696">
            <a:extLst>
              <a:ext uri="{FF2B5EF4-FFF2-40B4-BE49-F238E27FC236}">
                <a16:creationId xmlns:a16="http://schemas.microsoft.com/office/drawing/2014/main" id="{F40D4DCC-CB77-B179-8F8E-C69DE316E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12777"/>
            <a:ext cx="9825789" cy="584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03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78260-4E7C-CE04-1F4C-81C35A6DC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4. </a:t>
            </a:r>
            <a:r>
              <a:rPr lang="ko-KR" altLang="en-US" sz="5400" b="1" dirty="0"/>
              <a:t>서버 구역별 구축 결과</a:t>
            </a:r>
          </a:p>
        </p:txBody>
      </p:sp>
    </p:spTree>
    <p:extLst>
      <p:ext uri="{BB962C8B-B14F-4D97-AF65-F5344CB8AC3E}">
        <p14:creationId xmlns:p14="http://schemas.microsoft.com/office/powerpoint/2010/main" val="1897049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1A3C4-3DF9-B792-8A04-05FC073E0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148382"/>
            <a:ext cx="10515600" cy="741780"/>
          </a:xfrm>
        </p:spPr>
        <p:txBody>
          <a:bodyPr>
            <a:normAutofit/>
          </a:bodyPr>
          <a:lstStyle/>
          <a:p>
            <a:pPr fontAlgn="base"/>
            <a:r>
              <a:rPr lang="ko-KR" altLang="en-US" sz="4000" b="1" dirty="0"/>
              <a:t>데이터 센터</a:t>
            </a:r>
            <a:endParaRPr lang="ko-KR" altLang="en-US" sz="40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12558" y="800693"/>
          <a:ext cx="11766884" cy="5908925"/>
        </p:xfrm>
        <a:graphic>
          <a:graphicData uri="http://schemas.openxmlformats.org/drawingml/2006/table">
            <a:tbl>
              <a:tblPr/>
              <a:tblGrid>
                <a:gridCol w="2800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535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1250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123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490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각 데이터 센터의 디스크를 원격으로 가져와 중요 데이터를 저장하여 데이터 </a:t>
                      </a: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서버가 다운될 경우</a:t>
                      </a:r>
                    </a:p>
                    <a:p>
                      <a:pPr marL="0" marR="0" indent="0" algn="l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ko-KR" altLang="en-US" sz="1400" kern="100" spc="-1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백업 을 진행하여 데이터 안정성과 신속한 서비스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복구를 위해서 사용</a:t>
                      </a: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123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123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1">
                        <a:lnSpc>
                          <a:spcPct val="160000"/>
                        </a:lnSpc>
                        <a:buNone/>
                        <a:defRPr/>
                      </a:pP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</a:p>
                  </a:txBody>
                  <a:tcPr marL="3581" marR="3581" marT="25782" marB="2578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461" name="_x233559896">
            <a:extLst>
              <a:ext uri="{FF2B5EF4-FFF2-40B4-BE49-F238E27FC236}">
                <a16:creationId xmlns:a16="http://schemas.microsoft.com/office/drawing/2014/main" id="{7EFADBDD-49B9-CAFF-4B03-CC8E2FAD1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02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_x231869040">
            <a:extLst>
              <a:ext uri="{FF2B5EF4-FFF2-40B4-BE49-F238E27FC236}">
                <a16:creationId xmlns:a16="http://schemas.microsoft.com/office/drawing/2014/main" id="{842309B7-A2CD-89E4-6E90-723DC0D1F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644" y="1296882"/>
            <a:ext cx="4476856" cy="307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F60E85F-3E6B-EC7B-A588-52FE7AFB7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250" y="18145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33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753E4-E217-9D7B-6B89-453DFC0EE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72621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데이터 </a:t>
            </a:r>
            <a:r>
              <a:rPr lang="en-US" altLang="ko-KR" b="1" dirty="0"/>
              <a:t>/ </a:t>
            </a:r>
            <a:r>
              <a:rPr lang="ko-KR" altLang="en-US" b="1" dirty="0"/>
              <a:t>스토리지 서버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771187"/>
              </p:ext>
            </p:extLst>
          </p:nvPr>
        </p:nvGraphicFramePr>
        <p:xfrm>
          <a:off x="244642" y="738344"/>
          <a:ext cx="11709108" cy="5923754"/>
        </p:xfrm>
        <a:graphic>
          <a:graphicData uri="http://schemas.openxmlformats.org/drawingml/2006/table">
            <a:tbl>
              <a:tblPr/>
              <a:tblGrid>
                <a:gridCol w="2188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7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937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2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458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12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12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12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NFS, Raid, DB, Quota</a:t>
                      </a: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482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서버의 서비스 운영과 관련된 핵심 설정 파일들을 중앙의 데이터 스토리지에 원격으로 저장하여 안정성을 확보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200" kern="100" spc="-5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 0 : </a:t>
                      </a:r>
                      <a:r>
                        <a:rPr lang="ko-KR" altLang="en-US" sz="1200" kern="100" spc="-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중앙 데이터 스토리지 서버 이중화를 통해 문제상황 발생 시 신속한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 복구를 제공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DB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활용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Quota :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관리 팀원 별 용량을 할당</a:t>
                      </a: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1398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연결된 두 스토리지 서버의 디스크 위에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RAID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구성하고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각 서비스 서버는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연결하여 데이터스토리지 환경을 구축함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디스크의 네트워크 부하를 최소화하기 위해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서비스 관련 데이터만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유지하고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나머지 서비스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(FTP, DNS, LOG)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내장 디스크 기반으로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를 재구성 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서버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 스토리지 서버의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iSCSI, SATA 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디스크 모두 </a:t>
                      </a:r>
                      <a:r>
                        <a:rPr lang="en-US" altLang="ko-KR" sz="12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</a:t>
                      </a:r>
                      <a:r>
                        <a:rPr lang="ko-KR" altLang="en-US" sz="12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동기화 시켜 백업 전용 서버로 분리하여 안정성 강화</a:t>
                      </a: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711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2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2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altLang="ko-KR" sz="12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 </a:t>
                      </a:r>
                      <a:r>
                        <a:rPr lang="ko-KR" altLang="en-US" sz="1200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 시 네트워크 지연</a:t>
                      </a:r>
                      <a:r>
                        <a:rPr lang="en-US" altLang="ko-KR" sz="12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200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불안정 문제로 인한 서비스 지연 발생</a:t>
                      </a:r>
                    </a:p>
                  </a:txBody>
                  <a:tcPr marL="2353" marR="2353" marT="16944" marB="1694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2F2D9A-7A4A-D039-67F5-A8F42B2D3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1358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82" name="_x233560376">
            <a:extLst>
              <a:ext uri="{FF2B5EF4-FFF2-40B4-BE49-F238E27FC236}">
                <a16:creationId xmlns:a16="http://schemas.microsoft.com/office/drawing/2014/main" id="{B64009AE-D521-1EED-BBEB-A19A8E50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2" r="7059"/>
          <a:stretch>
            <a:fillRect/>
          </a:stretch>
        </p:blipFill>
        <p:spPr bwMode="auto">
          <a:xfrm>
            <a:off x="1200675" y="1051182"/>
            <a:ext cx="3939293" cy="271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62229AC4-3E15-F472-CBAD-274DD6DE4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39206480">
            <a:extLst>
              <a:ext uri="{FF2B5EF4-FFF2-40B4-BE49-F238E27FC236}">
                <a16:creationId xmlns:a16="http://schemas.microsoft.com/office/drawing/2014/main" id="{205450D0-D6D2-523C-5622-381B3711D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3" b="8864"/>
          <a:stretch>
            <a:fillRect/>
          </a:stretch>
        </p:blipFill>
        <p:spPr bwMode="auto">
          <a:xfrm>
            <a:off x="7629550" y="1025146"/>
            <a:ext cx="2396766" cy="257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4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8B5BF-FEFF-16C0-75BD-DEAD2187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558" y="220746"/>
            <a:ext cx="10515600" cy="789907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각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78775"/>
              </p:ext>
            </p:extLst>
          </p:nvPr>
        </p:nvGraphicFramePr>
        <p:xfrm>
          <a:off x="212558" y="1010652"/>
          <a:ext cx="11766884" cy="5642986"/>
        </p:xfrm>
        <a:graphic>
          <a:graphicData uri="http://schemas.openxmlformats.org/drawingml/2006/table">
            <a:tbl>
              <a:tblPr/>
              <a:tblGrid>
                <a:gridCol w="2800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9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515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1749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15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LOG, FTP, DNS</a:t>
                      </a: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39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FTP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 대용량의 파일 공유 시스템을 구현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DNS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도메인을 통해 접속하는 방식을 채택하여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주소에 대한 유출 방지와 사용자 편의성을 고려</a:t>
                      </a: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625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iSCSI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로 구축 된 디스크 위에 모든 서비스 서버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&lt;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 후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&gt;</a:t>
                      </a:r>
                    </a:p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스토리지 내장 디스크에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nfs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연결</a:t>
                      </a: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201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 iSCSI </a:t>
                      </a:r>
                      <a:r>
                        <a:rPr lang="ko-KR" altLang="en-US" sz="1400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네트워크 지연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360" marR="3360" marT="24192" marB="2419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1506" name="_x233555496">
            <a:extLst>
              <a:ext uri="{FF2B5EF4-FFF2-40B4-BE49-F238E27FC236}">
                <a16:creationId xmlns:a16="http://schemas.microsoft.com/office/drawing/2014/main" id="{945BBD51-D60F-7A44-3802-F009C4486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604" y="1386949"/>
            <a:ext cx="3930666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5" name="_x231869920">
            <a:extLst>
              <a:ext uri="{FF2B5EF4-FFF2-40B4-BE49-F238E27FC236}">
                <a16:creationId xmlns:a16="http://schemas.microsoft.com/office/drawing/2014/main" id="{F1F9693A-BB1A-2502-0C12-08AC691B6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30" y="1386949"/>
            <a:ext cx="3930588" cy="308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32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993919-6592-5400-DB09-98175F82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642" y="188663"/>
            <a:ext cx="10515600" cy="693654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웹 서비스 서버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13904"/>
              </p:ext>
            </p:extLst>
          </p:nvPr>
        </p:nvGraphicFramePr>
        <p:xfrm>
          <a:off x="244642" y="800928"/>
          <a:ext cx="11702716" cy="5854219"/>
        </p:xfrm>
        <a:graphic>
          <a:graphicData uri="http://schemas.openxmlformats.org/drawingml/2006/table">
            <a:tbl>
              <a:tblPr/>
              <a:tblGrid>
                <a:gridCol w="2785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5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1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6512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4329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5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390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Apache(PHP), Monitorix</a:t>
                      </a: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049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Apache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시나리오 기반 경찰청 사이트를 운영하는 웹 서버를 구현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Virtual Hosting : Domain Based Virtual Hosting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과 접속 허용 </a:t>
                      </a:r>
                      <a:r>
                        <a:rPr lang="en-US" altLang="ko-KR" sz="1400" kern="100" spc="-6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IP </a:t>
                      </a:r>
                      <a:r>
                        <a:rPr lang="ko-KR" altLang="en-US" sz="1400" kern="100" spc="-6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대역을 지정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              외부용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,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내부용 사이트를 각각 구성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php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 운영과 관련하여 동적 리소스를 사용하기 위해서 사용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Monitorix : </a:t>
                      </a: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웹 서버를 운영하면서 트래픽이 몰려 서버가 다운되는 것에 대비하기 위해 모니터링용으로 사용</a:t>
                      </a: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812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397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912" marR="2912" marT="20965" marB="2096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2530" name="_x233555176">
            <a:extLst>
              <a:ext uri="{FF2B5EF4-FFF2-40B4-BE49-F238E27FC236}">
                <a16:creationId xmlns:a16="http://schemas.microsoft.com/office/drawing/2014/main" id="{CF5B0485-3D4C-B715-FCE9-6AD846537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059" y="1086934"/>
            <a:ext cx="2965450" cy="36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2BC7427-E106-D51A-056A-F9864F87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921E2F-E2A0-53B2-C193-F9C842A5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5" name="_x233556696">
            <a:extLst>
              <a:ext uri="{FF2B5EF4-FFF2-40B4-BE49-F238E27FC236}">
                <a16:creationId xmlns:a16="http://schemas.microsoft.com/office/drawing/2014/main" id="{5B7DEBE6-2137-3E5C-1FA9-D3E52C0DA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16685"/>
            <a:ext cx="5706980" cy="335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19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F3236-BD10-1364-F34D-A167E6982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31" y="188662"/>
            <a:ext cx="10515600" cy="757822"/>
          </a:xfrm>
        </p:spPr>
        <p:txBody>
          <a:bodyPr>
            <a:normAutofit/>
          </a:bodyPr>
          <a:lstStyle/>
          <a:p>
            <a:r>
              <a:rPr lang="ko-KR" altLang="en-US" sz="4000" b="1" dirty="0"/>
              <a:t>웹 관리 팀</a:t>
            </a:r>
            <a:endParaRPr lang="ko-KR" altLang="en-US" sz="40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54942"/>
              </p:ext>
            </p:extLst>
          </p:nvPr>
        </p:nvGraphicFramePr>
        <p:xfrm>
          <a:off x="260684" y="830949"/>
          <a:ext cx="11670632" cy="5875461"/>
        </p:xfrm>
        <a:graphic>
          <a:graphicData uri="http://schemas.openxmlformats.org/drawingml/2006/table">
            <a:tbl>
              <a:tblPr/>
              <a:tblGrid>
                <a:gridCol w="2777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1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1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756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기획안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구축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631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896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서비스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14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</a:t>
                      </a: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568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사용이유 </a:t>
                      </a: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SMB : Apache </a:t>
                      </a:r>
                      <a:r>
                        <a:rPr lang="ko-KR" altLang="en-US" sz="1400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운영에 필요한 설정 파일의 관리와 서비스 운영부서를 분리를 통한 협업환경의 편의성 제공</a:t>
                      </a:r>
                    </a:p>
                    <a:p>
                      <a:pPr marL="0" marR="0" indent="0" algn="l" latinLnBrk="1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kern="10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        및 웹 서비스 서버 트래픽 경감</a:t>
                      </a: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44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변경사항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-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576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4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변경사유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sz="1400" kern="10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95" marR="3495" marT="25167" marB="25167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554" name="_x233560136">
            <a:extLst>
              <a:ext uri="{FF2B5EF4-FFF2-40B4-BE49-F238E27FC236}">
                <a16:creationId xmlns:a16="http://schemas.microsoft.com/office/drawing/2014/main" id="{B71047B1-3BA7-B874-AA48-FCBB5CBEC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212" y="1174834"/>
            <a:ext cx="2329114" cy="420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11F5051-482E-CB0A-CD33-FA4D0A8E7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1188" y="94648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C798ED-C4BF-EA87-49CC-15A04333C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0813" y="11546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9" name="_x233556296">
            <a:extLst>
              <a:ext uri="{FF2B5EF4-FFF2-40B4-BE49-F238E27FC236}">
                <a16:creationId xmlns:a16="http://schemas.microsoft.com/office/drawing/2014/main" id="{80439639-E6B5-448B-6801-006BF2CA1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264" y="1403684"/>
            <a:ext cx="5572549" cy="343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85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BE63-61A2-AEB2-3C33-71D28F53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5. </a:t>
            </a:r>
            <a:r>
              <a:rPr lang="ko-KR" altLang="en-US" sz="5400" b="1" dirty="0"/>
              <a:t>서버 구현 결과</a:t>
            </a:r>
          </a:p>
        </p:txBody>
      </p:sp>
    </p:spTree>
    <p:extLst>
      <p:ext uri="{BB962C8B-B14F-4D97-AF65-F5344CB8AC3E}">
        <p14:creationId xmlns:p14="http://schemas.microsoft.com/office/powerpoint/2010/main" val="1613884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56777" y="193956"/>
          <a:ext cx="11678446" cy="6351223"/>
        </p:xfrm>
        <a:graphic>
          <a:graphicData uri="http://schemas.openxmlformats.org/drawingml/2006/table">
            <a:tbl>
              <a:tblPr/>
              <a:tblGrid>
                <a:gridCol w="186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0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72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800" b="1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구현 결과</a:t>
                      </a: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4756">
                <a:tc gridSpan="2"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895"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ko-KR" altLang="en-US" sz="1800" b="1" kern="100" spc="5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설명</a:t>
                      </a:r>
                      <a:endParaRPr lang="ko-KR" altLang="en-US" sz="18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latinLnBrk="0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en-US" altLang="ko-KR" sz="18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www2.police.tj</a:t>
                      </a:r>
                      <a:r>
                        <a:rPr lang="ko-KR" altLang="en-US" sz="18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는 </a:t>
                      </a:r>
                      <a:r>
                        <a:rPr lang="en-US" altLang="ko-KR" sz="1800" kern="10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10.5.96.0/20 </a:t>
                      </a:r>
                      <a:r>
                        <a:rPr lang="ko-KR" altLang="en-US" sz="1800" kern="10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대역의 네트워크만 접근할 수 있도록 설정한 결과</a:t>
                      </a:r>
                    </a:p>
                  </a:txBody>
                  <a:tcPr marL="6135" marR="6135" marT="44170" marB="4417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98A80E3-D37E-B7D7-1AA4-A0F0F81E3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1806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4577" name="_x233561816">
            <a:extLst>
              <a:ext uri="{FF2B5EF4-FFF2-40B4-BE49-F238E27FC236}">
                <a16:creationId xmlns:a16="http://schemas.microsoft.com/office/drawing/2014/main" id="{45DF78B5-C183-A710-3CAE-30718B398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92" y="742782"/>
            <a:ext cx="9544015" cy="49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1A4683-1B71-DDF1-F2B6-6AF17C5E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22637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78" name="TextBox 24577"/>
          <p:cNvSpPr txBox="1"/>
          <p:nvPr/>
        </p:nvSpPr>
        <p:spPr>
          <a:xfrm>
            <a:off x="3613728" y="5261840"/>
            <a:ext cx="2288251" cy="3669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>
                <a:solidFill>
                  <a:srgbClr val="FF0000"/>
                </a:solidFill>
              </a:rPr>
              <a:t>외부망 접근 시 화면</a:t>
            </a:r>
          </a:p>
        </p:txBody>
      </p:sp>
      <p:sp>
        <p:nvSpPr>
          <p:cNvPr id="24579" name="TextBox 24578"/>
          <p:cNvSpPr txBox="1"/>
          <p:nvPr/>
        </p:nvSpPr>
        <p:spPr>
          <a:xfrm>
            <a:off x="8499762" y="5135225"/>
            <a:ext cx="2288253" cy="3669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내부망 접근 시 화면</a:t>
            </a:r>
          </a:p>
        </p:txBody>
      </p:sp>
    </p:spTree>
    <p:extLst>
      <p:ext uri="{BB962C8B-B14F-4D97-AF65-F5344CB8AC3E}">
        <p14:creationId xmlns:p14="http://schemas.microsoft.com/office/powerpoint/2010/main" val="246988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D8499CA-F69F-7FA5-6784-1FAFA0438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905532"/>
              </p:ext>
            </p:extLst>
          </p:nvPr>
        </p:nvGraphicFramePr>
        <p:xfrm>
          <a:off x="136334" y="218504"/>
          <a:ext cx="11847119" cy="6455012"/>
        </p:xfrm>
        <a:graphic>
          <a:graphicData uri="http://schemas.openxmlformats.org/drawingml/2006/table">
            <a:tbl>
              <a:tblPr/>
              <a:tblGrid>
                <a:gridCol w="1895138">
                  <a:extLst>
                    <a:ext uri="{9D8B030D-6E8A-4147-A177-3AD203B41FA5}">
                      <a16:colId xmlns:a16="http://schemas.microsoft.com/office/drawing/2014/main" val="328632155"/>
                    </a:ext>
                  </a:extLst>
                </a:gridCol>
                <a:gridCol w="9951981">
                  <a:extLst>
                    <a:ext uri="{9D8B030D-6E8A-4147-A177-3AD203B41FA5}">
                      <a16:colId xmlns:a16="http://schemas.microsoft.com/office/drawing/2014/main" val="2468028745"/>
                    </a:ext>
                  </a:extLst>
                </a:gridCol>
              </a:tblGrid>
              <a:tr h="49693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263571"/>
                  </a:ext>
                </a:extLst>
              </a:tr>
              <a:tr h="30198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90928"/>
                  </a:ext>
                </a:extLst>
              </a:tr>
              <a:tr h="229911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kern="100" spc="0" dirty="0" err="1">
                          <a:solidFill>
                            <a:srgbClr val="000000"/>
                          </a:solidFill>
                          <a:effectLst/>
                        </a:rPr>
                        <a:t>ㅇ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083212"/>
                  </a:ext>
                </a:extLst>
              </a:tr>
              <a:tr h="63907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Apache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test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파일을 만들고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서버에도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생성되어 있는지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365" marR="5365" marT="38625" marB="386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643097"/>
                  </a:ext>
                </a:extLst>
              </a:tr>
            </a:tbl>
          </a:graphicData>
        </a:graphic>
      </p:graphicFrame>
      <p:pic>
        <p:nvPicPr>
          <p:cNvPr id="25602" name="_x233560296">
            <a:extLst>
              <a:ext uri="{FF2B5EF4-FFF2-40B4-BE49-F238E27FC236}">
                <a16:creationId xmlns:a16="http://schemas.microsoft.com/office/drawing/2014/main" id="{0DBBA0A0-3326-AAFC-7B45-22BCA4DD0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081" y="769227"/>
            <a:ext cx="8363628" cy="296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_x233562696">
            <a:extLst>
              <a:ext uri="{FF2B5EF4-FFF2-40B4-BE49-F238E27FC236}">
                <a16:creationId xmlns:a16="http://schemas.microsoft.com/office/drawing/2014/main" id="{80F68413-3948-85B1-FF3A-061338EFC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165" y="3731169"/>
            <a:ext cx="8287670" cy="224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3AB33AC-DF9A-B4A1-DA40-FF3D409BA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1819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89D832-DF51-B5E7-34C8-50A742153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8025" y="2276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5603" name="TextBox 25602"/>
          <p:cNvSpPr txBox="1"/>
          <p:nvPr/>
        </p:nvSpPr>
        <p:spPr>
          <a:xfrm>
            <a:off x="304029" y="2000248"/>
            <a:ext cx="1549014" cy="363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/>
              <a:t>Apache</a:t>
            </a:r>
            <a:r>
              <a:rPr lang="ko-KR" altLang="en-US" dirty="0"/>
              <a:t> 서버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A7AB3-5663-FE14-024E-0161F99C129D}"/>
              </a:ext>
            </a:extLst>
          </p:cNvPr>
          <p:cNvSpPr txBox="1"/>
          <p:nvPr/>
        </p:nvSpPr>
        <p:spPr>
          <a:xfrm>
            <a:off x="208547" y="4671179"/>
            <a:ext cx="1549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dirty="0"/>
              <a:t>중앙 서버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D8C94F5-5443-F537-72F6-F27A297C39E8}"/>
              </a:ext>
            </a:extLst>
          </p:cNvPr>
          <p:cNvCxnSpPr>
            <a:cxnSpLocks/>
          </p:cNvCxnSpPr>
          <p:nvPr/>
        </p:nvCxnSpPr>
        <p:spPr>
          <a:xfrm>
            <a:off x="7299158" y="3429000"/>
            <a:ext cx="22298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23716C3-7EEA-DC39-5199-52522380DCA5}"/>
              </a:ext>
            </a:extLst>
          </p:cNvPr>
          <p:cNvCxnSpPr>
            <a:cxnSpLocks/>
          </p:cNvCxnSpPr>
          <p:nvPr/>
        </p:nvCxnSpPr>
        <p:spPr>
          <a:xfrm>
            <a:off x="7531768" y="5490410"/>
            <a:ext cx="22298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79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04E900-BDBE-F7F0-1AE4-2B4127AE2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97687"/>
              </p:ext>
            </p:extLst>
          </p:nvPr>
        </p:nvGraphicFramePr>
        <p:xfrm>
          <a:off x="155575" y="125161"/>
          <a:ext cx="11762987" cy="6607678"/>
        </p:xfrm>
        <a:graphic>
          <a:graphicData uri="http://schemas.openxmlformats.org/drawingml/2006/table">
            <a:tbl>
              <a:tblPr/>
              <a:tblGrid>
                <a:gridCol w="1287493">
                  <a:extLst>
                    <a:ext uri="{9D8B030D-6E8A-4147-A177-3AD203B41FA5}">
                      <a16:colId xmlns:a16="http://schemas.microsoft.com/office/drawing/2014/main" val="3778188248"/>
                    </a:ext>
                  </a:extLst>
                </a:gridCol>
                <a:gridCol w="10475494">
                  <a:extLst>
                    <a:ext uri="{9D8B030D-6E8A-4147-A177-3AD203B41FA5}">
                      <a16:colId xmlns:a16="http://schemas.microsoft.com/office/drawing/2014/main" val="377908630"/>
                    </a:ext>
                  </a:extLst>
                </a:gridCol>
              </a:tblGrid>
              <a:tr h="46439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054793"/>
                  </a:ext>
                </a:extLst>
              </a:tr>
              <a:tr h="32502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209083"/>
                  </a:ext>
                </a:extLst>
              </a:tr>
              <a:tr h="24249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186336"/>
                  </a:ext>
                </a:extLst>
              </a:tr>
              <a:tr h="4681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DNS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nfs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통해서 마운트 한 정보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파일 생성 시 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Storage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아래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에서도 동일하게 생기는 것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320329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F9304E2F-5919-92A0-62B6-1C81DE303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" y="12516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6626" name="_x233556776">
            <a:extLst>
              <a:ext uri="{FF2B5EF4-FFF2-40B4-BE49-F238E27FC236}">
                <a16:creationId xmlns:a16="http://schemas.microsoft.com/office/drawing/2014/main" id="{BF41A4C8-6DA3-90C5-A7FB-E6D976A8A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89" y="641035"/>
            <a:ext cx="8712260" cy="318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5" name="_x233555896">
            <a:extLst>
              <a:ext uri="{FF2B5EF4-FFF2-40B4-BE49-F238E27FC236}">
                <a16:creationId xmlns:a16="http://schemas.microsoft.com/office/drawing/2014/main" id="{29A46487-95F5-A6D6-F654-8D1229F73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589" y="3889206"/>
            <a:ext cx="9682969" cy="226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0BEB42-CD69-4A56-0485-4E7F7861D5BE}"/>
              </a:ext>
            </a:extLst>
          </p:cNvPr>
          <p:cNvSpPr txBox="1"/>
          <p:nvPr/>
        </p:nvSpPr>
        <p:spPr>
          <a:xfrm>
            <a:off x="273438" y="1995449"/>
            <a:ext cx="1549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/>
              <a:t>DNS</a:t>
            </a:r>
            <a:r>
              <a:rPr lang="ko-KR" altLang="en-US" dirty="0"/>
              <a:t> 서버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B1C87-C894-7CC0-F1EB-9F3FD5664373}"/>
              </a:ext>
            </a:extLst>
          </p:cNvPr>
          <p:cNvSpPr txBox="1"/>
          <p:nvPr/>
        </p:nvSpPr>
        <p:spPr>
          <a:xfrm>
            <a:off x="155575" y="4654416"/>
            <a:ext cx="1549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dirty="0"/>
              <a:t>중앙 서버</a:t>
            </a:r>
          </a:p>
        </p:txBody>
      </p:sp>
    </p:spTree>
    <p:extLst>
      <p:ext uri="{BB962C8B-B14F-4D97-AF65-F5344CB8AC3E}">
        <p14:creationId xmlns:p14="http://schemas.microsoft.com/office/powerpoint/2010/main" val="3514191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3F058-64FC-E75C-6387-79D74E77C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817791"/>
              </p:ext>
            </p:extLst>
          </p:nvPr>
        </p:nvGraphicFramePr>
        <p:xfrm>
          <a:off x="139154" y="186532"/>
          <a:ext cx="11913691" cy="6580723"/>
        </p:xfrm>
        <a:graphic>
          <a:graphicData uri="http://schemas.openxmlformats.org/drawingml/2006/table">
            <a:tbl>
              <a:tblPr/>
              <a:tblGrid>
                <a:gridCol w="1905786">
                  <a:extLst>
                    <a:ext uri="{9D8B030D-6E8A-4147-A177-3AD203B41FA5}">
                      <a16:colId xmlns:a16="http://schemas.microsoft.com/office/drawing/2014/main" val="3814408195"/>
                    </a:ext>
                  </a:extLst>
                </a:gridCol>
                <a:gridCol w="10007905">
                  <a:extLst>
                    <a:ext uri="{9D8B030D-6E8A-4147-A177-3AD203B41FA5}">
                      <a16:colId xmlns:a16="http://schemas.microsoft.com/office/drawing/2014/main" val="435505826"/>
                    </a:ext>
                  </a:extLst>
                </a:gridCol>
              </a:tblGrid>
              <a:tr h="47801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4191"/>
                  </a:ext>
                </a:extLst>
              </a:tr>
              <a:tr h="347432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219922"/>
                  </a:ext>
                </a:extLst>
              </a:tr>
              <a:tr h="222533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7543"/>
                  </a:ext>
                </a:extLst>
              </a:tr>
              <a:tr h="4030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FTP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서버에서 사용자 계정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jh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를 새로 생성하니 중앙 서버에서도 동일하게 홈 디렉터리가 생성되는 것을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616" marR="5616" marT="40432" marB="4043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859362"/>
                  </a:ext>
                </a:extLst>
              </a:tr>
            </a:tbl>
          </a:graphicData>
        </a:graphic>
      </p:graphicFrame>
      <p:pic>
        <p:nvPicPr>
          <p:cNvPr id="27650" name="_x233559336">
            <a:extLst>
              <a:ext uri="{FF2B5EF4-FFF2-40B4-BE49-F238E27FC236}">
                <a16:creationId xmlns:a16="http://schemas.microsoft.com/office/drawing/2014/main" id="{0375CE5D-B22A-7A78-F09D-ACF5DC51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838" y="843317"/>
            <a:ext cx="9723337" cy="287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49" name="_x233558456">
            <a:extLst>
              <a:ext uri="{FF2B5EF4-FFF2-40B4-BE49-F238E27FC236}">
                <a16:creationId xmlns:a16="http://schemas.microsoft.com/office/drawing/2014/main" id="{E1E951AD-35D4-89B4-E134-D74EEDFB7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" t="-978" r="29931" b="978"/>
          <a:stretch>
            <a:fillRect/>
          </a:stretch>
        </p:blipFill>
        <p:spPr bwMode="auto">
          <a:xfrm>
            <a:off x="2230924" y="4170402"/>
            <a:ext cx="7730150" cy="214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A55C2D1-7E8C-6D8E-B47A-9C63A53FB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1825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6B38C2-ECE6-2EBD-8C82-427E332AB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828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87CB3-1BA6-452E-B9A1-B946CBCBDC04}"/>
              </a:ext>
            </a:extLst>
          </p:cNvPr>
          <p:cNvSpPr txBox="1"/>
          <p:nvPr/>
        </p:nvSpPr>
        <p:spPr>
          <a:xfrm>
            <a:off x="418989" y="2142093"/>
            <a:ext cx="1549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dirty="0"/>
              <a:t>FTP</a:t>
            </a:r>
            <a:r>
              <a:rPr lang="ko-KR" altLang="en-US" dirty="0"/>
              <a:t> 서버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CF36F7-EC6F-9FDD-21FF-EBCDD7C6430D}"/>
              </a:ext>
            </a:extLst>
          </p:cNvPr>
          <p:cNvSpPr txBox="1"/>
          <p:nvPr/>
        </p:nvSpPr>
        <p:spPr>
          <a:xfrm>
            <a:off x="381718" y="5060128"/>
            <a:ext cx="1549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dirty="0"/>
              <a:t>중앙 서버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5DB127C-E389-5B23-121C-926F7B7F36BB}"/>
              </a:ext>
            </a:extLst>
          </p:cNvPr>
          <p:cNvCxnSpPr>
            <a:cxnSpLocks/>
          </p:cNvCxnSpPr>
          <p:nvPr/>
        </p:nvCxnSpPr>
        <p:spPr>
          <a:xfrm>
            <a:off x="2247838" y="3424989"/>
            <a:ext cx="416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7ADFA5-9936-D747-6656-49C0671F3C8E}"/>
              </a:ext>
            </a:extLst>
          </p:cNvPr>
          <p:cNvCxnSpPr>
            <a:cxnSpLocks/>
          </p:cNvCxnSpPr>
          <p:nvPr/>
        </p:nvCxnSpPr>
        <p:spPr>
          <a:xfrm>
            <a:off x="2247838" y="5887452"/>
            <a:ext cx="4160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390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3A7D0B4-4699-6DB5-BA51-43F54836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77127"/>
              </p:ext>
            </p:extLst>
          </p:nvPr>
        </p:nvGraphicFramePr>
        <p:xfrm>
          <a:off x="287819" y="184476"/>
          <a:ext cx="11616361" cy="6562070"/>
        </p:xfrm>
        <a:graphic>
          <a:graphicData uri="http://schemas.openxmlformats.org/drawingml/2006/table">
            <a:tbl>
              <a:tblPr/>
              <a:tblGrid>
                <a:gridCol w="2963577">
                  <a:extLst>
                    <a:ext uri="{9D8B030D-6E8A-4147-A177-3AD203B41FA5}">
                      <a16:colId xmlns:a16="http://schemas.microsoft.com/office/drawing/2014/main" val="2429280257"/>
                    </a:ext>
                  </a:extLst>
                </a:gridCol>
                <a:gridCol w="5206804">
                  <a:extLst>
                    <a:ext uri="{9D8B030D-6E8A-4147-A177-3AD203B41FA5}">
                      <a16:colId xmlns:a16="http://schemas.microsoft.com/office/drawing/2014/main" val="2443271664"/>
                    </a:ext>
                  </a:extLst>
                </a:gridCol>
                <a:gridCol w="3445980">
                  <a:extLst>
                    <a:ext uri="{9D8B030D-6E8A-4147-A177-3AD203B41FA5}">
                      <a16:colId xmlns:a16="http://schemas.microsoft.com/office/drawing/2014/main" val="2577877992"/>
                    </a:ext>
                  </a:extLst>
                </a:gridCol>
              </a:tblGrid>
              <a:tr h="310824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441580"/>
                  </a:ext>
                </a:extLst>
              </a:tr>
              <a:tr h="31813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626058"/>
                  </a:ext>
                </a:extLst>
              </a:tr>
              <a:tr h="268605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213803"/>
                  </a:ext>
                </a:extLst>
              </a:tr>
              <a:tr h="38384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SMB(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중앙 서버의 </a:t>
                      </a:r>
                      <a:r>
                        <a:rPr lang="en-US" altLang="ko-KR" sz="1600" kern="10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smb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계정 목록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공유 자원 설정 현황</a:t>
                      </a: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, 10.5.96.4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로 공유자원에 접속한 모습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5448" marR="5448" marT="39224" marB="3922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4825"/>
                  </a:ext>
                </a:extLst>
              </a:tr>
            </a:tbl>
          </a:graphicData>
        </a:graphic>
      </p:graphicFrame>
      <p:sp>
        <p:nvSpPr>
          <p:cNvPr id="3" name="Rectangle 4">
            <a:extLst>
              <a:ext uri="{FF2B5EF4-FFF2-40B4-BE49-F238E27FC236}">
                <a16:creationId xmlns:a16="http://schemas.microsoft.com/office/drawing/2014/main" id="{7D41B5FF-B5F7-920C-794E-EBAD849AB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3978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8675" name="_x233560776">
            <a:extLst>
              <a:ext uri="{FF2B5EF4-FFF2-40B4-BE49-F238E27FC236}">
                <a16:creationId xmlns:a16="http://schemas.microsoft.com/office/drawing/2014/main" id="{0DE68164-E496-27BA-79CB-10B6F4BA0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79" y="806813"/>
            <a:ext cx="6531124" cy="247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4" name="_x231866960">
            <a:extLst>
              <a:ext uri="{FF2B5EF4-FFF2-40B4-BE49-F238E27FC236}">
                <a16:creationId xmlns:a16="http://schemas.microsoft.com/office/drawing/2014/main" id="{130419FB-28E4-895C-8652-D8304C5E2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269" y="581529"/>
            <a:ext cx="2314007" cy="569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3" name="_x233562376">
            <a:extLst>
              <a:ext uri="{FF2B5EF4-FFF2-40B4-BE49-F238E27FC236}">
                <a16:creationId xmlns:a16="http://schemas.microsoft.com/office/drawing/2014/main" id="{FC2697F7-A1CF-9ADA-60E8-BA25EFE50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279" y="3737481"/>
            <a:ext cx="4903412" cy="2526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8CD0635-855D-FEE9-9C5D-B0F6B0195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29" y="85507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A8F1CA-6C2D-DBA7-79DB-6481244B8B87}"/>
              </a:ext>
            </a:extLst>
          </p:cNvPr>
          <p:cNvSpPr txBox="1"/>
          <p:nvPr/>
        </p:nvSpPr>
        <p:spPr>
          <a:xfrm>
            <a:off x="287819" y="4792881"/>
            <a:ext cx="1549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dirty="0"/>
              <a:t>Web </a:t>
            </a:r>
            <a:r>
              <a:rPr lang="ko-KR" altLang="en-US" dirty="0"/>
              <a:t>관리팀 서버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9ACB7-E226-CEB4-4842-522DB4906CD8}"/>
              </a:ext>
            </a:extLst>
          </p:cNvPr>
          <p:cNvSpPr txBox="1"/>
          <p:nvPr/>
        </p:nvSpPr>
        <p:spPr>
          <a:xfrm>
            <a:off x="8220704" y="3272068"/>
            <a:ext cx="15490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dirty="0"/>
              <a:t>공유자원</a:t>
            </a:r>
            <a:endParaRPr lang="en-US" altLang="ko-KR" dirty="0"/>
          </a:p>
          <a:p>
            <a:pPr algn="ctr">
              <a:defRPr/>
            </a:pPr>
            <a:r>
              <a:rPr lang="ko-KR" altLang="en-US" dirty="0"/>
              <a:t>설정현황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755068-FFF3-82A2-072B-9C2F0D5AC8CC}"/>
              </a:ext>
            </a:extLst>
          </p:cNvPr>
          <p:cNvSpPr txBox="1"/>
          <p:nvPr/>
        </p:nvSpPr>
        <p:spPr>
          <a:xfrm>
            <a:off x="177703" y="1852973"/>
            <a:ext cx="17666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dirty="0"/>
              <a:t>중앙 서버의 </a:t>
            </a:r>
            <a:r>
              <a:rPr lang="en-US" altLang="ko-KR" dirty="0" err="1"/>
              <a:t>smb</a:t>
            </a:r>
            <a:r>
              <a:rPr lang="en-US" altLang="ko-KR" dirty="0"/>
              <a:t> </a:t>
            </a:r>
            <a:r>
              <a:rPr lang="ko-KR" altLang="en-US" dirty="0"/>
              <a:t>계정목록</a:t>
            </a:r>
          </a:p>
        </p:txBody>
      </p:sp>
    </p:spTree>
    <p:extLst>
      <p:ext uri="{BB962C8B-B14F-4D97-AF65-F5344CB8AC3E}">
        <p14:creationId xmlns:p14="http://schemas.microsoft.com/office/powerpoint/2010/main" val="446264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7617DC3-4BA5-1F75-6DAA-60829174D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154883"/>
              </p:ext>
            </p:extLst>
          </p:nvPr>
        </p:nvGraphicFramePr>
        <p:xfrm>
          <a:off x="162560" y="491800"/>
          <a:ext cx="11866880" cy="5874400"/>
        </p:xfrm>
        <a:graphic>
          <a:graphicData uri="http://schemas.openxmlformats.org/drawingml/2006/table">
            <a:tbl>
              <a:tblPr/>
              <a:tblGrid>
                <a:gridCol w="1898298">
                  <a:extLst>
                    <a:ext uri="{9D8B030D-6E8A-4147-A177-3AD203B41FA5}">
                      <a16:colId xmlns:a16="http://schemas.microsoft.com/office/drawing/2014/main" val="3189638097"/>
                    </a:ext>
                  </a:extLst>
                </a:gridCol>
                <a:gridCol w="9968582">
                  <a:extLst>
                    <a:ext uri="{9D8B030D-6E8A-4147-A177-3AD203B41FA5}">
                      <a16:colId xmlns:a16="http://schemas.microsoft.com/office/drawing/2014/main" val="707210457"/>
                    </a:ext>
                  </a:extLst>
                </a:gridCol>
              </a:tblGrid>
              <a:tr h="32127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498811"/>
                  </a:ext>
                </a:extLst>
              </a:tr>
              <a:tr h="503434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07364"/>
                  </a:ext>
                </a:extLst>
              </a:tr>
              <a:tr h="518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Disk quota 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적용 여부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3768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36843FD-2322-B6DF-CAB9-176457A77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0780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9697" name="_x233560376">
            <a:extLst>
              <a:ext uri="{FF2B5EF4-FFF2-40B4-BE49-F238E27FC236}">
                <a16:creationId xmlns:a16="http://schemas.microsoft.com/office/drawing/2014/main" id="{2C5F75E2-FFCE-4DCE-DE62-F74C92DC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" y="1082072"/>
            <a:ext cx="11724640" cy="434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14F2A0-AF6D-4C05-0E62-4F0D4177D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5352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21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A4A8CDE-EB32-AE05-1D9C-0BB1DB2A3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796197"/>
              </p:ext>
            </p:extLst>
          </p:nvPr>
        </p:nvGraphicFramePr>
        <p:xfrm>
          <a:off x="229870" y="231966"/>
          <a:ext cx="11695430" cy="6432528"/>
        </p:xfrm>
        <a:graphic>
          <a:graphicData uri="http://schemas.openxmlformats.org/drawingml/2006/table">
            <a:tbl>
              <a:tblPr/>
              <a:tblGrid>
                <a:gridCol w="1870872">
                  <a:extLst>
                    <a:ext uri="{9D8B030D-6E8A-4147-A177-3AD203B41FA5}">
                      <a16:colId xmlns:a16="http://schemas.microsoft.com/office/drawing/2014/main" val="3127595588"/>
                    </a:ext>
                  </a:extLst>
                </a:gridCol>
                <a:gridCol w="9824558">
                  <a:extLst>
                    <a:ext uri="{9D8B030D-6E8A-4147-A177-3AD203B41FA5}">
                      <a16:colId xmlns:a16="http://schemas.microsoft.com/office/drawing/2014/main" val="765589056"/>
                    </a:ext>
                  </a:extLst>
                </a:gridCol>
              </a:tblGrid>
              <a:tr h="5627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400" b="1" kern="100" spc="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구현 결과</a:t>
                      </a:r>
                      <a:endParaRPr lang="ko-KR" altLang="en-US" sz="14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480731"/>
                  </a:ext>
                </a:extLst>
              </a:tr>
              <a:tr h="311058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157515"/>
                  </a:ext>
                </a:extLst>
              </a:tr>
              <a:tr h="236220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480842"/>
                  </a:ext>
                </a:extLst>
              </a:tr>
              <a:tr h="39704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600" b="1" kern="100" spc="50" dirty="0">
                          <a:solidFill>
                            <a:srgbClr val="000000"/>
                          </a:solidFill>
                          <a:effectLst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Log</a:t>
                      </a:r>
                      <a:r>
                        <a:rPr lang="ko-KR" altLang="en-US" sz="1600" kern="10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 서버에서 만든 파일을 중앙 서버에서도 동일하게 볼 수 있는 것을 확인</a:t>
                      </a:r>
                      <a:endParaRPr lang="ko-KR" altLang="en-US" sz="1600" kern="10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08552"/>
                  </a:ext>
                </a:extLst>
              </a:tr>
            </a:tbl>
          </a:graphicData>
        </a:graphic>
      </p:graphicFrame>
      <p:sp>
        <p:nvSpPr>
          <p:cNvPr id="3" name="Rectangle 3">
            <a:extLst>
              <a:ext uri="{FF2B5EF4-FFF2-40B4-BE49-F238E27FC236}">
                <a16:creationId xmlns:a16="http://schemas.microsoft.com/office/drawing/2014/main" id="{019F6D63-C35D-A2DF-A3FB-F1A06514C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279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22" name="_x233561896">
            <a:extLst>
              <a:ext uri="{FF2B5EF4-FFF2-40B4-BE49-F238E27FC236}">
                <a16:creationId xmlns:a16="http://schemas.microsoft.com/office/drawing/2014/main" id="{FF51ECA5-BE78-6D71-9AFD-AC869FEC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45" y="1289878"/>
            <a:ext cx="11562080" cy="197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1" name="_x231867760">
            <a:extLst>
              <a:ext uri="{FF2B5EF4-FFF2-40B4-BE49-F238E27FC236}">
                <a16:creationId xmlns:a16="http://schemas.microsoft.com/office/drawing/2014/main" id="{C30EDF43-916D-1E76-6DFF-E93D8DBA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6" y="4391355"/>
            <a:ext cx="11504607" cy="154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1A0FBF7F-6D5C-57C1-CAEF-F850E9D16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27368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0426B16-57AA-E2AB-8BC8-9AF5A9104B83}"/>
              </a:ext>
            </a:extLst>
          </p:cNvPr>
          <p:cNvCxnSpPr>
            <a:cxnSpLocks/>
          </p:cNvCxnSpPr>
          <p:nvPr/>
        </p:nvCxnSpPr>
        <p:spPr>
          <a:xfrm>
            <a:off x="10732168" y="3072063"/>
            <a:ext cx="11161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BEB62A8-7F9A-5144-C04C-DB0E3FECBCEA}"/>
              </a:ext>
            </a:extLst>
          </p:cNvPr>
          <p:cNvCxnSpPr>
            <a:cxnSpLocks/>
          </p:cNvCxnSpPr>
          <p:nvPr/>
        </p:nvCxnSpPr>
        <p:spPr>
          <a:xfrm>
            <a:off x="10732168" y="5438275"/>
            <a:ext cx="11161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773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A98DA-0BBD-60AA-C603-7927FE41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5400" b="1" dirty="0"/>
              <a:t>6. </a:t>
            </a:r>
            <a:r>
              <a:rPr lang="ko-KR" altLang="en-US" sz="5400" b="1" dirty="0"/>
              <a:t>파이썬</a:t>
            </a:r>
          </a:p>
        </p:txBody>
      </p:sp>
    </p:spTree>
    <p:extLst>
      <p:ext uri="{BB962C8B-B14F-4D97-AF65-F5344CB8AC3E}">
        <p14:creationId xmlns:p14="http://schemas.microsoft.com/office/powerpoint/2010/main" val="2530208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1DBEC-23C7-CFB3-0692-BBEC7927C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9367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ko-KR" altLang="en-US" b="1" dirty="0"/>
              <a:t>코드 흐름도</a:t>
            </a:r>
            <a:endParaRPr lang="ko-KR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D60CF0-8A27-014F-A0F4-8947F3EE0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402C16-DF31-D9F6-16B3-F00050A5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799" y="228600"/>
            <a:ext cx="14238953" cy="416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816D2E2-14D8-1306-B2B8-EE9C5FCD2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8780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233557896">
            <a:extLst>
              <a:ext uri="{FF2B5EF4-FFF2-40B4-BE49-F238E27FC236}">
                <a16:creationId xmlns:a16="http://schemas.microsoft.com/office/drawing/2014/main" id="{087DB788-EA74-C4D7-6AC8-192621CDB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0" y="645002"/>
            <a:ext cx="10888579" cy="612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662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D7A3F-2E34-9297-B099-3EC3EF0A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6484"/>
          </a:xfrm>
        </p:spPr>
        <p:txBody>
          <a:bodyPr/>
          <a:lstStyle/>
          <a:p>
            <a:pPr algn="ctr"/>
            <a:r>
              <a:rPr lang="ko-KR" altLang="en-US" dirty="0"/>
              <a:t>소감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28E0D-F055-DDCE-C4C4-F400C83DD85C}"/>
              </a:ext>
            </a:extLst>
          </p:cNvPr>
          <p:cNvSpPr txBox="1"/>
          <p:nvPr/>
        </p:nvSpPr>
        <p:spPr>
          <a:xfrm>
            <a:off x="254000" y="946484"/>
            <a:ext cx="1170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혜원</a:t>
            </a:r>
            <a:r>
              <a:rPr lang="en-US" altLang="ko-KR" dirty="0"/>
              <a:t>: </a:t>
            </a:r>
            <a:r>
              <a:rPr lang="ko-KR" altLang="en-US" dirty="0"/>
              <a:t>네트워크에서 막힌 점은 없었다</a:t>
            </a:r>
            <a:r>
              <a:rPr lang="en-US" altLang="ko-KR" dirty="0"/>
              <a:t>. </a:t>
            </a:r>
            <a:r>
              <a:rPr lang="ko-KR" altLang="en-US" dirty="0"/>
              <a:t>응용이 부족해서 그랬던 듯</a:t>
            </a:r>
            <a:r>
              <a:rPr lang="en-US" altLang="ko-KR" dirty="0"/>
              <a:t>. </a:t>
            </a:r>
            <a:r>
              <a:rPr lang="ko-KR" altLang="en-US" dirty="0"/>
              <a:t>서버에서는 </a:t>
            </a:r>
            <a:r>
              <a:rPr lang="ko-KR" altLang="en-US" dirty="0" err="1"/>
              <a:t>해본게</a:t>
            </a:r>
            <a:r>
              <a:rPr lang="ko-KR" altLang="en-US" dirty="0"/>
              <a:t> 별로 없어서 아쉽다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지형 </a:t>
            </a:r>
            <a:r>
              <a:rPr lang="en-US" altLang="ko-KR" dirty="0"/>
              <a:t>: </a:t>
            </a:r>
            <a:r>
              <a:rPr lang="ko-KR" altLang="en-US" dirty="0"/>
              <a:t>의사소통이 부족했다</a:t>
            </a:r>
            <a:r>
              <a:rPr lang="en-US" altLang="ko-KR" dirty="0"/>
              <a:t>. </a:t>
            </a:r>
            <a:r>
              <a:rPr lang="ko-KR" altLang="en-US" dirty="0"/>
              <a:t>코드만 짜게 됐는데 기획 없이 코드를 짜서 미흡한 부분이 있었다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한얼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구축 설계 과정에서 ‘</a:t>
            </a:r>
            <a:r>
              <a:rPr lang="ko-KR" altLang="en-US" dirty="0" err="1"/>
              <a:t>응용’하려다</a:t>
            </a:r>
            <a:r>
              <a:rPr lang="ko-KR" altLang="en-US" dirty="0"/>
              <a:t> 보니</a:t>
            </a:r>
            <a:r>
              <a:rPr lang="en-US" altLang="ko-KR" dirty="0"/>
              <a:t>, </a:t>
            </a:r>
            <a:r>
              <a:rPr lang="ko-KR" altLang="en-US" dirty="0"/>
              <a:t>얕은 지식으로 작성된 매뉴얼을 참고해 구축하는 데 어려움이 있었다</a:t>
            </a:r>
            <a:r>
              <a:rPr lang="en-US" altLang="ko-KR" dirty="0"/>
              <a:t>. </a:t>
            </a:r>
            <a:r>
              <a:rPr lang="ko-KR" altLang="en-US" dirty="0"/>
              <a:t>앞으로는 수업 시간에 단순히 따라 하는 데 그치지 않고</a:t>
            </a:r>
            <a:r>
              <a:rPr lang="en-US" altLang="ko-KR" dirty="0"/>
              <a:t>, </a:t>
            </a:r>
            <a:r>
              <a:rPr lang="ko-KR" altLang="en-US" dirty="0"/>
              <a:t>기술과 이론의 근본적인 원리와 본질을 더욱 깊이 이해하며 </a:t>
            </a:r>
            <a:r>
              <a:rPr lang="ko-KR" altLang="en-US" dirty="0" err="1"/>
              <a:t>학습해야겠다고</a:t>
            </a:r>
            <a:r>
              <a:rPr lang="ko-KR" altLang="en-US" dirty="0"/>
              <a:t> 느꼈다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지상 </a:t>
            </a:r>
            <a:r>
              <a:rPr lang="en-US" altLang="ko-KR" dirty="0"/>
              <a:t>: </a:t>
            </a:r>
            <a:r>
              <a:rPr lang="ko-KR" altLang="en-US" dirty="0"/>
              <a:t>매뉴얼이 틀만 잡아주는 느낌 </a:t>
            </a:r>
            <a:r>
              <a:rPr lang="en-US" altLang="ko-KR" dirty="0"/>
              <a:t>like </a:t>
            </a:r>
            <a:r>
              <a:rPr lang="ko-KR" altLang="en-US" dirty="0"/>
              <a:t>교과서</a:t>
            </a:r>
            <a:r>
              <a:rPr lang="en-US" altLang="ko-KR" dirty="0"/>
              <a:t>!! </a:t>
            </a:r>
            <a:r>
              <a:rPr lang="ko-KR" altLang="en-US" dirty="0"/>
              <a:t>수학의 정석같이 응용 및 좀 깊게 설명이 된 매뉴얼의 필요성을 </a:t>
            </a:r>
            <a:r>
              <a:rPr lang="ko-KR" altLang="en-US" dirty="0" err="1"/>
              <a:t>깨달았다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현지 </a:t>
            </a:r>
            <a:r>
              <a:rPr lang="en-US" altLang="ko-KR" dirty="0"/>
              <a:t>: </a:t>
            </a:r>
            <a:r>
              <a:rPr lang="ko-KR" altLang="en-US" dirty="0" err="1"/>
              <a:t>메인파트보다는</a:t>
            </a:r>
            <a:r>
              <a:rPr lang="ko-KR" altLang="en-US" dirty="0"/>
              <a:t> 뒤에서 서포트 하는 역할이 </a:t>
            </a:r>
            <a:r>
              <a:rPr lang="ko-KR" altLang="en-US" dirty="0" err="1"/>
              <a:t>많았어서</a:t>
            </a:r>
            <a:r>
              <a:rPr lang="ko-KR" altLang="en-US" dirty="0"/>
              <a:t> 실무 능력 향상에 대해서는 스스로에게 아쉽다</a:t>
            </a:r>
            <a:r>
              <a:rPr lang="en-US" altLang="ko-KR" dirty="0"/>
              <a:t>. </a:t>
            </a:r>
            <a:r>
              <a:rPr lang="ko-KR" altLang="en-US" dirty="0"/>
              <a:t>이해도가 부족한 부분에 있어서는 추가적으로 공부를 더 </a:t>
            </a:r>
            <a:r>
              <a:rPr lang="ko-KR" altLang="en-US" dirty="0" err="1"/>
              <a:t>해야겠다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83361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E7FF3-F8FA-3D54-11F3-DFFE43F54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66274"/>
          </a:xfrm>
        </p:spPr>
        <p:txBody>
          <a:bodyPr/>
          <a:lstStyle/>
          <a:p>
            <a:pPr algn="ctr"/>
            <a:r>
              <a:rPr lang="ko-KR" altLang="en-US" dirty="0"/>
              <a:t>진짜 소감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32A97-5DA6-E3AF-6414-2590E101D8A0}"/>
              </a:ext>
            </a:extLst>
          </p:cNvPr>
          <p:cNvSpPr txBox="1"/>
          <p:nvPr/>
        </p:nvSpPr>
        <p:spPr>
          <a:xfrm>
            <a:off x="317500" y="2870200"/>
            <a:ext cx="11874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solidFill>
                  <a:srgbClr val="7030A0"/>
                </a:solidFill>
              </a:rPr>
              <a:t>지상</a:t>
            </a:r>
            <a:r>
              <a:rPr lang="en-US" altLang="ko-KR" sz="4000" dirty="0">
                <a:solidFill>
                  <a:srgbClr val="7030A0"/>
                </a:solidFill>
              </a:rPr>
              <a:t>: </a:t>
            </a:r>
            <a:r>
              <a:rPr lang="ko-KR" altLang="en-US" sz="4000" dirty="0">
                <a:solidFill>
                  <a:srgbClr val="7030A0"/>
                </a:solidFill>
              </a:rPr>
              <a:t>공부 좀 하자</a:t>
            </a:r>
          </a:p>
          <a:p>
            <a:r>
              <a:rPr lang="ko-KR" altLang="en-US" sz="4000" dirty="0" err="1">
                <a:solidFill>
                  <a:srgbClr val="FF00FF"/>
                </a:solidFill>
              </a:rPr>
              <a:t>한얼</a:t>
            </a:r>
            <a:r>
              <a:rPr lang="en-US" altLang="ko-KR" sz="4000" dirty="0">
                <a:solidFill>
                  <a:srgbClr val="FF00FF"/>
                </a:solidFill>
              </a:rPr>
              <a:t>: 99</a:t>
            </a:r>
            <a:r>
              <a:rPr lang="ko-KR" altLang="en-US" sz="4000" dirty="0">
                <a:solidFill>
                  <a:srgbClr val="FF00FF"/>
                </a:solidFill>
              </a:rPr>
              <a:t>년생 임지상 </a:t>
            </a:r>
            <a:r>
              <a:rPr lang="ko-KR" altLang="en-US" sz="4000" dirty="0" err="1">
                <a:solidFill>
                  <a:srgbClr val="FF00FF"/>
                </a:solidFill>
              </a:rPr>
              <a:t>여친구함</a:t>
            </a:r>
            <a:endParaRPr lang="ko-KR" altLang="en-US" sz="4000" dirty="0">
              <a:solidFill>
                <a:srgbClr val="FF00FF"/>
              </a:solidFill>
            </a:endParaRPr>
          </a:p>
          <a:p>
            <a:r>
              <a:rPr lang="ko-KR" altLang="en-US" sz="4000" dirty="0">
                <a:solidFill>
                  <a:srgbClr val="FF0000"/>
                </a:solidFill>
              </a:rPr>
              <a:t>현지</a:t>
            </a:r>
            <a:r>
              <a:rPr lang="en-US" altLang="ko-KR" sz="4000" dirty="0">
                <a:solidFill>
                  <a:srgbClr val="FF0000"/>
                </a:solidFill>
              </a:rPr>
              <a:t>: </a:t>
            </a:r>
            <a:r>
              <a:rPr lang="ko-KR" altLang="en-US" sz="4000" dirty="0">
                <a:solidFill>
                  <a:srgbClr val="FF0000"/>
                </a:solidFill>
              </a:rPr>
              <a:t>지상아 </a:t>
            </a:r>
            <a:r>
              <a:rPr lang="ko-KR" altLang="en-US" sz="4000" dirty="0" err="1">
                <a:solidFill>
                  <a:srgbClr val="FF0000"/>
                </a:solidFill>
              </a:rPr>
              <a:t>엔터그만쳐라</a:t>
            </a:r>
            <a:r>
              <a:rPr lang="ko-KR" altLang="en-US" sz="4000" dirty="0">
                <a:solidFill>
                  <a:srgbClr val="FF0000"/>
                </a:solidFill>
              </a:rPr>
              <a:t> 보고서 수정하기 힘들다</a:t>
            </a:r>
          </a:p>
          <a:p>
            <a:r>
              <a:rPr lang="ko-KR" altLang="en-US" sz="4000" dirty="0">
                <a:solidFill>
                  <a:srgbClr val="00B050"/>
                </a:solidFill>
              </a:rPr>
              <a:t>지형</a:t>
            </a:r>
            <a:r>
              <a:rPr lang="en-US" altLang="ko-KR" sz="4000" dirty="0">
                <a:solidFill>
                  <a:srgbClr val="00B050"/>
                </a:solidFill>
              </a:rPr>
              <a:t>: </a:t>
            </a:r>
            <a:r>
              <a:rPr lang="ko-KR" altLang="en-US" sz="4000" dirty="0" err="1">
                <a:solidFill>
                  <a:srgbClr val="00B050"/>
                </a:solidFill>
              </a:rPr>
              <a:t>지상님</a:t>
            </a:r>
            <a:r>
              <a:rPr lang="ko-KR" altLang="en-US" sz="4000" dirty="0">
                <a:solidFill>
                  <a:srgbClr val="00B050"/>
                </a:solidFill>
              </a:rPr>
              <a:t> 진작에 알려주시지 </a:t>
            </a:r>
            <a:r>
              <a:rPr lang="ko-KR" altLang="en-US" sz="4000" dirty="0" err="1">
                <a:solidFill>
                  <a:srgbClr val="00B050"/>
                </a:solidFill>
              </a:rPr>
              <a:t>그랬어요</a:t>
            </a:r>
            <a:r>
              <a:rPr lang="en-US" altLang="ko-KR" sz="4000" dirty="0">
                <a:solidFill>
                  <a:srgbClr val="00B050"/>
                </a:solidFill>
              </a:rPr>
              <a:t>...</a:t>
            </a:r>
          </a:p>
          <a:p>
            <a:r>
              <a:rPr lang="ko-KR" altLang="en-US" sz="4000" dirty="0">
                <a:solidFill>
                  <a:srgbClr val="E52F74"/>
                </a:solidFill>
              </a:rPr>
              <a:t>혜원</a:t>
            </a:r>
            <a:r>
              <a:rPr lang="en-US" altLang="ko-KR" sz="4000" dirty="0">
                <a:solidFill>
                  <a:srgbClr val="E52F74"/>
                </a:solidFill>
              </a:rPr>
              <a:t>: </a:t>
            </a:r>
            <a:r>
              <a:rPr lang="ko-KR" altLang="en-US" sz="4000" dirty="0">
                <a:solidFill>
                  <a:srgbClr val="E52F74"/>
                </a:solidFill>
              </a:rPr>
              <a:t>나는 네트워크의 신이다</a:t>
            </a:r>
            <a:r>
              <a:rPr lang="en-US" altLang="ko-KR" sz="4000" dirty="0">
                <a:solidFill>
                  <a:srgbClr val="E52F74"/>
                </a:solidFill>
              </a:rPr>
              <a:t>. </a:t>
            </a:r>
          </a:p>
          <a:p>
            <a:r>
              <a:rPr lang="en-US" altLang="ko-KR" sz="4000" dirty="0">
                <a:solidFill>
                  <a:srgbClr val="E52F74"/>
                </a:solidFill>
              </a:rPr>
              <a:t>	  </a:t>
            </a:r>
            <a:r>
              <a:rPr lang="ko-KR" altLang="en-US" sz="4000" dirty="0">
                <a:solidFill>
                  <a:srgbClr val="E52F74"/>
                </a:solidFill>
              </a:rPr>
              <a:t>블루 네트워크 팀 팀원 모집합니다</a:t>
            </a:r>
            <a:r>
              <a:rPr lang="en-US" altLang="ko-KR" sz="4000" dirty="0">
                <a:solidFill>
                  <a:srgbClr val="E52F74"/>
                </a:solidFill>
              </a:rPr>
              <a:t>.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57C703-709D-C8F7-581F-7D6269BECB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0" y="341848"/>
            <a:ext cx="2787650" cy="371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37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98EB1-A5C3-2326-A9D7-37A7FD93C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9600" dirty="0"/>
              <a:t>😸감사합니다😁</a:t>
            </a:r>
          </a:p>
        </p:txBody>
      </p:sp>
    </p:spTree>
    <p:extLst>
      <p:ext uri="{BB962C8B-B14F-4D97-AF65-F5344CB8AC3E}">
        <p14:creationId xmlns:p14="http://schemas.microsoft.com/office/powerpoint/2010/main" val="37634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1203</Words>
  <Application>Microsoft Office PowerPoint</Application>
  <PresentationFormat>와이드스크린</PresentationFormat>
  <Paragraphs>263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맑은 고딕</vt:lpstr>
      <vt:lpstr>Arial</vt:lpstr>
      <vt:lpstr>Office 테마</vt:lpstr>
      <vt:lpstr>1차 프로젝트 결과보고서 </vt:lpstr>
      <vt:lpstr>1. 네트워크 구성도</vt:lpstr>
      <vt:lpstr>네트워크 논리 구성도</vt:lpstr>
      <vt:lpstr>네트워크 물리 구성도</vt:lpstr>
      <vt:lpstr>2. 네트워크 구역별 구축 결과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서버 구성도</vt:lpstr>
      <vt:lpstr>서비스 구성도 기획</vt:lpstr>
      <vt:lpstr>서버 구성도 기획</vt:lpstr>
      <vt:lpstr>서버 구축 결과</vt:lpstr>
      <vt:lpstr>4. 서버 구역별 구축 결과</vt:lpstr>
      <vt:lpstr>데이터 센터</vt:lpstr>
      <vt:lpstr>데이터 / 스토리지 서버</vt:lpstr>
      <vt:lpstr>각 서비스 서버</vt:lpstr>
      <vt:lpstr>웹 서비스 서버</vt:lpstr>
      <vt:lpstr>웹 관리 팀</vt:lpstr>
      <vt:lpstr>5. 서버 구현 결과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6. 파이썬</vt:lpstr>
      <vt:lpstr>코드 흐름도</vt:lpstr>
      <vt:lpstr>소감</vt:lpstr>
      <vt:lpstr>진짜 소감</vt:lpstr>
      <vt:lpstr>😸감사합니다😁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TJ</dc:creator>
  <cp:lastModifiedBy>TJ</cp:lastModifiedBy>
  <cp:revision>13</cp:revision>
  <dcterms:created xsi:type="dcterms:W3CDTF">2025-11-06T06:06:13Z</dcterms:created>
  <dcterms:modified xsi:type="dcterms:W3CDTF">2025-11-07T07:02:18Z</dcterms:modified>
  <cp:version/>
</cp:coreProperties>
</file>