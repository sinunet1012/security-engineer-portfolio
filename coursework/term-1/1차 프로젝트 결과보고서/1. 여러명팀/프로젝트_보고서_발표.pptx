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311" r:id="rId4"/>
    <p:sldId id="288" r:id="rId5"/>
    <p:sldId id="275" r:id="rId6"/>
    <p:sldId id="289" r:id="rId7"/>
    <p:sldId id="269" r:id="rId8"/>
    <p:sldId id="323" r:id="rId9"/>
    <p:sldId id="259" r:id="rId10"/>
    <p:sldId id="277" r:id="rId11"/>
    <p:sldId id="282" r:id="rId12"/>
    <p:sldId id="286" r:id="rId13"/>
    <p:sldId id="327" r:id="rId14"/>
    <p:sldId id="324" r:id="rId15"/>
    <p:sldId id="322" r:id="rId16"/>
    <p:sldId id="290" r:id="rId17"/>
    <p:sldId id="293" r:id="rId18"/>
    <p:sldId id="295" r:id="rId19"/>
    <p:sldId id="297" r:id="rId20"/>
    <p:sldId id="300" r:id="rId21"/>
    <p:sldId id="301" r:id="rId22"/>
    <p:sldId id="302" r:id="rId23"/>
    <p:sldId id="306" r:id="rId24"/>
    <p:sldId id="303" r:id="rId25"/>
    <p:sldId id="304" r:id="rId26"/>
    <p:sldId id="308" r:id="rId27"/>
    <p:sldId id="325" r:id="rId28"/>
    <p:sldId id="326" r:id="rId29"/>
    <p:sldId id="305" r:id="rId30"/>
    <p:sldId id="328" r:id="rId31"/>
    <p:sldId id="307" r:id="rId32"/>
    <p:sldId id="309" r:id="rId33"/>
    <p:sldId id="329" r:id="rId34"/>
    <p:sldId id="330" r:id="rId35"/>
    <p:sldId id="332" r:id="rId36"/>
  </p:sldIdLst>
  <p:sldSz cx="18288000" cy="10287000"/>
  <p:notesSz cx="6858000" cy="9144000"/>
  <p:embeddedFontLst>
    <p:embeddedFont>
      <p:font typeface="나눔고딕" pitchFamily="2" charset="-127"/>
      <p:regular r:id="rId37"/>
      <p:bold r:id="rId38"/>
    </p:embeddedFont>
    <p:embeddedFont>
      <p:font typeface="맑은 고딕" panose="020B0503020000020004" pitchFamily="50" charset="-127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1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.svg"/><Relationship Id="rId7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5.jp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7544" y="1438414"/>
            <a:ext cx="18651718" cy="18651718"/>
          </a:xfrm>
          <a:custGeom>
            <a:avLst/>
            <a:gdLst/>
            <a:ahLst/>
            <a:cxnLst/>
            <a:rect l="l" t="t" r="r" b="b"/>
            <a:pathLst>
              <a:path w="18651718" h="18651718">
                <a:moveTo>
                  <a:pt x="0" y="0"/>
                </a:moveTo>
                <a:lnTo>
                  <a:pt x="18651718" y="0"/>
                </a:lnTo>
                <a:lnTo>
                  <a:pt x="18651718" y="18651718"/>
                </a:lnTo>
                <a:lnTo>
                  <a:pt x="0" y="18651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927331" y="2413794"/>
            <a:ext cx="8333741" cy="128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2"/>
              </a:lnSpc>
            </a:pPr>
            <a:endParaRPr lang="en-US" altLang="ko-KR" sz="8600" b="1" dirty="0">
              <a:solidFill>
                <a:srgbClr val="0F148D"/>
              </a:solidFill>
              <a:latin typeface="나눔고딕" panose="020B0503020000020004" pitchFamily="2" charset="-127"/>
              <a:ea typeface="나눔고딕" panose="020B0503020000020004" pitchFamily="2" charset="-127"/>
              <a:cs typeface="Tlab 레트로라이프 Bold"/>
              <a:sym typeface="Tlab 레트로라이프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27331" y="5227725"/>
            <a:ext cx="80567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endParaRPr/>
          </a:p>
        </p:txBody>
      </p:sp>
      <p:sp>
        <p:nvSpPr>
          <p:cNvPr id="11" name="TextBox 3"/>
          <p:cNvSpPr txBox="1"/>
          <p:nvPr/>
        </p:nvSpPr>
        <p:spPr>
          <a:xfrm>
            <a:off x="2079731" y="2566194"/>
            <a:ext cx="8333741" cy="270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2"/>
              </a:lnSpc>
            </a:pPr>
            <a:r>
              <a:rPr lang="en-US" sz="8600" b="1" dirty="0">
                <a:solidFill>
                  <a:srgbClr val="0F148D"/>
                </a:solidFill>
                <a:latin typeface="+mn-ea"/>
                <a:cs typeface="Tlab 레트로라이프 Bold"/>
                <a:sym typeface="Tlab 레트로라이프 Bold"/>
              </a:rPr>
              <a:t>1</a:t>
            </a:r>
            <a:r>
              <a:rPr lang="ko-KR" altLang="en-US" sz="8600" b="1" dirty="0">
                <a:solidFill>
                  <a:srgbClr val="0F148D"/>
                </a:solidFill>
                <a:latin typeface="+mn-ea"/>
                <a:cs typeface="Tlab 레트로라이프 Bold"/>
                <a:sym typeface="Tlab 레트로라이프 Bold"/>
              </a:rPr>
              <a:t>차 프로젝트</a:t>
            </a:r>
            <a:endParaRPr lang="en-US" altLang="ko-KR" sz="8600" b="1" dirty="0">
              <a:solidFill>
                <a:srgbClr val="0F148D"/>
              </a:solidFill>
              <a:latin typeface="+mn-ea"/>
              <a:cs typeface="Tlab 레트로라이프 Bold"/>
              <a:sym typeface="Tlab 레트로라이프 Bold"/>
            </a:endParaRPr>
          </a:p>
          <a:p>
            <a:pPr algn="l">
              <a:lnSpc>
                <a:spcPts val="10922"/>
              </a:lnSpc>
            </a:pPr>
            <a:r>
              <a:rPr lang="ko-KR" altLang="en-US" sz="8600" b="1" dirty="0">
                <a:solidFill>
                  <a:srgbClr val="0F148D"/>
                </a:solidFill>
                <a:latin typeface="+mn-ea"/>
                <a:cs typeface="Tlab 레트로라이프 Bold"/>
                <a:sym typeface="Tlab 레트로라이프 Bold"/>
              </a:rPr>
              <a:t>결과 </a:t>
            </a:r>
            <a:r>
              <a:rPr lang="en-US" sz="8600" b="1" dirty="0" err="1">
                <a:solidFill>
                  <a:srgbClr val="0F148D"/>
                </a:solidFill>
                <a:latin typeface="+mn-ea"/>
                <a:cs typeface="Tlab 레트로라이프 Bold"/>
                <a:sym typeface="Tlab 레트로라이프 Bold"/>
              </a:rPr>
              <a:t>보고</a:t>
            </a:r>
            <a:endParaRPr lang="en-US" sz="8600" b="1" dirty="0">
              <a:solidFill>
                <a:srgbClr val="0F148D"/>
              </a:solidFill>
              <a:latin typeface="+mn-ea"/>
              <a:cs typeface="Tlab 레트로라이프 Bold"/>
              <a:sym typeface="Tlab 레트로라이프 Bold"/>
            </a:endParaRPr>
          </a:p>
        </p:txBody>
      </p:sp>
      <p:grpSp>
        <p:nvGrpSpPr>
          <p:cNvPr id="12" name="Group 4"/>
          <p:cNvGrpSpPr/>
          <p:nvPr/>
        </p:nvGrpSpPr>
        <p:grpSpPr>
          <a:xfrm>
            <a:off x="2079731" y="8244628"/>
            <a:ext cx="2507765" cy="542796"/>
            <a:chOff x="0" y="0"/>
            <a:chExt cx="3343686" cy="723728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723728" cy="723728"/>
            </a:xfrm>
            <a:custGeom>
              <a:avLst/>
              <a:gdLst/>
              <a:ahLst/>
              <a:cxnLst/>
              <a:rect l="l" t="t" r="r" b="b"/>
              <a:pathLst>
                <a:path w="723728" h="723728">
                  <a:moveTo>
                    <a:pt x="0" y="0"/>
                  </a:moveTo>
                  <a:lnTo>
                    <a:pt x="723728" y="0"/>
                  </a:lnTo>
                  <a:lnTo>
                    <a:pt x="723728" y="723728"/>
                  </a:lnTo>
                  <a:lnTo>
                    <a:pt x="0" y="723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14" name="Group 6"/>
            <p:cNvGrpSpPr/>
            <p:nvPr/>
          </p:nvGrpSpPr>
          <p:grpSpPr>
            <a:xfrm>
              <a:off x="242305" y="242305"/>
              <a:ext cx="239118" cy="239118"/>
              <a:chOff x="0" y="0"/>
              <a:chExt cx="812800" cy="812800"/>
            </a:xfrm>
          </p:grpSpPr>
          <p:sp>
            <p:nvSpPr>
              <p:cNvPr id="16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B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735" tIns="50735" rIns="50735" bIns="50735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+mn-ea"/>
                </a:endParaRPr>
              </a:p>
            </p:txBody>
          </p:sp>
        </p:grpSp>
        <p:sp>
          <p:nvSpPr>
            <p:cNvPr id="15" name="TextBox 9"/>
            <p:cNvSpPr txBox="1"/>
            <p:nvPr/>
          </p:nvSpPr>
          <p:spPr>
            <a:xfrm>
              <a:off x="1042038" y="42396"/>
              <a:ext cx="2301648" cy="606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4"/>
                </a:lnSpc>
              </a:pPr>
              <a:r>
                <a:rPr lang="ko-KR" altLang="en-US" sz="2696" b="1" spc="-80" dirty="0">
                  <a:solidFill>
                    <a:srgbClr val="0069F4"/>
                  </a:solidFill>
                  <a:latin typeface="+mn-ea"/>
                  <a:cs typeface="Source Han Sans KR Bold"/>
                  <a:sym typeface="Source Han Sans KR Bold"/>
                </a:rPr>
                <a:t>팀 </a:t>
              </a:r>
              <a:r>
                <a:rPr lang="ko-KR" altLang="en-US" sz="2696" b="1" spc="-80" dirty="0" err="1">
                  <a:solidFill>
                    <a:srgbClr val="0069F4"/>
                  </a:solidFill>
                  <a:latin typeface="+mn-ea"/>
                  <a:cs typeface="Source Han Sans KR Bold"/>
                  <a:sym typeface="Source Han Sans KR Bold"/>
                </a:rPr>
                <a:t>여러명</a:t>
              </a:r>
              <a:endParaRPr lang="en-US" sz="2696" b="1" spc="-80" dirty="0">
                <a:solidFill>
                  <a:srgbClr val="0069F4"/>
                </a:solidFill>
                <a:latin typeface="+mn-ea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18" name="TextBox 10"/>
          <p:cNvSpPr txBox="1"/>
          <p:nvPr/>
        </p:nvSpPr>
        <p:spPr>
          <a:xfrm>
            <a:off x="2079731" y="5380125"/>
            <a:ext cx="8056772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ko-KR" altLang="en-US" sz="3600" b="1" spc="422" dirty="0">
                <a:solidFill>
                  <a:srgbClr val="0069F4"/>
                </a:solidFill>
                <a:latin typeface="+mn-ea"/>
                <a:cs typeface="TT Commons Pro Bold"/>
                <a:sym typeface="TT Commons Pro Bold"/>
              </a:rPr>
              <a:t>사내 통합 네트워크 인프라 구축</a:t>
            </a:r>
            <a:endParaRPr lang="en-US" sz="3600" b="1" spc="422" dirty="0">
              <a:solidFill>
                <a:srgbClr val="0069F4"/>
              </a:solidFill>
              <a:latin typeface="+mn-ea"/>
              <a:cs typeface="TT Commons Pro Bold"/>
              <a:sym typeface="TT Commons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82244" y="2400300"/>
            <a:ext cx="14848555" cy="14848555"/>
          </a:xfrm>
          <a:custGeom>
            <a:avLst/>
            <a:gdLst/>
            <a:ahLst/>
            <a:cxnLst/>
            <a:rect l="l" t="t" r="r" b="b"/>
            <a:pathLst>
              <a:path w="14848555" h="14848555">
                <a:moveTo>
                  <a:pt x="0" y="0"/>
                </a:moveTo>
                <a:lnTo>
                  <a:pt x="14848555" y="0"/>
                </a:lnTo>
                <a:lnTo>
                  <a:pt x="14848555" y="14848554"/>
                </a:lnTo>
                <a:lnTo>
                  <a:pt x="0" y="1484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460710" y="1265523"/>
            <a:ext cx="2993165" cy="8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6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57200" y="2628900"/>
            <a:ext cx="9144000" cy="4947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2396" lvl="1" algn="l">
              <a:lnSpc>
                <a:spcPct val="150000"/>
              </a:lnSpc>
            </a:pPr>
            <a:r>
              <a:rPr lang="en-US" sz="4400" b="1" dirty="0">
                <a:solidFill>
                  <a:srgbClr val="0F148D"/>
                </a:solidFill>
                <a:latin typeface="+mn-ea"/>
              </a:rPr>
              <a:t>0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.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프로젝트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개요</a:t>
            </a:r>
            <a:endParaRPr lang="en-US" sz="4400" b="1" spc="-86" dirty="0">
              <a:solidFill>
                <a:srgbClr val="0F148D"/>
              </a:solidFill>
              <a:latin typeface="+mn-ea"/>
              <a:cs typeface="Source Han Sans KR Medium"/>
              <a:sym typeface="Source Han Sans KR Medium"/>
            </a:endParaRPr>
          </a:p>
          <a:p>
            <a:pPr marL="882396" lvl="1" algn="l">
              <a:lnSpc>
                <a:spcPct val="150000"/>
              </a:lnSpc>
            </a:pPr>
            <a:r>
              <a:rPr lang="en-US" sz="4400" b="1" dirty="0">
                <a:solidFill>
                  <a:srgbClr val="0F148D"/>
                </a:solidFill>
                <a:latin typeface="+mn-ea"/>
              </a:rPr>
              <a:t>1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.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네트워크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구축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결과</a:t>
            </a:r>
            <a:endParaRPr sz="4400" b="1" dirty="0">
              <a:solidFill>
                <a:srgbClr val="0F148D"/>
              </a:solidFill>
              <a:latin typeface="+mn-ea"/>
            </a:endParaRPr>
          </a:p>
          <a:p>
            <a:pPr marL="882396" lvl="1" algn="l">
              <a:lnSpc>
                <a:spcPct val="150000"/>
              </a:lnSpc>
            </a:pPr>
            <a:r>
              <a:rPr lang="en-US" sz="4400" b="1" dirty="0">
                <a:solidFill>
                  <a:srgbClr val="0F148D"/>
                </a:solidFill>
                <a:latin typeface="+mn-ea"/>
              </a:rPr>
              <a:t>2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.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서버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구축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결과</a:t>
            </a:r>
            <a:endParaRPr sz="4400" b="1" dirty="0">
              <a:solidFill>
                <a:srgbClr val="0F148D"/>
              </a:solidFill>
              <a:latin typeface="+mn-ea"/>
            </a:endParaRPr>
          </a:p>
          <a:p>
            <a:pPr marL="882396" lvl="1" algn="l">
              <a:lnSpc>
                <a:spcPct val="150000"/>
              </a:lnSpc>
            </a:pPr>
            <a:r>
              <a:rPr lang="en-US" sz="4400" b="1" dirty="0">
                <a:solidFill>
                  <a:srgbClr val="0F148D"/>
                </a:solidFill>
                <a:latin typeface="+mn-ea"/>
              </a:rPr>
              <a:t>3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.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시스템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자동화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구현</a:t>
            </a:r>
            <a:endParaRPr sz="4400" b="1" dirty="0">
              <a:solidFill>
                <a:srgbClr val="0F148D"/>
              </a:solidFill>
              <a:latin typeface="+mn-ea"/>
            </a:endParaRPr>
          </a:p>
          <a:p>
            <a:pPr marL="882396" lvl="1" algn="l">
              <a:lnSpc>
                <a:spcPct val="150000"/>
              </a:lnSpc>
            </a:pPr>
            <a:r>
              <a:rPr lang="en-US" sz="4400" b="1" dirty="0">
                <a:solidFill>
                  <a:srgbClr val="0F148D"/>
                </a:solidFill>
                <a:latin typeface="+mn-ea"/>
              </a:rPr>
              <a:t>4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.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프로젝트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이슈</a:t>
            </a:r>
            <a:r>
              <a:rPr sz="4400" b="1" dirty="0">
                <a:solidFill>
                  <a:srgbClr val="0F148D"/>
                </a:solidFill>
                <a:latin typeface="+mn-ea"/>
              </a:rPr>
              <a:t> 및 </a:t>
            </a:r>
            <a:r>
              <a:rPr sz="4400" b="1" dirty="0" err="1">
                <a:solidFill>
                  <a:srgbClr val="0F148D"/>
                </a:solidFill>
                <a:latin typeface="+mn-ea"/>
              </a:rPr>
              <a:t>개선안</a:t>
            </a:r>
            <a:endParaRPr sz="4400" b="1" dirty="0">
              <a:solidFill>
                <a:srgbClr val="0F148D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mon\Desktop\53_files\1차 프로젝트 보고서 v1.0.0.pdf-image-0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4848"/>
            <a:ext cx="16609154" cy="977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7"/>
          <p:cNvSpPr txBox="1"/>
          <p:nvPr/>
        </p:nvSpPr>
        <p:spPr>
          <a:xfrm>
            <a:off x="668977" y="342900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논리 구성도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2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51" y="139446"/>
            <a:ext cx="9698977" cy="10008108"/>
          </a:xfrm>
          <a:prstGeom prst="rect">
            <a:avLst/>
          </a:prstGeom>
        </p:spPr>
      </p:pic>
      <p:sp>
        <p:nvSpPr>
          <p:cNvPr id="4" name="TextBox 7"/>
          <p:cNvSpPr txBox="1"/>
          <p:nvPr/>
        </p:nvSpPr>
        <p:spPr>
          <a:xfrm>
            <a:off x="-381000" y="356263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서비스 구성도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731520"/>
            <a:ext cx="14307695" cy="9098280"/>
          </a:xfrm>
          <a:prstGeom prst="rect">
            <a:avLst/>
          </a:prstGeom>
        </p:spPr>
      </p:pic>
      <p:sp>
        <p:nvSpPr>
          <p:cNvPr id="4" name="TextBox 7"/>
          <p:cNvSpPr txBox="1"/>
          <p:nvPr/>
        </p:nvSpPr>
        <p:spPr>
          <a:xfrm>
            <a:off x="-152400" y="401460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물리 구성도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54" y="164592"/>
            <a:ext cx="14104090" cy="10008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910420" y="3924330"/>
            <a:ext cx="6467159" cy="158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910420" y="5659932"/>
            <a:ext cx="6467159" cy="63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8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AutoShape 4" descr="이미지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4" name="Picture 6" descr="https://cdn.discordapp.com/attachments/1411992508216639555/1435542031127674951/4e2e6e7d56ad2007.png?ex=690da9b3&amp;is=690c5833&amp;hm=6f91e8b311b07c4f399ae789373cef296adb14236fc3c90386ed35fd5243a7dc&amp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22" y="342900"/>
            <a:ext cx="16287678" cy="91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7"/>
          <p:cNvSpPr txBox="1"/>
          <p:nvPr/>
        </p:nvSpPr>
        <p:spPr>
          <a:xfrm>
            <a:off x="-228600" y="341416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코드 흐름도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886B8-62EE-7FB0-CFD8-D444D986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E644115-E4D2-55E4-D745-EEAA78BF0CE2}"/>
              </a:ext>
            </a:extLst>
          </p:cNvPr>
          <p:cNvSpPr/>
          <p:nvPr/>
        </p:nvSpPr>
        <p:spPr>
          <a:xfrm>
            <a:off x="2086880" y="2288343"/>
            <a:ext cx="14667032" cy="7278514"/>
          </a:xfrm>
          <a:custGeom>
            <a:avLst/>
            <a:gdLst/>
            <a:ahLst/>
            <a:cxnLst/>
            <a:rect l="l" t="t" r="r" b="b"/>
            <a:pathLst>
              <a:path w="14667032" h="7278514">
                <a:moveTo>
                  <a:pt x="0" y="0"/>
                </a:moveTo>
                <a:lnTo>
                  <a:pt x="14667032" y="0"/>
                </a:lnTo>
                <a:lnTo>
                  <a:pt x="14667032" y="7278515"/>
                </a:lnTo>
                <a:lnTo>
                  <a:pt x="0" y="727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2ABC129-C278-DB3E-E524-B18A6171FAA9}"/>
              </a:ext>
            </a:extLst>
          </p:cNvPr>
          <p:cNvSpPr txBox="1"/>
          <p:nvPr/>
        </p:nvSpPr>
        <p:spPr>
          <a:xfrm>
            <a:off x="1460710" y="1265523"/>
            <a:ext cx="2993165" cy="8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6"/>
              </a:lnSpc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E6C3F9-815D-CC06-733E-766E52D8E65C}"/>
              </a:ext>
            </a:extLst>
          </p:cNvPr>
          <p:cNvSpPr txBox="1"/>
          <p:nvPr/>
        </p:nvSpPr>
        <p:spPr>
          <a:xfrm>
            <a:off x="457200" y="2628900"/>
            <a:ext cx="9144000" cy="1212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2396" lvl="1" algn="l">
              <a:lnSpc>
                <a:spcPct val="150000"/>
              </a:lnSpc>
            </a:pPr>
            <a:r>
              <a:rPr lang="en-US" sz="6000" b="1" dirty="0">
                <a:solidFill>
                  <a:srgbClr val="0F148D"/>
                </a:solidFill>
                <a:latin typeface="+mn-ea"/>
              </a:rPr>
              <a:t>1. </a:t>
            </a:r>
            <a:r>
              <a:rPr lang="ko-KR" altLang="en-US" sz="6000" b="1" dirty="0">
                <a:solidFill>
                  <a:srgbClr val="0F148D"/>
                </a:solidFill>
                <a:latin typeface="+mn-ea"/>
              </a:rPr>
              <a:t>네트워크 구축 결과</a:t>
            </a:r>
            <a:endParaRPr sz="6000" b="1" dirty="0">
              <a:solidFill>
                <a:srgbClr val="0F148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969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48200" y="-2552700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9" y="1888465"/>
            <a:ext cx="5616151" cy="3206805"/>
          </a:xfrm>
          <a:prstGeom prst="rect">
            <a:avLst/>
          </a:prstGeom>
        </p:spPr>
      </p:pic>
      <p:pic>
        <p:nvPicPr>
          <p:cNvPr id="4" name="Picture 2" descr="slide_0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25326"/>
            <a:ext cx="5685910" cy="3320511"/>
          </a:xfrm>
          <a:prstGeom prst="rect">
            <a:avLst/>
          </a:prstGeom>
        </p:spPr>
      </p:pic>
      <p:pic>
        <p:nvPicPr>
          <p:cNvPr id="5" name="Picture 2" descr="slide_0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155" y="1888466"/>
            <a:ext cx="5656445" cy="3206804"/>
          </a:xfrm>
          <a:prstGeom prst="rect">
            <a:avLst/>
          </a:prstGeom>
        </p:spPr>
      </p:pic>
      <p:pic>
        <p:nvPicPr>
          <p:cNvPr id="6" name="Picture 2" descr="slide_0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155" y="5839033"/>
            <a:ext cx="6053661" cy="3206804"/>
          </a:xfrm>
          <a:prstGeom prst="rect">
            <a:avLst/>
          </a:prstGeom>
        </p:spPr>
      </p:pic>
      <p:pic>
        <p:nvPicPr>
          <p:cNvPr id="8" name="Picture 2" descr="slide_0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74816" y="5839033"/>
            <a:ext cx="6079784" cy="3268980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888465"/>
            <a:ext cx="7054900" cy="3482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7"/>
          <p:cNvSpPr txBox="1"/>
          <p:nvPr/>
        </p:nvSpPr>
        <p:spPr>
          <a:xfrm>
            <a:off x="10820400" y="342900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네트워크 변경사항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300" y="2705100"/>
            <a:ext cx="6388100" cy="26543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D91818-05F6-1877-3FD7-8A711449B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2463604"/>
            <a:ext cx="5486400" cy="5359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E9A26-F282-988A-9311-F2F3894E0CF0}"/>
              </a:ext>
            </a:extLst>
          </p:cNvPr>
          <p:cNvSpPr txBox="1"/>
          <p:nvPr/>
        </p:nvSpPr>
        <p:spPr>
          <a:xfrm>
            <a:off x="11180055" y="5981700"/>
            <a:ext cx="3560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2"/>
                </a:solidFill>
                <a:latin typeface="+mn-ea"/>
              </a:rPr>
              <a:t>HUB AND SPOKE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636" y="1104899"/>
            <a:ext cx="8906164" cy="2942333"/>
          </a:xfrm>
          <a:prstGeom prst="rect">
            <a:avLst/>
          </a:prstGeom>
        </p:spPr>
      </p:pic>
      <p:pic>
        <p:nvPicPr>
          <p:cNvPr id="4" name="Picture 2" descr="slide_0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4386629"/>
            <a:ext cx="8940800" cy="2679700"/>
          </a:xfrm>
          <a:prstGeom prst="rect">
            <a:avLst/>
          </a:prstGeom>
        </p:spPr>
      </p:pic>
      <p:pic>
        <p:nvPicPr>
          <p:cNvPr id="5" name="Picture 2" descr="slide_009.jpg">
            <a:extLst>
              <a:ext uri="{FF2B5EF4-FFF2-40B4-BE49-F238E27FC236}">
                <a16:creationId xmlns:a16="http://schemas.microsoft.com/office/drawing/2014/main" id="{EC37F97F-93CB-AAD0-A50F-D332AFCA2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064" y="3390900"/>
            <a:ext cx="5769610" cy="3268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83B21-7F99-94FC-4058-EBA9F2C0CDA0}"/>
              </a:ext>
            </a:extLst>
          </p:cNvPr>
          <p:cNvSpPr txBox="1"/>
          <p:nvPr/>
        </p:nvSpPr>
        <p:spPr>
          <a:xfrm>
            <a:off x="9078391" y="7505700"/>
            <a:ext cx="7582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tx2"/>
                </a:solidFill>
                <a:latin typeface="+mn-ea"/>
              </a:rPr>
              <a:t>SW7(VTP </a:t>
            </a:r>
            <a:r>
              <a:rPr lang="ko-KR" altLang="en-US" sz="3200" b="1" dirty="0">
                <a:solidFill>
                  <a:schemeClr val="tx2"/>
                </a:solidFill>
                <a:latin typeface="+mn-ea"/>
              </a:rPr>
              <a:t>서버</a:t>
            </a:r>
            <a:r>
              <a:rPr lang="en-US" altLang="ko-KR" sz="3200" b="1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3200" b="1" dirty="0">
                <a:solidFill>
                  <a:schemeClr val="tx2"/>
                </a:solidFill>
                <a:latin typeface="+mn-ea"/>
              </a:rPr>
              <a:t>에서 확인한 </a:t>
            </a:r>
            <a:r>
              <a:rPr lang="en-US" altLang="ko-KR" sz="3200" b="1" dirty="0">
                <a:solidFill>
                  <a:schemeClr val="tx2"/>
                </a:solidFill>
                <a:latin typeface="+mn-ea"/>
              </a:rPr>
              <a:t>VLAN ,VTP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4" name="Picture 2" descr="slide_0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1001137"/>
            <a:ext cx="7988300" cy="4699000"/>
          </a:xfrm>
          <a:prstGeom prst="rect">
            <a:avLst/>
          </a:prstGeom>
        </p:spPr>
      </p:pic>
      <p:pic>
        <p:nvPicPr>
          <p:cNvPr id="5" name="Picture 2" descr="slide_007.jpg">
            <a:extLst>
              <a:ext uri="{FF2B5EF4-FFF2-40B4-BE49-F238E27FC236}">
                <a16:creationId xmlns:a16="http://schemas.microsoft.com/office/drawing/2014/main" id="{DB5E6C9C-35E8-47F2-8E4D-676E28465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502" y="5824157"/>
            <a:ext cx="6300734" cy="33376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64132A-BB66-DF7B-0075-E1AECCC19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952500"/>
            <a:ext cx="6235156" cy="23981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7DF6BB-11E4-D820-0AF7-CEC892D1F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628" y="8131295"/>
            <a:ext cx="7795844" cy="6074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C6B20D-7E91-476B-6078-FFF1B4347FEB}"/>
              </a:ext>
            </a:extLst>
          </p:cNvPr>
          <p:cNvSpPr txBox="1"/>
          <p:nvPr/>
        </p:nvSpPr>
        <p:spPr>
          <a:xfrm>
            <a:off x="1591235" y="3467100"/>
            <a:ext cx="5969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tx2"/>
                </a:solidFill>
                <a:latin typeface="+mn-ea"/>
              </a:rPr>
              <a:t>게스트 전용 네트워크 </a:t>
            </a:r>
            <a:r>
              <a:rPr lang="en-US" altLang="ko-KR" sz="3600" b="1" dirty="0">
                <a:solidFill>
                  <a:schemeClr val="tx2"/>
                </a:solidFill>
                <a:latin typeface="+mn-ea"/>
              </a:rPr>
              <a:t>(STP)</a:t>
            </a:r>
            <a:endParaRPr lang="ko-KR" altLang="en-US" sz="36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F28CF-BBA7-2EDA-2F69-BB3E1500879C}"/>
              </a:ext>
            </a:extLst>
          </p:cNvPr>
          <p:cNvSpPr txBox="1"/>
          <p:nvPr/>
        </p:nvSpPr>
        <p:spPr>
          <a:xfrm>
            <a:off x="12004749" y="7169834"/>
            <a:ext cx="4421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tx2"/>
                </a:solidFill>
                <a:latin typeface="+mn-ea"/>
              </a:rPr>
              <a:t>사설 네트워크 </a:t>
            </a:r>
            <a:r>
              <a:rPr lang="en-US" altLang="ko-KR" sz="3600" b="1" dirty="0">
                <a:solidFill>
                  <a:schemeClr val="tx2"/>
                </a:solidFill>
                <a:latin typeface="+mn-ea"/>
              </a:rPr>
              <a:t>(PAT)</a:t>
            </a:r>
            <a:endParaRPr lang="ko-KR" altLang="en-US" sz="36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232D-F33C-B58C-6C3D-A760FCFF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_024.jpg">
            <a:extLst>
              <a:ext uri="{FF2B5EF4-FFF2-40B4-BE49-F238E27FC236}">
                <a16:creationId xmlns:a16="http://schemas.microsoft.com/office/drawing/2014/main" id="{3175CE79-1646-B057-718C-AB37A76E0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54" y="164592"/>
            <a:ext cx="14104090" cy="10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1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BE8B2-B427-656F-FDA3-217DDF35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90879937-EBF3-ADE3-B0CE-1C02B6D83F33}"/>
              </a:ext>
            </a:extLst>
          </p:cNvPr>
          <p:cNvSpPr/>
          <p:nvPr/>
        </p:nvSpPr>
        <p:spPr>
          <a:xfrm>
            <a:off x="2086880" y="2288343"/>
            <a:ext cx="14667032" cy="7278514"/>
          </a:xfrm>
          <a:custGeom>
            <a:avLst/>
            <a:gdLst/>
            <a:ahLst/>
            <a:cxnLst/>
            <a:rect l="l" t="t" r="r" b="b"/>
            <a:pathLst>
              <a:path w="14667032" h="7278514">
                <a:moveTo>
                  <a:pt x="0" y="0"/>
                </a:moveTo>
                <a:lnTo>
                  <a:pt x="14667032" y="0"/>
                </a:lnTo>
                <a:lnTo>
                  <a:pt x="14667032" y="7278515"/>
                </a:lnTo>
                <a:lnTo>
                  <a:pt x="0" y="727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88ABB18-6150-C341-87BC-10C5589A6BE6}"/>
              </a:ext>
            </a:extLst>
          </p:cNvPr>
          <p:cNvSpPr txBox="1"/>
          <p:nvPr/>
        </p:nvSpPr>
        <p:spPr>
          <a:xfrm>
            <a:off x="1460710" y="1265523"/>
            <a:ext cx="2993165" cy="8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6"/>
              </a:lnSpc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DB3EE2-A801-F479-1F47-769F8CAEAD1A}"/>
              </a:ext>
            </a:extLst>
          </p:cNvPr>
          <p:cNvSpPr txBox="1"/>
          <p:nvPr/>
        </p:nvSpPr>
        <p:spPr>
          <a:xfrm>
            <a:off x="457200" y="2628900"/>
            <a:ext cx="9144000" cy="1212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2396" lvl="1" algn="l">
              <a:lnSpc>
                <a:spcPct val="150000"/>
              </a:lnSpc>
            </a:pPr>
            <a:r>
              <a:rPr lang="en-US" sz="6000" b="1" dirty="0">
                <a:solidFill>
                  <a:srgbClr val="0F148D"/>
                </a:solidFill>
                <a:latin typeface="+mn-ea"/>
              </a:rPr>
              <a:t>2. </a:t>
            </a:r>
            <a:r>
              <a:rPr lang="ko-KR" altLang="en-US" sz="6000" b="1" dirty="0">
                <a:solidFill>
                  <a:srgbClr val="0F148D"/>
                </a:solidFill>
                <a:latin typeface="+mn-ea"/>
              </a:rPr>
              <a:t>서버 구축 결과</a:t>
            </a:r>
            <a:endParaRPr sz="6000" b="1" dirty="0">
              <a:solidFill>
                <a:srgbClr val="0F148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53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1FFE-642A-6EEA-9CE0-F3E38E39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_023.jpg">
            <a:extLst>
              <a:ext uri="{FF2B5EF4-FFF2-40B4-BE49-F238E27FC236}">
                <a16:creationId xmlns:a16="http://schemas.microsoft.com/office/drawing/2014/main" id="{91166B03-06D9-2A7B-6E79-DAD3BDFD6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51" y="139446"/>
            <a:ext cx="9698977" cy="10008108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83F4BBDD-5656-F6EC-B1DE-1590740A0E55}"/>
              </a:ext>
            </a:extLst>
          </p:cNvPr>
          <p:cNvSpPr txBox="1"/>
          <p:nvPr/>
        </p:nvSpPr>
        <p:spPr>
          <a:xfrm>
            <a:off x="-381000" y="356263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서비스 구성도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2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485900"/>
            <a:ext cx="13512800" cy="4343400"/>
          </a:xfrm>
          <a:prstGeom prst="rect">
            <a:avLst/>
          </a:prstGeom>
        </p:spPr>
      </p:pic>
      <p:pic>
        <p:nvPicPr>
          <p:cNvPr id="4" name="Picture 2" descr="slide_026.jpg">
            <a:extLst>
              <a:ext uri="{FF2B5EF4-FFF2-40B4-BE49-F238E27FC236}">
                <a16:creationId xmlns:a16="http://schemas.microsoft.com/office/drawing/2014/main" id="{77D7503B-6AC4-1C93-9270-D7B7DBD8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569290"/>
            <a:ext cx="6997700" cy="673100"/>
          </a:xfrm>
          <a:prstGeom prst="rect">
            <a:avLst/>
          </a:prstGeom>
        </p:spPr>
      </p:pic>
      <p:pic>
        <p:nvPicPr>
          <p:cNvPr id="6" name="Picture 2" descr="slide_027.jpg">
            <a:extLst>
              <a:ext uri="{FF2B5EF4-FFF2-40B4-BE49-F238E27FC236}">
                <a16:creationId xmlns:a16="http://schemas.microsoft.com/office/drawing/2014/main" id="{67A48D2F-7719-15E2-90CF-5C294D8F6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7995829"/>
            <a:ext cx="6057900" cy="1295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ADA50B-74D5-150E-8D17-37EA031A040C}"/>
              </a:ext>
            </a:extLst>
          </p:cNvPr>
          <p:cNvSpPr txBox="1"/>
          <p:nvPr/>
        </p:nvSpPr>
        <p:spPr>
          <a:xfrm>
            <a:off x="2989379" y="6519871"/>
            <a:ext cx="376898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Iscsi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스토리지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연결 확인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endParaRPr lang="ko-KR" altLang="en-US" sz="44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118" y="2933700"/>
            <a:ext cx="9817100" cy="1117600"/>
          </a:xfrm>
          <a:prstGeom prst="rect">
            <a:avLst/>
          </a:prstGeom>
        </p:spPr>
      </p:pic>
      <p:pic>
        <p:nvPicPr>
          <p:cNvPr id="4" name="Picture 2" descr="slide_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518" y="5143500"/>
            <a:ext cx="7505700" cy="1879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679F56-1B3C-6C85-1861-3672D3FAA7C3}"/>
              </a:ext>
            </a:extLst>
          </p:cNvPr>
          <p:cNvSpPr txBox="1"/>
          <p:nvPr/>
        </p:nvSpPr>
        <p:spPr>
          <a:xfrm>
            <a:off x="2235967" y="5143500"/>
            <a:ext cx="52758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Disk Quota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설정 후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분할 확인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4" name="Picture 2" descr="slide_0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4076700"/>
            <a:ext cx="8534400" cy="213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5AED9-443F-F097-CCAD-733BA2B89A89}"/>
              </a:ext>
            </a:extLst>
          </p:cNvPr>
          <p:cNvSpPr txBox="1"/>
          <p:nvPr/>
        </p:nvSpPr>
        <p:spPr>
          <a:xfrm>
            <a:off x="2043606" y="4420225"/>
            <a:ext cx="56605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NFS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서버 활성화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클라이언트 연결 확인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8406"/>
            <a:ext cx="3479800" cy="4279900"/>
          </a:xfrm>
          <a:prstGeom prst="rect">
            <a:avLst/>
          </a:prstGeom>
        </p:spPr>
      </p:pic>
      <p:pic>
        <p:nvPicPr>
          <p:cNvPr id="4" name="Picture 2" descr="slide_0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245" y="419100"/>
            <a:ext cx="12788900" cy="4368800"/>
          </a:xfrm>
          <a:prstGeom prst="rect">
            <a:avLst/>
          </a:prstGeom>
        </p:spPr>
      </p:pic>
      <p:pic>
        <p:nvPicPr>
          <p:cNvPr id="5" name="Picture 2" descr="slide_03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2146" y="5501342"/>
            <a:ext cx="8381999" cy="193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01468-48B0-4A64-70B7-3DF70D30C729}"/>
              </a:ext>
            </a:extLst>
          </p:cNvPr>
          <p:cNvSpPr txBox="1"/>
          <p:nvPr/>
        </p:nvSpPr>
        <p:spPr>
          <a:xfrm>
            <a:off x="2043607" y="6519871"/>
            <a:ext cx="56605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SMB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서버 활성화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클라이언트 연결 확인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endParaRPr lang="ko-KR" altLang="en-US" sz="44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297" y="0"/>
            <a:ext cx="11433903" cy="10943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563E24-FCDD-42FE-EB42-822779CE1C03}"/>
              </a:ext>
            </a:extLst>
          </p:cNvPr>
          <p:cNvSpPr txBox="1"/>
          <p:nvPr/>
        </p:nvSpPr>
        <p:spPr>
          <a:xfrm>
            <a:off x="3436671" y="6522112"/>
            <a:ext cx="26404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로그 추출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확인 완료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495300"/>
            <a:ext cx="7906024" cy="9098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88F236-9F91-E423-A8D7-411ED5B85B5E}"/>
              </a:ext>
            </a:extLst>
          </p:cNvPr>
          <p:cNvSpPr txBox="1"/>
          <p:nvPr/>
        </p:nvSpPr>
        <p:spPr>
          <a:xfrm>
            <a:off x="2681701" y="6519871"/>
            <a:ext cx="43843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메인 웹서버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Apache2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활성화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3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495300"/>
            <a:ext cx="9512735" cy="9098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24C202-8477-D2E0-CD70-D022EC508D5A}"/>
              </a:ext>
            </a:extLst>
          </p:cNvPr>
          <p:cNvSpPr txBox="1"/>
          <p:nvPr/>
        </p:nvSpPr>
        <p:spPr>
          <a:xfrm>
            <a:off x="3554439" y="6519871"/>
            <a:ext cx="26388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PHP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설치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0" y="1181100"/>
            <a:ext cx="9537700" cy="2908300"/>
          </a:xfrm>
          <a:prstGeom prst="rect">
            <a:avLst/>
          </a:prstGeom>
        </p:spPr>
      </p:pic>
      <p:pic>
        <p:nvPicPr>
          <p:cNvPr id="4" name="Picture 2" descr="slide_04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5143500"/>
            <a:ext cx="8255000" cy="448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ADD8D2-6AED-AA9F-C744-121C6BB142E2}"/>
              </a:ext>
            </a:extLst>
          </p:cNvPr>
          <p:cNvSpPr txBox="1"/>
          <p:nvPr/>
        </p:nvSpPr>
        <p:spPr>
          <a:xfrm>
            <a:off x="2678239" y="6519871"/>
            <a:ext cx="43912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MariaDB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활성화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F17100-2A02-F550-0229-31CEC4EB0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106" y="876300"/>
            <a:ext cx="7440063" cy="58777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2" descr="slide_0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6200" y="3401284"/>
            <a:ext cx="5727700" cy="6286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57F86-A7DC-EA15-3980-15C2A6A62FC1}"/>
              </a:ext>
            </a:extLst>
          </p:cNvPr>
          <p:cNvSpPr txBox="1"/>
          <p:nvPr/>
        </p:nvSpPr>
        <p:spPr>
          <a:xfrm>
            <a:off x="2284061" y="6519871"/>
            <a:ext cx="51796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FTP,</a:t>
            </a:r>
          </a:p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phpMyAdmin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완료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24684" y="-2405016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4" name="Picture 2" descr="slide_040.jpg"/>
          <p:cNvPicPr>
            <a:picLocks noChangeAspect="1"/>
          </p:cNvPicPr>
          <p:nvPr/>
        </p:nvPicPr>
        <p:blipFill>
          <a:blip r:embed="rId4"/>
          <a:srcRect r="10526"/>
          <a:stretch>
            <a:fillRect/>
          </a:stretch>
        </p:blipFill>
        <p:spPr>
          <a:xfrm>
            <a:off x="1181793" y="419100"/>
            <a:ext cx="17099280" cy="8381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64B334-B15D-2BD4-E5EB-A9BC07E0627B}"/>
              </a:ext>
            </a:extLst>
          </p:cNvPr>
          <p:cNvSpPr txBox="1"/>
          <p:nvPr/>
        </p:nvSpPr>
        <p:spPr>
          <a:xfrm>
            <a:off x="4267200" y="6286500"/>
            <a:ext cx="38523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phpMyAdmin</a:t>
            </a: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로그인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3" name="Picture 2" descr="slide_0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101" y="2476500"/>
            <a:ext cx="7746999" cy="2349500"/>
          </a:xfrm>
          <a:prstGeom prst="rect">
            <a:avLst/>
          </a:prstGeom>
        </p:spPr>
      </p:pic>
      <p:pic>
        <p:nvPicPr>
          <p:cNvPr id="4" name="Picture 2" descr="slide_04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721351"/>
            <a:ext cx="10629900" cy="2527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5ACA7D-B03C-22C2-2D3F-38FEAEF3F5C7}"/>
              </a:ext>
            </a:extLst>
          </p:cNvPr>
          <p:cNvSpPr txBox="1"/>
          <p:nvPr/>
        </p:nvSpPr>
        <p:spPr>
          <a:xfrm>
            <a:off x="2845108" y="2695618"/>
            <a:ext cx="40575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윈도우 서버 </a:t>
            </a:r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22</a:t>
            </a:r>
          </a:p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DHCP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서버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활성화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0C48-DFAE-0A97-C52A-C1B4B406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4A647A8-F245-0DEB-E2AD-782AF3862841}"/>
              </a:ext>
            </a:extLst>
          </p:cNvPr>
          <p:cNvSpPr/>
          <p:nvPr/>
        </p:nvSpPr>
        <p:spPr>
          <a:xfrm>
            <a:off x="2086880" y="2288343"/>
            <a:ext cx="14667032" cy="7278514"/>
          </a:xfrm>
          <a:custGeom>
            <a:avLst/>
            <a:gdLst/>
            <a:ahLst/>
            <a:cxnLst/>
            <a:rect l="l" t="t" r="r" b="b"/>
            <a:pathLst>
              <a:path w="14667032" h="7278514">
                <a:moveTo>
                  <a:pt x="0" y="0"/>
                </a:moveTo>
                <a:lnTo>
                  <a:pt x="14667032" y="0"/>
                </a:lnTo>
                <a:lnTo>
                  <a:pt x="14667032" y="7278515"/>
                </a:lnTo>
                <a:lnTo>
                  <a:pt x="0" y="727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6DA38EB-33B5-FDA4-872C-6492E744EAF1}"/>
              </a:ext>
            </a:extLst>
          </p:cNvPr>
          <p:cNvSpPr txBox="1"/>
          <p:nvPr/>
        </p:nvSpPr>
        <p:spPr>
          <a:xfrm>
            <a:off x="1460710" y="1265523"/>
            <a:ext cx="2993165" cy="8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6"/>
              </a:lnSpc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32AB7FD-A901-A85D-9459-60F30CFE67C4}"/>
              </a:ext>
            </a:extLst>
          </p:cNvPr>
          <p:cNvSpPr txBox="1"/>
          <p:nvPr/>
        </p:nvSpPr>
        <p:spPr>
          <a:xfrm>
            <a:off x="457200" y="2628900"/>
            <a:ext cx="10134600" cy="1212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2396" lvl="1">
              <a:lnSpc>
                <a:spcPct val="150000"/>
              </a:lnSpc>
            </a:pPr>
            <a:r>
              <a:rPr lang="en-US" sz="6000" b="1" dirty="0">
                <a:solidFill>
                  <a:srgbClr val="0F148D"/>
                </a:solidFill>
                <a:latin typeface="+mn-ea"/>
              </a:rPr>
              <a:t>11. </a:t>
            </a:r>
            <a:r>
              <a:rPr lang="ko-KR" altLang="en-US" sz="6000" b="1" dirty="0">
                <a:solidFill>
                  <a:srgbClr val="0F148D"/>
                </a:solidFill>
                <a:latin typeface="+mn-ea"/>
              </a:rPr>
              <a:t>시스템 자동화 구현</a:t>
            </a:r>
          </a:p>
        </p:txBody>
      </p:sp>
    </p:spTree>
    <p:extLst>
      <p:ext uri="{BB962C8B-B14F-4D97-AF65-F5344CB8AC3E}">
        <p14:creationId xmlns:p14="http://schemas.microsoft.com/office/powerpoint/2010/main" val="1686857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8CA2-0CB9-CBD5-37A9-20E7308C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15161FEF-64E9-B2BB-7D36-85D4D8CA455B}"/>
              </a:ext>
            </a:extLst>
          </p:cNvPr>
          <p:cNvSpPr txBox="1"/>
          <p:nvPr/>
        </p:nvSpPr>
        <p:spPr>
          <a:xfrm>
            <a:off x="5910420" y="3924330"/>
            <a:ext cx="6467159" cy="158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CDFC98-CA19-7A03-9ECF-95821D42CADB}"/>
              </a:ext>
            </a:extLst>
          </p:cNvPr>
          <p:cNvSpPr txBox="1"/>
          <p:nvPr/>
        </p:nvSpPr>
        <p:spPr>
          <a:xfrm>
            <a:off x="5910420" y="5659932"/>
            <a:ext cx="6467159" cy="63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8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AutoShape 4" descr="이미지">
            <a:extLst>
              <a:ext uri="{FF2B5EF4-FFF2-40B4-BE49-F238E27FC236}">
                <a16:creationId xmlns:a16="http://schemas.microsoft.com/office/drawing/2014/main" id="{6F14378F-727E-0852-544A-4E231EA9B2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4" name="Picture 6" descr="https://cdn.discordapp.com/attachments/1411992508216639555/1435542031127674951/4e2e6e7d56ad2007.png?ex=690da9b3&amp;is=690c5833&amp;hm=6f91e8b311b07c4f399ae789373cef296adb14236fc3c90386ed35fd5243a7dc&amp;">
            <a:extLst>
              <a:ext uri="{FF2B5EF4-FFF2-40B4-BE49-F238E27FC236}">
                <a16:creationId xmlns:a16="http://schemas.microsoft.com/office/drawing/2014/main" id="{F4676800-248B-0E64-5122-DCF0F2AF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60" y="341416"/>
            <a:ext cx="16287678" cy="916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F645AB3-9175-FC64-5F24-07012F5C045E}"/>
              </a:ext>
            </a:extLst>
          </p:cNvPr>
          <p:cNvSpPr txBox="1"/>
          <p:nvPr/>
        </p:nvSpPr>
        <p:spPr>
          <a:xfrm>
            <a:off x="-228600" y="341416"/>
            <a:ext cx="7054899" cy="67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6528" lvl="1" indent="-294132" algn="l">
              <a:lnSpc>
                <a:spcPts val="5704"/>
              </a:lnSpc>
              <a:buChar char="•"/>
            </a:pPr>
            <a:r>
              <a:rPr lang="ko-KR" altLang="en-US" sz="4000" b="1" dirty="0">
                <a:solidFill>
                  <a:srgbClr val="0F148D"/>
                </a:solidFill>
                <a:latin typeface="맑은 고딕" panose="020B0503020000020004" pitchFamily="50" charset="-127"/>
              </a:rPr>
              <a:t>코드 흐름도</a:t>
            </a:r>
            <a:endParaRPr sz="4000" b="1" dirty="0">
              <a:solidFill>
                <a:srgbClr val="0F148D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203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90800" y="-2247900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90F775-61E4-BC91-81B2-9814A1C95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" y="1256064"/>
            <a:ext cx="5354003" cy="73971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F2893D-6FAA-EF0E-C665-49A718F59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818" y="1257969"/>
            <a:ext cx="5301615" cy="73552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2BC453B-0CEC-FE3B-2D42-9A5A8AD4C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9977" y="1257969"/>
            <a:ext cx="6318905" cy="73552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C0D4-556B-6A70-9C01-DB91C2F9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58DA200-F81F-D316-7A39-8B18FA56A2A9}"/>
              </a:ext>
            </a:extLst>
          </p:cNvPr>
          <p:cNvSpPr/>
          <p:nvPr/>
        </p:nvSpPr>
        <p:spPr>
          <a:xfrm>
            <a:off x="2086880" y="2288343"/>
            <a:ext cx="14667032" cy="7278514"/>
          </a:xfrm>
          <a:custGeom>
            <a:avLst/>
            <a:gdLst/>
            <a:ahLst/>
            <a:cxnLst/>
            <a:rect l="l" t="t" r="r" b="b"/>
            <a:pathLst>
              <a:path w="14667032" h="7278514">
                <a:moveTo>
                  <a:pt x="0" y="0"/>
                </a:moveTo>
                <a:lnTo>
                  <a:pt x="14667032" y="0"/>
                </a:lnTo>
                <a:lnTo>
                  <a:pt x="14667032" y="7278515"/>
                </a:lnTo>
                <a:lnTo>
                  <a:pt x="0" y="727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3CB8E04-E91F-54DE-37F2-4CE637417E0D}"/>
              </a:ext>
            </a:extLst>
          </p:cNvPr>
          <p:cNvSpPr txBox="1"/>
          <p:nvPr/>
        </p:nvSpPr>
        <p:spPr>
          <a:xfrm>
            <a:off x="1460710" y="1265523"/>
            <a:ext cx="2993165" cy="8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6"/>
              </a:lnSpc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8827C34-8FE7-F889-96F0-1B06912416EC}"/>
              </a:ext>
            </a:extLst>
          </p:cNvPr>
          <p:cNvSpPr txBox="1"/>
          <p:nvPr/>
        </p:nvSpPr>
        <p:spPr>
          <a:xfrm>
            <a:off x="457200" y="2628900"/>
            <a:ext cx="11201400" cy="1206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2396" lvl="1">
              <a:lnSpc>
                <a:spcPct val="150000"/>
              </a:lnSpc>
            </a:pPr>
            <a:r>
              <a:rPr lang="en-US" altLang="ko-KR" sz="6000" b="1" dirty="0">
                <a:solidFill>
                  <a:srgbClr val="0F148D"/>
                </a:solidFill>
                <a:latin typeface="+mn-ea"/>
              </a:rPr>
              <a:t>100.	</a:t>
            </a:r>
            <a:r>
              <a:rPr lang="ko-KR" altLang="en-US" sz="6000" b="1" dirty="0">
                <a:solidFill>
                  <a:srgbClr val="0F148D"/>
                </a:solidFill>
                <a:latin typeface="+mn-ea"/>
              </a:rPr>
              <a:t>프로젝트 이슈 및 개선안</a:t>
            </a:r>
          </a:p>
        </p:txBody>
      </p:sp>
    </p:spTree>
    <p:extLst>
      <p:ext uri="{BB962C8B-B14F-4D97-AF65-F5344CB8AC3E}">
        <p14:creationId xmlns:p14="http://schemas.microsoft.com/office/powerpoint/2010/main" val="532399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7AC89EA-9057-EEB5-BC6A-CD46C8B41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17" y="3400268"/>
            <a:ext cx="6889103" cy="323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7022DB-2588-EE66-0F92-C713E9910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874702"/>
            <a:ext cx="8077200" cy="628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D69E30-D0B0-28FD-DB4F-E2716DEA00C5}"/>
              </a:ext>
            </a:extLst>
          </p:cNvPr>
          <p:cNvSpPr txBox="1"/>
          <p:nvPr/>
        </p:nvSpPr>
        <p:spPr>
          <a:xfrm>
            <a:off x="3370578" y="7124700"/>
            <a:ext cx="30065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STP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와 </a:t>
            </a:r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VTP</a:t>
            </a: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구조 문제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9181F8-1E09-78FD-2C59-0879813333EA}"/>
              </a:ext>
            </a:extLst>
          </p:cNvPr>
          <p:cNvSpPr txBox="1"/>
          <p:nvPr/>
        </p:nvSpPr>
        <p:spPr>
          <a:xfrm>
            <a:off x="3088773" y="2246620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>
                <a:solidFill>
                  <a:schemeClr val="tx2"/>
                </a:solidFill>
                <a:latin typeface="+mn-ea"/>
              </a:rPr>
              <a:t>네트워크</a:t>
            </a:r>
            <a:endParaRPr lang="ko-KR" altLang="en-US" sz="66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52659-1DB7-6B7F-152A-908BAF066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933700"/>
            <a:ext cx="10524389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90C952-1F47-A63D-2AFD-E68323D85D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202" y="5905500"/>
            <a:ext cx="7084187" cy="11591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F3EDB1-9FA1-FD7A-A15B-6BB3E277DDE8}"/>
              </a:ext>
            </a:extLst>
          </p:cNvPr>
          <p:cNvSpPr txBox="1"/>
          <p:nvPr/>
        </p:nvSpPr>
        <p:spPr>
          <a:xfrm>
            <a:off x="2226357" y="6519871"/>
            <a:ext cx="52950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Iscsi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연결</a:t>
            </a:r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문제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포맷 전</a:t>
            </a:r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파티션 생성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68417-607B-7DD5-C93C-8A4243252BB6}"/>
              </a:ext>
            </a:extLst>
          </p:cNvPr>
          <p:cNvSpPr txBox="1"/>
          <p:nvPr/>
        </p:nvSpPr>
        <p:spPr>
          <a:xfrm>
            <a:off x="3935158" y="2246620"/>
            <a:ext cx="18774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tx2"/>
                </a:solidFill>
                <a:latin typeface="+mn-ea"/>
              </a:rPr>
              <a:t>서버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1E34-4054-3A24-1C13-E0B048E1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7EAAA4-2014-7EEE-A58D-5CE78908835B}"/>
              </a:ext>
            </a:extLst>
          </p:cNvPr>
          <p:cNvSpPr/>
          <p:nvPr/>
        </p:nvSpPr>
        <p:spPr>
          <a:xfrm>
            <a:off x="-2367489" y="-2097858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EFAF04-7E42-77E7-43FD-F9AF73CC8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562" y="1485900"/>
            <a:ext cx="9552325" cy="2295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3CA9DD-3F9A-59E8-03FD-108B98850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057" y="4229100"/>
            <a:ext cx="9512231" cy="5225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ECC9A6-5C4A-AD18-21FE-5D77D00CBFF8}"/>
              </a:ext>
            </a:extLst>
          </p:cNvPr>
          <p:cNvSpPr txBox="1"/>
          <p:nvPr/>
        </p:nvSpPr>
        <p:spPr>
          <a:xfrm>
            <a:off x="2899616" y="6519871"/>
            <a:ext cx="394851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2"/>
                </a:solidFill>
                <a:latin typeface="+mn-ea"/>
              </a:rPr>
              <a:t>Disk Quota </a:t>
            </a:r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후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마운트 오류</a:t>
            </a:r>
            <a:endParaRPr lang="en-US" altLang="ko-KR" sz="44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4400" b="1" dirty="0">
                <a:solidFill>
                  <a:schemeClr val="tx2"/>
                </a:solidFill>
                <a:latin typeface="+mn-ea"/>
              </a:rPr>
              <a:t>코드 수정 완료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9FEC2-F9E0-F72E-DC08-C69CC23B728B}"/>
              </a:ext>
            </a:extLst>
          </p:cNvPr>
          <p:cNvSpPr txBox="1"/>
          <p:nvPr/>
        </p:nvSpPr>
        <p:spPr>
          <a:xfrm>
            <a:off x="3511965" y="2246620"/>
            <a:ext cx="27238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tx2"/>
                </a:solidFill>
                <a:latin typeface="+mn-ea"/>
              </a:rPr>
              <a:t>파이썬</a:t>
            </a:r>
          </a:p>
        </p:txBody>
      </p:sp>
    </p:spTree>
    <p:extLst>
      <p:ext uri="{BB962C8B-B14F-4D97-AF65-F5344CB8AC3E}">
        <p14:creationId xmlns:p14="http://schemas.microsoft.com/office/powerpoint/2010/main" val="3265034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2D0F-6371-53A9-C9E6-01D38DB9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DEE01B-D5F0-99A0-FF24-A56DB85293A4}"/>
              </a:ext>
            </a:extLst>
          </p:cNvPr>
          <p:cNvSpPr/>
          <p:nvPr/>
        </p:nvSpPr>
        <p:spPr>
          <a:xfrm>
            <a:off x="-2057400" y="3490453"/>
            <a:ext cx="14482716" cy="14482716"/>
          </a:xfrm>
          <a:custGeom>
            <a:avLst/>
            <a:gdLst/>
            <a:ahLst/>
            <a:cxnLst/>
            <a:rect l="l" t="t" r="r" b="b"/>
            <a:pathLst>
              <a:path w="14482716" h="14482716">
                <a:moveTo>
                  <a:pt x="0" y="0"/>
                </a:moveTo>
                <a:lnTo>
                  <a:pt x="14482717" y="0"/>
                </a:lnTo>
                <a:lnTo>
                  <a:pt x="14482717" y="14482716"/>
                </a:lnTo>
                <a:lnTo>
                  <a:pt x="0" y="1448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7C6F5-DAD7-8491-25A4-2380C09014D0}"/>
              </a:ext>
            </a:extLst>
          </p:cNvPr>
          <p:cNvSpPr txBox="1"/>
          <p:nvPr/>
        </p:nvSpPr>
        <p:spPr>
          <a:xfrm>
            <a:off x="3095016" y="8062453"/>
            <a:ext cx="386836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chemeClr val="tx2"/>
                </a:solidFill>
                <a:latin typeface="+mn-ea"/>
              </a:rPr>
              <a:t>최종 검증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2DB654-9876-4CC7-11FC-D53187144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762" y="201806"/>
            <a:ext cx="7255872" cy="54610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CFF207-CC67-3468-48FB-FBA87C0BF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245"/>
          <a:stretch>
            <a:fillRect/>
          </a:stretch>
        </p:blipFill>
        <p:spPr>
          <a:xfrm>
            <a:off x="11182569" y="2550160"/>
            <a:ext cx="7366711" cy="8278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9B5817-5D5F-25DA-2D98-0F911B4586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686" y="201806"/>
            <a:ext cx="6869049" cy="2235899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0B3403B-028D-9B0A-61CD-587C54DEC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569" y="3510624"/>
            <a:ext cx="6857524" cy="611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053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78218" y="-1758866"/>
            <a:ext cx="13865078" cy="13865078"/>
          </a:xfrm>
          <a:custGeom>
            <a:avLst/>
            <a:gdLst/>
            <a:ahLst/>
            <a:cxnLst/>
            <a:rect l="l" t="t" r="r" b="b"/>
            <a:pathLst>
              <a:path w="13865078" h="13865078">
                <a:moveTo>
                  <a:pt x="0" y="0"/>
                </a:moveTo>
                <a:lnTo>
                  <a:pt x="13865079" y="0"/>
                </a:lnTo>
                <a:lnTo>
                  <a:pt x="13865079" y="13865079"/>
                </a:lnTo>
                <a:lnTo>
                  <a:pt x="0" y="1386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68600" y="816122"/>
            <a:ext cx="8715103" cy="8715103"/>
          </a:xfrm>
          <a:custGeom>
            <a:avLst/>
            <a:gdLst/>
            <a:ahLst/>
            <a:cxnLst/>
            <a:rect l="l" t="t" r="r" b="b"/>
            <a:pathLst>
              <a:path w="8715103" h="8715103">
                <a:moveTo>
                  <a:pt x="0" y="0"/>
                </a:moveTo>
                <a:lnTo>
                  <a:pt x="8715103" y="0"/>
                </a:lnTo>
                <a:lnTo>
                  <a:pt x="8715103" y="8715103"/>
                </a:lnTo>
                <a:lnTo>
                  <a:pt x="0" y="8715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10420" y="5659932"/>
            <a:ext cx="6467159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8"/>
              </a:lnSpc>
              <a:spcBef>
                <a:spcPct val="0"/>
              </a:spcBef>
            </a:pPr>
            <a:r>
              <a:rPr lang="en-US" sz="3749" b="1" dirty="0">
                <a:solidFill>
                  <a:srgbClr val="0F148D"/>
                </a:solidFill>
                <a:latin typeface="+mj-ea"/>
                <a:ea typeface="+mj-ea"/>
                <a:cs typeface="TT Commons Pro Bold"/>
                <a:sym typeface="TT Commons Pro Bold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25740-3490-15A5-5F26-9AD3D0FF71DB}"/>
              </a:ext>
            </a:extLst>
          </p:cNvPr>
          <p:cNvSpPr txBox="1"/>
          <p:nvPr/>
        </p:nvSpPr>
        <p:spPr>
          <a:xfrm>
            <a:off x="1541317" y="4305300"/>
            <a:ext cx="15205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0F148D"/>
                </a:solidFill>
                <a:latin typeface="+mn-ea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172</Words>
  <Application>Microsoft Office PowerPoint</Application>
  <PresentationFormat>사용자 지정</PresentationFormat>
  <Paragraphs>58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나눔고딕</vt:lpstr>
      <vt:lpstr>맑은 고딕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회색 남색 심플한 깔끔한 기업 회사 연말 성장 성과 보고서 프리젠테이션</dc:title>
  <dc:creator>TJ</dc:creator>
  <cp:lastModifiedBy>TJ</cp:lastModifiedBy>
  <cp:revision>58</cp:revision>
  <dcterms:created xsi:type="dcterms:W3CDTF">2006-08-16T00:00:00Z</dcterms:created>
  <dcterms:modified xsi:type="dcterms:W3CDTF">2025-11-07T06:59:22Z</dcterms:modified>
  <dc:identifier>DAG350Q02zU</dc:identifier>
</cp:coreProperties>
</file>