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8_4346E8F4.xml" ContentType="application/vnd.ms-powerpoint.comments+xml"/>
  <Override PartName="/ppt/comments/modernComment_107_5BB9FD92.xml" ContentType="application/vnd.ms-powerpoint.comments+xml"/>
  <Override PartName="/ppt/comments/modernComment_109_C85BEEC9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9" r:id="rId6"/>
    <p:sldId id="268" r:id="rId7"/>
    <p:sldId id="264" r:id="rId8"/>
    <p:sldId id="261" r:id="rId9"/>
    <p:sldId id="262" r:id="rId10"/>
    <p:sldId id="263" r:id="rId11"/>
    <p:sldId id="265" r:id="rId12"/>
    <p:sldId id="266" r:id="rId13"/>
    <p:sldId id="277" r:id="rId14"/>
    <p:sldId id="267" r:id="rId15"/>
    <p:sldId id="270" r:id="rId16"/>
    <p:sldId id="271" r:id="rId17"/>
    <p:sldId id="276" r:id="rId18"/>
    <p:sldId id="275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29CD737-F9F6-991B-B543-A4423FD2980C}" name="TJ" initials="T" userId="TJ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modernComment_107_5BB9FD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2C5BAC9-964C-4BE5-8CA9-6749016376D3}" authorId="{929CD737-F9F6-991B-B543-A4423FD2980C}" created="2025-12-04T16:07:59.716">
    <pc:sldMkLst xmlns:pc="http://schemas.microsoft.com/office/powerpoint/2013/main/command">
      <pc:docMk/>
      <pc:sldMk cId="1538915730" sldId="263"/>
    </pc:sldMkLst>
    <p188:txBody>
      <a:bodyPr/>
      <a:lstStyle/>
      <a:p>
        <a:r>
          <a:rPr lang="ko-KR" altLang="en-US"/>
          <a:t>UDP는 연결을 하지 않는데 구글에 있는 사진을 보면 Close가 있고 연결을 끊는다는 것을 확인했다. 연결을 하지 않는 UDP 입장에서 연결을 끊는다는 표현보다는 종료라는 단어로 표현을 했는데 이렇게 표현해도 되는것인지 물어볼 것</a:t>
        </a:r>
      </a:p>
    </p188:txBody>
  </p188:cm>
</p188:cmLst>
</file>

<file path=ppt/comments/modernComment_108_4346E8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A5F048-1B8E-4EA9-B97B-E83699BE5772}" authorId="{929CD737-F9F6-991B-B543-A4423FD2980C}" created="2025-12-04T16:04:09.3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128720628" sldId="264"/>
      <ac:spMk id="3" creationId="{BB315CA2-3C61-DB8F-A529-3C6BECE01253}"/>
    </ac:deMkLst>
    <p188:replyLst>
      <p188:reply id="{D144D98E-85B5-4E74-837C-A8CCD8B6E8F2}" authorId="{929CD737-F9F6-991B-B543-A4423FD2980C}" created="2025-12-05T01:01:44.523">
        <p188:txBody>
          <a:bodyPr/>
          <a:lstStyle/>
          <a:p>
            <a:r>
              <a:rPr lang="ko-KR" altLang="en-US"/>
              <a:t>이거 아님 다른 무언가를 알아봐야 함</a:t>
            </a:r>
          </a:p>
        </p188:txBody>
      </p188:reply>
    </p188:replyLst>
    <p188:txBody>
      <a:bodyPr/>
      <a:lstStyle/>
      <a:p>
        <a:r>
          <a:rPr lang="ko-KR" altLang="en-US"/>
          <a:t>Udp와 tcp의 차이점으로는 돌려본 결과 client나 server쪽에서 연결을 끊는다면 udp는 대기상태가 엔터를 치기 전에는 계속 남아 있지만 tcp방식은 연결이 끊긴다면 client, server 둘 다 자동으로 쉘로 돌아오는 것을 확인</a:t>
        </a:r>
      </a:p>
    </p188:txBody>
  </p188:cm>
</p188:cmLst>
</file>

<file path=ppt/comments/modernComment_109_C85BEEC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D819742-88BA-4872-890B-65834527492A}" authorId="{929CD737-F9F6-991B-B543-A4423FD2980C}" created="2025-12-04T16:16:40.854">
    <pc:sldMkLst xmlns:pc="http://schemas.microsoft.com/office/powerpoint/2013/main/command">
      <pc:docMk/>
      <pc:sldMk cId="3361468105" sldId="265"/>
    </pc:sldMkLst>
    <p188:txBody>
      <a:bodyPr/>
      <a:lstStyle/>
      <a:p>
        <a:r>
          <a:rPr lang="ko-KR" altLang="en-US"/>
          <a:t>이곳에 NETCAT은 과연 어떤 포트 스캐닝 기법을 사용하는지도 알아보고 정의할 것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91156-A30F-4333-A84B-F57D176D929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9483E-4075-4129-B35A-D9B2C95D7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937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Netcat</a:t>
            </a:r>
            <a:r>
              <a:rPr lang="ko-KR" altLang="en-US" dirty="0"/>
              <a:t>에도 </a:t>
            </a:r>
            <a:r>
              <a:rPr lang="en-US" altLang="ko-KR" dirty="0"/>
              <a:t>3</a:t>
            </a:r>
            <a:r>
              <a:rPr lang="ko-KR" altLang="en-US" dirty="0"/>
              <a:t>가지 버전의 패키지가 존재합니다 </a:t>
            </a:r>
            <a:r>
              <a:rPr lang="en-US" altLang="ko-KR" dirty="0" err="1"/>
              <a:t>Netcat</a:t>
            </a:r>
            <a:r>
              <a:rPr lang="en-US" altLang="ko-KR" dirty="0"/>
              <a:t>-traditional, </a:t>
            </a:r>
            <a:r>
              <a:rPr lang="en-US" altLang="ko-KR" dirty="0" err="1"/>
              <a:t>ncat</a:t>
            </a:r>
            <a:r>
              <a:rPr lang="en-US" altLang="ko-KR" dirty="0"/>
              <a:t>, </a:t>
            </a:r>
            <a:r>
              <a:rPr lang="en-US" altLang="ko-KR" dirty="0" err="1"/>
              <a:t>Netcat-openbsd</a:t>
            </a:r>
            <a:endParaRPr lang="en-US" altLang="ko-KR" dirty="0"/>
          </a:p>
          <a:p>
            <a:r>
              <a:rPr lang="en-US" altLang="ko-KR" dirty="0" err="1"/>
              <a:t>Netcat-traditiona</a:t>
            </a:r>
            <a:r>
              <a:rPr lang="ko-KR" altLang="en-US" dirty="0"/>
              <a:t>이 </a:t>
            </a:r>
            <a:r>
              <a:rPr lang="en-US" altLang="ko-KR" dirty="0" err="1"/>
              <a:t>netcat</a:t>
            </a:r>
            <a:r>
              <a:rPr lang="ko-KR" altLang="en-US" dirty="0"/>
              <a:t>의 원조이고 나머지 </a:t>
            </a:r>
            <a:r>
              <a:rPr lang="en-US" altLang="ko-KR" dirty="0"/>
              <a:t>2</a:t>
            </a:r>
            <a:r>
              <a:rPr lang="ko-KR" altLang="en-US" dirty="0"/>
              <a:t>개가 원조 </a:t>
            </a:r>
            <a:r>
              <a:rPr lang="en-US" altLang="ko-KR" dirty="0" err="1"/>
              <a:t>netcat</a:t>
            </a:r>
            <a:r>
              <a:rPr lang="ko-KR" altLang="en-US" dirty="0"/>
              <a:t>을 개조한 버전들인데 </a:t>
            </a:r>
            <a:r>
              <a:rPr lang="en-US" altLang="ko-KR" dirty="0" err="1"/>
              <a:t>ncat</a:t>
            </a:r>
            <a:r>
              <a:rPr lang="en-US" altLang="ko-KR" dirty="0"/>
              <a:t> </a:t>
            </a:r>
            <a:r>
              <a:rPr lang="ko-KR" altLang="en-US" dirty="0"/>
              <a:t>같은 경우 암호화 되어 전달되지 않는 기존 </a:t>
            </a:r>
            <a:r>
              <a:rPr lang="en-US" altLang="ko-KR" dirty="0" err="1"/>
              <a:t>netcat</a:t>
            </a:r>
            <a:r>
              <a:rPr lang="ko-KR" altLang="en-US" dirty="0"/>
              <a:t>의 취약점을 개선하고 포트 스캐닝 옵션을 삭제한 버전이고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9483E-4075-4129-B35A-D9B2C95D759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547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사실 데이터 혹은 파일 혹은 명령어의 결과를 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서버 클라이언트 사이에서 주고 받는 것의 핵심은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리눅스의 기본 입출력 방향을 변경하는 것을</a:t>
            </a:r>
            <a:r>
              <a:rPr lang="en-US" altLang="ko-KR" dirty="0">
                <a:solidFill>
                  <a:srgbClr val="FF0000"/>
                </a:solidFill>
              </a:rPr>
              <a:t>(&gt;&gt;, &lt;&lt;, | </a:t>
            </a:r>
            <a:r>
              <a:rPr lang="ko-KR" altLang="en-US" dirty="0">
                <a:solidFill>
                  <a:srgbClr val="FF0000"/>
                </a:solidFill>
              </a:rPr>
              <a:t>등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응용하는 데에 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9483E-4075-4129-B35A-D9B2C95D759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194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위와 같이 입출력 제어를 통해서 서로 다른</a:t>
            </a:r>
            <a:r>
              <a:rPr lang="en-US" altLang="ko-KR" dirty="0"/>
              <a:t> </a:t>
            </a:r>
            <a:r>
              <a:rPr lang="ko-KR" altLang="en-US" dirty="0"/>
              <a:t>호스트 간의 명령어의 결과 값을 주고 받는 것도 가능하다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9483E-4075-4129-B35A-D9B2C95D759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086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err="1">
                <a:solidFill>
                  <a:srgbClr val="FF0000"/>
                </a:solidFill>
              </a:rPr>
              <a:t>NetCat</a:t>
            </a:r>
            <a:r>
              <a:rPr lang="ko-KR" altLang="en-US" sz="1200" dirty="0">
                <a:solidFill>
                  <a:srgbClr val="FF0000"/>
                </a:solidFill>
              </a:rPr>
              <a:t>에는 </a:t>
            </a:r>
            <a:r>
              <a:rPr lang="en-US" altLang="ko-KR" sz="1200" dirty="0">
                <a:solidFill>
                  <a:srgbClr val="FF0000"/>
                </a:solidFill>
              </a:rPr>
              <a:t>–e</a:t>
            </a:r>
            <a:r>
              <a:rPr lang="ko-KR" altLang="en-US" sz="1200" dirty="0">
                <a:solidFill>
                  <a:srgbClr val="FF0000"/>
                </a:solidFill>
              </a:rPr>
              <a:t> 옵션이 있는데 이 옵션을 사용하면 연결이 상대와 될 경우 특정한 프로그램을 실행시키고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상대방으로부터 오는 데이터를 모두 프로그램이 처리하게끔 할 수 있다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9483E-4075-4129-B35A-D9B2C95D759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35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7D6B1-2BA1-1B63-E40D-A9FDC303B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9609C7-4750-B5CE-E414-E68B88C38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779B43-BDFC-3022-E41D-8C9FBA8B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C4EE-541A-436F-84CC-62E71662920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41EE3A-2116-66E7-6658-5EFAE6B7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AD5612-6EDA-2F1B-B6F7-1917BEE91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8DA7-9D64-45EE-A9F1-9E9B123A8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360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535930-A6B2-0CAF-8EC9-D6C5FA5F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F484D7-DC0A-6DC3-2986-2E4F6741E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CCD430-3ABA-B273-56D8-F4BEEE99E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C4EE-541A-436F-84CC-62E71662920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C91DA-E881-BC26-B52D-5A30BFF6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588AD9-35B6-9CB1-7CFE-12D325432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8DA7-9D64-45EE-A9F1-9E9B123A8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30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6F9BD9-A162-FDA4-B30A-D703716C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69376D-9D3F-1DED-B611-B92114D22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8DF5A7-0ABE-C507-CE61-A76300A0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C4EE-541A-436F-84CC-62E71662920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0E8CF5-38F6-98EB-36F5-1F1628F4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F4B545-B382-4101-AD7C-429726333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8DA7-9D64-45EE-A9F1-9E9B123A8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798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6715A-2D43-E05A-8252-2286E6197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DBCC3C-CE13-529D-00BD-AE95679BE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F36DD4-573A-9300-CDEB-40025FFC7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1599AB-06E1-CE1C-D7AC-093161E6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C4EE-541A-436F-84CC-62E71662920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0163AC-DCD9-AECE-AF1B-CE57C7DF5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000639-9A97-28E5-303A-028CBFF2A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8DA7-9D64-45EE-A9F1-9E9B123A8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96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CCA4C-7F3B-2BF6-86E5-46E69A733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E0BE38-2525-DFEA-4080-BBAFA8F53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31EC43-CEDB-1DE9-CF6C-87BEB8BC8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A224EA-95D2-367B-DA63-57ED3680D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34302E4-B7B5-0534-9BB7-C3530974E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3004C2-B0C0-1D82-C122-3A166EF6A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C4EE-541A-436F-84CC-62E71662920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1E6D678-D2FB-4C38-D99F-D64C08D2B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9D56206-00B2-7FF5-F65C-6D370C84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8DA7-9D64-45EE-A9F1-9E9B123A8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859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12489-732E-FC62-D6BC-EE63B10E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3EE19E-A2A8-E341-157B-4C04B6FB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C4EE-541A-436F-84CC-62E71662920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2181EA-C2D2-E906-8B78-0A30D03EC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552F93-7978-CAAB-960E-FB29A5620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8DA7-9D64-45EE-A9F1-9E9B123A8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1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F0B78F0-4992-94C7-AA6D-5908D59F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C4EE-541A-436F-84CC-62E71662920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068187-4F89-4A12-4E71-BFB288BC8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B9652D-2BFE-CC96-AACB-3C0F5D2C7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8DA7-9D64-45EE-A9F1-9E9B123A8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858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AFE68-2B3D-8CA4-28CE-83375E03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6D87DE-D08A-6088-D3BA-D6CF3A83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A9281F-FE35-C84A-4DDC-A027568ED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B16A0C-C2CB-79E3-9203-7D380BF76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C4EE-541A-436F-84CC-62E71662920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E4EA42-AE04-1C4A-F935-B20F81240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AAEBDD-944B-7361-A86F-927EF563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8DA7-9D64-45EE-A9F1-9E9B123A8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543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BE2F6-6E3B-164F-EDC7-6122D958C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150966-5432-2F04-762C-E8FA9D4323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7BDCD6-2CBA-52F5-E813-922BE0138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A47819-00D3-8FA6-160A-A1C12CA5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C4EE-541A-436F-84CC-62E71662920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A9831E-B508-67D5-1A1B-97021BDED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42A517-21AF-EA40-211C-F246AA68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8DA7-9D64-45EE-A9F1-9E9B123A8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36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FE6C1-F669-611C-0664-F873041A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047221-2FCE-993B-E080-9D95D533B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AE66B8-18EA-5A11-E2A1-EDBBEF3E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C4EE-541A-436F-84CC-62E71662920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912A9-3005-0BFB-F1D6-0FF8C6A3A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38EF6F-4F44-63A4-DF6B-6C5089457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8DA7-9D64-45EE-A9F1-9E9B123A8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408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4263AF-C257-0F43-4ACB-DDE6207C3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CFFBBF-063E-9BA3-F754-B75E83618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CE468C-250A-D56C-5E9D-EBEE8E7C8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C4EE-541A-436F-84CC-62E71662920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C0FA2E-A24B-57AA-D8E1-BBCE2D8E7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072724-DDC6-E82A-0372-D4C726A8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38DA7-9D64-45EE-A9F1-9E9B123A8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398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73C27F-77B6-AEDD-E287-FBA7CEA4B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6C27A-2095-9C3A-CE2E-B17B51531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48B1AA-1E3F-F42B-EECC-B34FAAE14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DC4EE-541A-436F-84CC-62E71662920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97F2B1-0380-643B-0DB9-F8A6AD765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E8680F-4D78-AC2F-3AFE-31E1976B5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38DA7-9D64-45EE-A9F1-9E9B123A89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5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8_4346E8F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5BB9FD9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C85BEEC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kr/free-icon/servers_4492059?term=%EC%84%9C%EB%B2%84&amp;page=1&amp;position=8&amp;origin=search&amp;related_id=4492059" TargetMode="External"/><Relationship Id="rId2" Type="http://schemas.openxmlformats.org/officeDocument/2006/relationships/hyperlink" Target="https://www.flaticon.com/kr/free-icon/hacker_3813181?term=%ED%95%B4%EC%BB%A4&amp;page=1&amp;position=3&amp;origin=search&amp;related_id=381318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laticon.com/kr/free-icon/firewall_6056215?term=%EB%B0%A9%ED%99%94%EB%B2%BD&amp;page=1&amp;position=4&amp;origin=search&amp;related_id=6056215" TargetMode="External"/><Relationship Id="rId4" Type="http://schemas.openxmlformats.org/officeDocument/2006/relationships/hyperlink" Target="https://www.flaticon.com/kr/free-icon/browser_1137185?term=%ED%94%84%EB%A1%9C%EA%B7%B8%EB%9E%A8&amp;page=1&amp;position=1&amp;origin=search&amp;related_id=1137185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58F42-FBA4-0D79-DA78-78E4A137A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70204"/>
            <a:ext cx="9144000" cy="917592"/>
          </a:xfrm>
        </p:spPr>
        <p:txBody>
          <a:bodyPr>
            <a:noAutofit/>
          </a:bodyPr>
          <a:lstStyle/>
          <a:p>
            <a:r>
              <a:rPr lang="en-US" altLang="ko-KR" sz="8000" dirty="0" err="1"/>
              <a:t>NetCat</a:t>
            </a:r>
            <a:endParaRPr lang="ko-KR" altLang="en-US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8FDB6-67B9-6418-206C-B43DB03DC5CA}"/>
              </a:ext>
            </a:extLst>
          </p:cNvPr>
          <p:cNvSpPr txBox="1"/>
          <p:nvPr/>
        </p:nvSpPr>
        <p:spPr>
          <a:xfrm>
            <a:off x="3394779" y="3887796"/>
            <a:ext cx="5402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만능</a:t>
            </a:r>
            <a:r>
              <a:rPr lang="en-US" altLang="ko-KR" dirty="0"/>
              <a:t> </a:t>
            </a:r>
            <a:r>
              <a:rPr lang="ko-KR" altLang="en-US" dirty="0"/>
              <a:t>네트워크 도구</a:t>
            </a:r>
            <a:r>
              <a:rPr lang="en-US" altLang="ko-KR" dirty="0"/>
              <a:t>(</a:t>
            </a:r>
            <a:r>
              <a:rPr lang="ko-KR" altLang="en-US" dirty="0"/>
              <a:t>부제 </a:t>
            </a:r>
            <a:r>
              <a:rPr lang="en-US" altLang="ko-KR" dirty="0"/>
              <a:t>: </a:t>
            </a:r>
            <a:r>
              <a:rPr lang="ko-KR" altLang="en-US" dirty="0"/>
              <a:t>네트워크계의 </a:t>
            </a:r>
            <a:r>
              <a:rPr lang="ko-KR" altLang="en-US" dirty="0" err="1"/>
              <a:t>맥가이버</a:t>
            </a:r>
            <a:r>
              <a:rPr lang="en-US" altLang="ko-KR" dirty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21564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23562-2AD1-39D1-2E90-D4FD9390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A906E7-D7C0-B016-8F27-6647659BE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708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ko-KR" dirty="0" err="1"/>
              <a:t>NetCat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  <a:p>
            <a:pPr marL="514350" indent="-514350">
              <a:buAutoNum type="arabicPeriod"/>
            </a:pPr>
            <a:r>
              <a:rPr lang="en-US" altLang="ko-KR" dirty="0" err="1"/>
              <a:t>NetCat</a:t>
            </a:r>
            <a:r>
              <a:rPr lang="ko-KR" altLang="en-US" dirty="0"/>
              <a:t>의 주요 옵션들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 err="1"/>
              <a:t>바인드</a:t>
            </a:r>
            <a:r>
              <a:rPr lang="ko-KR" altLang="en-US" dirty="0"/>
              <a:t> 쉘</a:t>
            </a:r>
            <a:r>
              <a:rPr lang="en-US" altLang="ko-KR" dirty="0"/>
              <a:t>, </a:t>
            </a:r>
            <a:r>
              <a:rPr lang="ko-KR" altLang="en-US" dirty="0"/>
              <a:t>리버스 쉘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 err="1"/>
              <a:t>NetCat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2400" dirty="0"/>
              <a:t>   5-1. </a:t>
            </a:r>
            <a:r>
              <a:rPr lang="ko-KR" altLang="en-US" sz="2400" dirty="0"/>
              <a:t>기본 서버</a:t>
            </a:r>
            <a:r>
              <a:rPr lang="en-US" altLang="ko-KR" sz="2400" dirty="0"/>
              <a:t>-</a:t>
            </a:r>
            <a:r>
              <a:rPr lang="ko-KR" altLang="en-US" sz="2400" dirty="0"/>
              <a:t>클라이언트 채팅 실습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5-2. </a:t>
            </a:r>
            <a:r>
              <a:rPr lang="ko-KR" altLang="en-US" sz="2400" dirty="0"/>
              <a:t>포트 스캐닝 실습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5-3. </a:t>
            </a:r>
            <a:r>
              <a:rPr lang="ko-KR" altLang="en-US" sz="2400" dirty="0"/>
              <a:t>파일</a:t>
            </a:r>
            <a:r>
              <a:rPr lang="en-US" altLang="ko-KR" sz="2400" dirty="0"/>
              <a:t>/</a:t>
            </a:r>
            <a:r>
              <a:rPr lang="ko-KR" altLang="en-US" sz="2400" dirty="0"/>
              <a:t>데이터 전송 실습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5-4. Command Injection</a:t>
            </a:r>
            <a:r>
              <a:rPr lang="ko-KR" altLang="en-US" sz="2400" dirty="0"/>
              <a:t>과 조합해서 리버스 쉘 실습</a:t>
            </a:r>
            <a:endParaRPr lang="en-US" altLang="ko-KR" sz="24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9B01B18-01AC-1B67-345F-00AEE0F15164}"/>
              </a:ext>
            </a:extLst>
          </p:cNvPr>
          <p:cNvCxnSpPr/>
          <p:nvPr/>
        </p:nvCxnSpPr>
        <p:spPr>
          <a:xfrm>
            <a:off x="952107" y="1461155"/>
            <a:ext cx="1003954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73357-B8F4-A3C9-DF1D-4ED6D9959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NetCat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2423CB-86A9-2474-E21E-45DCF1ADA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65" y="1731355"/>
            <a:ext cx="1060594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TCP </a:t>
            </a:r>
            <a:r>
              <a:rPr lang="ko-KR" altLang="en-US" dirty="0"/>
              <a:t>또는 </a:t>
            </a:r>
            <a:r>
              <a:rPr lang="en-US" altLang="ko-KR" dirty="0"/>
              <a:t>UDP</a:t>
            </a:r>
            <a:r>
              <a:rPr lang="ko-KR" altLang="en-US" dirty="0"/>
              <a:t>를 사용해 다양한 작업을 할 수 있는 네트워크 도구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2400" dirty="0"/>
              <a:t> 기능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- </a:t>
            </a:r>
            <a:r>
              <a:rPr lang="ko-KR" altLang="en-US" sz="2400" dirty="0"/>
              <a:t>간단한 서버</a:t>
            </a:r>
            <a:r>
              <a:rPr lang="en-US" altLang="ko-KR" sz="2400" dirty="0"/>
              <a:t>/</a:t>
            </a:r>
            <a:r>
              <a:rPr lang="ko-KR" altLang="en-US" sz="2400" dirty="0"/>
              <a:t>클라이언트 구축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- </a:t>
            </a:r>
            <a:r>
              <a:rPr lang="ko-KR" altLang="en-US" sz="2400" dirty="0"/>
              <a:t>네트워크를 이용한 데이터</a:t>
            </a:r>
            <a:r>
              <a:rPr lang="en-US" altLang="ko-KR" sz="2400" dirty="0"/>
              <a:t>(</a:t>
            </a:r>
            <a:r>
              <a:rPr lang="ko-KR" altLang="en-US" sz="2400" dirty="0"/>
              <a:t>파일</a:t>
            </a:r>
            <a:r>
              <a:rPr lang="en-US" altLang="ko-KR" sz="2400" dirty="0"/>
              <a:t>)</a:t>
            </a:r>
            <a:r>
              <a:rPr lang="ko-KR" altLang="en-US" sz="2400" dirty="0"/>
              <a:t> 공유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- </a:t>
            </a:r>
            <a:r>
              <a:rPr lang="ko-KR" altLang="en-US" sz="2400" dirty="0" err="1"/>
              <a:t>포트스캐닝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- </a:t>
            </a:r>
            <a:r>
              <a:rPr lang="ko-KR" altLang="en-US" sz="2400" dirty="0"/>
              <a:t>프록시 이용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F450789-531D-5DA6-5D94-0EFF04F5035B}"/>
              </a:ext>
            </a:extLst>
          </p:cNvPr>
          <p:cNvCxnSpPr/>
          <p:nvPr/>
        </p:nvCxnSpPr>
        <p:spPr>
          <a:xfrm>
            <a:off x="914399" y="1545996"/>
            <a:ext cx="1003954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25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9421051-822F-3EBA-26CE-E107854D9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545496"/>
              </p:ext>
            </p:extLst>
          </p:nvPr>
        </p:nvGraphicFramePr>
        <p:xfrm>
          <a:off x="170859" y="1727377"/>
          <a:ext cx="11699450" cy="4144423"/>
        </p:xfrm>
        <a:graphic>
          <a:graphicData uri="http://schemas.openxmlformats.org/drawingml/2006/table">
            <a:tbl>
              <a:tblPr/>
              <a:tblGrid>
                <a:gridCol w="1571314">
                  <a:extLst>
                    <a:ext uri="{9D8B030D-6E8A-4147-A177-3AD203B41FA5}">
                      <a16:colId xmlns:a16="http://schemas.microsoft.com/office/drawing/2014/main" val="3461285530"/>
                    </a:ext>
                  </a:extLst>
                </a:gridCol>
                <a:gridCol w="10128136">
                  <a:extLst>
                    <a:ext uri="{9D8B030D-6E8A-4147-A177-3AD203B41FA5}">
                      <a16:colId xmlns:a16="http://schemas.microsoft.com/office/drawing/2014/main" val="16842376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375653"/>
                  </a:ext>
                </a:extLst>
              </a:tr>
              <a:tr h="51505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-l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 역할을 하는 옵션으로 클라이언트가 요청을 보낼 때까지 대기한다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(Listening)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15028"/>
                  </a:ext>
                </a:extLst>
              </a:tr>
              <a:tr h="375537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-p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-l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 함께 쓰이며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Listening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 특정 포트 번호를 지정한다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483924"/>
                  </a:ext>
                </a:extLst>
              </a:tr>
              <a:tr h="43021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-e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호스트와 연결될 시 실행할 프로그램 지정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 이후 주도권을 지정한 프로그램이 가지게 된다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667027"/>
                  </a:ext>
                </a:extLst>
              </a:tr>
              <a:tr h="388643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-z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간단한 포트 스캔을 실행하는 옵션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934611"/>
                  </a:ext>
                </a:extLst>
              </a:tr>
              <a:tr h="58424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-v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 과정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 결과 등 상세한 정보를 터미널에 출력하도록 지정하는 옵션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7193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-u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기본값인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TCP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대신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UDP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프로토콜을 사용하여 통신하는 옵션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636967"/>
                  </a:ext>
                </a:extLst>
              </a:tr>
              <a:tr h="478277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-x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프록시 서버를 통해서 데이터를 전송하는 옵션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netcat-openbsd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에서만 해당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200911"/>
                  </a:ext>
                </a:extLst>
              </a:tr>
              <a:tr h="478277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-h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8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Netcat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의 사용법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모든 옵션들을 확인할 수 있는 옵션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85406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CD22AF6-B202-C12F-53A6-0EF6184C7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5074" y="27698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CBFA45B-6009-9DCE-DB2B-89B2EA230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59" y="307417"/>
            <a:ext cx="10515600" cy="797662"/>
          </a:xfrm>
        </p:spPr>
        <p:txBody>
          <a:bodyPr>
            <a:normAutofit/>
          </a:bodyPr>
          <a:lstStyle/>
          <a:p>
            <a:r>
              <a:rPr lang="en-US" altLang="ko-KR" sz="4000" dirty="0" err="1"/>
              <a:t>NetCat</a:t>
            </a:r>
            <a:r>
              <a:rPr lang="ko-KR" altLang="en-US" sz="4000" dirty="0"/>
              <a:t> 주요 옵션들</a:t>
            </a:r>
          </a:p>
        </p:txBody>
      </p:sp>
    </p:spTree>
    <p:extLst>
      <p:ext uri="{BB962C8B-B14F-4D97-AF65-F5344CB8AC3E}">
        <p14:creationId xmlns:p14="http://schemas.microsoft.com/office/powerpoint/2010/main" val="334245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3B8325-78EB-D537-B327-1A5F891B1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20" y="1693158"/>
            <a:ext cx="10515600" cy="87986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 err="1"/>
              <a:t>바인드</a:t>
            </a:r>
            <a:r>
              <a:rPr lang="ko-KR" altLang="en-US" dirty="0"/>
              <a:t> 쉘이란</a:t>
            </a:r>
            <a:r>
              <a:rPr lang="en-US" altLang="ko-KR" dirty="0"/>
              <a:t>? : </a:t>
            </a:r>
            <a:r>
              <a:rPr lang="ko-KR" altLang="en-US" dirty="0"/>
              <a:t>공격자의 </a:t>
            </a:r>
            <a:r>
              <a:rPr lang="en-US" altLang="ko-KR" dirty="0"/>
              <a:t>PC</a:t>
            </a:r>
            <a:r>
              <a:rPr lang="ko-KR" altLang="en-US" dirty="0"/>
              <a:t>가 피해 서버에 원격으로 접속하여 공격자가 마음대로 조종할 수 있는 </a:t>
            </a:r>
            <a:r>
              <a:rPr lang="ko-KR" altLang="en-US" dirty="0" err="1"/>
              <a:t>백도어</a:t>
            </a:r>
            <a:r>
              <a:rPr lang="ko-KR" altLang="en-US" dirty="0"/>
              <a:t> 공격</a:t>
            </a: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5DED3A8D-F648-D58D-2455-B08C8B6DB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28" y="151270"/>
            <a:ext cx="10515600" cy="1325563"/>
          </a:xfrm>
        </p:spPr>
        <p:txBody>
          <a:bodyPr/>
          <a:lstStyle/>
          <a:p>
            <a:r>
              <a:rPr lang="ko-KR" altLang="en-US" dirty="0" err="1"/>
              <a:t>바인드</a:t>
            </a:r>
            <a:r>
              <a:rPr lang="ko-KR" altLang="en-US" dirty="0"/>
              <a:t> 쉘</a:t>
            </a:r>
            <a:r>
              <a:rPr lang="en-US" altLang="ko-KR" dirty="0"/>
              <a:t>, </a:t>
            </a:r>
            <a:r>
              <a:rPr lang="ko-KR" altLang="en-US" dirty="0"/>
              <a:t>리버스 쉘 </a:t>
            </a:r>
            <a:r>
              <a:rPr lang="en-US" altLang="ko-KR" sz="3200" dirty="0"/>
              <a:t>(</a:t>
            </a:r>
            <a:r>
              <a:rPr lang="ko-KR" altLang="en-US" sz="3200" dirty="0" err="1"/>
              <a:t>백도어</a:t>
            </a:r>
            <a:r>
              <a:rPr lang="en-US" altLang="ko-KR" sz="3200" dirty="0"/>
              <a:t>)</a:t>
            </a:r>
            <a:endParaRPr lang="ko-KR" alt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F1BE67-2AD1-46A3-90B0-891DB86225F5}"/>
              </a:ext>
            </a:extLst>
          </p:cNvPr>
          <p:cNvSpPr txBox="1"/>
          <p:nvPr/>
        </p:nvSpPr>
        <p:spPr>
          <a:xfrm>
            <a:off x="1034045" y="2764957"/>
            <a:ext cx="92063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* </a:t>
            </a:r>
            <a:r>
              <a:rPr lang="ko-KR" altLang="en-US" sz="2000" b="1" dirty="0"/>
              <a:t>백도어란</a:t>
            </a:r>
            <a:r>
              <a:rPr lang="en-US" altLang="ko-KR" sz="2000" b="1" dirty="0"/>
              <a:t>? : </a:t>
            </a:r>
            <a:r>
              <a:rPr lang="ko-KR" altLang="en-US" sz="2000" b="1" dirty="0"/>
              <a:t>해커가 서버에 자유롭게 드나들 수 있는 통로라고 생각하면 된다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7496EC8-4E62-8CDE-8BF7-40E9EB038F42}"/>
              </a:ext>
            </a:extLst>
          </p:cNvPr>
          <p:cNvCxnSpPr>
            <a:cxnSpLocks/>
          </p:cNvCxnSpPr>
          <p:nvPr/>
        </p:nvCxnSpPr>
        <p:spPr>
          <a:xfrm>
            <a:off x="499620" y="1404595"/>
            <a:ext cx="1085418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E87CF4B-E2BF-3D45-F52B-0DD66FFE4F66}"/>
              </a:ext>
            </a:extLst>
          </p:cNvPr>
          <p:cNvSpPr/>
          <p:nvPr/>
        </p:nvSpPr>
        <p:spPr>
          <a:xfrm flipH="1">
            <a:off x="3162477" y="4597450"/>
            <a:ext cx="5137606" cy="34879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A5825-0E61-E3AC-BCB3-3BD21BA5E9D8}"/>
              </a:ext>
            </a:extLst>
          </p:cNvPr>
          <p:cNvSpPr txBox="1"/>
          <p:nvPr/>
        </p:nvSpPr>
        <p:spPr>
          <a:xfrm>
            <a:off x="5570727" y="4228118"/>
            <a:ext cx="646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접속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09C5F4-46F7-94D5-8C4F-4CA204BE8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474" y="4024739"/>
            <a:ext cx="1494214" cy="149421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345DBBD-2FD7-A112-207A-39DE6191B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767" y="3826991"/>
            <a:ext cx="1889710" cy="18897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1FCFAD-911A-06E6-97FD-D0E925E05536}"/>
              </a:ext>
            </a:extLst>
          </p:cNvPr>
          <p:cNvSpPr txBox="1"/>
          <p:nvPr/>
        </p:nvSpPr>
        <p:spPr>
          <a:xfrm>
            <a:off x="8794359" y="5716701"/>
            <a:ext cx="920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해커</a:t>
            </a:r>
            <a:endParaRPr lang="en-US" altLang="ko-KR" dirty="0"/>
          </a:p>
          <a:p>
            <a:pPr algn="ctr"/>
            <a:r>
              <a:rPr lang="en-US" altLang="ko-KR" dirty="0"/>
              <a:t>(Client)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8AA57-4651-3869-0F49-7A1319A80E4D}"/>
              </a:ext>
            </a:extLst>
          </p:cNvPr>
          <p:cNvSpPr txBox="1"/>
          <p:nvPr/>
        </p:nvSpPr>
        <p:spPr>
          <a:xfrm>
            <a:off x="1663624" y="571670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피해서버</a:t>
            </a:r>
            <a:endParaRPr lang="en-US" altLang="ko-KR" dirty="0"/>
          </a:p>
          <a:p>
            <a:pPr algn="ctr"/>
            <a:r>
              <a:rPr lang="en-US" altLang="ko-KR" dirty="0"/>
              <a:t>(Server)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3390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19755F-1912-05C4-D8FE-C421EBE04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28" y="1635549"/>
            <a:ext cx="10515600" cy="93642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리버스 쉘이란</a:t>
            </a:r>
            <a:r>
              <a:rPr lang="en-US" altLang="ko-KR" dirty="0"/>
              <a:t>? : </a:t>
            </a:r>
            <a:r>
              <a:rPr lang="ko-KR" altLang="en-US" dirty="0"/>
              <a:t>피해자 서버를 공격자의 </a:t>
            </a:r>
            <a:r>
              <a:rPr lang="en-US" altLang="ko-KR" dirty="0"/>
              <a:t>PC</a:t>
            </a:r>
            <a:r>
              <a:rPr lang="ko-KR" altLang="en-US" dirty="0"/>
              <a:t>에 접속하게 하여 공격자가 마음대로 조종할 수 있도록 공격하는 </a:t>
            </a:r>
            <a:r>
              <a:rPr lang="ko-KR" altLang="en-US" dirty="0" err="1"/>
              <a:t>백도어</a:t>
            </a:r>
            <a:r>
              <a:rPr lang="ko-KR" altLang="en-US" dirty="0"/>
              <a:t> 공격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73626-8DFD-CB7B-7338-705CFEA4CCBA}"/>
              </a:ext>
            </a:extLst>
          </p:cNvPr>
          <p:cNvSpPr txBox="1"/>
          <p:nvPr/>
        </p:nvSpPr>
        <p:spPr>
          <a:xfrm>
            <a:off x="656928" y="2924472"/>
            <a:ext cx="10482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방화벽의 </a:t>
            </a:r>
            <a:r>
              <a:rPr lang="ko-KR" altLang="en-US" sz="2000" b="1" dirty="0" err="1"/>
              <a:t>인바운드</a:t>
            </a:r>
            <a:r>
              <a:rPr lang="ko-KR" altLang="en-US" sz="2000" b="1" dirty="0"/>
              <a:t> 규칙보다는 비교적 </a:t>
            </a:r>
            <a:r>
              <a:rPr lang="ko-KR" altLang="en-US" sz="2000" b="1" dirty="0" err="1"/>
              <a:t>널널한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아웃바운드</a:t>
            </a:r>
            <a:r>
              <a:rPr lang="ko-KR" altLang="en-US" sz="2000" b="1" dirty="0"/>
              <a:t> 규칙의 특징을 이용한 공격기법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CEC777EE-8F6D-574E-5C33-DC904D8E4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28" y="151270"/>
            <a:ext cx="10515600" cy="1325563"/>
          </a:xfrm>
        </p:spPr>
        <p:txBody>
          <a:bodyPr/>
          <a:lstStyle/>
          <a:p>
            <a:r>
              <a:rPr lang="ko-KR" altLang="en-US" dirty="0" err="1"/>
              <a:t>바인드</a:t>
            </a:r>
            <a:r>
              <a:rPr lang="ko-KR" altLang="en-US" dirty="0"/>
              <a:t> 쉘</a:t>
            </a:r>
            <a:r>
              <a:rPr lang="en-US" altLang="ko-KR" dirty="0"/>
              <a:t>, </a:t>
            </a:r>
            <a:r>
              <a:rPr lang="ko-KR" altLang="en-US" dirty="0"/>
              <a:t>리버스 쉘 </a:t>
            </a:r>
            <a:r>
              <a:rPr lang="en-US" altLang="ko-KR" sz="3200" dirty="0"/>
              <a:t>(</a:t>
            </a:r>
            <a:r>
              <a:rPr lang="ko-KR" altLang="en-US" sz="3200" dirty="0" err="1"/>
              <a:t>백도어</a:t>
            </a:r>
            <a:r>
              <a:rPr lang="en-US" altLang="ko-KR" sz="3200" dirty="0"/>
              <a:t>)</a:t>
            </a:r>
            <a:endParaRPr lang="ko-KR" altLang="en-US" sz="24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BE983E6-974F-847F-CDD3-1554F9B667E2}"/>
              </a:ext>
            </a:extLst>
          </p:cNvPr>
          <p:cNvCxnSpPr>
            <a:cxnSpLocks/>
          </p:cNvCxnSpPr>
          <p:nvPr/>
        </p:nvCxnSpPr>
        <p:spPr>
          <a:xfrm>
            <a:off x="499620" y="1404595"/>
            <a:ext cx="1085418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313C16C-0913-2B2E-2936-4B6588390C1F}"/>
              </a:ext>
            </a:extLst>
          </p:cNvPr>
          <p:cNvSpPr/>
          <p:nvPr/>
        </p:nvSpPr>
        <p:spPr>
          <a:xfrm>
            <a:off x="3177634" y="4446519"/>
            <a:ext cx="5205433" cy="34879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09629-DE60-A21B-7326-D060D7B73CED}"/>
              </a:ext>
            </a:extLst>
          </p:cNvPr>
          <p:cNvSpPr txBox="1"/>
          <p:nvPr/>
        </p:nvSpPr>
        <p:spPr>
          <a:xfrm>
            <a:off x="5574942" y="407718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접속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9D355B2-F371-FF19-33CB-CE503724F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068" y="4034064"/>
            <a:ext cx="1494214" cy="149421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C990EA5-92F2-E115-58F3-1EA16112E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173" y="3850456"/>
            <a:ext cx="1889710" cy="188971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F717AF9-B1B0-9133-2D5D-DEEFBC8AE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635" y="4714169"/>
            <a:ext cx="1153056" cy="11530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FFDDAB7-0B86-CED0-9145-28EDA0513EAE}"/>
              </a:ext>
            </a:extLst>
          </p:cNvPr>
          <p:cNvSpPr txBox="1"/>
          <p:nvPr/>
        </p:nvSpPr>
        <p:spPr>
          <a:xfrm>
            <a:off x="3315581" y="59502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방화벽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0F9C4E-4B18-E65F-38BA-152561FC5CF8}"/>
              </a:ext>
            </a:extLst>
          </p:cNvPr>
          <p:cNvSpPr txBox="1"/>
          <p:nvPr/>
        </p:nvSpPr>
        <p:spPr>
          <a:xfrm>
            <a:off x="8639240" y="5867225"/>
            <a:ext cx="981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해커</a:t>
            </a:r>
            <a:endParaRPr lang="en-US" altLang="ko-KR" dirty="0"/>
          </a:p>
          <a:p>
            <a:pPr algn="ctr"/>
            <a:r>
              <a:rPr lang="en-US" altLang="ko-KR" dirty="0"/>
              <a:t>(Server)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C00A4-A0F0-3FEE-3307-F3993F1884D6}"/>
              </a:ext>
            </a:extLst>
          </p:cNvPr>
          <p:cNvSpPr txBox="1"/>
          <p:nvPr/>
        </p:nvSpPr>
        <p:spPr>
          <a:xfrm>
            <a:off x="1788030" y="591339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피해서버</a:t>
            </a:r>
            <a:endParaRPr lang="en-US" altLang="ko-KR" dirty="0"/>
          </a:p>
          <a:p>
            <a:pPr algn="ctr"/>
            <a:r>
              <a:rPr lang="en-US" altLang="ko-KR" dirty="0"/>
              <a:t>(Client)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8202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315CA2-3C61-DB8F-A529-3C6BECE01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8765"/>
            <a:ext cx="10515600" cy="100819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UDP </a:t>
            </a:r>
            <a:r>
              <a:rPr lang="ko-KR" altLang="en-US" dirty="0"/>
              <a:t>방식으로 연결하려면 </a:t>
            </a:r>
            <a:r>
              <a:rPr lang="en-US" altLang="ko-KR" dirty="0"/>
              <a:t>–u</a:t>
            </a:r>
            <a:r>
              <a:rPr lang="ko-KR" altLang="en-US" dirty="0"/>
              <a:t>를 추가해준다 </a:t>
            </a:r>
            <a:r>
              <a:rPr lang="en-US" altLang="ko-KR" dirty="0"/>
              <a:t>(</a:t>
            </a:r>
            <a:r>
              <a:rPr lang="ko-KR" altLang="en-US" dirty="0"/>
              <a:t>기본 값 </a:t>
            </a:r>
            <a:r>
              <a:rPr lang="en-US" altLang="ko-KR" dirty="0"/>
              <a:t>: </a:t>
            </a:r>
            <a:r>
              <a:rPr lang="en-US" altLang="ko-KR" dirty="0" err="1"/>
              <a:t>tcp</a:t>
            </a:r>
            <a:r>
              <a:rPr lang="ko-KR" altLang="en-US" dirty="0"/>
              <a:t>연결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서버를 먼저 켠 다음에 클라이언트 연결을 시도한다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C73CF704-94E2-D4B0-518A-C57ABB3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98"/>
            <a:ext cx="10515600" cy="1325563"/>
          </a:xfrm>
        </p:spPr>
        <p:txBody>
          <a:bodyPr/>
          <a:lstStyle/>
          <a:p>
            <a:r>
              <a:rPr lang="en-US" altLang="ko-KR" dirty="0" err="1"/>
              <a:t>NetCat</a:t>
            </a:r>
            <a:r>
              <a:rPr lang="en-US" altLang="ko-KR" dirty="0"/>
              <a:t> </a:t>
            </a:r>
            <a:r>
              <a:rPr lang="ko-KR" altLang="en-US" dirty="0"/>
              <a:t>실습 </a:t>
            </a:r>
            <a:r>
              <a:rPr lang="en-US" altLang="ko-KR" sz="2400" dirty="0"/>
              <a:t>(</a:t>
            </a:r>
            <a:r>
              <a:rPr lang="ko-KR" altLang="en-US" sz="2400" dirty="0"/>
              <a:t>기본 서버</a:t>
            </a:r>
            <a:r>
              <a:rPr lang="en-US" altLang="ko-KR" sz="2400" dirty="0"/>
              <a:t>-</a:t>
            </a:r>
            <a:r>
              <a:rPr lang="ko-KR" altLang="en-US" sz="2400" dirty="0"/>
              <a:t>클라이언트 채팅 실습 명령어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BA7E5F1-6DE7-C6C4-1442-3F8095366E47}"/>
              </a:ext>
            </a:extLst>
          </p:cNvPr>
          <p:cNvGrpSpPr/>
          <p:nvPr/>
        </p:nvGrpSpPr>
        <p:grpSpPr>
          <a:xfrm>
            <a:off x="770823" y="1953927"/>
            <a:ext cx="3926305" cy="2868329"/>
            <a:chOff x="838200" y="1953928"/>
            <a:chExt cx="3926305" cy="2868329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BAC88C5-6372-08AD-FCC9-A4B42582F77B}"/>
                </a:ext>
              </a:extLst>
            </p:cNvPr>
            <p:cNvSpPr/>
            <p:nvPr/>
          </p:nvSpPr>
          <p:spPr>
            <a:xfrm>
              <a:off x="838200" y="1953928"/>
              <a:ext cx="3926305" cy="2868329"/>
            </a:xfrm>
            <a:prstGeom prst="roundRect">
              <a:avLst/>
            </a:pr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2955E2C-397D-9DB2-B0F4-CE77FDFD4AFC}"/>
                </a:ext>
              </a:extLst>
            </p:cNvPr>
            <p:cNvSpPr txBox="1"/>
            <p:nvPr/>
          </p:nvSpPr>
          <p:spPr>
            <a:xfrm>
              <a:off x="1464083" y="3198167"/>
              <a:ext cx="267453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2400" b="1" dirty="0" err="1"/>
                <a:t>nc</a:t>
              </a:r>
              <a:r>
                <a:rPr lang="en-US" altLang="ko-KR" sz="2400" b="1" dirty="0"/>
                <a:t> –</a:t>
              </a:r>
              <a:r>
                <a:rPr lang="en-US" altLang="ko-KR" sz="2400" b="1" dirty="0" err="1"/>
                <a:t>lvp</a:t>
              </a:r>
              <a:r>
                <a:rPr lang="en-US" altLang="ko-KR" sz="2400" b="1" dirty="0"/>
                <a:t> [</a:t>
              </a:r>
              <a:r>
                <a:rPr lang="ko-KR" altLang="en-US" sz="2400" b="1" dirty="0"/>
                <a:t>포트번호</a:t>
              </a:r>
              <a:r>
                <a:rPr lang="en-US" altLang="ko-KR" sz="2400" b="1" dirty="0"/>
                <a:t>]</a:t>
              </a:r>
              <a:endParaRPr lang="ko-KR" altLang="en-US" sz="2400" b="1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E045887-DDCD-4044-611D-DF794B140735}"/>
              </a:ext>
            </a:extLst>
          </p:cNvPr>
          <p:cNvGrpSpPr/>
          <p:nvPr/>
        </p:nvGrpSpPr>
        <p:grpSpPr>
          <a:xfrm>
            <a:off x="6497854" y="1942514"/>
            <a:ext cx="3926305" cy="2868329"/>
            <a:chOff x="6286098" y="1953926"/>
            <a:chExt cx="3926305" cy="2868329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79BB4D6E-4F6A-F207-8B13-82B9338FD7D0}"/>
                </a:ext>
              </a:extLst>
            </p:cNvPr>
            <p:cNvSpPr/>
            <p:nvPr/>
          </p:nvSpPr>
          <p:spPr>
            <a:xfrm>
              <a:off x="6286098" y="1953926"/>
              <a:ext cx="3926305" cy="2868329"/>
            </a:xfrm>
            <a:prstGeom prst="roundRect">
              <a:avLst/>
            </a:pr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293D996-0B79-5D2B-516C-82E18933A984}"/>
                </a:ext>
              </a:extLst>
            </p:cNvPr>
            <p:cNvSpPr txBox="1"/>
            <p:nvPr/>
          </p:nvSpPr>
          <p:spPr>
            <a:xfrm>
              <a:off x="6540766" y="3157257"/>
              <a:ext cx="341696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2400" b="1" dirty="0" err="1"/>
                <a:t>nc</a:t>
              </a:r>
              <a:r>
                <a:rPr lang="en-US" altLang="ko-KR" sz="2400" b="1" dirty="0"/>
                <a:t> [</a:t>
              </a:r>
              <a:r>
                <a:rPr lang="ko-KR" altLang="en-US" sz="2400" b="1" dirty="0"/>
                <a:t>서버 </a:t>
              </a:r>
              <a:r>
                <a:rPr lang="en-US" altLang="ko-KR" sz="2400" b="1" dirty="0"/>
                <a:t>IP] [</a:t>
              </a:r>
              <a:r>
                <a:rPr lang="ko-KR" altLang="en-US" sz="2400" b="1" dirty="0"/>
                <a:t>포트번호</a:t>
              </a:r>
              <a:r>
                <a:rPr lang="en-US" altLang="ko-KR" sz="2400" b="1" dirty="0"/>
                <a:t>]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1101281-2FCE-3E6A-A1BE-A7C7A60EC2E7}"/>
              </a:ext>
            </a:extLst>
          </p:cNvPr>
          <p:cNvSpPr txBox="1"/>
          <p:nvPr/>
        </p:nvSpPr>
        <p:spPr>
          <a:xfrm>
            <a:off x="770823" y="1553817"/>
            <a:ext cx="1556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</a:rPr>
              <a:t>서버 명령어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E8289B-DE25-98B0-D36C-E1FE98C3A94C}"/>
              </a:ext>
            </a:extLst>
          </p:cNvPr>
          <p:cNvSpPr txBox="1"/>
          <p:nvPr/>
        </p:nvSpPr>
        <p:spPr>
          <a:xfrm>
            <a:off x="6497854" y="1542402"/>
            <a:ext cx="2326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</a:rPr>
              <a:t>클라이언트 명령어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25621F1-2A43-41C5-1EA4-88960750F46E}"/>
              </a:ext>
            </a:extLst>
          </p:cNvPr>
          <p:cNvCxnSpPr>
            <a:cxnSpLocks/>
          </p:cNvCxnSpPr>
          <p:nvPr/>
        </p:nvCxnSpPr>
        <p:spPr>
          <a:xfrm>
            <a:off x="838200" y="1197961"/>
            <a:ext cx="1038912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7206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0DEC1-5C88-20D0-35AF-57261468C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61"/>
            <a:ext cx="10515600" cy="1325563"/>
          </a:xfrm>
        </p:spPr>
        <p:txBody>
          <a:bodyPr/>
          <a:lstStyle/>
          <a:p>
            <a:r>
              <a:rPr lang="en-US" altLang="ko-KR" dirty="0" err="1"/>
              <a:t>NetCat</a:t>
            </a:r>
            <a:r>
              <a:rPr lang="en-US" altLang="ko-KR" dirty="0"/>
              <a:t> </a:t>
            </a:r>
            <a:r>
              <a:rPr lang="ko-KR" altLang="en-US" dirty="0"/>
              <a:t>실습 </a:t>
            </a:r>
            <a:r>
              <a:rPr lang="en-US" altLang="ko-KR" sz="2400" dirty="0"/>
              <a:t>(</a:t>
            </a:r>
            <a:r>
              <a:rPr lang="ko-KR" altLang="en-US" sz="2400" dirty="0"/>
              <a:t>기본 서버</a:t>
            </a:r>
            <a:r>
              <a:rPr lang="en-US" altLang="ko-KR" sz="2400" dirty="0"/>
              <a:t>-</a:t>
            </a:r>
            <a:r>
              <a:rPr lang="ko-KR" altLang="en-US" sz="2400" dirty="0"/>
              <a:t>클라이언트 채팅 실습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FBB5D5-0569-818D-B59A-DECFF08F42E8}"/>
              </a:ext>
            </a:extLst>
          </p:cNvPr>
          <p:cNvSpPr txBox="1"/>
          <p:nvPr/>
        </p:nvSpPr>
        <p:spPr>
          <a:xfrm>
            <a:off x="838200" y="1690688"/>
            <a:ext cx="9709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NetCat</a:t>
            </a:r>
            <a:r>
              <a:rPr lang="ko-KR" altLang="en-US" dirty="0"/>
              <a:t>을 활용하여 각자 서버</a:t>
            </a:r>
            <a:r>
              <a:rPr lang="en-US" altLang="ko-KR" dirty="0"/>
              <a:t>, </a:t>
            </a:r>
            <a:r>
              <a:rPr lang="ko-KR" altLang="en-US" dirty="0"/>
              <a:t>클라이언트 역할을 할 수 있으며 소켓통신 방식으로 연결하여</a:t>
            </a:r>
            <a:endParaRPr lang="en-US" altLang="ko-KR" dirty="0"/>
          </a:p>
          <a:p>
            <a:r>
              <a:rPr lang="ko-KR" altLang="en-US" dirty="0"/>
              <a:t>데이터를 주고 받을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E3EA89-DB4C-32BE-D503-6150A641E622}"/>
              </a:ext>
            </a:extLst>
          </p:cNvPr>
          <p:cNvSpPr/>
          <p:nvPr/>
        </p:nvSpPr>
        <p:spPr>
          <a:xfrm>
            <a:off x="1168138" y="4458683"/>
            <a:ext cx="1980414" cy="1338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서버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6B1C86-7A6A-7771-E0E4-F5C7CC8E62E6}"/>
              </a:ext>
            </a:extLst>
          </p:cNvPr>
          <p:cNvSpPr/>
          <p:nvPr/>
        </p:nvSpPr>
        <p:spPr>
          <a:xfrm>
            <a:off x="8550111" y="4458683"/>
            <a:ext cx="2092751" cy="1338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클라이언트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A19D37-25D5-F326-5439-7A1ED393A41A}"/>
              </a:ext>
            </a:extLst>
          </p:cNvPr>
          <p:cNvSpPr/>
          <p:nvPr/>
        </p:nvSpPr>
        <p:spPr>
          <a:xfrm>
            <a:off x="3148551" y="4458683"/>
            <a:ext cx="989815" cy="13386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소켓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A6626C-4610-9C3E-EFF4-D8962B1CD2FA}"/>
              </a:ext>
            </a:extLst>
          </p:cNvPr>
          <p:cNvSpPr/>
          <p:nvPr/>
        </p:nvSpPr>
        <p:spPr>
          <a:xfrm>
            <a:off x="7560296" y="4458683"/>
            <a:ext cx="989815" cy="13386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소켓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51EB643-1E19-2511-50C4-6280591FD06C}"/>
              </a:ext>
            </a:extLst>
          </p:cNvPr>
          <p:cNvCxnSpPr/>
          <p:nvPr/>
        </p:nvCxnSpPr>
        <p:spPr>
          <a:xfrm>
            <a:off x="4279769" y="4694352"/>
            <a:ext cx="3157979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36B469B-15E4-7EA5-FA8E-0521351824AE}"/>
              </a:ext>
            </a:extLst>
          </p:cNvPr>
          <p:cNvCxnSpPr>
            <a:cxnSpLocks/>
          </p:cNvCxnSpPr>
          <p:nvPr/>
        </p:nvCxnSpPr>
        <p:spPr>
          <a:xfrm flipH="1">
            <a:off x="4279769" y="5610323"/>
            <a:ext cx="3157979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88AE887-58B8-967A-6344-A251EED82003}"/>
              </a:ext>
            </a:extLst>
          </p:cNvPr>
          <p:cNvSpPr txBox="1"/>
          <p:nvPr/>
        </p:nvSpPr>
        <p:spPr>
          <a:xfrm>
            <a:off x="5467545" y="494332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데이터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C21DD9-0D12-896F-4E3B-05F66735E0B1}"/>
              </a:ext>
            </a:extLst>
          </p:cNvPr>
          <p:cNvSpPr txBox="1"/>
          <p:nvPr/>
        </p:nvSpPr>
        <p:spPr>
          <a:xfrm>
            <a:off x="2042873" y="2592358"/>
            <a:ext cx="7979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소켓이란</a:t>
            </a:r>
            <a:r>
              <a:rPr lang="en-US" altLang="ko-KR" b="1" dirty="0"/>
              <a:t>? : </a:t>
            </a:r>
            <a:r>
              <a:rPr lang="ko-KR" altLang="en-US" b="1" dirty="0"/>
              <a:t>네트워크를 통해 전달된 데이터가 들어가는 우편함 같은 공간</a:t>
            </a:r>
            <a:endParaRPr lang="en-US" altLang="ko-KR" b="1" dirty="0"/>
          </a:p>
          <a:p>
            <a:r>
              <a:rPr lang="en-US" altLang="ko-KR" b="1" dirty="0"/>
              <a:t>               (</a:t>
            </a:r>
            <a:r>
              <a:rPr lang="ko-KR" altLang="en-US" b="1" dirty="0"/>
              <a:t>이 공간을 활용하여 데이터 송수신을 한다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263A37-FC49-3335-D7A5-3D95E1C3068A}"/>
              </a:ext>
            </a:extLst>
          </p:cNvPr>
          <p:cNvSpPr txBox="1"/>
          <p:nvPr/>
        </p:nvSpPr>
        <p:spPr>
          <a:xfrm>
            <a:off x="4758987" y="4140356"/>
            <a:ext cx="2306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Write()</a:t>
            </a:r>
            <a:r>
              <a:rPr lang="ko-KR" altLang="en-US" dirty="0"/>
              <a:t>혹은 </a:t>
            </a:r>
            <a:r>
              <a:rPr lang="en-US" altLang="ko-KR" dirty="0" err="1"/>
              <a:t>Sendto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4219C50-D687-32C1-E76D-C17D745C4459}"/>
              </a:ext>
            </a:extLst>
          </p:cNvPr>
          <p:cNvCxnSpPr>
            <a:cxnSpLocks/>
            <a:stCxn id="8" idx="0"/>
            <a:endCxn id="6" idx="0"/>
          </p:cNvCxnSpPr>
          <p:nvPr/>
        </p:nvCxnSpPr>
        <p:spPr>
          <a:xfrm rot="5400000" flipH="1" flipV="1">
            <a:off x="8825845" y="3688042"/>
            <a:ext cx="12700" cy="1541283"/>
          </a:xfrm>
          <a:prstGeom prst="bentConnector3">
            <a:avLst>
              <a:gd name="adj1" fmla="val 5511339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AB85376-8E60-81AB-BBF0-6B3AE0D17DC3}"/>
              </a:ext>
            </a:extLst>
          </p:cNvPr>
          <p:cNvSpPr txBox="1"/>
          <p:nvPr/>
        </p:nvSpPr>
        <p:spPr>
          <a:xfrm>
            <a:off x="7561462" y="3272796"/>
            <a:ext cx="2541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Read()</a:t>
            </a:r>
            <a:r>
              <a:rPr lang="ko-KR" altLang="en-US" dirty="0"/>
              <a:t>혹은 </a:t>
            </a:r>
            <a:r>
              <a:rPr lang="en-US" altLang="ko-KR" dirty="0" err="1"/>
              <a:t>RecvFrom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3D44CC-DE65-CB8B-7304-6F6B308CBF04}"/>
              </a:ext>
            </a:extLst>
          </p:cNvPr>
          <p:cNvCxnSpPr>
            <a:cxnSpLocks/>
          </p:cNvCxnSpPr>
          <p:nvPr/>
        </p:nvCxnSpPr>
        <p:spPr>
          <a:xfrm>
            <a:off x="838200" y="1331311"/>
            <a:ext cx="1038912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43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39303C4-3230-74EB-E134-A92AF447CAC5}"/>
              </a:ext>
            </a:extLst>
          </p:cNvPr>
          <p:cNvSpPr txBox="1"/>
          <p:nvPr/>
        </p:nvSpPr>
        <p:spPr>
          <a:xfrm>
            <a:off x="4199711" y="179110"/>
            <a:ext cx="3792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소켓 통신 연결 과정 </a:t>
            </a:r>
            <a:r>
              <a:rPr lang="en-US" altLang="ko-KR" sz="2400" dirty="0"/>
              <a:t>(TCP)</a:t>
            </a:r>
            <a:endParaRPr lang="ko-KR" altLang="en-US" sz="2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C89B3D-5ADF-CC46-C3B3-8606901D22BF}"/>
              </a:ext>
            </a:extLst>
          </p:cNvPr>
          <p:cNvSpPr/>
          <p:nvPr/>
        </p:nvSpPr>
        <p:spPr>
          <a:xfrm>
            <a:off x="1457941" y="1442181"/>
            <a:ext cx="2083324" cy="5405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소켓 생성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(Socket)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52A50D-AEB5-5E4A-22C9-6A6B5543CFB8}"/>
              </a:ext>
            </a:extLst>
          </p:cNvPr>
          <p:cNvSpPr/>
          <p:nvPr/>
        </p:nvSpPr>
        <p:spPr>
          <a:xfrm>
            <a:off x="1457940" y="2250467"/>
            <a:ext cx="2083324" cy="5405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IP,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Port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 소켓에 할당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(bind)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86C8E2-ECA0-48C2-4E1D-C9CCFC56D8C3}"/>
              </a:ext>
            </a:extLst>
          </p:cNvPr>
          <p:cNvSpPr/>
          <p:nvPr/>
        </p:nvSpPr>
        <p:spPr>
          <a:xfrm>
            <a:off x="8256238" y="5008709"/>
            <a:ext cx="2083324" cy="5498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데이터 송수신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(Write, Read)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A63529-969E-867D-9141-6C0FE6B378FF}"/>
              </a:ext>
            </a:extLst>
          </p:cNvPr>
          <p:cNvSpPr/>
          <p:nvPr/>
        </p:nvSpPr>
        <p:spPr>
          <a:xfrm>
            <a:off x="1457941" y="4232605"/>
            <a:ext cx="2083324" cy="5498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요청 승낙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(Accept)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DEBC9EB-4779-5DB6-49B3-54CE35B1159A}"/>
              </a:ext>
            </a:extLst>
          </p:cNvPr>
          <p:cNvSpPr/>
          <p:nvPr/>
        </p:nvSpPr>
        <p:spPr>
          <a:xfrm>
            <a:off x="1457941" y="3198737"/>
            <a:ext cx="2083324" cy="7322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클라이언트 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요청 대기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(Listen)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16D8EA-9970-BE9F-FA00-4D2CC07575BA}"/>
              </a:ext>
            </a:extLst>
          </p:cNvPr>
          <p:cNvSpPr/>
          <p:nvPr/>
        </p:nvSpPr>
        <p:spPr>
          <a:xfrm>
            <a:off x="8256237" y="4240550"/>
            <a:ext cx="2083324" cy="5340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연결 요청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(Connect)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10EDE4-198D-56D2-8D2D-D33723BECCC9}"/>
              </a:ext>
            </a:extLst>
          </p:cNvPr>
          <p:cNvSpPr/>
          <p:nvPr/>
        </p:nvSpPr>
        <p:spPr>
          <a:xfrm>
            <a:off x="8256238" y="1442181"/>
            <a:ext cx="2083324" cy="5405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소켓 생성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(Socket)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C8845B3-678B-CC4D-747D-61C1C910753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2499602" y="1982711"/>
            <a:ext cx="1" cy="26775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60D16E2-D4B0-AAE9-A535-7C912040E468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2499602" y="2790997"/>
            <a:ext cx="1" cy="40774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64AE466-46AB-4F62-9A9B-09F5A8932752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2499603" y="3930950"/>
            <a:ext cx="0" cy="3016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6D7479E-05B0-F653-63C9-A2BC77E0B116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 flipH="1">
            <a:off x="9297899" y="1982711"/>
            <a:ext cx="1" cy="225783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F7B8718-C85C-BC47-FB77-88140B7111D7}"/>
              </a:ext>
            </a:extLst>
          </p:cNvPr>
          <p:cNvCxnSpPr>
            <a:cxnSpLocks/>
            <a:stCxn id="14" idx="1"/>
            <a:endCxn id="12" idx="3"/>
          </p:cNvCxnSpPr>
          <p:nvPr/>
        </p:nvCxnSpPr>
        <p:spPr>
          <a:xfrm flipH="1">
            <a:off x="3541265" y="4507554"/>
            <a:ext cx="4714972" cy="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750CA80-F92D-3B86-3732-A45A42D8F76E}"/>
              </a:ext>
            </a:extLst>
          </p:cNvPr>
          <p:cNvSpPr/>
          <p:nvPr/>
        </p:nvSpPr>
        <p:spPr>
          <a:xfrm>
            <a:off x="1457941" y="5008708"/>
            <a:ext cx="2083324" cy="5498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데이터 송수신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(Write, Read)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F63173-6922-FB69-F884-E407000416D9}"/>
              </a:ext>
            </a:extLst>
          </p:cNvPr>
          <p:cNvSpPr txBox="1"/>
          <p:nvPr/>
        </p:nvSpPr>
        <p:spPr>
          <a:xfrm>
            <a:off x="5293224" y="459514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연결 완료</a:t>
            </a: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999E447-D185-77F9-AD80-DD9CBB36D13D}"/>
              </a:ext>
            </a:extLst>
          </p:cNvPr>
          <p:cNvCxnSpPr>
            <a:cxnSpLocks/>
            <a:stCxn id="12" idx="2"/>
            <a:endCxn id="45" idx="0"/>
          </p:cNvCxnSpPr>
          <p:nvPr/>
        </p:nvCxnSpPr>
        <p:spPr>
          <a:xfrm>
            <a:off x="2499603" y="4782504"/>
            <a:ext cx="0" cy="22620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60D07E4-B837-F769-7882-86731B6EF465}"/>
              </a:ext>
            </a:extLst>
          </p:cNvPr>
          <p:cNvCxnSpPr>
            <a:cxnSpLocks/>
            <a:stCxn id="14" idx="2"/>
            <a:endCxn id="11" idx="0"/>
          </p:cNvCxnSpPr>
          <p:nvPr/>
        </p:nvCxnSpPr>
        <p:spPr>
          <a:xfrm>
            <a:off x="9297899" y="4774557"/>
            <a:ext cx="1" cy="23415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77C0AF4-8F7C-06E0-ED24-2229E098AC8A}"/>
              </a:ext>
            </a:extLst>
          </p:cNvPr>
          <p:cNvCxnSpPr>
            <a:cxnSpLocks/>
            <a:stCxn id="45" idx="3"/>
            <a:endCxn id="11" idx="1"/>
          </p:cNvCxnSpPr>
          <p:nvPr/>
        </p:nvCxnSpPr>
        <p:spPr>
          <a:xfrm>
            <a:off x="3541265" y="5283658"/>
            <a:ext cx="4714973" cy="1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6A3EF29-FA28-764F-903A-FA408D89503C}"/>
              </a:ext>
            </a:extLst>
          </p:cNvPr>
          <p:cNvSpPr/>
          <p:nvPr/>
        </p:nvSpPr>
        <p:spPr>
          <a:xfrm>
            <a:off x="8256237" y="5921451"/>
            <a:ext cx="2083324" cy="54195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연결 종료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(Close)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05D65A02-3A6E-53EA-25F1-A14D44AD3CF3}"/>
              </a:ext>
            </a:extLst>
          </p:cNvPr>
          <p:cNvCxnSpPr>
            <a:cxnSpLocks/>
            <a:stCxn id="11" idx="2"/>
            <a:endCxn id="73" idx="0"/>
          </p:cNvCxnSpPr>
          <p:nvPr/>
        </p:nvCxnSpPr>
        <p:spPr>
          <a:xfrm flipH="1">
            <a:off x="9297899" y="5558608"/>
            <a:ext cx="1" cy="3628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A80E9BF-1B5F-0472-CF1E-27DED6203348}"/>
              </a:ext>
            </a:extLst>
          </p:cNvPr>
          <p:cNvSpPr/>
          <p:nvPr/>
        </p:nvSpPr>
        <p:spPr>
          <a:xfrm>
            <a:off x="1457941" y="5921451"/>
            <a:ext cx="2083324" cy="54195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연결 종료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(Close)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5694AE3F-7F8C-CC7E-4831-012A791B7C93}"/>
              </a:ext>
            </a:extLst>
          </p:cNvPr>
          <p:cNvCxnSpPr>
            <a:cxnSpLocks/>
            <a:stCxn id="45" idx="2"/>
            <a:endCxn id="102" idx="0"/>
          </p:cNvCxnSpPr>
          <p:nvPr/>
        </p:nvCxnSpPr>
        <p:spPr>
          <a:xfrm>
            <a:off x="2499603" y="5558607"/>
            <a:ext cx="0" cy="36284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BD63BC33-9BE0-5051-F927-D1CABCE64C37}"/>
              </a:ext>
            </a:extLst>
          </p:cNvPr>
          <p:cNvCxnSpPr>
            <a:cxnSpLocks/>
          </p:cNvCxnSpPr>
          <p:nvPr/>
        </p:nvCxnSpPr>
        <p:spPr>
          <a:xfrm flipV="1">
            <a:off x="3541265" y="6059761"/>
            <a:ext cx="4714972" cy="1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D8FB8D4A-F83F-A468-7CD2-A48433984577}"/>
              </a:ext>
            </a:extLst>
          </p:cNvPr>
          <p:cNvCxnSpPr>
            <a:cxnSpLocks/>
          </p:cNvCxnSpPr>
          <p:nvPr/>
        </p:nvCxnSpPr>
        <p:spPr>
          <a:xfrm flipH="1">
            <a:off x="3541265" y="6334710"/>
            <a:ext cx="4714972" cy="0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A7D0380E-510A-D721-A64A-CC2ED07769A2}"/>
              </a:ext>
            </a:extLst>
          </p:cNvPr>
          <p:cNvSpPr txBox="1"/>
          <p:nvPr/>
        </p:nvSpPr>
        <p:spPr>
          <a:xfrm>
            <a:off x="2176437" y="9746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서버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E5F2760-0CCD-7D2B-AD20-5C8BE682EB01}"/>
              </a:ext>
            </a:extLst>
          </p:cNvPr>
          <p:cNvSpPr txBox="1"/>
          <p:nvPr/>
        </p:nvSpPr>
        <p:spPr>
          <a:xfrm>
            <a:off x="8628485" y="96673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클라이언트</a:t>
            </a:r>
          </a:p>
        </p:txBody>
      </p:sp>
    </p:spTree>
    <p:extLst>
      <p:ext uri="{BB962C8B-B14F-4D97-AF65-F5344CB8AC3E}">
        <p14:creationId xmlns:p14="http://schemas.microsoft.com/office/powerpoint/2010/main" val="145172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324D4D-A4E3-619B-F33D-BAAE4E2E13B6}"/>
              </a:ext>
            </a:extLst>
          </p:cNvPr>
          <p:cNvSpPr txBox="1"/>
          <p:nvPr/>
        </p:nvSpPr>
        <p:spPr>
          <a:xfrm>
            <a:off x="4153000" y="180288"/>
            <a:ext cx="3886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소켓 </a:t>
            </a:r>
            <a:r>
              <a:rPr lang="ko-KR" altLang="en-US" sz="2400"/>
              <a:t>통신 연결 </a:t>
            </a:r>
            <a:r>
              <a:rPr lang="ko-KR" altLang="en-US" sz="2400" dirty="0"/>
              <a:t>과정 </a:t>
            </a:r>
            <a:r>
              <a:rPr lang="en-US" altLang="ko-KR" sz="2400" dirty="0"/>
              <a:t>(UDP)</a:t>
            </a:r>
            <a:endParaRPr lang="ko-KR" altLang="en-US" sz="2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9C946C-B31C-1079-DFBF-DC5803959F01}"/>
              </a:ext>
            </a:extLst>
          </p:cNvPr>
          <p:cNvSpPr/>
          <p:nvPr/>
        </p:nvSpPr>
        <p:spPr>
          <a:xfrm>
            <a:off x="1458040" y="1441253"/>
            <a:ext cx="2083324" cy="5405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소켓 생성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(Socket)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6E942D-B846-3475-89DE-6CEB52FD55D7}"/>
              </a:ext>
            </a:extLst>
          </p:cNvPr>
          <p:cNvSpPr/>
          <p:nvPr/>
        </p:nvSpPr>
        <p:spPr>
          <a:xfrm>
            <a:off x="8256337" y="1441253"/>
            <a:ext cx="2083324" cy="5405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소켓 생성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(Socket)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383849-C4FA-9BAE-33C1-F63AD9045E80}"/>
              </a:ext>
            </a:extLst>
          </p:cNvPr>
          <p:cNvSpPr/>
          <p:nvPr/>
        </p:nvSpPr>
        <p:spPr>
          <a:xfrm>
            <a:off x="1458040" y="2277249"/>
            <a:ext cx="2083324" cy="5405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IP,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Port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 소켓에 할당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(bind)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E5D702-213B-BEE9-A98A-E0D005572FC8}"/>
              </a:ext>
            </a:extLst>
          </p:cNvPr>
          <p:cNvSpPr/>
          <p:nvPr/>
        </p:nvSpPr>
        <p:spPr>
          <a:xfrm>
            <a:off x="1458040" y="3506604"/>
            <a:ext cx="2083324" cy="5405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데이터 송수신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</a:t>
            </a:r>
            <a:r>
              <a:rPr lang="en-US" altLang="ko-KR" sz="1600" dirty="0" err="1">
                <a:solidFill>
                  <a:sysClr val="windowText" lastClr="000000"/>
                </a:solidFill>
              </a:rPr>
              <a:t>Sendto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/</a:t>
            </a:r>
            <a:r>
              <a:rPr lang="en-US" altLang="ko-KR" sz="1600" dirty="0" err="1">
                <a:solidFill>
                  <a:sysClr val="windowText" lastClr="000000"/>
                </a:solidFill>
              </a:rPr>
              <a:t>RecvFrom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99E142-D1D2-D965-418A-3F50E3BBA3BE}"/>
              </a:ext>
            </a:extLst>
          </p:cNvPr>
          <p:cNvSpPr/>
          <p:nvPr/>
        </p:nvSpPr>
        <p:spPr>
          <a:xfrm>
            <a:off x="8256337" y="3506604"/>
            <a:ext cx="2083324" cy="5405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데이터 송수신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(</a:t>
            </a:r>
            <a:r>
              <a:rPr lang="en-US" altLang="ko-KR" sz="1600" dirty="0" err="1">
                <a:solidFill>
                  <a:sysClr val="windowText" lastClr="000000"/>
                </a:solidFill>
              </a:rPr>
              <a:t>Sendto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/</a:t>
            </a:r>
            <a:r>
              <a:rPr lang="en-US" altLang="ko-KR" sz="1600" dirty="0" err="1">
                <a:solidFill>
                  <a:sysClr val="windowText" lastClr="000000"/>
                </a:solidFill>
              </a:rPr>
              <a:t>RecvFrom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7B664DC-709D-B752-68A9-21E2F558B50F}"/>
              </a:ext>
            </a:extLst>
          </p:cNvPr>
          <p:cNvCxnSpPr>
            <a:cxnSpLocks/>
          </p:cNvCxnSpPr>
          <p:nvPr/>
        </p:nvCxnSpPr>
        <p:spPr>
          <a:xfrm>
            <a:off x="2499702" y="1981783"/>
            <a:ext cx="0" cy="29546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B1C7938-F18A-FB9B-971A-EA60C55FAA8D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2499702" y="2817779"/>
            <a:ext cx="0" cy="68882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1E4CA81-0188-23FD-1207-F77A8218C6E7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9297999" y="1981783"/>
            <a:ext cx="0" cy="152482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E317D8F-3B05-F25A-D2FD-8D0011328211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3541364" y="3776869"/>
            <a:ext cx="4714973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446FDD9-CB76-1445-B070-D10D4840B8C3}"/>
              </a:ext>
            </a:extLst>
          </p:cNvPr>
          <p:cNvSpPr/>
          <p:nvPr/>
        </p:nvSpPr>
        <p:spPr>
          <a:xfrm>
            <a:off x="1458040" y="4638066"/>
            <a:ext cx="2083324" cy="5405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종료</a:t>
            </a:r>
            <a:endParaRPr lang="en-US" altLang="ko-KR" sz="1600" dirty="0">
              <a:solidFill>
                <a:sysClr val="windowText" lastClr="00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D409127-C1D3-4FB3-0C76-EB55054BE6F7}"/>
              </a:ext>
            </a:extLst>
          </p:cNvPr>
          <p:cNvSpPr/>
          <p:nvPr/>
        </p:nvSpPr>
        <p:spPr>
          <a:xfrm>
            <a:off x="8256337" y="4638066"/>
            <a:ext cx="2083324" cy="5405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종료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B4730D9-1BBE-130E-C71D-4B83565B2550}"/>
              </a:ext>
            </a:extLst>
          </p:cNvPr>
          <p:cNvCxnSpPr>
            <a:cxnSpLocks/>
            <a:stCxn id="10" idx="2"/>
            <a:endCxn id="22" idx="0"/>
          </p:cNvCxnSpPr>
          <p:nvPr/>
        </p:nvCxnSpPr>
        <p:spPr>
          <a:xfrm>
            <a:off x="2499702" y="4047134"/>
            <a:ext cx="0" cy="59093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6AA1925-E390-E25F-51EF-584CCDE1CA3E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>
            <a:off x="9297999" y="4047134"/>
            <a:ext cx="0" cy="59093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75AE819-0ED8-A423-48C5-01CB79D262D8}"/>
              </a:ext>
            </a:extLst>
          </p:cNvPr>
          <p:cNvSpPr txBox="1"/>
          <p:nvPr/>
        </p:nvSpPr>
        <p:spPr>
          <a:xfrm>
            <a:off x="2176536" y="9737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서버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36A2E0-D253-0544-E823-03336B5A0422}"/>
              </a:ext>
            </a:extLst>
          </p:cNvPr>
          <p:cNvSpPr txBox="1"/>
          <p:nvPr/>
        </p:nvSpPr>
        <p:spPr>
          <a:xfrm>
            <a:off x="8628584" y="96580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클라이언트</a:t>
            </a:r>
          </a:p>
        </p:txBody>
      </p:sp>
    </p:spTree>
    <p:extLst>
      <p:ext uri="{BB962C8B-B14F-4D97-AF65-F5344CB8AC3E}">
        <p14:creationId xmlns:p14="http://schemas.microsoft.com/office/powerpoint/2010/main" val="15389157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2FE1F6-4163-ABFD-D350-26F5B3108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35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포트 스캐닝 명령어 </a:t>
            </a:r>
            <a:r>
              <a:rPr lang="en-US" altLang="ko-KR" dirty="0"/>
              <a:t>: </a:t>
            </a:r>
            <a:r>
              <a:rPr lang="en-US" altLang="ko-KR" dirty="0" err="1"/>
              <a:t>nc</a:t>
            </a:r>
            <a:r>
              <a:rPr lang="en-US" altLang="ko-KR" dirty="0"/>
              <a:t> –</a:t>
            </a:r>
            <a:r>
              <a:rPr lang="en-US" altLang="ko-KR" dirty="0" err="1"/>
              <a:t>vz</a:t>
            </a:r>
            <a:r>
              <a:rPr lang="en-US" altLang="ko-KR" dirty="0"/>
              <a:t> [</a:t>
            </a:r>
            <a:r>
              <a:rPr lang="ko-KR" altLang="en-US" dirty="0"/>
              <a:t>스캔 할 대상 </a:t>
            </a:r>
            <a:r>
              <a:rPr lang="en-US" altLang="ko-KR" dirty="0"/>
              <a:t>IP] [</a:t>
            </a:r>
            <a:r>
              <a:rPr lang="ko-KR" altLang="en-US" dirty="0"/>
              <a:t>스캔 할 포트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포트 표현 방식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단일 포트 </a:t>
            </a:r>
            <a:r>
              <a:rPr lang="en-US" altLang="ko-KR" dirty="0"/>
              <a:t>: 80</a:t>
            </a:r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포트 범위 </a:t>
            </a:r>
            <a:r>
              <a:rPr lang="en-US" altLang="ko-KR" dirty="0"/>
              <a:t>: 20-80</a:t>
            </a:r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다중 포트 </a:t>
            </a:r>
            <a:r>
              <a:rPr lang="en-US" altLang="ko-KR" dirty="0"/>
              <a:t>: 22 21 80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예시 </a:t>
            </a:r>
            <a:r>
              <a:rPr lang="en-US" altLang="ko-KR" dirty="0"/>
              <a:t>: </a:t>
            </a:r>
            <a:r>
              <a:rPr lang="en-US" altLang="ko-KR" dirty="0" err="1"/>
              <a:t>nc</a:t>
            </a:r>
            <a:r>
              <a:rPr lang="en-US" altLang="ko-KR" dirty="0"/>
              <a:t> –</a:t>
            </a:r>
            <a:r>
              <a:rPr lang="en-US" altLang="ko-KR" dirty="0" err="1"/>
              <a:t>vz</a:t>
            </a:r>
            <a:r>
              <a:rPr lang="en-US" altLang="ko-KR" dirty="0"/>
              <a:t> 172.16.23.1 22 21 80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25D161A-0E05-E7FC-5C38-8B98DABC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 err="1"/>
              <a:t>NetCat</a:t>
            </a:r>
            <a:r>
              <a:rPr lang="en-US" altLang="ko-KR" dirty="0"/>
              <a:t> </a:t>
            </a:r>
            <a:r>
              <a:rPr lang="ko-KR" altLang="en-US" dirty="0"/>
              <a:t>실습 </a:t>
            </a:r>
            <a:r>
              <a:rPr lang="en-US" altLang="ko-KR" sz="2400" dirty="0"/>
              <a:t>(</a:t>
            </a:r>
            <a:r>
              <a:rPr lang="ko-KR" altLang="en-US" sz="2400" dirty="0"/>
              <a:t>포트 스캐닝 실습 명령어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6037B70-64B8-922C-570B-3D40FC73FFFE}"/>
              </a:ext>
            </a:extLst>
          </p:cNvPr>
          <p:cNvCxnSpPr>
            <a:cxnSpLocks/>
          </p:cNvCxnSpPr>
          <p:nvPr/>
        </p:nvCxnSpPr>
        <p:spPr>
          <a:xfrm>
            <a:off x="838200" y="1197961"/>
            <a:ext cx="1038912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4681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2D3E001-7056-893F-D78A-4710013BD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dirty="0" err="1"/>
              <a:t>NetCat</a:t>
            </a:r>
            <a:r>
              <a:rPr lang="en-US" altLang="ko-KR" dirty="0"/>
              <a:t> </a:t>
            </a:r>
            <a:r>
              <a:rPr lang="ko-KR" altLang="en-US" dirty="0"/>
              <a:t>실습 </a:t>
            </a:r>
            <a:r>
              <a:rPr lang="en-US" altLang="ko-KR" sz="2400" dirty="0"/>
              <a:t>(</a:t>
            </a:r>
            <a:r>
              <a:rPr lang="ko-KR" altLang="en-US" sz="2400" dirty="0"/>
              <a:t>서버</a:t>
            </a:r>
            <a:r>
              <a:rPr lang="en-US" altLang="ko-KR" sz="2400" dirty="0"/>
              <a:t>/</a:t>
            </a:r>
            <a:r>
              <a:rPr lang="ko-KR" altLang="en-US" sz="2400" dirty="0"/>
              <a:t>클라이언트간 파일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 전송 명령어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B67381C-5F6B-2224-46D8-F28A4FD7ED60}"/>
              </a:ext>
            </a:extLst>
          </p:cNvPr>
          <p:cNvCxnSpPr>
            <a:cxnSpLocks/>
          </p:cNvCxnSpPr>
          <p:nvPr/>
        </p:nvCxnSpPr>
        <p:spPr>
          <a:xfrm>
            <a:off x="838200" y="1197961"/>
            <a:ext cx="1038912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7BE25660-B781-3B62-832A-F2552CD6AADD}"/>
              </a:ext>
            </a:extLst>
          </p:cNvPr>
          <p:cNvGrpSpPr/>
          <p:nvPr/>
        </p:nvGrpSpPr>
        <p:grpSpPr>
          <a:xfrm>
            <a:off x="770823" y="1953925"/>
            <a:ext cx="10456501" cy="1637685"/>
            <a:chOff x="838200" y="1953924"/>
            <a:chExt cx="3926305" cy="2868329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E1C51251-CCA9-53C1-D2A8-B785FE09A108}"/>
                </a:ext>
              </a:extLst>
            </p:cNvPr>
            <p:cNvSpPr/>
            <p:nvPr/>
          </p:nvSpPr>
          <p:spPr>
            <a:xfrm>
              <a:off x="838200" y="1953924"/>
              <a:ext cx="3926305" cy="2868329"/>
            </a:xfrm>
            <a:prstGeom prst="roundRect">
              <a:avLst/>
            </a:pr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83530C9-468C-AAEC-6BF7-81881C20CB83}"/>
                </a:ext>
              </a:extLst>
            </p:cNvPr>
            <p:cNvSpPr txBox="1"/>
            <p:nvPr/>
          </p:nvSpPr>
          <p:spPr>
            <a:xfrm>
              <a:off x="838200" y="3054474"/>
              <a:ext cx="3926305" cy="830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b="1" dirty="0" err="1"/>
                <a:t>nc</a:t>
              </a:r>
              <a:r>
                <a:rPr lang="en-US" altLang="ko-KR" sz="2400" b="1" dirty="0"/>
                <a:t> –</a:t>
              </a:r>
              <a:r>
                <a:rPr lang="en-US" altLang="ko-KR" sz="2400" b="1" dirty="0" err="1"/>
                <a:t>lvp</a:t>
              </a:r>
              <a:r>
                <a:rPr lang="en-US" altLang="ko-KR" sz="2400" b="1" dirty="0"/>
                <a:t> [</a:t>
              </a:r>
              <a:r>
                <a:rPr lang="ko-KR" altLang="en-US" sz="2400" b="1" dirty="0"/>
                <a:t>포트번호</a:t>
              </a:r>
              <a:r>
                <a:rPr lang="en-US" altLang="ko-KR" sz="2400" b="1" dirty="0"/>
                <a:t>] &gt; [</a:t>
              </a:r>
              <a:r>
                <a:rPr lang="ko-KR" altLang="en-US" sz="2400" b="1" dirty="0"/>
                <a:t>저장할 파일 이름</a:t>
              </a:r>
              <a:r>
                <a:rPr lang="en-US" altLang="ko-KR" sz="2400" b="1" dirty="0"/>
                <a:t>]</a:t>
              </a:r>
              <a:endParaRPr lang="ko-KR" altLang="en-US" sz="2400" b="1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A6E6C954-8C01-7472-AFB9-50EA8E630BE0}"/>
              </a:ext>
            </a:extLst>
          </p:cNvPr>
          <p:cNvGrpSpPr/>
          <p:nvPr/>
        </p:nvGrpSpPr>
        <p:grpSpPr>
          <a:xfrm>
            <a:off x="770823" y="4400686"/>
            <a:ext cx="10456500" cy="1844233"/>
            <a:chOff x="6286098" y="1953926"/>
            <a:chExt cx="3926305" cy="2868329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BD5B8629-A69D-EDBE-B9FF-60F9A5D55115}"/>
                </a:ext>
              </a:extLst>
            </p:cNvPr>
            <p:cNvSpPr/>
            <p:nvPr/>
          </p:nvSpPr>
          <p:spPr>
            <a:xfrm>
              <a:off x="6286098" y="1953926"/>
              <a:ext cx="3926305" cy="2868329"/>
            </a:xfrm>
            <a:prstGeom prst="roundRect">
              <a:avLst/>
            </a:pr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4D396A-AD2D-45CE-CC5C-B96F2E27C2F5}"/>
                </a:ext>
              </a:extLst>
            </p:cNvPr>
            <p:cNvSpPr txBox="1"/>
            <p:nvPr/>
          </p:nvSpPr>
          <p:spPr>
            <a:xfrm>
              <a:off x="6540767" y="3029076"/>
              <a:ext cx="3416967" cy="7180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b="1" dirty="0" err="1"/>
                <a:t>nc</a:t>
              </a:r>
              <a:r>
                <a:rPr lang="ko-KR" altLang="en-US" sz="2400" b="1" dirty="0"/>
                <a:t> </a:t>
              </a:r>
              <a:r>
                <a:rPr lang="en-US" altLang="ko-KR" sz="2400" b="1" dirty="0"/>
                <a:t>[</a:t>
              </a:r>
              <a:r>
                <a:rPr lang="ko-KR" altLang="en-US" sz="2400" b="1" dirty="0"/>
                <a:t>서버의 </a:t>
              </a:r>
              <a:r>
                <a:rPr lang="en-US" altLang="ko-KR" sz="2400" b="1" dirty="0"/>
                <a:t>IP</a:t>
              </a:r>
              <a:r>
                <a:rPr lang="ko-KR" altLang="en-US" sz="2400" b="1" dirty="0"/>
                <a:t>주소</a:t>
              </a:r>
              <a:r>
                <a:rPr lang="en-US" altLang="ko-KR" sz="2400" b="1" dirty="0"/>
                <a:t>] [</a:t>
              </a:r>
              <a:r>
                <a:rPr lang="ko-KR" altLang="en-US" sz="2400" b="1" dirty="0"/>
                <a:t>포트번호</a:t>
              </a:r>
              <a:r>
                <a:rPr lang="en-US" altLang="ko-KR" sz="2400" b="1" dirty="0"/>
                <a:t>] &lt; [</a:t>
              </a:r>
              <a:r>
                <a:rPr lang="ko-KR" altLang="en-US" sz="2400" b="1" dirty="0"/>
                <a:t>전송할 파일이름</a:t>
              </a:r>
              <a:r>
                <a:rPr lang="en-US" altLang="ko-KR" sz="2400" b="1" dirty="0"/>
                <a:t>]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035D642-8C5F-2F0A-56C1-2B0FE767D207}"/>
              </a:ext>
            </a:extLst>
          </p:cNvPr>
          <p:cNvSpPr txBox="1"/>
          <p:nvPr/>
        </p:nvSpPr>
        <p:spPr>
          <a:xfrm>
            <a:off x="770823" y="1553817"/>
            <a:ext cx="1556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</a:rPr>
              <a:t>서버 명령어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15ECFC-8412-C4A5-0203-D5617FDDAF34}"/>
              </a:ext>
            </a:extLst>
          </p:cNvPr>
          <p:cNvSpPr txBox="1"/>
          <p:nvPr/>
        </p:nvSpPr>
        <p:spPr>
          <a:xfrm>
            <a:off x="770823" y="3961428"/>
            <a:ext cx="2326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</a:rPr>
              <a:t>클라이언트 명령어</a:t>
            </a:r>
          </a:p>
        </p:txBody>
      </p:sp>
    </p:spTree>
    <p:extLst>
      <p:ext uri="{BB962C8B-B14F-4D97-AF65-F5344CB8AC3E}">
        <p14:creationId xmlns:p14="http://schemas.microsoft.com/office/powerpoint/2010/main" val="3365188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47AF939-9A8E-6D18-0C2D-1849D7712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 err="1"/>
              <a:t>NetCat</a:t>
            </a:r>
            <a:r>
              <a:rPr lang="en-US" altLang="ko-KR" dirty="0"/>
              <a:t> </a:t>
            </a:r>
            <a:r>
              <a:rPr lang="ko-KR" altLang="en-US" dirty="0"/>
              <a:t>실습 </a:t>
            </a:r>
            <a:r>
              <a:rPr lang="en-US" altLang="ko-KR" sz="2400" dirty="0"/>
              <a:t>(</a:t>
            </a:r>
            <a:r>
              <a:rPr lang="ko-KR" altLang="en-US" sz="2400" dirty="0"/>
              <a:t>서버</a:t>
            </a:r>
            <a:r>
              <a:rPr lang="en-US" altLang="ko-KR" sz="2400" dirty="0"/>
              <a:t>/</a:t>
            </a:r>
            <a:r>
              <a:rPr lang="ko-KR" altLang="en-US" sz="2400" dirty="0"/>
              <a:t>클라이언트간 파일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 전송 명령어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6EB2CF5-D552-5F85-7E59-6F125F86E3EB}"/>
              </a:ext>
            </a:extLst>
          </p:cNvPr>
          <p:cNvCxnSpPr>
            <a:cxnSpLocks/>
          </p:cNvCxnSpPr>
          <p:nvPr/>
        </p:nvCxnSpPr>
        <p:spPr>
          <a:xfrm>
            <a:off x="838200" y="1197961"/>
            <a:ext cx="1038912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F35053B1-405A-E516-1858-EDCBB5C03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513" y="2394165"/>
            <a:ext cx="1554480" cy="155448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AC86C32-9769-83F9-9F9C-2C6AB10B8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334" y="2394165"/>
            <a:ext cx="1554480" cy="1554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4CCB86-08D7-3084-8694-39A2680F1BE3}"/>
              </a:ext>
            </a:extLst>
          </p:cNvPr>
          <p:cNvSpPr txBox="1"/>
          <p:nvPr/>
        </p:nvSpPr>
        <p:spPr>
          <a:xfrm>
            <a:off x="1827568" y="2008336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서버 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CE7ACE-9E2A-8E60-A6D8-0B5D518669A9}"/>
              </a:ext>
            </a:extLst>
          </p:cNvPr>
          <p:cNvSpPr txBox="1"/>
          <p:nvPr/>
        </p:nvSpPr>
        <p:spPr>
          <a:xfrm>
            <a:off x="8880389" y="2024833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서버 </a:t>
            </a:r>
            <a:r>
              <a:rPr lang="en-US" altLang="ko-KR" dirty="0"/>
              <a:t>B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4051ED6-E16F-85E0-4E3B-70FDA244D6A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044993" y="3171405"/>
            <a:ext cx="549834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30580D1-A233-DB8D-88A8-5AE6E3234D4B}"/>
              </a:ext>
            </a:extLst>
          </p:cNvPr>
          <p:cNvSpPr txBox="1"/>
          <p:nvPr/>
        </p:nvSpPr>
        <p:spPr>
          <a:xfrm>
            <a:off x="3766203" y="2598119"/>
            <a:ext cx="405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실시간 업데이트된 로그 데이터 전달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CFEDE-0FE2-3FB9-4C31-7BCA5A43B11F}"/>
              </a:ext>
            </a:extLst>
          </p:cNvPr>
          <p:cNvSpPr txBox="1"/>
          <p:nvPr/>
        </p:nvSpPr>
        <p:spPr>
          <a:xfrm>
            <a:off x="7786339" y="4153282"/>
            <a:ext cx="305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받은 데이터를 가공 및 저장</a:t>
            </a:r>
          </a:p>
        </p:txBody>
      </p:sp>
    </p:spTree>
    <p:extLst>
      <p:ext uri="{BB962C8B-B14F-4D97-AF65-F5344CB8AC3E}">
        <p14:creationId xmlns:p14="http://schemas.microsoft.com/office/powerpoint/2010/main" val="3905486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19D6AD3-11A9-4580-7C15-3D731647F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 err="1"/>
              <a:t>NetCat</a:t>
            </a:r>
            <a:r>
              <a:rPr lang="en-US" altLang="ko-KR" dirty="0"/>
              <a:t> </a:t>
            </a:r>
            <a:r>
              <a:rPr lang="ko-KR" altLang="en-US" dirty="0"/>
              <a:t>실습 </a:t>
            </a:r>
            <a:r>
              <a:rPr lang="en-US" altLang="ko-KR" sz="2400" dirty="0"/>
              <a:t>(</a:t>
            </a:r>
            <a:r>
              <a:rPr lang="ko-KR" altLang="en-US" sz="2400" dirty="0"/>
              <a:t>서버</a:t>
            </a:r>
            <a:r>
              <a:rPr lang="en-US" altLang="ko-KR" sz="2400" dirty="0"/>
              <a:t>/</a:t>
            </a:r>
            <a:r>
              <a:rPr lang="ko-KR" altLang="en-US" sz="2400" dirty="0"/>
              <a:t>클라이언트간 파일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 전송 명령어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DE3E6B6-8E5C-3768-002B-DA4FDD380389}"/>
              </a:ext>
            </a:extLst>
          </p:cNvPr>
          <p:cNvCxnSpPr>
            <a:cxnSpLocks/>
          </p:cNvCxnSpPr>
          <p:nvPr/>
        </p:nvCxnSpPr>
        <p:spPr>
          <a:xfrm>
            <a:off x="838200" y="1197961"/>
            <a:ext cx="1038912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93FE8ED3-6B1C-5C7C-3345-CA22A4EF880F}"/>
              </a:ext>
            </a:extLst>
          </p:cNvPr>
          <p:cNvGrpSpPr/>
          <p:nvPr/>
        </p:nvGrpSpPr>
        <p:grpSpPr>
          <a:xfrm>
            <a:off x="770822" y="1719779"/>
            <a:ext cx="10456501" cy="1475069"/>
            <a:chOff x="838200" y="1953926"/>
            <a:chExt cx="3926305" cy="2868329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8FD5A538-8529-AA9A-95AB-E19029C4C9D7}"/>
                </a:ext>
              </a:extLst>
            </p:cNvPr>
            <p:cNvSpPr/>
            <p:nvPr/>
          </p:nvSpPr>
          <p:spPr>
            <a:xfrm>
              <a:off x="838200" y="1953926"/>
              <a:ext cx="3926305" cy="2868329"/>
            </a:xfrm>
            <a:prstGeom prst="roundRect">
              <a:avLst/>
            </a:pr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47D5B3D-259A-3309-B82E-F4376BA737DF}"/>
                </a:ext>
              </a:extLst>
            </p:cNvPr>
            <p:cNvSpPr txBox="1"/>
            <p:nvPr/>
          </p:nvSpPr>
          <p:spPr>
            <a:xfrm>
              <a:off x="838200" y="2896001"/>
              <a:ext cx="3926305" cy="8977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b="1" dirty="0"/>
                <a:t>tail –f [</a:t>
              </a:r>
              <a:r>
                <a:rPr lang="ko-KR" altLang="en-US" sz="2400" b="1" dirty="0"/>
                <a:t>자신의 </a:t>
              </a:r>
              <a:r>
                <a:rPr lang="en-US" altLang="ko-KR" sz="2400" b="1" dirty="0" err="1"/>
                <a:t>apache</a:t>
              </a:r>
              <a:r>
                <a:rPr lang="en-US" altLang="ko-KR" sz="2400" b="1" dirty="0"/>
                <a:t> </a:t>
              </a:r>
              <a:r>
                <a:rPr lang="en-US" altLang="ko-KR" sz="2400" b="1" dirty="0" err="1"/>
                <a:t>accesslog</a:t>
              </a:r>
              <a:r>
                <a:rPr lang="en-US" altLang="ko-KR" sz="2400" b="1" dirty="0"/>
                <a:t>] | </a:t>
              </a:r>
              <a:r>
                <a:rPr lang="en-US" altLang="ko-KR" sz="2400" b="1" dirty="0" err="1"/>
                <a:t>nc</a:t>
              </a:r>
              <a:r>
                <a:rPr lang="en-US" altLang="ko-KR" sz="2400" b="1" dirty="0"/>
                <a:t> [B</a:t>
              </a:r>
              <a:r>
                <a:rPr lang="ko-KR" altLang="en-US" sz="2400" b="1" dirty="0"/>
                <a:t>의 </a:t>
              </a:r>
              <a:r>
                <a:rPr lang="en-US" altLang="ko-KR" sz="2400" b="1" dirty="0"/>
                <a:t>IP</a:t>
              </a:r>
              <a:r>
                <a:rPr lang="ko-KR" altLang="en-US" sz="2400" b="1" dirty="0"/>
                <a:t>주소</a:t>
              </a:r>
              <a:r>
                <a:rPr lang="en-US" altLang="ko-KR" sz="2400" b="1" dirty="0"/>
                <a:t>] 8888</a:t>
              </a:r>
              <a:endParaRPr lang="ko-KR" altLang="en-US" sz="2400" b="1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BC63A0F3-D264-847B-83CB-8082D904D712}"/>
              </a:ext>
            </a:extLst>
          </p:cNvPr>
          <p:cNvGrpSpPr/>
          <p:nvPr/>
        </p:nvGrpSpPr>
        <p:grpSpPr>
          <a:xfrm>
            <a:off x="770822" y="3930864"/>
            <a:ext cx="10456500" cy="1475069"/>
            <a:chOff x="6286098" y="1953926"/>
            <a:chExt cx="3926305" cy="2868329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48CB571C-C14E-FADE-1479-829A0D095D81}"/>
                </a:ext>
              </a:extLst>
            </p:cNvPr>
            <p:cNvSpPr/>
            <p:nvPr/>
          </p:nvSpPr>
          <p:spPr>
            <a:xfrm>
              <a:off x="6286098" y="1953926"/>
              <a:ext cx="3926305" cy="2868329"/>
            </a:xfrm>
            <a:prstGeom prst="roundRect">
              <a:avLst/>
            </a:pr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C579F1-6015-8564-B5E7-FF861B639518}"/>
                </a:ext>
              </a:extLst>
            </p:cNvPr>
            <p:cNvSpPr txBox="1"/>
            <p:nvPr/>
          </p:nvSpPr>
          <p:spPr>
            <a:xfrm>
              <a:off x="6540767" y="3029075"/>
              <a:ext cx="3416967" cy="8977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b="1" dirty="0" err="1"/>
                <a:t>nc</a:t>
              </a:r>
              <a:r>
                <a:rPr lang="en-US" altLang="ko-KR" sz="2400" b="1" dirty="0"/>
                <a:t> –</a:t>
              </a:r>
              <a:r>
                <a:rPr lang="en-US" altLang="ko-KR" sz="2400" b="1" dirty="0" err="1"/>
                <a:t>lvp</a:t>
              </a:r>
              <a:r>
                <a:rPr lang="en-US" altLang="ko-KR" sz="2400" b="1" dirty="0"/>
                <a:t> 8888 | grep --line-buffered POST &gt;&gt; post.log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BCD0892-6E5E-F040-8AC4-A21AE78EA724}"/>
              </a:ext>
            </a:extLst>
          </p:cNvPr>
          <p:cNvSpPr txBox="1"/>
          <p:nvPr/>
        </p:nvSpPr>
        <p:spPr>
          <a:xfrm>
            <a:off x="770822" y="3561530"/>
            <a:ext cx="235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서버 </a:t>
            </a:r>
            <a:r>
              <a:rPr lang="en-US" altLang="ko-KR" b="1" dirty="0"/>
              <a:t>B (</a:t>
            </a:r>
            <a:r>
              <a:rPr lang="ko-KR" altLang="en-US" b="1" dirty="0"/>
              <a:t>데이터 수신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39ECB-827D-B5E8-65DE-CDBC3383A7A5}"/>
              </a:ext>
            </a:extLst>
          </p:cNvPr>
          <p:cNvSpPr txBox="1"/>
          <p:nvPr/>
        </p:nvSpPr>
        <p:spPr>
          <a:xfrm>
            <a:off x="770822" y="1300683"/>
            <a:ext cx="2374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서버 </a:t>
            </a:r>
            <a:r>
              <a:rPr lang="en-US" altLang="ko-KR" b="1" dirty="0"/>
              <a:t>A (</a:t>
            </a:r>
            <a:r>
              <a:rPr lang="ko-KR" altLang="en-US" b="1" dirty="0"/>
              <a:t>데이터 송신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979956-CC04-D0DE-1889-7CB832D821C0}"/>
              </a:ext>
            </a:extLst>
          </p:cNvPr>
          <p:cNvSpPr txBox="1"/>
          <p:nvPr/>
        </p:nvSpPr>
        <p:spPr>
          <a:xfrm>
            <a:off x="109505" y="5660039"/>
            <a:ext cx="118465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ko-KR" altLang="en-US" sz="2000" dirty="0"/>
              <a:t>위와 같이 입출력 제어를 통해서 서로 다른 호스트 간의 명령어의 결과 값을 주고 받는 것도 가능하다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2428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F1928B-BE7C-118D-D07B-F52EDD89C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5623"/>
            <a:ext cx="10587087" cy="2579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Q. </a:t>
            </a:r>
            <a:r>
              <a:rPr lang="ko-KR" altLang="en-US" dirty="0"/>
              <a:t>어떻게 하면 해커가 연결된 서버를 조종할 수 있을까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endParaRPr lang="en-US" altLang="ko-KR" dirty="0"/>
          </a:p>
          <a:p>
            <a:pPr marL="514350" indent="-514350">
              <a:buAutoNum type="alphaUcPeriod"/>
            </a:pPr>
            <a:r>
              <a:rPr lang="en-US" altLang="ko-KR" dirty="0" err="1"/>
              <a:t>NetCat</a:t>
            </a:r>
            <a:r>
              <a:rPr lang="ko-KR" altLang="en-US" dirty="0"/>
              <a:t>의 </a:t>
            </a:r>
            <a:r>
              <a:rPr lang="en-US" altLang="ko-KR" dirty="0"/>
              <a:t>–e </a:t>
            </a:r>
            <a:r>
              <a:rPr lang="ko-KR" altLang="en-US" dirty="0"/>
              <a:t>옵션을 사용해서 네트워크 연결 시 쉘이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실행되어 상대방으로부터 전달되는 데이터를 처리하게끔 한다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F13CBE6-A1FF-2E5C-8189-B26EDF7A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dirty="0" err="1"/>
              <a:t>NetCat</a:t>
            </a:r>
            <a:r>
              <a:rPr lang="en-US" altLang="ko-KR" dirty="0"/>
              <a:t> </a:t>
            </a:r>
            <a:r>
              <a:rPr lang="ko-KR" altLang="en-US" dirty="0"/>
              <a:t>실습 </a:t>
            </a:r>
            <a:r>
              <a:rPr lang="en-US" altLang="ko-KR" sz="2400" dirty="0"/>
              <a:t>(Command Injection</a:t>
            </a:r>
            <a:r>
              <a:rPr lang="ko-KR" altLang="en-US" sz="2400" dirty="0"/>
              <a:t>과 조합한 리버스 쉘 실습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45593FA-1B18-1B0F-353D-4864B69901FA}"/>
              </a:ext>
            </a:extLst>
          </p:cNvPr>
          <p:cNvCxnSpPr>
            <a:cxnSpLocks/>
          </p:cNvCxnSpPr>
          <p:nvPr/>
        </p:nvCxnSpPr>
        <p:spPr>
          <a:xfrm>
            <a:off x="838200" y="1197961"/>
            <a:ext cx="1038912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948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CFF9698-79C0-970A-757A-F8854622E411}"/>
              </a:ext>
            </a:extLst>
          </p:cNvPr>
          <p:cNvCxnSpPr>
            <a:cxnSpLocks/>
          </p:cNvCxnSpPr>
          <p:nvPr/>
        </p:nvCxnSpPr>
        <p:spPr>
          <a:xfrm>
            <a:off x="3416933" y="3271285"/>
            <a:ext cx="76512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27885AA-63AD-353B-E266-E40D44EBEDB2}"/>
              </a:ext>
            </a:extLst>
          </p:cNvPr>
          <p:cNvCxnSpPr>
            <a:cxnSpLocks/>
          </p:cNvCxnSpPr>
          <p:nvPr/>
        </p:nvCxnSpPr>
        <p:spPr>
          <a:xfrm flipH="1">
            <a:off x="5581460" y="3502534"/>
            <a:ext cx="353568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96AAFB6-0C5F-02DA-C299-28F190EF1EE6}"/>
              </a:ext>
            </a:extLst>
          </p:cNvPr>
          <p:cNvSpPr txBox="1"/>
          <p:nvPr/>
        </p:nvSpPr>
        <p:spPr>
          <a:xfrm>
            <a:off x="6336233" y="3594942"/>
            <a:ext cx="224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명령어</a:t>
            </a:r>
            <a:r>
              <a:rPr lang="en-US" altLang="ko-KR" dirty="0"/>
              <a:t>1, </a:t>
            </a:r>
            <a:r>
              <a:rPr lang="ko-KR" altLang="en-US" dirty="0"/>
              <a:t>명령어</a:t>
            </a:r>
            <a:r>
              <a:rPr lang="en-US" altLang="ko-KR" dirty="0"/>
              <a:t>2, …</a:t>
            </a:r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6C77888-A0CA-4AA7-6534-EE616131BAC0}"/>
              </a:ext>
            </a:extLst>
          </p:cNvPr>
          <p:cNvCxnSpPr>
            <a:cxnSpLocks/>
          </p:cNvCxnSpPr>
          <p:nvPr/>
        </p:nvCxnSpPr>
        <p:spPr>
          <a:xfrm>
            <a:off x="5581460" y="3088648"/>
            <a:ext cx="3535680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4CF7E61-D3C9-55D1-C274-B383DCE7C13C}"/>
              </a:ext>
            </a:extLst>
          </p:cNvPr>
          <p:cNvSpPr txBox="1"/>
          <p:nvPr/>
        </p:nvSpPr>
        <p:spPr>
          <a:xfrm>
            <a:off x="6475694" y="2626909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명령어 실행 결과</a:t>
            </a:r>
          </a:p>
        </p:txBody>
      </p:sp>
      <p:sp>
        <p:nvSpPr>
          <p:cNvPr id="20" name="말풍선: 타원형 19">
            <a:extLst>
              <a:ext uri="{FF2B5EF4-FFF2-40B4-BE49-F238E27FC236}">
                <a16:creationId xmlns:a16="http://schemas.microsoft.com/office/drawing/2014/main" id="{34E9BE3C-AD19-20DF-94DF-7E35DBA65F45}"/>
              </a:ext>
            </a:extLst>
          </p:cNvPr>
          <p:cNvSpPr/>
          <p:nvPr/>
        </p:nvSpPr>
        <p:spPr>
          <a:xfrm>
            <a:off x="4685037" y="1286599"/>
            <a:ext cx="1792845" cy="1213687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흑흑 </a:t>
            </a:r>
            <a:r>
              <a:rPr lang="ko-KR" altLang="en-US" dirty="0" err="1"/>
              <a:t>넵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3BDE7E-674F-EC67-98A8-52BF9F10A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7140" y="2524178"/>
            <a:ext cx="1494214" cy="14942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4CABF01-E5CF-9F34-B763-C9D49804D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73" y="2494045"/>
            <a:ext cx="1554480" cy="155448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89E361E-9EEA-546C-3C89-D8E754FDB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2071" y="2784129"/>
            <a:ext cx="1063883" cy="1063883"/>
          </a:xfrm>
          <a:prstGeom prst="rect">
            <a:avLst/>
          </a:prstGeom>
        </p:spPr>
      </p:pic>
      <p:sp>
        <p:nvSpPr>
          <p:cNvPr id="24" name="말풍선: 모서리가 둥근 사각형 23">
            <a:extLst>
              <a:ext uri="{FF2B5EF4-FFF2-40B4-BE49-F238E27FC236}">
                <a16:creationId xmlns:a16="http://schemas.microsoft.com/office/drawing/2014/main" id="{8A667D22-D2A4-6761-407C-3A2E682275DD}"/>
              </a:ext>
            </a:extLst>
          </p:cNvPr>
          <p:cNvSpPr/>
          <p:nvPr/>
        </p:nvSpPr>
        <p:spPr>
          <a:xfrm>
            <a:off x="1580645" y="745076"/>
            <a:ext cx="2260335" cy="1464183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연결이 되면 들어오는 데이터는 너가 다 처리해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4EAE32-3A3F-1F9B-03DC-49F1503BA1AF}"/>
              </a:ext>
            </a:extLst>
          </p:cNvPr>
          <p:cNvSpPr txBox="1"/>
          <p:nvPr/>
        </p:nvSpPr>
        <p:spPr>
          <a:xfrm>
            <a:off x="2115937" y="410954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피해 서버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C70BB2-5E7C-3509-E458-937EEEDB3251}"/>
              </a:ext>
            </a:extLst>
          </p:cNvPr>
          <p:cNvSpPr txBox="1"/>
          <p:nvPr/>
        </p:nvSpPr>
        <p:spPr>
          <a:xfrm>
            <a:off x="4440583" y="4090552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/bin/</a:t>
            </a:r>
            <a:r>
              <a:rPr lang="en-US" altLang="ko-KR" dirty="0" err="1"/>
              <a:t>sh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C0BE2C-2F1E-0869-324C-A0E4A4DB1F7B}"/>
              </a:ext>
            </a:extLst>
          </p:cNvPr>
          <p:cNvSpPr txBox="1"/>
          <p:nvPr/>
        </p:nvSpPr>
        <p:spPr>
          <a:xfrm>
            <a:off x="9541081" y="40905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해커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72346ED-4DAA-51B7-CE61-229C0F621B13}"/>
              </a:ext>
            </a:extLst>
          </p:cNvPr>
          <p:cNvSpPr/>
          <p:nvPr/>
        </p:nvSpPr>
        <p:spPr>
          <a:xfrm>
            <a:off x="1050802" y="4965412"/>
            <a:ext cx="4201918" cy="1554469"/>
          </a:xfrm>
          <a:prstGeom prst="round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nc</a:t>
            </a:r>
            <a:r>
              <a:rPr lang="en-US" altLang="ko-KR" b="1" dirty="0">
                <a:solidFill>
                  <a:schemeClr val="tx1"/>
                </a:solidFill>
              </a:rPr>
              <a:t> [</a:t>
            </a:r>
            <a:r>
              <a:rPr lang="ko-KR" altLang="en-US" b="1" dirty="0">
                <a:solidFill>
                  <a:schemeClr val="tx1"/>
                </a:solidFill>
              </a:rPr>
              <a:t>공격자 </a:t>
            </a:r>
            <a:r>
              <a:rPr lang="en-US" altLang="ko-KR" b="1" dirty="0">
                <a:solidFill>
                  <a:schemeClr val="tx1"/>
                </a:solidFill>
              </a:rPr>
              <a:t>IP] [</a:t>
            </a:r>
            <a:r>
              <a:rPr lang="ko-KR" altLang="en-US" b="1" dirty="0">
                <a:solidFill>
                  <a:schemeClr val="tx1"/>
                </a:solidFill>
              </a:rPr>
              <a:t>포트번호</a:t>
            </a:r>
            <a:r>
              <a:rPr lang="en-US" altLang="ko-KR" b="1" dirty="0">
                <a:solidFill>
                  <a:schemeClr val="tx1"/>
                </a:solidFill>
              </a:rPr>
              <a:t>] –e /bin/</a:t>
            </a:r>
            <a:r>
              <a:rPr lang="en-US" altLang="ko-KR" b="1" dirty="0" err="1">
                <a:solidFill>
                  <a:schemeClr val="tx1"/>
                </a:solidFill>
              </a:rPr>
              <a:t>sh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70CDDF5-CA14-90A8-9FC5-BEBC017FC950}"/>
              </a:ext>
            </a:extLst>
          </p:cNvPr>
          <p:cNvSpPr/>
          <p:nvPr/>
        </p:nvSpPr>
        <p:spPr>
          <a:xfrm>
            <a:off x="8204237" y="4965411"/>
            <a:ext cx="3320017" cy="1554469"/>
          </a:xfrm>
          <a:prstGeom prst="round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nc</a:t>
            </a:r>
            <a:r>
              <a:rPr lang="en-US" altLang="ko-KR" b="1" dirty="0">
                <a:solidFill>
                  <a:schemeClr val="tx1"/>
                </a:solidFill>
              </a:rPr>
              <a:t> –</a:t>
            </a:r>
            <a:r>
              <a:rPr lang="en-US" altLang="ko-KR" b="1" dirty="0" err="1">
                <a:solidFill>
                  <a:schemeClr val="tx1"/>
                </a:solidFill>
              </a:rPr>
              <a:t>lvp</a:t>
            </a:r>
            <a:r>
              <a:rPr lang="en-US" altLang="ko-KR" b="1" dirty="0">
                <a:solidFill>
                  <a:schemeClr val="tx1"/>
                </a:solidFill>
              </a:rPr>
              <a:t> 8888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475BD8-33F2-2319-AF92-F9A2D126E875}"/>
              </a:ext>
            </a:extLst>
          </p:cNvPr>
          <p:cNvSpPr txBox="1"/>
          <p:nvPr/>
        </p:nvSpPr>
        <p:spPr>
          <a:xfrm>
            <a:off x="1050802" y="4535063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피해 서버 실행 명령어</a:t>
            </a:r>
            <a:endParaRPr lang="ko-KR" alt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B62157-4130-17E6-0310-B8385B1A4708}"/>
              </a:ext>
            </a:extLst>
          </p:cNvPr>
          <p:cNvSpPr txBox="1"/>
          <p:nvPr/>
        </p:nvSpPr>
        <p:spPr>
          <a:xfrm>
            <a:off x="8204237" y="4565164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해커 실행 명령어</a:t>
            </a:r>
          </a:p>
        </p:txBody>
      </p:sp>
    </p:spTree>
    <p:extLst>
      <p:ext uri="{BB962C8B-B14F-4D97-AF65-F5344CB8AC3E}">
        <p14:creationId xmlns:p14="http://schemas.microsoft.com/office/powerpoint/2010/main" val="2403563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3D58F2C-348E-7E5D-D3B4-D2855D70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889" y="91757"/>
            <a:ext cx="10634221" cy="780118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Command Injection</a:t>
            </a:r>
            <a:r>
              <a:rPr lang="ko-KR" altLang="en-US" sz="3200" dirty="0"/>
              <a:t>을 활용해서 리버스 쉘 공격 시나리오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41DF7C-AF99-D652-7315-EA0B00709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826" y="869094"/>
            <a:ext cx="790430" cy="7904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AFF399A-0B88-41B3-1595-C1D3E6F19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875" y="871875"/>
            <a:ext cx="1201084" cy="784867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AF2D790-1BAB-278E-5A6E-C54200A48309}"/>
              </a:ext>
            </a:extLst>
          </p:cNvPr>
          <p:cNvCxnSpPr>
            <a:cxnSpLocks/>
          </p:cNvCxnSpPr>
          <p:nvPr/>
        </p:nvCxnSpPr>
        <p:spPr>
          <a:xfrm>
            <a:off x="2479434" y="2175234"/>
            <a:ext cx="671798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088B026-F380-BD56-6154-CBAE94903F8D}"/>
              </a:ext>
            </a:extLst>
          </p:cNvPr>
          <p:cNvCxnSpPr>
            <a:cxnSpLocks/>
          </p:cNvCxnSpPr>
          <p:nvPr/>
        </p:nvCxnSpPr>
        <p:spPr>
          <a:xfrm flipH="1">
            <a:off x="2479434" y="2460395"/>
            <a:ext cx="6717983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F4C39E4-4429-744B-AB23-50DB4D4805CE}"/>
              </a:ext>
            </a:extLst>
          </p:cNvPr>
          <p:cNvCxnSpPr/>
          <p:nvPr/>
        </p:nvCxnSpPr>
        <p:spPr>
          <a:xfrm>
            <a:off x="2394041" y="1932495"/>
            <a:ext cx="0" cy="444945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13D21C4-5765-6403-2810-3E053EA1A194}"/>
              </a:ext>
            </a:extLst>
          </p:cNvPr>
          <p:cNvCxnSpPr/>
          <p:nvPr/>
        </p:nvCxnSpPr>
        <p:spPr>
          <a:xfrm>
            <a:off x="9296033" y="1849224"/>
            <a:ext cx="0" cy="444945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0C43293-0FF5-8586-C764-FC67565BEDB6}"/>
              </a:ext>
            </a:extLst>
          </p:cNvPr>
          <p:cNvCxnSpPr>
            <a:cxnSpLocks/>
          </p:cNvCxnSpPr>
          <p:nvPr/>
        </p:nvCxnSpPr>
        <p:spPr>
          <a:xfrm>
            <a:off x="2479434" y="3732228"/>
            <a:ext cx="671798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96835B6-9897-C64A-56B4-9B5E4DD29129}"/>
              </a:ext>
            </a:extLst>
          </p:cNvPr>
          <p:cNvSpPr txBox="1"/>
          <p:nvPr/>
        </p:nvSpPr>
        <p:spPr>
          <a:xfrm>
            <a:off x="4856423" y="1774375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정보 수집 명령어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8BAA92-9FB7-D964-E895-E4DE72080F66}"/>
              </a:ext>
            </a:extLst>
          </p:cNvPr>
          <p:cNvSpPr txBox="1"/>
          <p:nvPr/>
        </p:nvSpPr>
        <p:spPr>
          <a:xfrm>
            <a:off x="2829426" y="2489290"/>
            <a:ext cx="6017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정보들</a:t>
            </a:r>
            <a:r>
              <a:rPr lang="en-US" altLang="ko-KR" dirty="0"/>
              <a:t>(OS </a:t>
            </a:r>
            <a:r>
              <a:rPr lang="en-US" altLang="ko-KR" dirty="0" err="1"/>
              <a:t>ver</a:t>
            </a:r>
            <a:r>
              <a:rPr lang="en-US" altLang="ko-KR" dirty="0"/>
              <a:t>, </a:t>
            </a:r>
            <a:r>
              <a:rPr lang="ko-KR" altLang="en-US" dirty="0"/>
              <a:t>명령어 실행 가능</a:t>
            </a:r>
            <a:r>
              <a:rPr lang="en-US" altLang="ko-KR" dirty="0"/>
              <a:t> </a:t>
            </a:r>
            <a:r>
              <a:rPr lang="ko-KR" altLang="en-US" dirty="0"/>
              <a:t>여부</a:t>
            </a:r>
            <a:r>
              <a:rPr lang="en-US" altLang="ko-KR" dirty="0"/>
              <a:t>, </a:t>
            </a:r>
            <a:r>
              <a:rPr lang="en-US" altLang="ko-KR" dirty="0" err="1"/>
              <a:t>netcat</a:t>
            </a:r>
            <a:r>
              <a:rPr lang="en-US" altLang="ko-KR" dirty="0"/>
              <a:t> </a:t>
            </a:r>
            <a:r>
              <a:rPr lang="ko-KR" altLang="en-US" dirty="0"/>
              <a:t>설치 여부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21F789-BBA8-D309-5CAF-35E59E03E2BE}"/>
              </a:ext>
            </a:extLst>
          </p:cNvPr>
          <p:cNvSpPr txBox="1"/>
          <p:nvPr/>
        </p:nvSpPr>
        <p:spPr>
          <a:xfrm>
            <a:off x="4717244" y="3293928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 err="1"/>
              <a:t>백도어</a:t>
            </a:r>
            <a:r>
              <a:rPr lang="ko-KR" altLang="en-US" dirty="0"/>
              <a:t> 코드 주입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884959-4205-6A97-4333-CF35508FEB3F}"/>
              </a:ext>
            </a:extLst>
          </p:cNvPr>
          <p:cNvSpPr txBox="1"/>
          <p:nvPr/>
        </p:nvSpPr>
        <p:spPr>
          <a:xfrm>
            <a:off x="9394650" y="3547562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backdoor.php</a:t>
            </a:r>
            <a:endParaRPr lang="ko-KR" altLang="en-US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5C152B6-2A19-4DAA-67DF-E26245F2BC57}"/>
              </a:ext>
            </a:extLst>
          </p:cNvPr>
          <p:cNvCxnSpPr>
            <a:cxnSpLocks/>
          </p:cNvCxnSpPr>
          <p:nvPr/>
        </p:nvCxnSpPr>
        <p:spPr>
          <a:xfrm>
            <a:off x="2479434" y="4722043"/>
            <a:ext cx="671798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22E1106-8121-24BA-C7C6-59EFC669D491}"/>
              </a:ext>
            </a:extLst>
          </p:cNvPr>
          <p:cNvSpPr txBox="1"/>
          <p:nvPr/>
        </p:nvSpPr>
        <p:spPr>
          <a:xfrm>
            <a:off x="4390874" y="4281847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백도어</a:t>
            </a:r>
            <a:r>
              <a:rPr lang="ko-KR" altLang="en-US" dirty="0"/>
              <a:t> 코드파일 실행 요청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AC362A-5CB7-1A12-F7D4-AD495DFA7790}"/>
              </a:ext>
            </a:extLst>
          </p:cNvPr>
          <p:cNvSpPr txBox="1"/>
          <p:nvPr/>
        </p:nvSpPr>
        <p:spPr>
          <a:xfrm>
            <a:off x="4777999" y="5311783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시스템 종료 명령어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997612D-953F-B736-9FBF-0C588D6DD600}"/>
              </a:ext>
            </a:extLst>
          </p:cNvPr>
          <p:cNvCxnSpPr/>
          <p:nvPr/>
        </p:nvCxnSpPr>
        <p:spPr>
          <a:xfrm>
            <a:off x="2479429" y="5712643"/>
            <a:ext cx="6717983" cy="0"/>
          </a:xfrm>
          <a:prstGeom prst="straightConnector1">
            <a:avLst/>
          </a:prstGeom>
          <a:ln w="254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D14328D-C8DE-A640-A2E0-9C17C016087E}"/>
              </a:ext>
            </a:extLst>
          </p:cNvPr>
          <p:cNvSpPr txBox="1"/>
          <p:nvPr/>
        </p:nvSpPr>
        <p:spPr>
          <a:xfrm>
            <a:off x="380731" y="2027625"/>
            <a:ext cx="1963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정보 수집 및 취약점 분석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73FB01-7711-AAA6-E338-489705161D03}"/>
              </a:ext>
            </a:extLst>
          </p:cNvPr>
          <p:cNvSpPr txBox="1"/>
          <p:nvPr/>
        </p:nvSpPr>
        <p:spPr>
          <a:xfrm>
            <a:off x="118966" y="4398877"/>
            <a:ext cx="2275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3. </a:t>
            </a:r>
            <a:r>
              <a:rPr lang="ko-KR" altLang="en-US" dirty="0" err="1"/>
              <a:t>백도어</a:t>
            </a:r>
            <a:r>
              <a:rPr lang="ko-KR" altLang="en-US" dirty="0"/>
              <a:t> 코드 실행 및 원격 접속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FEED10-186A-9A9E-0BD9-E7CF48D0E1FB}"/>
              </a:ext>
            </a:extLst>
          </p:cNvPr>
          <p:cNvSpPr txBox="1"/>
          <p:nvPr/>
        </p:nvSpPr>
        <p:spPr>
          <a:xfrm>
            <a:off x="909721" y="5538338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공격</a:t>
            </a:r>
          </a:p>
        </p:txBody>
      </p:sp>
    </p:spTree>
    <p:extLst>
      <p:ext uri="{BB962C8B-B14F-4D97-AF65-F5344CB8AC3E}">
        <p14:creationId xmlns:p14="http://schemas.microsoft.com/office/powerpoint/2010/main" val="828760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2B432-82CB-5F0A-6D48-23B0A89BA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8635"/>
          </a:xfrm>
        </p:spPr>
        <p:txBody>
          <a:bodyPr>
            <a:normAutofit fontScale="90000"/>
          </a:bodyPr>
          <a:lstStyle/>
          <a:p>
            <a:r>
              <a:rPr lang="ko-KR" altLang="en-US" sz="3600" dirty="0"/>
              <a:t>사진 자료 출처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E63DE8-C2AE-11E7-A946-E2A3FC066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1230"/>
            <a:ext cx="10515600" cy="50330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1600" dirty="0"/>
              <a:t>모든 아이콘은 </a:t>
            </a:r>
            <a:r>
              <a:rPr lang="en-US" altLang="ko-KR" sz="1600" dirty="0"/>
              <a:t>Flaticon.com</a:t>
            </a:r>
            <a:r>
              <a:rPr lang="ko-KR" altLang="en-US" sz="1600" dirty="0"/>
              <a:t>에서 사용하였습니다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Hacker</a:t>
            </a:r>
            <a:r>
              <a:rPr lang="ko-KR" altLang="en-US" sz="1600" dirty="0"/>
              <a:t> 이미지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>
                <a:hlinkClick r:id="rId2"/>
              </a:rPr>
              <a:t>https://www.flaticon.com/kr/free-icon/hacker_3813181?term=%ED%95%B4%EC%BB%A4&amp;page=1&amp;position=3&amp;origin=search&amp;related_id=3813181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Server </a:t>
            </a:r>
            <a:r>
              <a:rPr lang="ko-KR" altLang="en-US" sz="1600" dirty="0"/>
              <a:t>이미지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>
                <a:hlinkClick r:id="rId3"/>
              </a:rPr>
              <a:t>https://www.flaticon.com/kr/free-icon/servers_4492059?term=%EC%84%9C%EB%B2%84&amp;page=1&amp;position=8&amp;origin=search&amp;related_id=4492059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프로그램 이미지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>
                <a:hlinkClick r:id="rId4"/>
              </a:rPr>
              <a:t>https://www.flaticon.com/kr/free-icon/browser_1137185?term=%ED%94%84%EB%A1%9C%EA%B7%B8%EB%9E%A8&amp;page=1&amp;position=1&amp;origin=search&amp;related_id=1137185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방화벽 이미지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>
                <a:hlinkClick r:id="rId5"/>
              </a:rPr>
              <a:t>https://www.flaticon.com/kr/free-icon/firewall_6056215?term=%EB%B0%A9%ED%99%94%EB%B2%BD&amp;page=1&amp;position=4&amp;origin=search&amp;related_id=6056215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686570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FD4BD-981E-D587-7C6E-9468C0CE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027434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TM03457515[[fn=보기]]</Template>
  <TotalTime>1968</TotalTime>
  <Words>1210</Words>
  <Application>Microsoft Office PowerPoint</Application>
  <PresentationFormat>와이드스크린</PresentationFormat>
  <Paragraphs>191</Paragraphs>
  <Slides>19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함초롬바탕</vt:lpstr>
      <vt:lpstr>Arial</vt:lpstr>
      <vt:lpstr>Office 테마</vt:lpstr>
      <vt:lpstr>NetCat</vt:lpstr>
      <vt:lpstr>목차</vt:lpstr>
      <vt:lpstr>NetCat이란?</vt:lpstr>
      <vt:lpstr>NetCat 주요 옵션들</vt:lpstr>
      <vt:lpstr>바인드 쉘, 리버스 쉘 (백도어)</vt:lpstr>
      <vt:lpstr>바인드 쉘, 리버스 쉘 (백도어)</vt:lpstr>
      <vt:lpstr>NetCat 실습 (기본 서버-클라이언트 채팅 실습 명령어)</vt:lpstr>
      <vt:lpstr>NetCat 실습 (기본 서버-클라이언트 채팅 실습)</vt:lpstr>
      <vt:lpstr>PowerPoint 프레젠테이션</vt:lpstr>
      <vt:lpstr>PowerPoint 프레젠테이션</vt:lpstr>
      <vt:lpstr>NetCat 실습 (포트 스캐닝 실습 명령어)</vt:lpstr>
      <vt:lpstr>NetCat 실습 (서버/클라이언트간 파일, 데이터 전송 명령어)</vt:lpstr>
      <vt:lpstr>NetCat 실습 (서버/클라이언트간 파일, 데이터 전송 명령어)</vt:lpstr>
      <vt:lpstr>NetCat 실습 (서버/클라이언트간 파일, 데이터 전송 명령어)</vt:lpstr>
      <vt:lpstr>NetCat 실습 (Command Injection과 조합한 리버스 쉘 실습)</vt:lpstr>
      <vt:lpstr>PowerPoint 프레젠테이션</vt:lpstr>
      <vt:lpstr>Command Injection을 활용해서 리버스 쉘 공격 시나리오</vt:lpstr>
      <vt:lpstr>사진 자료 출처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43</cp:revision>
  <dcterms:created xsi:type="dcterms:W3CDTF">2025-12-04T17:23:03Z</dcterms:created>
  <dcterms:modified xsi:type="dcterms:W3CDTF">2025-12-08T04:23:35Z</dcterms:modified>
</cp:coreProperties>
</file>