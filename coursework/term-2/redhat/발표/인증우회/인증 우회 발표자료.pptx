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56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C5868-CFA6-B639-8742-985B2319E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D830CA2-340C-7B30-6A5C-66977F089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958C70-2E49-6EB8-D9FB-DD19E0525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53192-8637-458D-9A39-1F6F7448105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57F29B-9AE2-5FE4-8442-302C8F68E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F811E3-0B51-84D0-68B3-5BC554D3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16B70-BCE1-427E-8B06-4DC40626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350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89E7D2-D7C9-C14E-A3B5-0112AB180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7AD557-E132-52D7-D3A6-A27C61354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749B6C-743D-0045-F9B6-8DCFD476C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53192-8637-458D-9A39-1F6F7448105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CF530C-1AE7-F6AB-A8D8-227AA0C1A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63A57B-8358-842E-AFCC-5CFB507F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16B70-BCE1-427E-8B06-4DC40626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4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D4E31-0CDD-BD7E-EB09-EAC4AFF84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72E4CE-DFFA-AEDF-0BA9-9FC6D4ECC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5F27BE-C241-F2A0-F2FE-F88631FC8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53192-8637-458D-9A39-1F6F7448105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AEF617-4CE8-8BBF-8DF2-EB530962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9A4CBC-E9A8-F8A4-E4E0-90C8F7456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16B70-BCE1-427E-8B06-4DC40626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52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7D598-D08D-8388-55A1-52947D1A9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26F796-ED8A-9876-03CF-1C8A449A3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6A175B-1367-03FC-58A3-E184935F1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BD10EC-97B3-587D-08A6-FF0F8EED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53192-8637-458D-9A39-1F6F7448105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B3AE76-41A3-16E6-4EF8-B082FCBBD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34CDB5-0942-4637-50D1-EB052CAD6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16B70-BCE1-427E-8B06-4DC40626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443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65931-E426-8DBB-E713-C54979B43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069EB7-2F7C-F260-3700-E26003D59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84BEE5-0AFF-DAA8-F6F7-FD898AC75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37F7F9B-84D8-889F-F0DB-A7F165744A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F271B0-124C-BE96-A664-93D05170C8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C83576-C697-CC01-BDA4-0DCB68889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53192-8637-458D-9A39-1F6F7448105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3323F1-66EE-6B4F-19D6-3B50B309F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EFF927A-6EB6-1097-EC88-BC418842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16B70-BCE1-427E-8B06-4DC40626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742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EFFA5A-4F82-E5F8-4AA7-A96C1E85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872EF2-A2A7-17AE-8D3E-2AF67C33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53192-8637-458D-9A39-1F6F7448105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BBD22A-F7D1-BEA3-DDC8-CEE0F5B09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79C94B-9533-1C2F-F2BD-DF2035C0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16B70-BCE1-427E-8B06-4DC40626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201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7700EE0-E3DA-C3FB-6B3A-863E51442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53192-8637-458D-9A39-1F6F7448105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F08616-DDE4-3C49-449B-A0369466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CC137D-1B6F-C889-3EB5-5B148C06C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16B70-BCE1-427E-8B06-4DC40626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831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89508-28EA-A29C-8FC0-D40AADF8B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87756E-81B6-CBD3-F084-313520BB6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23B010-6761-0BEE-8493-C6BDE2311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CAC152-3E69-C902-EFE8-F66CB8226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53192-8637-458D-9A39-1F6F7448105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BA179F-4E3E-9CEB-81A5-78265B7C0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E2CBF8-172F-19A3-F40A-42F7ABF26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16B70-BCE1-427E-8B06-4DC40626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641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2C9183-368A-25CC-6C89-3DF448C3F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5ABF75-C6FC-88DB-E42A-0659B4CBC3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8DC5DB-8ED5-E005-A31F-001123C6C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7DDCA1-650C-B536-7663-1CEB75A97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53192-8637-458D-9A39-1F6F7448105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DF480C-BEC6-FB83-70AF-B7F767CC4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35224C-F2D0-68BD-2745-B46D35D76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16B70-BCE1-427E-8B06-4DC40626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96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673FA-445F-1DF2-97C3-64C9675D9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D306BE-7C2E-C371-2BF1-6F5CFE6F8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C072D8-2D7E-89D5-349C-5F1161410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53192-8637-458D-9A39-1F6F7448105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2BB265-D27F-59C5-FD99-7A0490FC7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B15803-A049-FFAD-B171-87E446EB3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16B70-BCE1-427E-8B06-4DC40626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440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4F03FEC-3B5D-EE0E-4249-F1B54B6AF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475427-FED9-CD51-485B-92EC70814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5503D-E460-9E45-F029-4EBEBB1B0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53192-8637-458D-9A39-1F6F7448105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2AD99B-B96F-D02A-4BA1-CE92D5758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526B2C-D287-0301-EBBF-D19233ED1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16B70-BCE1-427E-8B06-4DC40626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11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E344A2C-F264-8423-E3F9-5D885806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F46D01-B494-6FE4-DE83-14CD30DB7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259974-4070-DAB6-EF17-790F6ADAD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53192-8637-458D-9A39-1F6F7448105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CE0805-6249-078D-C215-71FF8FB2B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CE1E16-E789-9062-9092-9C555F6C3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16B70-BCE1-427E-8B06-4DC406261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444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103A5-DD01-8C7B-9A22-62F72A3E5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/>
              <a:t>인증 우회</a:t>
            </a:r>
          </a:p>
        </p:txBody>
      </p:sp>
    </p:spTree>
    <p:extLst>
      <p:ext uri="{BB962C8B-B14F-4D97-AF65-F5344CB8AC3E}">
        <p14:creationId xmlns:p14="http://schemas.microsoft.com/office/powerpoint/2010/main" val="1348807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7625A-DE13-D1CA-2A8E-CB41E232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87209A-9024-ACBE-1A99-803DE827A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/>
              <a:t>1. 2FA </a:t>
            </a:r>
            <a:r>
              <a:rPr lang="ko-KR" altLang="en-US" dirty="0"/>
              <a:t>인증 우회</a:t>
            </a:r>
          </a:p>
          <a:p>
            <a:pPr marL="0" indent="0">
              <a:buNone/>
            </a:pPr>
            <a:r>
              <a:rPr lang="en-US" altLang="ko-KR" dirty="0"/>
              <a:t>   1-1. 2FA </a:t>
            </a:r>
            <a:r>
              <a:rPr lang="ko-KR" altLang="en-US" dirty="0"/>
              <a:t>인증의 개념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1-2. </a:t>
            </a:r>
            <a:r>
              <a:rPr lang="ko-KR" altLang="en-US" dirty="0"/>
              <a:t>실습 </a:t>
            </a:r>
            <a:r>
              <a:rPr lang="en-US" altLang="ko-KR" dirty="0"/>
              <a:t>(</a:t>
            </a:r>
            <a:r>
              <a:rPr lang="ko-KR" altLang="en-US" dirty="0"/>
              <a:t>문제 </a:t>
            </a:r>
            <a:r>
              <a:rPr lang="en-US" altLang="ko-KR" dirty="0"/>
              <a:t>1</a:t>
            </a:r>
            <a:r>
              <a:rPr lang="ko-KR" altLang="en-US" dirty="0"/>
              <a:t>개 풀기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JWT</a:t>
            </a:r>
            <a:r>
              <a:rPr lang="ko-KR" altLang="en-US" dirty="0"/>
              <a:t>를 이용한 인증 우회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2-1. JWT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en-US" altLang="ko-KR" dirty="0"/>
              <a:t>  2-2. JWT </a:t>
            </a:r>
            <a:r>
              <a:rPr lang="ko-KR" altLang="en-US" dirty="0"/>
              <a:t>인증 과정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2-3. </a:t>
            </a:r>
            <a:r>
              <a:rPr lang="ko-KR" altLang="en-US" dirty="0"/>
              <a:t>인증 우회 원리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2-4. </a:t>
            </a:r>
            <a:r>
              <a:rPr lang="ko-KR" altLang="en-US" dirty="0"/>
              <a:t>실습 </a:t>
            </a:r>
            <a:r>
              <a:rPr lang="en-US" altLang="ko-KR" dirty="0"/>
              <a:t>(</a:t>
            </a:r>
            <a:r>
              <a:rPr lang="ko-KR" altLang="en-US" dirty="0"/>
              <a:t>문제 </a:t>
            </a:r>
            <a:r>
              <a:rPr lang="en-US" altLang="ko-KR" dirty="0"/>
              <a:t>1</a:t>
            </a:r>
            <a:r>
              <a:rPr lang="ko-KR" altLang="en-US" dirty="0"/>
              <a:t>개만 풀기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66102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CB9B8-AC9C-2116-E04D-EF701A86B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1-1. 2FA </a:t>
            </a:r>
            <a:r>
              <a:rPr lang="ko-KR" altLang="en-US" dirty="0"/>
              <a:t>인증의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0DBF74-4CC7-C840-6EC5-1AE7FF81C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2</a:t>
            </a:r>
            <a:r>
              <a:rPr lang="ko-KR" altLang="en-US" dirty="0"/>
              <a:t>가지 이상의 서로 다른 인증 유형을 같이 사용하여 보안성을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높인 인증 방법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인증 유형의 종류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ko-KR" altLang="en-US" dirty="0"/>
              <a:t>지식 기반 </a:t>
            </a:r>
            <a:r>
              <a:rPr lang="en-US" altLang="ko-KR" dirty="0"/>
              <a:t>: </a:t>
            </a:r>
            <a:r>
              <a:rPr lang="ko-KR" altLang="en-US" dirty="0"/>
              <a:t>비밀번호</a:t>
            </a:r>
            <a:r>
              <a:rPr lang="en-US" altLang="ko-KR" dirty="0"/>
              <a:t>, </a:t>
            </a:r>
            <a:r>
              <a:rPr lang="ko-KR" altLang="en-US" dirty="0"/>
              <a:t>보안 질문</a:t>
            </a:r>
            <a:r>
              <a:rPr lang="en-US" altLang="ko-KR" dirty="0"/>
              <a:t>, PIN </a:t>
            </a:r>
            <a:r>
              <a:rPr lang="ko-KR" altLang="en-US" dirty="0"/>
              <a:t>번호 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ko-KR" altLang="en-US" dirty="0"/>
              <a:t>소유 기반 </a:t>
            </a:r>
            <a:r>
              <a:rPr lang="en-US" altLang="ko-KR" dirty="0"/>
              <a:t>: OTP, </a:t>
            </a:r>
            <a:r>
              <a:rPr lang="ko-KR" altLang="en-US" dirty="0"/>
              <a:t>인증서</a:t>
            </a:r>
            <a:r>
              <a:rPr lang="en-US" altLang="ko-KR" dirty="0"/>
              <a:t>, SMS</a:t>
            </a:r>
            <a:r>
              <a:rPr lang="ko-KR" altLang="en-US" dirty="0"/>
              <a:t> 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ko-KR" altLang="en-US" dirty="0" smtClean="0"/>
              <a:t>생체 </a:t>
            </a:r>
            <a:r>
              <a:rPr lang="ko-KR" altLang="en-US" dirty="0"/>
              <a:t>기반 </a:t>
            </a:r>
            <a:r>
              <a:rPr lang="en-US" altLang="ko-KR" dirty="0"/>
              <a:t>: </a:t>
            </a:r>
            <a:r>
              <a:rPr lang="ko-KR" altLang="en-US" dirty="0"/>
              <a:t>홍채</a:t>
            </a:r>
            <a:r>
              <a:rPr lang="en-US" altLang="ko-KR" dirty="0"/>
              <a:t>, </a:t>
            </a:r>
            <a:r>
              <a:rPr lang="ko-KR" altLang="en-US" dirty="0"/>
              <a:t>지문인식</a:t>
            </a:r>
            <a:r>
              <a:rPr lang="en-US" altLang="ko-KR" dirty="0"/>
              <a:t>, </a:t>
            </a:r>
            <a:r>
              <a:rPr lang="ko-KR" altLang="en-US" dirty="0"/>
              <a:t>목소리 등</a:t>
            </a:r>
          </a:p>
        </p:txBody>
      </p:sp>
    </p:spTree>
    <p:extLst>
      <p:ext uri="{BB962C8B-B14F-4D97-AF65-F5344CB8AC3E}">
        <p14:creationId xmlns:p14="http://schemas.microsoft.com/office/powerpoint/2010/main" val="3218450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17815E-8853-C63F-7E67-841137D8B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1-1. 2FA </a:t>
            </a:r>
            <a:r>
              <a:rPr lang="ko-KR" altLang="en-US" dirty="0"/>
              <a:t>인증의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338462-9709-D154-C2BF-F4F492FA4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/>
              <a:t>예시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ko-KR" altLang="en-US" dirty="0"/>
              <a:t>은행 앱으로 돈을 계좌이체 할 때 </a:t>
            </a:r>
            <a:r>
              <a:rPr lang="en-US" altLang="ko-KR" dirty="0"/>
              <a:t>(</a:t>
            </a:r>
            <a:r>
              <a:rPr lang="ko-KR" altLang="en-US" dirty="0"/>
              <a:t>생체 </a:t>
            </a:r>
            <a:r>
              <a:rPr lang="en-US" altLang="ko-KR" dirty="0"/>
              <a:t>+ </a:t>
            </a:r>
            <a:r>
              <a:rPr lang="ko-KR" altLang="en-US" dirty="0"/>
              <a:t>지식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ko-KR" altLang="en-US" dirty="0"/>
              <a:t>새로운 </a:t>
            </a:r>
            <a:r>
              <a:rPr lang="en-US" altLang="ko-KR" dirty="0"/>
              <a:t>PC</a:t>
            </a:r>
            <a:r>
              <a:rPr lang="ko-KR" altLang="en-US" dirty="0"/>
              <a:t>에서 </a:t>
            </a:r>
            <a:r>
              <a:rPr lang="en-US" altLang="ko-KR" dirty="0"/>
              <a:t>Google </a:t>
            </a:r>
            <a:r>
              <a:rPr lang="ko-KR" altLang="en-US" dirty="0"/>
              <a:t>로그인 진행 </a:t>
            </a:r>
            <a:r>
              <a:rPr lang="en-US" altLang="ko-KR" dirty="0"/>
              <a:t>(</a:t>
            </a:r>
            <a:r>
              <a:rPr lang="ko-KR" altLang="en-US" dirty="0"/>
              <a:t>지식 </a:t>
            </a:r>
            <a:r>
              <a:rPr lang="en-US" altLang="ko-KR" dirty="0"/>
              <a:t>+ </a:t>
            </a:r>
            <a:r>
              <a:rPr lang="ko-KR" altLang="en-US" dirty="0"/>
              <a:t>소유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* 2FA </a:t>
            </a:r>
            <a:r>
              <a:rPr lang="ko-KR" altLang="en-US" dirty="0"/>
              <a:t>인증 방식을 사용하는 것이 보안상 안전하다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1179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BCEEC3-7A84-5C52-DBBF-1002A1B4D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/>
              <a:t>실습 진행</a:t>
            </a:r>
          </a:p>
        </p:txBody>
      </p:sp>
    </p:spTree>
    <p:extLst>
      <p:ext uri="{BB962C8B-B14F-4D97-AF65-F5344CB8AC3E}">
        <p14:creationId xmlns:p14="http://schemas.microsoft.com/office/powerpoint/2010/main" val="2359162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B5B5C7-1ADF-7202-4605-155A99312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2-1. JWT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A85EAC-DF58-EC85-B9E9-D09AD62B7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서버가 클라이언트를 구분하기 위해서 생성하는 토큰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일련의 문자열 데이터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JWT </a:t>
            </a:r>
            <a:r>
              <a:rPr lang="ko-KR" altLang="en-US" dirty="0"/>
              <a:t>종류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Access</a:t>
            </a:r>
            <a:r>
              <a:rPr lang="ko-KR" altLang="en-US" dirty="0"/>
              <a:t> </a:t>
            </a:r>
            <a:r>
              <a:rPr lang="en-US" altLang="ko-KR" dirty="0"/>
              <a:t>Token</a:t>
            </a:r>
          </a:p>
          <a:p>
            <a:pPr marL="0" indent="0">
              <a:buNone/>
            </a:pPr>
            <a:r>
              <a:rPr lang="en-US" altLang="ko-KR" dirty="0"/>
              <a:t> - Refresh Token</a:t>
            </a:r>
          </a:p>
        </p:txBody>
      </p:sp>
    </p:spTree>
    <p:extLst>
      <p:ext uri="{BB962C8B-B14F-4D97-AF65-F5344CB8AC3E}">
        <p14:creationId xmlns:p14="http://schemas.microsoft.com/office/powerpoint/2010/main" val="1622720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954AB6-A515-BFA6-822D-B468DC06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2-1. JWT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2C9937-B9B9-1533-7439-A9FFB932E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JWT (Access, Refresh Token)</a:t>
            </a:r>
            <a:r>
              <a:rPr lang="ko-KR" altLang="en-US" dirty="0"/>
              <a:t>의 구조는 </a:t>
            </a:r>
            <a:r>
              <a:rPr lang="en-US" altLang="ko-KR" dirty="0"/>
              <a:t>3</a:t>
            </a:r>
            <a:r>
              <a:rPr lang="ko-KR" altLang="en-US" dirty="0"/>
              <a:t>부분으로 이루어진다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/>
              <a:t>Header : </a:t>
            </a:r>
            <a:r>
              <a:rPr lang="ko-KR" altLang="en-US" dirty="0"/>
              <a:t>암호화 알고리즘 종류</a:t>
            </a:r>
            <a:r>
              <a:rPr lang="en-US" altLang="ko-KR" dirty="0"/>
              <a:t>, </a:t>
            </a:r>
            <a:r>
              <a:rPr lang="ko-KR" altLang="en-US" dirty="0"/>
              <a:t>토큰 </a:t>
            </a:r>
            <a:r>
              <a:rPr lang="en-US" altLang="ko-KR" dirty="0"/>
              <a:t>Type </a:t>
            </a:r>
            <a:r>
              <a:rPr lang="ko-KR" altLang="en-US" dirty="0"/>
              <a:t>정보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/>
              <a:t>Payload : </a:t>
            </a:r>
            <a:r>
              <a:rPr lang="ko-KR" altLang="en-US" dirty="0"/>
              <a:t>사용자 이름</a:t>
            </a:r>
            <a:r>
              <a:rPr lang="en-US" altLang="ko-KR" dirty="0"/>
              <a:t>, Token</a:t>
            </a:r>
            <a:r>
              <a:rPr lang="ko-KR" altLang="en-US" dirty="0"/>
              <a:t> 발급 일시</a:t>
            </a:r>
            <a:r>
              <a:rPr lang="en-US" altLang="ko-KR" dirty="0"/>
              <a:t>, </a:t>
            </a:r>
            <a:r>
              <a:rPr lang="ko-KR" altLang="en-US" dirty="0"/>
              <a:t>만료 시각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/>
              <a:t>Signature : </a:t>
            </a:r>
            <a:r>
              <a:rPr lang="ko-KR" altLang="en-US" dirty="0"/>
              <a:t>암호화 알고리즘</a:t>
            </a:r>
            <a:r>
              <a:rPr lang="en-US" altLang="ko-KR" dirty="0"/>
              <a:t>(</a:t>
            </a:r>
            <a:r>
              <a:rPr lang="en-US" altLang="ko-KR" dirty="0" err="1"/>
              <a:t>Header.Payload</a:t>
            </a:r>
            <a:r>
              <a:rPr lang="en-US" altLang="ko-KR" dirty="0"/>
              <a:t>.</a:t>
            </a:r>
            <a:r>
              <a:rPr lang="ko-KR" altLang="en-US" dirty="0"/>
              <a:t>서버 개인키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0305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68F15-BF64-F451-80B6-4D60A391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2-1. JWT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112D6A0A-FD5B-1EE0-5E7F-C43A43D6B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10219441" cy="4695852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40058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F8E470E-09CB-95DB-8ADC-3E2A1DA07161}"/>
              </a:ext>
            </a:extLst>
          </p:cNvPr>
          <p:cNvSpPr/>
          <p:nvPr/>
        </p:nvSpPr>
        <p:spPr>
          <a:xfrm>
            <a:off x="1781666" y="94267"/>
            <a:ext cx="1583703" cy="9332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클라이언트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72ED498-1A76-F429-8940-AD0A29324E7F}"/>
              </a:ext>
            </a:extLst>
          </p:cNvPr>
          <p:cNvSpPr/>
          <p:nvPr/>
        </p:nvSpPr>
        <p:spPr>
          <a:xfrm>
            <a:off x="7154944" y="94267"/>
            <a:ext cx="1781666" cy="93325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서버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1BF9D6F-1A9A-6C79-574B-21953FF0A52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573518" y="1027521"/>
            <a:ext cx="15710" cy="573621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7B53CBB-04DD-B1FE-98E1-DF908B4B4C4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045777" y="1027521"/>
            <a:ext cx="9426" cy="573621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CA8AA0C-461C-FA64-1291-BD563152DB95}"/>
              </a:ext>
            </a:extLst>
          </p:cNvPr>
          <p:cNvCxnSpPr/>
          <p:nvPr/>
        </p:nvCxnSpPr>
        <p:spPr>
          <a:xfrm>
            <a:off x="2582944" y="1357456"/>
            <a:ext cx="5462833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FF2000E-0FBD-7F5E-8AFA-8A448633898F}"/>
              </a:ext>
            </a:extLst>
          </p:cNvPr>
          <p:cNvSpPr txBox="1"/>
          <p:nvPr/>
        </p:nvSpPr>
        <p:spPr>
          <a:xfrm>
            <a:off x="4875779" y="91355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로그인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D77DCC-5994-B96A-272C-6EDB7FACB76F}"/>
              </a:ext>
            </a:extLst>
          </p:cNvPr>
          <p:cNvSpPr txBox="1"/>
          <p:nvPr/>
        </p:nvSpPr>
        <p:spPr>
          <a:xfrm>
            <a:off x="8398692" y="1060511"/>
            <a:ext cx="2530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/>
              <a:t>계정 확인 및 </a:t>
            </a:r>
            <a:endParaRPr lang="en-US" altLang="ko-KR" sz="1600" dirty="0"/>
          </a:p>
          <a:p>
            <a:pPr algn="ctr"/>
            <a:r>
              <a:rPr lang="en-US" altLang="ko-KR" sz="1600" dirty="0"/>
              <a:t>Access/Refresh </a:t>
            </a:r>
            <a:r>
              <a:rPr lang="ko-KR" altLang="en-US" sz="1600" dirty="0"/>
              <a:t>토큰 발급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30686BD-9D93-C7EF-E862-646CE0633684}"/>
              </a:ext>
            </a:extLst>
          </p:cNvPr>
          <p:cNvCxnSpPr>
            <a:cxnSpLocks/>
          </p:cNvCxnSpPr>
          <p:nvPr/>
        </p:nvCxnSpPr>
        <p:spPr>
          <a:xfrm flipH="1">
            <a:off x="2582944" y="2139881"/>
            <a:ext cx="5462833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DD9E75F-BEB2-34AF-7BD7-F33EDA35E3E0}"/>
              </a:ext>
            </a:extLst>
          </p:cNvPr>
          <p:cNvSpPr txBox="1"/>
          <p:nvPr/>
        </p:nvSpPr>
        <p:spPr>
          <a:xfrm>
            <a:off x="3463934" y="1695977"/>
            <a:ext cx="3691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Access Token, Refresh Token </a:t>
            </a:r>
            <a:r>
              <a:rPr lang="ko-KR" altLang="en-US" dirty="0"/>
              <a:t>전달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146661B-F704-FCBD-6F08-90CFB685A97E}"/>
              </a:ext>
            </a:extLst>
          </p:cNvPr>
          <p:cNvCxnSpPr/>
          <p:nvPr/>
        </p:nvCxnSpPr>
        <p:spPr>
          <a:xfrm>
            <a:off x="2593941" y="2893240"/>
            <a:ext cx="5462833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82D7341-AEF9-7879-B775-598502DE5D99}"/>
              </a:ext>
            </a:extLst>
          </p:cNvPr>
          <p:cNvSpPr txBox="1"/>
          <p:nvPr/>
        </p:nvSpPr>
        <p:spPr>
          <a:xfrm>
            <a:off x="2995328" y="2507918"/>
            <a:ext cx="4660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요청할 때마다 </a:t>
            </a:r>
            <a:r>
              <a:rPr lang="en-US" altLang="ko-KR" dirty="0"/>
              <a:t>Access Token </a:t>
            </a:r>
            <a:r>
              <a:rPr lang="ko-KR" altLang="en-US" dirty="0"/>
              <a:t>포함해서 전달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727732-4934-C798-7A3E-DD6449CDD145}"/>
              </a:ext>
            </a:extLst>
          </p:cNvPr>
          <p:cNvSpPr txBox="1"/>
          <p:nvPr/>
        </p:nvSpPr>
        <p:spPr>
          <a:xfrm>
            <a:off x="8198573" y="2584862"/>
            <a:ext cx="29306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Token </a:t>
            </a:r>
            <a:r>
              <a:rPr lang="ko-KR" altLang="en-US" sz="1600" dirty="0"/>
              <a:t>확인 및 변조 여부 확인</a:t>
            </a:r>
            <a:endParaRPr lang="en-US" altLang="ko-KR" sz="1600" dirty="0"/>
          </a:p>
          <a:p>
            <a:pPr algn="ctr"/>
            <a:r>
              <a:rPr lang="en-US" altLang="ko-KR" sz="1600" dirty="0"/>
              <a:t>(Signature </a:t>
            </a:r>
            <a:r>
              <a:rPr lang="ko-KR" altLang="en-US" sz="1600" dirty="0"/>
              <a:t>값 대조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0F5466-69CC-19D9-921F-DDE5E76B832C}"/>
              </a:ext>
            </a:extLst>
          </p:cNvPr>
          <p:cNvSpPr txBox="1"/>
          <p:nvPr/>
        </p:nvSpPr>
        <p:spPr>
          <a:xfrm>
            <a:off x="3496843" y="3639865"/>
            <a:ext cx="367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만약 </a:t>
            </a:r>
            <a:r>
              <a:rPr lang="en-US" altLang="ko-KR" dirty="0"/>
              <a:t>Access Token</a:t>
            </a:r>
            <a:r>
              <a:rPr lang="ko-KR" altLang="en-US" dirty="0"/>
              <a:t>이 만료된다면</a:t>
            </a:r>
            <a:r>
              <a:rPr lang="en-US" altLang="ko-KR" dirty="0"/>
              <a:t>?</a:t>
            </a:r>
            <a:endParaRPr lang="ko-KR" altLang="en-US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1022D43-0561-DE73-845E-7F6B59F16D43}"/>
              </a:ext>
            </a:extLst>
          </p:cNvPr>
          <p:cNvCxnSpPr>
            <a:cxnSpLocks/>
          </p:cNvCxnSpPr>
          <p:nvPr/>
        </p:nvCxnSpPr>
        <p:spPr>
          <a:xfrm>
            <a:off x="2604937" y="4346655"/>
            <a:ext cx="5440839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742358F-8030-BC7F-8D6A-B9A72AA14407}"/>
              </a:ext>
            </a:extLst>
          </p:cNvPr>
          <p:cNvSpPr txBox="1"/>
          <p:nvPr/>
        </p:nvSpPr>
        <p:spPr>
          <a:xfrm>
            <a:off x="3913960" y="4006391"/>
            <a:ext cx="279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요청 </a:t>
            </a:r>
            <a:r>
              <a:rPr lang="en-US" altLang="ko-KR" dirty="0"/>
              <a:t>(Access Token </a:t>
            </a:r>
            <a:r>
              <a:rPr lang="ko-KR" altLang="en-US" dirty="0"/>
              <a:t>포함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7515C3-0D9D-A9BA-AB09-9FF7382DA220}"/>
              </a:ext>
            </a:extLst>
          </p:cNvPr>
          <p:cNvSpPr txBox="1"/>
          <p:nvPr/>
        </p:nvSpPr>
        <p:spPr>
          <a:xfrm>
            <a:off x="8295684" y="4050125"/>
            <a:ext cx="2582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Access Token </a:t>
            </a:r>
            <a:r>
              <a:rPr lang="ko-KR" altLang="en-US" sz="1600" dirty="0"/>
              <a:t>만료된 것을</a:t>
            </a:r>
            <a:endParaRPr lang="en-US" altLang="ko-KR" sz="1600" dirty="0"/>
          </a:p>
          <a:p>
            <a:pPr algn="ctr"/>
            <a:r>
              <a:rPr lang="ko-KR" altLang="en-US" sz="1600" dirty="0"/>
              <a:t>확인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DCC8B256-E91A-0566-4271-7652B043CA7A}"/>
              </a:ext>
            </a:extLst>
          </p:cNvPr>
          <p:cNvCxnSpPr>
            <a:cxnSpLocks/>
          </p:cNvCxnSpPr>
          <p:nvPr/>
        </p:nvCxnSpPr>
        <p:spPr>
          <a:xfrm flipH="1">
            <a:off x="2593941" y="3394433"/>
            <a:ext cx="5451835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95292CF-789C-C1A9-09D2-33917D3E43C1}"/>
              </a:ext>
            </a:extLst>
          </p:cNvPr>
          <p:cNvSpPr txBox="1"/>
          <p:nvPr/>
        </p:nvSpPr>
        <p:spPr>
          <a:xfrm>
            <a:off x="5003265" y="30127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응답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C6433BA-AA9F-8508-9ED0-8DA725E26015}"/>
              </a:ext>
            </a:extLst>
          </p:cNvPr>
          <p:cNvCxnSpPr>
            <a:cxnSpLocks/>
          </p:cNvCxnSpPr>
          <p:nvPr/>
        </p:nvCxnSpPr>
        <p:spPr>
          <a:xfrm flipH="1">
            <a:off x="2604937" y="4847847"/>
            <a:ext cx="5440839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F89B9CC-151E-3DF7-B421-8D8AA8E0FC56}"/>
              </a:ext>
            </a:extLst>
          </p:cNvPr>
          <p:cNvSpPr txBox="1"/>
          <p:nvPr/>
        </p:nvSpPr>
        <p:spPr>
          <a:xfrm>
            <a:off x="3829357" y="4478515"/>
            <a:ext cx="311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Access Token </a:t>
            </a:r>
            <a:r>
              <a:rPr lang="ko-KR" altLang="en-US" dirty="0"/>
              <a:t>만료됨을 알림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F1F5A30-FA4D-E99A-682E-21ECECA0B79E}"/>
              </a:ext>
            </a:extLst>
          </p:cNvPr>
          <p:cNvCxnSpPr>
            <a:cxnSpLocks/>
          </p:cNvCxnSpPr>
          <p:nvPr/>
        </p:nvCxnSpPr>
        <p:spPr>
          <a:xfrm>
            <a:off x="2615933" y="5537885"/>
            <a:ext cx="5440839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6CEE725-9EC6-3479-485F-A65AA26B686B}"/>
              </a:ext>
            </a:extLst>
          </p:cNvPr>
          <p:cNvSpPr txBox="1"/>
          <p:nvPr/>
        </p:nvSpPr>
        <p:spPr>
          <a:xfrm>
            <a:off x="3694091" y="4950639"/>
            <a:ext cx="35926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Refresh Token</a:t>
            </a:r>
            <a:r>
              <a:rPr lang="ko-KR" altLang="en-US" sz="1600" dirty="0"/>
              <a:t>을 포함해서 새로운 </a:t>
            </a:r>
            <a:r>
              <a:rPr lang="en-US" altLang="ko-KR" sz="1600" dirty="0"/>
              <a:t>Access Token </a:t>
            </a:r>
            <a:r>
              <a:rPr lang="ko-KR" altLang="en-US" sz="1600" dirty="0"/>
              <a:t>발급을 요청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3A2427-366C-2799-AC87-6BAE546BA6F3}"/>
              </a:ext>
            </a:extLst>
          </p:cNvPr>
          <p:cNvSpPr txBox="1"/>
          <p:nvPr/>
        </p:nvSpPr>
        <p:spPr>
          <a:xfrm>
            <a:off x="8327103" y="5366137"/>
            <a:ext cx="2582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새로운 </a:t>
            </a:r>
            <a:r>
              <a:rPr lang="en-US" altLang="ko-KR" sz="1600" dirty="0"/>
              <a:t>Access Token </a:t>
            </a:r>
            <a:r>
              <a:rPr lang="ko-KR" altLang="en-US" sz="1600" dirty="0"/>
              <a:t>발급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4533F868-DD01-D6DB-9AA2-F49090E57FD6}"/>
              </a:ext>
            </a:extLst>
          </p:cNvPr>
          <p:cNvCxnSpPr>
            <a:cxnSpLocks/>
          </p:cNvCxnSpPr>
          <p:nvPr/>
        </p:nvCxnSpPr>
        <p:spPr>
          <a:xfrm flipH="1">
            <a:off x="2615933" y="6155705"/>
            <a:ext cx="5429843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78D55D0-3F6C-4589-B9CD-A3AEE15C077F}"/>
              </a:ext>
            </a:extLst>
          </p:cNvPr>
          <p:cNvSpPr txBox="1"/>
          <p:nvPr/>
        </p:nvSpPr>
        <p:spPr>
          <a:xfrm>
            <a:off x="3662943" y="5783316"/>
            <a:ext cx="3654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새롭게 발급한 </a:t>
            </a:r>
            <a:r>
              <a:rPr lang="en-US" altLang="ko-KR" dirty="0"/>
              <a:t>Access Token </a:t>
            </a:r>
            <a:r>
              <a:rPr lang="ko-KR" altLang="en-US" dirty="0"/>
              <a:t>전달</a:t>
            </a:r>
          </a:p>
        </p:txBody>
      </p:sp>
    </p:spTree>
    <p:extLst>
      <p:ext uri="{BB962C8B-B14F-4D97-AF65-F5344CB8AC3E}">
        <p14:creationId xmlns:p14="http://schemas.microsoft.com/office/powerpoint/2010/main" val="861370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D4098-F751-5370-CF3D-4CB551BE8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2-2. JWT </a:t>
            </a:r>
            <a:r>
              <a:rPr lang="ko-KR" altLang="en-US" dirty="0"/>
              <a:t>인증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A1AC93-1DE0-CA19-BAAA-BFB17CF87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1395167"/>
            <a:ext cx="11717518" cy="47817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/>
              <a:t>서버가 클라이언트에게 받은 토큰이 </a:t>
            </a:r>
            <a:r>
              <a:rPr lang="ko-KR" altLang="en-US" dirty="0" err="1"/>
              <a:t>변조된지</a:t>
            </a:r>
            <a:r>
              <a:rPr lang="ko-KR" altLang="en-US" dirty="0"/>
              <a:t> 검사하는 과정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1. Access Token</a:t>
            </a:r>
            <a:r>
              <a:rPr lang="ko-KR" altLang="en-US" dirty="0"/>
              <a:t>에서 </a:t>
            </a:r>
            <a:r>
              <a:rPr lang="en-US" altLang="ko-KR" dirty="0"/>
              <a:t>Header, Payload </a:t>
            </a:r>
            <a:r>
              <a:rPr lang="ko-KR" altLang="en-US" dirty="0"/>
              <a:t>부분을 가져온다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자신의 개인키와 함께 일렬로 나열한다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 (</a:t>
            </a:r>
            <a:r>
              <a:rPr lang="en-US" altLang="ko-KR" dirty="0" err="1"/>
              <a:t>Header.Payload</a:t>
            </a:r>
            <a:r>
              <a:rPr lang="en-US" altLang="ko-KR" dirty="0"/>
              <a:t>.</a:t>
            </a:r>
            <a:r>
              <a:rPr lang="ko-KR" altLang="en-US" dirty="0"/>
              <a:t>개인키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Header</a:t>
            </a:r>
            <a:r>
              <a:rPr lang="ko-KR" altLang="en-US" dirty="0"/>
              <a:t>에 정의된 알고리즘으로 일렬로 나열된 값을 암호화 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Access Token</a:t>
            </a:r>
            <a:r>
              <a:rPr lang="ko-KR" altLang="en-US" dirty="0"/>
              <a:t>의 </a:t>
            </a:r>
            <a:r>
              <a:rPr lang="en-US" altLang="ko-KR" dirty="0"/>
              <a:t>Signature </a:t>
            </a:r>
            <a:r>
              <a:rPr lang="ko-KR" altLang="en-US" dirty="0"/>
              <a:t>부분과 서로 </a:t>
            </a:r>
            <a:r>
              <a:rPr lang="ko-KR" altLang="en-US" dirty="0" err="1"/>
              <a:t>같은지</a:t>
            </a:r>
            <a:r>
              <a:rPr lang="ko-KR" altLang="en-US" dirty="0"/>
              <a:t> 검사한다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5722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C48ECA-1F7C-B4A9-36C5-936A18031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2-3. </a:t>
            </a:r>
            <a:r>
              <a:rPr lang="ko-KR" altLang="en-US" dirty="0"/>
              <a:t>인증 우회 원리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D124CC-F3A9-276E-17EB-12DEE7FB7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암호화 알고리즘이 정의된 부분인 </a:t>
            </a:r>
            <a:r>
              <a:rPr lang="en-US" altLang="ko-KR" dirty="0"/>
              <a:t>“</a:t>
            </a:r>
            <a:r>
              <a:rPr lang="en-US" altLang="ko-KR" dirty="0" err="1"/>
              <a:t>alg</a:t>
            </a:r>
            <a:r>
              <a:rPr lang="en-US" altLang="ko-KR" dirty="0"/>
              <a:t>” : “</a:t>
            </a:r>
            <a:r>
              <a:rPr lang="ko-KR" altLang="en-US" dirty="0"/>
              <a:t>암호화 알고리즘</a:t>
            </a:r>
            <a:r>
              <a:rPr lang="en-US" altLang="ko-KR" dirty="0"/>
              <a:t>”</a:t>
            </a:r>
          </a:p>
          <a:p>
            <a:pPr marL="0" indent="0">
              <a:buNone/>
            </a:pPr>
            <a:r>
              <a:rPr lang="ko-KR" altLang="en-US" dirty="0"/>
              <a:t>이 부분의 값을 </a:t>
            </a:r>
            <a:r>
              <a:rPr lang="en-US" altLang="ko-KR" dirty="0"/>
              <a:t>“none”</a:t>
            </a:r>
            <a:r>
              <a:rPr lang="ko-KR" altLang="en-US" dirty="0"/>
              <a:t>으로 변조해서 보낸다면 어떨까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별도의 인증 없이 서버는 해당 요청을 처리할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0655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25BE64E-C6E1-AB37-A909-E8A565C15CAF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/>
              <a:t>실습 진행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0163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409</Words>
  <Application>Microsoft Office PowerPoint</Application>
  <PresentationFormat>와이드스크린</PresentationFormat>
  <Paragraphs>76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인증 우회</vt:lpstr>
      <vt:lpstr>목차</vt:lpstr>
      <vt:lpstr>1-1. 2FA 인증의 개념</vt:lpstr>
      <vt:lpstr>1-1. 2FA 인증의 개념</vt:lpstr>
      <vt:lpstr>실습 진행</vt:lpstr>
      <vt:lpstr>2-1. JWT란?</vt:lpstr>
      <vt:lpstr>2-1. JWT란?</vt:lpstr>
      <vt:lpstr>2-1. JWT란?</vt:lpstr>
      <vt:lpstr>PowerPoint 프레젠테이션</vt:lpstr>
      <vt:lpstr>2-2. JWT 인증 과정</vt:lpstr>
      <vt:lpstr>2-3. 인증 우회 원리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인증 우회</dc:title>
  <dc:creator>TJ</dc:creator>
  <cp:lastModifiedBy>TJ</cp:lastModifiedBy>
  <cp:revision>7</cp:revision>
  <dcterms:created xsi:type="dcterms:W3CDTF">2025-12-21T19:21:12Z</dcterms:created>
  <dcterms:modified xsi:type="dcterms:W3CDTF">2025-12-23T07:06:11Z</dcterms:modified>
</cp:coreProperties>
</file>