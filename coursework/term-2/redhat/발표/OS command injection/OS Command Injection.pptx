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58" r:id="rId5"/>
    <p:sldId id="266" r:id="rId6"/>
    <p:sldId id="265" r:id="rId7"/>
    <p:sldId id="261" r:id="rId8"/>
    <p:sldId id="262" r:id="rId9"/>
    <p:sldId id="264" r:id="rId10"/>
    <p:sldId id="26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9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90217-0359-47CE-9055-3867DF90822F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C936F-A835-4B41-BCF8-83AD190015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49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여러가지 종류가 있으나 지금 필요한 </a:t>
            </a:r>
            <a:r>
              <a:rPr lang="en-US" altLang="ko-KR" dirty="0"/>
              <a:t>GET, POST</a:t>
            </a:r>
            <a:r>
              <a:rPr lang="ko-KR" altLang="en-US" dirty="0"/>
              <a:t>만 설명한다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C936F-A835-4B41-BCF8-83AD1900152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882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편지봉투 속 편지지라고 생각하면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7C936F-A835-4B41-BCF8-83AD1900152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731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EA87E-2A7C-766B-D23F-2C963D879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A63552-AA7D-4C75-A4A7-EB2A9FDDF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338638-F0E4-6179-EF27-F2F1DD02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147824-442D-FD58-ADEC-AD98576D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1419E-0EA6-74B6-08E9-C6664CDB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95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8C9F1-20D9-7DEE-B86B-56B616ED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E2FDF3-7886-5882-9197-BF455F01D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52080B-880F-7B4A-9EEE-BCBBEE78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767F52-62BE-C7E5-255B-58A8A500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B3C8D-5463-CBEB-BABA-988F96FA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51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53830-A289-604A-9A6C-68417467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EA7850-62EE-431F-4325-E1A15F61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E6ACE-747B-A3D6-E45D-26B5128D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BA25F3-09A6-1DBA-A877-D895EE6E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143E32-41AA-FAB7-C652-5303A050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37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B3921-24F6-756A-F240-350E83DE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AB77BC-CC31-AB72-0870-7D6B3CE5D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AD9B38-88F6-B61F-5A66-6E96B031C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88230F-C4E6-6192-8D4F-137C1540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92EDA1-15D0-713F-A954-ECAA38F2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5DCA71-CCE1-FB2A-CF62-31102A8B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18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E5BFD-D3B5-68A1-C207-9875934AC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D6C574-11D8-27B3-A343-769EF6A18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18BEC4-0FC5-A0C6-43E7-38313FC12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368823-3501-5375-6566-70201930C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95D623-E70F-9658-AC4A-FD451C8EE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4693871-EAB6-8C6A-285E-E01A6072B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C19AF7-268F-92F8-39D3-DC864A28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52D344-A4A2-AE88-7772-626B5F6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6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88383-E634-B2A5-C243-824CEB5C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188117-4396-1DDB-87C6-B076E14C3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514947-C445-1F2A-E04F-84B765CF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6F5F61-4F06-BC5B-4312-71CA8881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303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4143BB-A1E4-F7ED-62A6-3ADB6D9A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02094C-B12A-E6E4-245C-B3D281EA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FB778E-1A6B-5D16-FA0A-01F9CCF4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96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4BE4E-D7A8-38AF-B092-22E1301D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CBC75C-D469-1DEA-8FD1-E82694195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72F799-4E12-6190-6AF5-5A5061217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9F59F0-1D62-0565-67A8-8DB808D3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D75F85-B0BF-4C21-DB44-1BF7537F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864577-4734-0E00-CEA4-170BDCF35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7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8B85A-DA61-AF42-2053-52574D8D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406B7E-8546-FFB9-BD82-66CAF1DC07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6C2BBF-F6BD-E196-E1F3-1EE74C434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926069-6C1F-51C6-DBD9-A582291E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85DA6F-B623-9AF5-5F58-9AD5C3D2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402A-3D29-B060-D597-0AE6F593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17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2043E-68C8-E3C5-D732-DEFD6C74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8DDE9D-5BFA-A7CA-4EB5-B38A5681F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4EFA1D-E65F-B4F4-A4E7-31B19A75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A923BE-88D5-A62C-492B-FF8C9BE10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D654F-575C-DF8A-1383-27EC81FAC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44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0ECEED-E965-DE7B-FB1E-5AF0A07C0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BD3B79-3935-04FC-76F7-7AC15A4BC1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4BF17A-3850-6F5B-C675-132DD5CD9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D4A65E-4A60-EE7D-E43D-38E6DE44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4506CF-A402-1F45-5133-54146CAE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36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AEFCF3-4C87-91E6-5D65-7CB58FF8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CD6DB7-DE0C-7553-8F95-0A1DE275C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DD6DE-4E51-FE38-C9A2-5FBD29C7F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114AE-0542-4A21-AB14-D3AB71A3220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FB8197-6840-0B44-498F-6DFCCF54C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DD4EA-D275-9918-EF1F-B1E613915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E5624-FC10-48B8-9632-77DA06BEEF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53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0B3FC-2DC0-4660-8B67-524192AE6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7210"/>
            <a:ext cx="9144000" cy="983579"/>
          </a:xfrm>
        </p:spPr>
        <p:txBody>
          <a:bodyPr/>
          <a:lstStyle/>
          <a:p>
            <a:r>
              <a:rPr lang="en-US" altLang="ko-KR" dirty="0"/>
              <a:t>OS</a:t>
            </a:r>
            <a:r>
              <a:rPr lang="ko-KR" altLang="en-US" dirty="0"/>
              <a:t> </a:t>
            </a:r>
            <a:r>
              <a:rPr lang="en-US" altLang="ko-KR" dirty="0"/>
              <a:t>Command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016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40CB-8C3C-0801-C58B-85523AF2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195" y="365125"/>
            <a:ext cx="10678605" cy="1325563"/>
          </a:xfrm>
        </p:spPr>
        <p:txBody>
          <a:bodyPr/>
          <a:lstStyle/>
          <a:p>
            <a:r>
              <a:rPr lang="en-US" altLang="ko-KR" dirty="0"/>
              <a:t>Injection </a:t>
            </a:r>
            <a:r>
              <a:rPr lang="ko-KR" altLang="en-US" dirty="0"/>
              <a:t>공격의 의미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46556D-22F4-AA71-6F5E-7E8EAF8BA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195" y="1806772"/>
            <a:ext cx="1084161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Injection</a:t>
            </a:r>
            <a:r>
              <a:rPr lang="ko-KR" altLang="en-US" dirty="0"/>
              <a:t>은 일반적인 데이터가 아닌 명령어</a:t>
            </a:r>
            <a:r>
              <a:rPr lang="en-US" altLang="ko-KR" dirty="0"/>
              <a:t>(</a:t>
            </a:r>
            <a:r>
              <a:rPr lang="en-US" altLang="ko-KR" dirty="0" err="1"/>
              <a:t>javascript</a:t>
            </a:r>
            <a:r>
              <a:rPr lang="en-US" altLang="ko-KR" dirty="0"/>
              <a:t>, shell, SQL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를 삽입해서 시스템이 의도되지 않은 동작을 하게하는 공격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종류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OS Command Injection</a:t>
            </a:r>
          </a:p>
          <a:p>
            <a:pPr marL="0" indent="0">
              <a:buNone/>
            </a:pPr>
            <a:r>
              <a:rPr lang="en-US" altLang="ko-KR" dirty="0"/>
              <a:t> - SQL Injection</a:t>
            </a:r>
          </a:p>
          <a:p>
            <a:pPr marL="0" indent="0">
              <a:buNone/>
            </a:pPr>
            <a:r>
              <a:rPr lang="en-US" altLang="ko-KR" dirty="0"/>
              <a:t> - XSS</a:t>
            </a:r>
          </a:p>
          <a:p>
            <a:pPr marL="0" indent="0">
              <a:buNone/>
            </a:pPr>
            <a:r>
              <a:rPr lang="en-US" altLang="ko-KR" dirty="0"/>
              <a:t> - CSRF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3822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8BEE8-53C1-D8D4-7ABB-2B16E007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</a:t>
            </a:r>
            <a:r>
              <a:rPr lang="ko-KR" altLang="en-US" dirty="0"/>
              <a:t> </a:t>
            </a:r>
            <a:r>
              <a:rPr lang="en-US" altLang="ko-KR" dirty="0"/>
              <a:t>Command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  <a:r>
              <a:rPr lang="ko-KR" altLang="en-US" dirty="0"/>
              <a:t>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BB1CC5-1239-7976-B999-9D0CA9063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웹 페이지에 일반적인 값 대신 시스템에서 특수한 동작으로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인식하는 문자열</a:t>
            </a:r>
            <a:r>
              <a:rPr lang="en-US" altLang="ko-KR" dirty="0"/>
              <a:t>(CRLF==\r\n, &amp;&amp;, |, ;)</a:t>
            </a:r>
            <a:r>
              <a:rPr lang="ko-KR" altLang="en-US" dirty="0"/>
              <a:t>과 함께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운영체제에서 사용되는 명령어를 삽입 함으로서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서버가 정상적이지 않은 동작을 하게끔 하는 공격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주로 해당 공격은 </a:t>
            </a:r>
            <a:r>
              <a:rPr lang="en-US" altLang="ko-KR" dirty="0">
                <a:solidFill>
                  <a:srgbClr val="FF0000"/>
                </a:solidFill>
              </a:rPr>
              <a:t>python</a:t>
            </a:r>
            <a:r>
              <a:rPr lang="ko-KR" altLang="en-US" dirty="0">
                <a:solidFill>
                  <a:srgbClr val="FF0000"/>
                </a:solidFill>
              </a:rPr>
              <a:t>의 </a:t>
            </a:r>
            <a:r>
              <a:rPr lang="en-US" altLang="ko-KR" dirty="0" err="1">
                <a:solidFill>
                  <a:srgbClr val="FF0000"/>
                </a:solidFill>
              </a:rPr>
              <a:t>os.system</a:t>
            </a:r>
            <a:r>
              <a:rPr lang="en-US" altLang="ko-KR" dirty="0">
                <a:solidFill>
                  <a:srgbClr val="FF0000"/>
                </a:solidFill>
              </a:rPr>
              <a:t>() </a:t>
            </a:r>
            <a:r>
              <a:rPr lang="ko-KR" altLang="en-US" dirty="0">
                <a:solidFill>
                  <a:srgbClr val="FF0000"/>
                </a:solidFill>
              </a:rPr>
              <a:t>메서드처럼 명령어를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직접 실행시키는 코드에서 가능</a:t>
            </a:r>
          </a:p>
        </p:txBody>
      </p:sp>
    </p:spTree>
    <p:extLst>
      <p:ext uri="{BB962C8B-B14F-4D97-AF65-F5344CB8AC3E}">
        <p14:creationId xmlns:p14="http://schemas.microsoft.com/office/powerpoint/2010/main" val="181301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D73D973-C7AA-C00E-C3C3-DBD54B36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848" y="3782555"/>
            <a:ext cx="7718886" cy="1611885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C8DC4591-CA57-B6A1-E62D-79CB8029450B}"/>
              </a:ext>
            </a:extLst>
          </p:cNvPr>
          <p:cNvSpPr/>
          <p:nvPr/>
        </p:nvSpPr>
        <p:spPr>
          <a:xfrm>
            <a:off x="5476976" y="4515440"/>
            <a:ext cx="3026004" cy="65987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D318E0-53E6-BB2D-700D-89B92DB84E1B}"/>
              </a:ext>
            </a:extLst>
          </p:cNvPr>
          <p:cNvSpPr txBox="1"/>
          <p:nvPr/>
        </p:nvSpPr>
        <p:spPr>
          <a:xfrm>
            <a:off x="371353" y="387964"/>
            <a:ext cx="40078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예시 코드</a:t>
            </a:r>
            <a:endParaRPr lang="en-US" altLang="ko-KR" sz="2000" dirty="0"/>
          </a:p>
          <a:p>
            <a:r>
              <a:rPr lang="en-US" altLang="ko-KR" sz="2000" dirty="0"/>
              <a:t>import</a:t>
            </a:r>
            <a:r>
              <a:rPr lang="ko-KR" altLang="en-US" sz="2000" dirty="0"/>
              <a:t> </a:t>
            </a:r>
            <a:r>
              <a:rPr lang="en-US" altLang="ko-KR" sz="2000" dirty="0" err="1"/>
              <a:t>os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 err="1"/>
              <a:t>ip</a:t>
            </a:r>
            <a:r>
              <a:rPr lang="en-US" altLang="ko-KR" sz="2000" dirty="0"/>
              <a:t> = [</a:t>
            </a:r>
            <a:r>
              <a:rPr lang="ko-KR" altLang="en-US" sz="2000" dirty="0"/>
              <a:t>웹에서 사용자가 입력한 값</a:t>
            </a:r>
            <a:r>
              <a:rPr lang="en-US" altLang="ko-KR" sz="2000" dirty="0"/>
              <a:t>]</a:t>
            </a:r>
          </a:p>
          <a:p>
            <a:endParaRPr lang="en-US" altLang="ko-KR" sz="2000" dirty="0"/>
          </a:p>
          <a:p>
            <a:r>
              <a:rPr lang="en-US" altLang="ko-KR" sz="2000" dirty="0" err="1"/>
              <a:t>os.system</a:t>
            </a:r>
            <a:r>
              <a:rPr lang="en-US" altLang="ko-KR" sz="2000" dirty="0"/>
              <a:t>(“ping –c 4 ” + </a:t>
            </a:r>
            <a:r>
              <a:rPr lang="en-US" altLang="ko-KR" sz="2000" dirty="0" err="1"/>
              <a:t>ip</a:t>
            </a:r>
            <a:r>
              <a:rPr lang="en-US" altLang="ko-KR" sz="20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B280F-5554-F8D2-9152-CC1C61AFA8EE}"/>
              </a:ext>
            </a:extLst>
          </p:cNvPr>
          <p:cNvSpPr txBox="1"/>
          <p:nvPr/>
        </p:nvSpPr>
        <p:spPr>
          <a:xfrm>
            <a:off x="4999272" y="2362258"/>
            <a:ext cx="3981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8.8.8.8 &amp;&amp; cat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/</a:t>
            </a:r>
            <a:r>
              <a:rPr lang="en-US" altLang="ko-KR" sz="2400" dirty="0" err="1">
                <a:solidFill>
                  <a:srgbClr val="FF0000"/>
                </a:solidFill>
              </a:rPr>
              <a:t>etc</a:t>
            </a:r>
            <a:r>
              <a:rPr lang="en-US" altLang="ko-KR" sz="2400" dirty="0">
                <a:solidFill>
                  <a:srgbClr val="FF0000"/>
                </a:solidFill>
              </a:rPr>
              <a:t>/passwd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ACE847C-7762-1FDF-2296-A88865F86F9F}"/>
              </a:ext>
            </a:extLst>
          </p:cNvPr>
          <p:cNvCxnSpPr>
            <a:stCxn id="10" idx="2"/>
            <a:endCxn id="8" idx="0"/>
          </p:cNvCxnSpPr>
          <p:nvPr/>
        </p:nvCxnSpPr>
        <p:spPr>
          <a:xfrm>
            <a:off x="6989978" y="2823923"/>
            <a:ext cx="0" cy="169151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77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DE721-561D-FCCB-F505-ADF721E8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URL</a:t>
            </a:r>
            <a:r>
              <a:rPr lang="ko-KR" altLang="en-US" dirty="0"/>
              <a:t>의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FDBCA6-A45C-0584-7241-42CBE1A81A57}"/>
              </a:ext>
            </a:extLst>
          </p:cNvPr>
          <p:cNvSpPr txBox="1"/>
          <p:nvPr/>
        </p:nvSpPr>
        <p:spPr>
          <a:xfrm>
            <a:off x="537823" y="2260325"/>
            <a:ext cx="111419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http://ww2.ubi.ck:80/vulnerabilities/sqli/?id=1234&amp;Submit=Submit#</a:t>
            </a:r>
            <a:endParaRPr lang="ko-KR" altLang="en-US" sz="28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AB0FDDC-6FF0-8743-0593-F547949B176A}"/>
              </a:ext>
            </a:extLst>
          </p:cNvPr>
          <p:cNvCxnSpPr>
            <a:cxnSpLocks/>
          </p:cNvCxnSpPr>
          <p:nvPr/>
        </p:nvCxnSpPr>
        <p:spPr>
          <a:xfrm>
            <a:off x="593103" y="2764692"/>
            <a:ext cx="92461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798FAD3-B538-CD1C-3640-CD1192F4A6ED}"/>
              </a:ext>
            </a:extLst>
          </p:cNvPr>
          <p:cNvCxnSpPr>
            <a:cxnSpLocks/>
          </p:cNvCxnSpPr>
          <p:nvPr/>
        </p:nvCxnSpPr>
        <p:spPr>
          <a:xfrm>
            <a:off x="1093509" y="2783545"/>
            <a:ext cx="0" cy="77978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61D2C83-5F63-C554-D90F-B4BC91687B30}"/>
              </a:ext>
            </a:extLst>
          </p:cNvPr>
          <p:cNvCxnSpPr>
            <a:cxnSpLocks/>
          </p:cNvCxnSpPr>
          <p:nvPr/>
        </p:nvCxnSpPr>
        <p:spPr>
          <a:xfrm>
            <a:off x="1612769" y="2762112"/>
            <a:ext cx="1780880" cy="258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D0B9508-18BA-53DD-270B-7421A189A360}"/>
              </a:ext>
            </a:extLst>
          </p:cNvPr>
          <p:cNvCxnSpPr>
            <a:cxnSpLocks/>
          </p:cNvCxnSpPr>
          <p:nvPr/>
        </p:nvCxnSpPr>
        <p:spPr>
          <a:xfrm>
            <a:off x="3480848" y="2762112"/>
            <a:ext cx="478410" cy="0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37F4328-1690-AA52-999A-F9D6FDCE70D6}"/>
              </a:ext>
            </a:extLst>
          </p:cNvPr>
          <p:cNvCxnSpPr>
            <a:cxnSpLocks/>
          </p:cNvCxnSpPr>
          <p:nvPr/>
        </p:nvCxnSpPr>
        <p:spPr>
          <a:xfrm>
            <a:off x="4029173" y="2762112"/>
            <a:ext cx="3003223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3882510-4C82-E5C6-D1C8-FFA20AA07269}"/>
              </a:ext>
            </a:extLst>
          </p:cNvPr>
          <p:cNvCxnSpPr>
            <a:cxnSpLocks/>
          </p:cNvCxnSpPr>
          <p:nvPr/>
        </p:nvCxnSpPr>
        <p:spPr>
          <a:xfrm>
            <a:off x="7102311" y="2762112"/>
            <a:ext cx="4251489" cy="21433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BD83C70-A892-1C08-5625-286E1230DAD1}"/>
              </a:ext>
            </a:extLst>
          </p:cNvPr>
          <p:cNvCxnSpPr>
            <a:cxnSpLocks/>
          </p:cNvCxnSpPr>
          <p:nvPr/>
        </p:nvCxnSpPr>
        <p:spPr>
          <a:xfrm>
            <a:off x="2503209" y="2762112"/>
            <a:ext cx="0" cy="1074597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55E6F79-1A8F-CB4A-BE35-1102BE0C3E65}"/>
              </a:ext>
            </a:extLst>
          </p:cNvPr>
          <p:cNvCxnSpPr>
            <a:cxnSpLocks/>
          </p:cNvCxnSpPr>
          <p:nvPr/>
        </p:nvCxnSpPr>
        <p:spPr>
          <a:xfrm>
            <a:off x="3720053" y="2783545"/>
            <a:ext cx="0" cy="1290911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E74E1EF-A7ED-98CC-8C8B-E2B987847CD0}"/>
              </a:ext>
            </a:extLst>
          </p:cNvPr>
          <p:cNvCxnSpPr>
            <a:cxnSpLocks/>
          </p:cNvCxnSpPr>
          <p:nvPr/>
        </p:nvCxnSpPr>
        <p:spPr>
          <a:xfrm>
            <a:off x="5335571" y="2783545"/>
            <a:ext cx="0" cy="2005271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B5E9F0EC-555D-1459-0998-92BCDBF84D9D}"/>
              </a:ext>
            </a:extLst>
          </p:cNvPr>
          <p:cNvCxnSpPr>
            <a:cxnSpLocks/>
          </p:cNvCxnSpPr>
          <p:nvPr/>
        </p:nvCxnSpPr>
        <p:spPr>
          <a:xfrm>
            <a:off x="9068586" y="2783545"/>
            <a:ext cx="0" cy="2476612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6EADAA7-D616-FBF3-0E8C-2CB330696BF3}"/>
              </a:ext>
            </a:extLst>
          </p:cNvPr>
          <p:cNvSpPr txBox="1"/>
          <p:nvPr/>
        </p:nvSpPr>
        <p:spPr>
          <a:xfrm>
            <a:off x="537823" y="35633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프로토콜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4CB8A4-47F1-039F-CAA6-9C198415D8A4}"/>
              </a:ext>
            </a:extLst>
          </p:cNvPr>
          <p:cNvSpPr txBox="1"/>
          <p:nvPr/>
        </p:nvSpPr>
        <p:spPr>
          <a:xfrm>
            <a:off x="2104536" y="38371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C000"/>
                </a:solidFill>
              </a:rPr>
              <a:t>도메인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386E534-ED8E-0514-4A38-11A159880F9F}"/>
              </a:ext>
            </a:extLst>
          </p:cNvPr>
          <p:cNvSpPr txBox="1"/>
          <p:nvPr/>
        </p:nvSpPr>
        <p:spPr>
          <a:xfrm>
            <a:off x="3166055" y="401845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B050"/>
                </a:solidFill>
              </a:rPr>
              <a:t>포트번호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974330-A754-746D-6B84-A5DCB5FF76B1}"/>
              </a:ext>
            </a:extLst>
          </p:cNvPr>
          <p:cNvSpPr txBox="1"/>
          <p:nvPr/>
        </p:nvSpPr>
        <p:spPr>
          <a:xfrm>
            <a:off x="4468987" y="4798242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70C0"/>
                </a:solidFill>
              </a:rPr>
              <a:t>요청 자원 경로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0358DF-6D37-7963-F0EA-299515DE72F4}"/>
              </a:ext>
            </a:extLst>
          </p:cNvPr>
          <p:cNvSpPr txBox="1"/>
          <p:nvPr/>
        </p:nvSpPr>
        <p:spPr>
          <a:xfrm>
            <a:off x="8358295" y="5260157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</a:rPr>
              <a:t>쿼리 스트링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2472C11-124A-118A-6192-C628464B2F47}"/>
              </a:ext>
            </a:extLst>
          </p:cNvPr>
          <p:cNvCxnSpPr>
            <a:cxnSpLocks/>
          </p:cNvCxnSpPr>
          <p:nvPr/>
        </p:nvCxnSpPr>
        <p:spPr>
          <a:xfrm flipH="1">
            <a:off x="11418012" y="2783545"/>
            <a:ext cx="261796" cy="0"/>
          </a:xfrm>
          <a:prstGeom prst="line">
            <a:avLst/>
          </a:prstGeom>
          <a:ln w="25400">
            <a:solidFill>
              <a:srgbClr val="FF09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D9A51C9-53A7-8DE2-495A-08041379C5F0}"/>
              </a:ext>
            </a:extLst>
          </p:cNvPr>
          <p:cNvCxnSpPr>
            <a:cxnSpLocks/>
          </p:cNvCxnSpPr>
          <p:nvPr/>
        </p:nvCxnSpPr>
        <p:spPr>
          <a:xfrm flipV="1">
            <a:off x="11554691" y="2783545"/>
            <a:ext cx="0" cy="2476612"/>
          </a:xfrm>
          <a:prstGeom prst="line">
            <a:avLst/>
          </a:prstGeom>
          <a:ln w="25400">
            <a:solidFill>
              <a:srgbClr val="FF09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C757128-6821-8213-5F35-F7B1DD8EF451}"/>
              </a:ext>
            </a:extLst>
          </p:cNvPr>
          <p:cNvSpPr txBox="1"/>
          <p:nvPr/>
        </p:nvSpPr>
        <p:spPr>
          <a:xfrm>
            <a:off x="11225744" y="52601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9D0"/>
                </a:solidFill>
              </a:rPr>
              <a:t>앵커</a:t>
            </a:r>
          </a:p>
        </p:txBody>
      </p:sp>
    </p:spTree>
    <p:extLst>
      <p:ext uri="{BB962C8B-B14F-4D97-AF65-F5344CB8AC3E}">
        <p14:creationId xmlns:p14="http://schemas.microsoft.com/office/powerpoint/2010/main" val="2992273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42615-DC74-8C59-9119-4D0FEBD7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895"/>
            <a:ext cx="10515600" cy="1325563"/>
          </a:xfrm>
        </p:spPr>
        <p:txBody>
          <a:bodyPr/>
          <a:lstStyle/>
          <a:p>
            <a:r>
              <a:rPr lang="en-US" altLang="ko-KR" dirty="0"/>
              <a:t>HTTP </a:t>
            </a:r>
            <a:r>
              <a:rPr lang="ko-KR" altLang="en-US" dirty="0"/>
              <a:t>요청 메서드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798A98-96BD-EDEA-B049-EA247C99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07" y="1825625"/>
            <a:ext cx="11078863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HTTP </a:t>
            </a:r>
            <a:r>
              <a:rPr lang="ko-KR" altLang="en-US" dirty="0"/>
              <a:t>요청 </a:t>
            </a:r>
            <a:r>
              <a:rPr lang="ko-KR" altLang="en-US" dirty="0" err="1"/>
              <a:t>메서드란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서버가 특정한 행동을 할 수 있도록 클라이언트가 요청하는 방식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종류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GET : .html, .</a:t>
            </a:r>
            <a:r>
              <a:rPr lang="en-US" altLang="ko-KR" dirty="0" err="1"/>
              <a:t>php</a:t>
            </a:r>
            <a:r>
              <a:rPr lang="en-US" altLang="ko-KR" dirty="0"/>
              <a:t> </a:t>
            </a:r>
            <a:r>
              <a:rPr lang="ko-KR" altLang="en-US" dirty="0"/>
              <a:t>등 서버에 있는 특정 자원을 요청할 때 사용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POST : </a:t>
            </a:r>
            <a:r>
              <a:rPr lang="ko-KR" altLang="en-US" dirty="0"/>
              <a:t>데이터를 서버로 전달해서 저장</a:t>
            </a:r>
            <a:r>
              <a:rPr lang="en-US" altLang="ko-KR" dirty="0"/>
              <a:t>, </a:t>
            </a:r>
            <a:r>
              <a:rPr lang="ko-KR" altLang="en-US" dirty="0"/>
              <a:t>등록을 위해 사용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(URL</a:t>
            </a:r>
            <a:r>
              <a:rPr lang="ko-KR" altLang="en-US" dirty="0"/>
              <a:t>상에 노출되지 않기 때문에 로그인</a:t>
            </a:r>
            <a:r>
              <a:rPr lang="en-US" altLang="ko-KR" dirty="0"/>
              <a:t>, </a:t>
            </a:r>
            <a:r>
              <a:rPr lang="ko-KR" altLang="en-US" dirty="0"/>
              <a:t>게시글 등록 등에 사용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567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9A781-7C28-ED51-AE85-7AEC6A56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전송방식 차이점 </a:t>
            </a:r>
            <a:r>
              <a:rPr lang="en-US" altLang="ko-KR" dirty="0"/>
              <a:t>(GET)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764D5-DA26-8B63-6526-A25714D6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638" y="1685012"/>
            <a:ext cx="1074734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GET : URL</a:t>
            </a:r>
            <a:r>
              <a:rPr lang="ko-KR" altLang="en-US" dirty="0"/>
              <a:t>상에 전달할 값을 </a:t>
            </a:r>
            <a:r>
              <a:rPr lang="en-US" altLang="ko-KR" dirty="0"/>
              <a:t>[</a:t>
            </a:r>
            <a:r>
              <a:rPr lang="ko-KR" altLang="en-US" dirty="0"/>
              <a:t>파라미터 이름</a:t>
            </a:r>
            <a:r>
              <a:rPr lang="en-US" altLang="ko-KR" dirty="0"/>
              <a:t>]=value</a:t>
            </a:r>
            <a:r>
              <a:rPr lang="ko-KR" altLang="en-US" dirty="0"/>
              <a:t> 형태로 전달하는 방식</a:t>
            </a:r>
            <a:r>
              <a:rPr lang="en-US" altLang="ko-KR" dirty="0"/>
              <a:t>, </a:t>
            </a:r>
            <a:r>
              <a:rPr lang="ko-KR" altLang="en-US" dirty="0"/>
              <a:t>외부에 노출되어 있음</a:t>
            </a:r>
            <a:r>
              <a:rPr lang="en-US" altLang="ko-KR" dirty="0"/>
              <a:t>,</a:t>
            </a:r>
            <a:r>
              <a:rPr lang="ko-KR" altLang="en-US" dirty="0"/>
              <a:t> 바디 부분이 없음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(URL</a:t>
            </a:r>
            <a:r>
              <a:rPr lang="ko-KR" altLang="en-US" dirty="0"/>
              <a:t>에서 </a:t>
            </a:r>
            <a:r>
              <a:rPr lang="en-US" altLang="ko-KR" dirty="0"/>
              <a:t>? </a:t>
            </a:r>
            <a:r>
              <a:rPr lang="ko-KR" altLang="en-US" dirty="0"/>
              <a:t>다음에 나오는 것이 파라미터</a:t>
            </a:r>
            <a:r>
              <a:rPr lang="en-US" altLang="ko-KR" dirty="0"/>
              <a:t>, &amp;</a:t>
            </a:r>
            <a:r>
              <a:rPr lang="ko-KR" altLang="en-US" dirty="0"/>
              <a:t>로 파라미터끼리 구분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9010E3-6262-1544-2F74-08BEE5692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69" y="3566499"/>
            <a:ext cx="8133270" cy="588364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65E0BE5-D376-52E1-9EAF-26C39DD48D25}"/>
              </a:ext>
            </a:extLst>
          </p:cNvPr>
          <p:cNvSpPr/>
          <p:nvPr/>
        </p:nvSpPr>
        <p:spPr>
          <a:xfrm>
            <a:off x="5373278" y="3566499"/>
            <a:ext cx="3714161" cy="588364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3F38C-0311-2116-BEFC-40BDFE277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340" y="4635727"/>
            <a:ext cx="4492099" cy="107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02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DA840-9321-D941-849D-D223D8969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전송방식 차이점 </a:t>
            </a:r>
            <a:r>
              <a:rPr lang="en-US" altLang="ko-KR" dirty="0"/>
              <a:t>(POST)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CD49C3-1A39-32CD-795C-537C322F1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POST : HTTP </a:t>
            </a:r>
            <a:r>
              <a:rPr lang="ko-KR" altLang="en-US" dirty="0"/>
              <a:t>바디 영역에 전달할 값을 </a:t>
            </a:r>
            <a:r>
              <a:rPr lang="en-US" altLang="ko-KR" dirty="0"/>
              <a:t>key=value </a:t>
            </a:r>
            <a:r>
              <a:rPr lang="ko-KR" altLang="en-US" dirty="0"/>
              <a:t>형식으로 저장해서 전달하는 방식 </a:t>
            </a:r>
            <a:r>
              <a:rPr lang="en-US" altLang="ko-KR" dirty="0"/>
              <a:t>(GET</a:t>
            </a:r>
            <a:r>
              <a:rPr lang="ko-KR" altLang="en-US" dirty="0"/>
              <a:t>과는 다르게 </a:t>
            </a:r>
            <a:r>
              <a:rPr lang="en-US" altLang="ko-KR" dirty="0"/>
              <a:t>URL</a:t>
            </a:r>
            <a:r>
              <a:rPr lang="ko-KR" altLang="en-US" dirty="0"/>
              <a:t>상에 입력된 값이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노출되어 있지는 않으나 패킷 분석을 통해서 확인 가능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188E591-5F99-0E94-0296-8B5EC824B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47119"/>
            <a:ext cx="7348164" cy="213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00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4A5078-798A-ED3F-F426-A2D7E7167C6E}"/>
              </a:ext>
            </a:extLst>
          </p:cNvPr>
          <p:cNvSpPr txBox="1"/>
          <p:nvPr/>
        </p:nvSpPr>
        <p:spPr>
          <a:xfrm>
            <a:off x="516047" y="452674"/>
            <a:ext cx="365356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패키지 설치</a:t>
            </a:r>
            <a:endParaRPr lang="en-US" altLang="ko-KR" sz="3200" dirty="0"/>
          </a:p>
          <a:p>
            <a:endParaRPr lang="en-US" altLang="ko-KR" sz="2400" dirty="0"/>
          </a:p>
          <a:p>
            <a:r>
              <a:rPr lang="en-US" altLang="ko-KR" sz="2400" dirty="0"/>
              <a:t>Ubuntu</a:t>
            </a:r>
          </a:p>
          <a:p>
            <a:r>
              <a:rPr lang="en-US" altLang="ko-KR" sz="2400" dirty="0"/>
              <a:t>apt –y install </a:t>
            </a:r>
            <a:r>
              <a:rPr lang="en-US" altLang="ko-KR" sz="2400" dirty="0" err="1"/>
              <a:t>iputils</a:t>
            </a:r>
            <a:r>
              <a:rPr lang="en-US" altLang="ko-KR" sz="2400" dirty="0"/>
              <a:t>-ping</a:t>
            </a:r>
          </a:p>
          <a:p>
            <a:r>
              <a:rPr lang="en-US" altLang="ko-KR" sz="2400" dirty="0"/>
              <a:t>apt –y install </a:t>
            </a:r>
            <a:r>
              <a:rPr lang="en-US" altLang="ko-KR" sz="2400" dirty="0" err="1"/>
              <a:t>ncat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Rocky</a:t>
            </a:r>
          </a:p>
          <a:p>
            <a:r>
              <a:rPr lang="en-US" altLang="ko-KR" sz="2400" dirty="0" err="1"/>
              <a:t>dnf</a:t>
            </a:r>
            <a:r>
              <a:rPr lang="en-US" altLang="ko-KR" sz="2400" dirty="0"/>
              <a:t> –y install </a:t>
            </a:r>
            <a:r>
              <a:rPr lang="en-US" altLang="ko-KR" sz="2400" dirty="0" err="1"/>
              <a:t>iputils</a:t>
            </a:r>
            <a:endParaRPr lang="en-US" altLang="ko-KR" sz="2400" dirty="0"/>
          </a:p>
          <a:p>
            <a:r>
              <a:rPr lang="en-US" altLang="ko-KR" sz="2400" dirty="0" err="1"/>
              <a:t>dnf</a:t>
            </a:r>
            <a:r>
              <a:rPr lang="en-US" altLang="ko-KR" sz="2400" dirty="0"/>
              <a:t> install </a:t>
            </a:r>
            <a:r>
              <a:rPr lang="en-US" altLang="ko-KR" sz="2400" dirty="0" err="1"/>
              <a:t>nmap-ncat</a:t>
            </a:r>
            <a:endParaRPr lang="en-US" altLang="ko-KR" sz="2400" dirty="0"/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0479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023E8-5C20-9C9F-C361-1EFCB701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실습 진행</a:t>
            </a:r>
          </a:p>
        </p:txBody>
      </p:sp>
    </p:spTree>
    <p:extLst>
      <p:ext uri="{BB962C8B-B14F-4D97-AF65-F5344CB8AC3E}">
        <p14:creationId xmlns:p14="http://schemas.microsoft.com/office/powerpoint/2010/main" val="1595045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346</Words>
  <Application>Microsoft Office PowerPoint</Application>
  <PresentationFormat>와이드스크린</PresentationFormat>
  <Paragraphs>62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OS Command Injection</vt:lpstr>
      <vt:lpstr>Injection 공격의 의미</vt:lpstr>
      <vt:lpstr>OS Command Injection 정의</vt:lpstr>
      <vt:lpstr>PowerPoint 프레젠테이션</vt:lpstr>
      <vt:lpstr>URL의 구조</vt:lpstr>
      <vt:lpstr>HTTP 요청 메서드</vt:lpstr>
      <vt:lpstr>데이터 전송방식 차이점 (GET)</vt:lpstr>
      <vt:lpstr>데이터 전송방식 차이점 (POST)</vt:lpstr>
      <vt:lpstr>PowerPoint 프레젠테이션</vt:lpstr>
      <vt:lpstr>실습 진행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12</cp:revision>
  <dcterms:created xsi:type="dcterms:W3CDTF">2025-11-29T16:32:22Z</dcterms:created>
  <dcterms:modified xsi:type="dcterms:W3CDTF">2025-12-02T04:40:30Z</dcterms:modified>
</cp:coreProperties>
</file>