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9" r:id="rId5"/>
    <p:sldId id="267" r:id="rId6"/>
    <p:sldId id="260" r:id="rId7"/>
    <p:sldId id="268" r:id="rId8"/>
    <p:sldId id="261" r:id="rId9"/>
    <p:sldId id="270" r:id="rId10"/>
    <p:sldId id="273" r:id="rId11"/>
    <p:sldId id="274" r:id="rId12"/>
    <p:sldId id="275" r:id="rId13"/>
    <p:sldId id="262" r:id="rId14"/>
    <p:sldId id="263" r:id="rId15"/>
    <p:sldId id="271" r:id="rId16"/>
    <p:sldId id="264" r:id="rId17"/>
    <p:sldId id="272" r:id="rId18"/>
    <p:sldId id="26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77F18-4CA8-42D6-AA76-E7A5664AFBF2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85A22-4F62-42E6-8E53-3ECC11E7E3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27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와 테이블의 관계에 대해서 설명한다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85A22-4F62-42E6-8E53-3ECC11E7E3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31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테이블과 테이블이 관계를 갖기 때문에 관계형 데이터베이스인데 이를 보기 쉽게 그림과 함께 설명하기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85A22-4F62-42E6-8E53-3ECC11E7E3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31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AB72-10AD-1558-2725-77923183A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62FA7C-4CE8-B7D0-E234-DE2CBD283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812F3E-C025-E294-DEFD-67D336452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574AB3-1951-F893-7020-8B68175B8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87CEEF-59BA-1E33-D8B3-76BC945E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10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21CDF-10CA-6F26-7722-131B2921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484331-56FC-46B3-C478-06A6B33DC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451AC8-78D3-63B5-8074-D354BA01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246518-6644-C094-021F-E20FEDC5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F93994-754E-E467-963C-787B6535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35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A1AAA-C02A-0827-511D-8D7401D20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91FF9E-E4EF-34DE-6A51-C58DCF1B4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81B0D2-C8DE-1DBA-E681-A0FC29636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E7A29D-C3D5-7166-1D06-B579520D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4146B-005E-AF6B-CBD1-B3178BCB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9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9B6E5-8983-8802-FA87-5ECEEA33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663CDB-E6E5-1508-251A-D8F5101B4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BEDCAD-2A93-5A7B-5623-31198AF3C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4F2A08-1C74-EA75-C273-7D3121F6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437E38-2D93-683E-F767-0AFE61F2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0C9CA3-CDE8-F8BE-D083-E1E7B733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3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E1B97-CEF9-AB28-506D-CFFA5DB64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D3397E-6E92-9474-382C-CD41637F7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A97C64-E100-8BAF-3DE5-131D61E41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4E4B4A-AE99-FA19-56F8-C4557CBB2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64C5D6-D89A-9713-E4B5-AB3D76441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E08D10-6AA6-42D9-E5E2-6CC99EA0A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6DE843-80B3-5AE6-E3C6-995961C4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E1D930-9CDF-0D17-D7D0-D0211BC2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39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9C333-BC0F-D483-67AD-D3AAE79C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0C631A-E95C-9313-5237-5C6A90C5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9C5D54-0B81-4F70-65CA-39CAEC59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C3389C-628A-C890-8F41-F5DFFDFC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155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AA510D-2842-3C7A-1DF4-06768130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C33E6A-E237-C179-AF2F-4429FDFD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AA2FC1-5FEA-551D-9F02-18194D910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33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D0710-AAD2-7EEB-784F-EDA339E83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685CE6-4C5E-8613-81E6-341A77940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A55685-0287-EA78-D4E9-ED1EE5E58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31ED13-2D5C-6A18-D9DE-C7945BE6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7A3A2B-3ED8-4B25-74BA-FDA6E316D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412E5A-19C6-F465-331D-20E192D4C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29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1B5D6-BD98-7AC5-5AA4-3D25671E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FBF3EC-1427-49E2-3224-F30D16A5B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C43904-8A61-DF82-662B-1B2AE80A2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519F8-5E65-1AB8-1CCD-2E87741A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605345-2A2D-78CB-F87B-BB754156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3D8B9C-4387-38B1-6B66-16C9F902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6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92A23-3299-F9B9-E131-7AAA9423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C2E3A1-D999-F464-EC42-4D54AE712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596AAB-BF93-5C1E-69B7-8E962D14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88C32C-6A1D-0800-8815-A94986E5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2DF0C6-CB85-245A-11D9-CC7045CA7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32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12D6E2-AF25-62E6-6038-D5D6644D3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EF3AF6-A857-D35A-A360-9F2F4E6CC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210E7-7718-5F4E-2775-D8176FFFD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42076-63BB-01B7-4473-18C99FDE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6EEA05-80FA-B443-CA5C-62C3B28D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627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B50211-8755-D289-FF8C-B6A23B8ED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F1F9CB-C535-55B3-0409-62F770EA1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F60F96-6D97-7C6A-959E-5CEB12880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380DC-5702-4766-9B94-968BCAE2336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75C46-D745-C4E1-796E-F0239F36C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2F7B5D-7E0E-D741-1B7F-257B13887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FE95F-8ECF-4B91-863B-AAC9A37D4A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441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F1B75-82C1-5D18-8466-351BCE1BE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D6854-EAF1-EEF3-97F8-3E54AEEF8FF7}"/>
              </a:ext>
            </a:extLst>
          </p:cNvPr>
          <p:cNvSpPr txBox="1"/>
          <p:nvPr/>
        </p:nvSpPr>
        <p:spPr>
          <a:xfrm>
            <a:off x="11161984" y="63725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임지형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836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3CD1E-1265-AAF1-659A-705DA2C4A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2FEC2B-2D0F-9439-6F61-46A781917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관계형 데이터베이스란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2. SQL Select Where </a:t>
            </a:r>
            <a:r>
              <a:rPr lang="ko-KR" altLang="en-US" dirty="0"/>
              <a:t>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SQL Update</a:t>
            </a:r>
            <a:r>
              <a:rPr lang="ko-KR" altLang="en-US" dirty="0"/>
              <a:t>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SQL Drop</a:t>
            </a:r>
            <a:r>
              <a:rPr lang="ko-KR" altLang="en-US" dirty="0"/>
              <a:t>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SQL Injection</a:t>
            </a:r>
            <a:r>
              <a:rPr lang="ko-KR" altLang="en-US" dirty="0"/>
              <a:t>의 개념 및 원리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/>
              <a:t>실습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- SQL</a:t>
            </a:r>
            <a:r>
              <a:rPr lang="ko-KR" altLang="en-US" dirty="0"/>
              <a:t> </a:t>
            </a:r>
            <a:r>
              <a:rPr lang="en-US" altLang="ko-KR" dirty="0"/>
              <a:t>Injection </a:t>
            </a:r>
            <a:r>
              <a:rPr lang="ko-KR" altLang="en-US" dirty="0"/>
              <a:t>문제 풀이 실습 </a:t>
            </a:r>
            <a:r>
              <a:rPr lang="en-US" altLang="ko-KR" dirty="0"/>
              <a:t>(</a:t>
            </a:r>
            <a:r>
              <a:rPr lang="en-US" altLang="ko-KR" dirty="0" err="1"/>
              <a:t>WebGoat</a:t>
            </a:r>
            <a:r>
              <a:rPr lang="en-US" altLang="ko-KR" dirty="0"/>
              <a:t>, DVWA)</a:t>
            </a:r>
          </a:p>
        </p:txBody>
      </p:sp>
    </p:spTree>
    <p:extLst>
      <p:ext uri="{BB962C8B-B14F-4D97-AF65-F5344CB8AC3E}">
        <p14:creationId xmlns:p14="http://schemas.microsoft.com/office/powerpoint/2010/main" val="184778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5E9FC-22A1-405B-F951-6E64D4F2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관계형 데이터베이스란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98F0C4-33A2-AD96-2E25-CD0875AD2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데이터베이스 </a:t>
            </a:r>
            <a:r>
              <a:rPr lang="en-US" altLang="ko-KR" dirty="0"/>
              <a:t>: </a:t>
            </a:r>
            <a:r>
              <a:rPr lang="ko-KR" altLang="en-US" dirty="0"/>
              <a:t>세상에 있는 모든 것을 데이터화 하여 저장할 수 있는 공간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데이터가 테이블 구조로 저장이 되며 이 테이블과 테이블 사이에서 연결되어</a:t>
            </a:r>
            <a:r>
              <a:rPr lang="en-US" altLang="ko-KR" dirty="0"/>
              <a:t>(</a:t>
            </a:r>
            <a:r>
              <a:rPr lang="ko-KR" altLang="en-US" dirty="0"/>
              <a:t>관계</a:t>
            </a:r>
            <a:r>
              <a:rPr lang="en-US" altLang="ko-KR" dirty="0"/>
              <a:t>) </a:t>
            </a:r>
            <a:r>
              <a:rPr lang="ko-KR" altLang="en-US" dirty="0"/>
              <a:t>서로 다른 테이블에 있는 데이터를 조회할 수 있는 구조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우리가 사용하는 </a:t>
            </a:r>
            <a:r>
              <a:rPr lang="en-US" altLang="ko-KR" dirty="0"/>
              <a:t>MariaDB</a:t>
            </a:r>
            <a:r>
              <a:rPr lang="ko-KR" altLang="en-US" dirty="0"/>
              <a:t>는 관계형 데이터베이스 구조를 갖는다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5790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5C81E-7E47-A4AD-7217-102904097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관계형 데이터베이스란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C5395B3-7461-23EF-7830-44EE28782448}"/>
              </a:ext>
            </a:extLst>
          </p:cNvPr>
          <p:cNvGrpSpPr/>
          <p:nvPr/>
        </p:nvGrpSpPr>
        <p:grpSpPr>
          <a:xfrm>
            <a:off x="1319753" y="1866507"/>
            <a:ext cx="9228841" cy="4124717"/>
            <a:chOff x="1319753" y="1866507"/>
            <a:chExt cx="9228841" cy="4124717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D171414-4756-35DE-1C21-C8435B139BEA}"/>
                </a:ext>
              </a:extLst>
            </p:cNvPr>
            <p:cNvCxnSpPr>
              <a:cxnSpLocks/>
              <a:stCxn id="18" idx="2"/>
              <a:endCxn id="24" idx="2"/>
            </p:cNvCxnSpPr>
            <p:nvPr/>
          </p:nvCxnSpPr>
          <p:spPr>
            <a:xfrm>
              <a:off x="1319753" y="2389695"/>
              <a:ext cx="0" cy="3208893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D5658C94-CD2C-1D3E-0514-CBBA65C95015}"/>
                </a:ext>
              </a:extLst>
            </p:cNvPr>
            <p:cNvGrpSpPr/>
            <p:nvPr/>
          </p:nvGrpSpPr>
          <p:grpSpPr>
            <a:xfrm>
              <a:off x="1319753" y="1866507"/>
              <a:ext cx="9228841" cy="4124717"/>
              <a:chOff x="1319753" y="1866507"/>
              <a:chExt cx="9228841" cy="4124717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130505B3-57DC-54B0-0E41-3A415D863270}"/>
                  </a:ext>
                </a:extLst>
              </p:cNvPr>
              <p:cNvSpPr/>
              <p:nvPr/>
            </p:nvSpPr>
            <p:spPr>
              <a:xfrm>
                <a:off x="1319753" y="1866507"/>
                <a:ext cx="9228841" cy="104637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C75AA00B-26D5-A818-6C67-F07D09ECA4EA}"/>
                  </a:ext>
                </a:extLst>
              </p:cNvPr>
              <p:cNvCxnSpPr>
                <a:cxnSpLocks/>
                <a:stCxn id="18" idx="6"/>
                <a:endCxn id="24" idx="6"/>
              </p:cNvCxnSpPr>
              <p:nvPr/>
            </p:nvCxnSpPr>
            <p:spPr>
              <a:xfrm flipH="1">
                <a:off x="10548591" y="2389695"/>
                <a:ext cx="3" cy="3208893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9AC24F0-EDA9-815B-EBAC-7E7D308DB4A3}"/>
                  </a:ext>
                </a:extLst>
              </p:cNvPr>
              <p:cNvSpPr/>
              <p:nvPr/>
            </p:nvSpPr>
            <p:spPr>
              <a:xfrm>
                <a:off x="1319753" y="5205951"/>
                <a:ext cx="9228838" cy="78527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565717C-CE74-21F8-3A02-535BA4D02B6D}"/>
              </a:ext>
            </a:extLst>
          </p:cNvPr>
          <p:cNvSpPr txBox="1"/>
          <p:nvPr/>
        </p:nvSpPr>
        <p:spPr>
          <a:xfrm>
            <a:off x="5607800" y="5991224"/>
            <a:ext cx="652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DB</a:t>
            </a:r>
            <a:endParaRPr lang="ko-KR" altLang="en-US" sz="2800" dirty="0"/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70B6CFA0-5C0A-572E-8F87-885CDE8B2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708360"/>
              </p:ext>
            </p:extLst>
          </p:nvPr>
        </p:nvGraphicFramePr>
        <p:xfrm>
          <a:off x="4482578" y="3124997"/>
          <a:ext cx="1644648" cy="1403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216">
                  <a:extLst>
                    <a:ext uri="{9D8B030D-6E8A-4147-A177-3AD203B41FA5}">
                      <a16:colId xmlns:a16="http://schemas.microsoft.com/office/drawing/2014/main" val="1895899952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val="1979370999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val="1907903878"/>
                    </a:ext>
                  </a:extLst>
                </a:gridCol>
              </a:tblGrid>
              <a:tr h="3849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567572"/>
                  </a:ext>
                </a:extLst>
              </a:tr>
              <a:tr h="5093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973494"/>
                  </a:ext>
                </a:extLst>
              </a:tr>
              <a:tr h="5093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34189"/>
                  </a:ext>
                </a:extLst>
              </a:tr>
            </a:tbl>
          </a:graphicData>
        </a:graphic>
      </p:graphicFrame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CF1A818A-647C-7269-230F-3C6D7230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777727"/>
              </p:ext>
            </p:extLst>
          </p:nvPr>
        </p:nvGraphicFramePr>
        <p:xfrm>
          <a:off x="4963952" y="3328646"/>
          <a:ext cx="1644648" cy="1403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216">
                  <a:extLst>
                    <a:ext uri="{9D8B030D-6E8A-4147-A177-3AD203B41FA5}">
                      <a16:colId xmlns:a16="http://schemas.microsoft.com/office/drawing/2014/main" val="1895899952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val="1979370999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val="1907903878"/>
                    </a:ext>
                  </a:extLst>
                </a:gridCol>
              </a:tblGrid>
              <a:tr h="3849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567572"/>
                  </a:ext>
                </a:extLst>
              </a:tr>
              <a:tr h="5093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973494"/>
                  </a:ext>
                </a:extLst>
              </a:tr>
              <a:tr h="5093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34189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6889AF1F-71D0-0243-C209-782826727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570184"/>
              </p:ext>
            </p:extLst>
          </p:nvPr>
        </p:nvGraphicFramePr>
        <p:xfrm>
          <a:off x="5517014" y="3590256"/>
          <a:ext cx="1644648" cy="1403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216">
                  <a:extLst>
                    <a:ext uri="{9D8B030D-6E8A-4147-A177-3AD203B41FA5}">
                      <a16:colId xmlns:a16="http://schemas.microsoft.com/office/drawing/2014/main" val="1895899952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val="1979370999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val="1907903878"/>
                    </a:ext>
                  </a:extLst>
                </a:gridCol>
              </a:tblGrid>
              <a:tr h="3849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567572"/>
                  </a:ext>
                </a:extLst>
              </a:tr>
              <a:tr h="5093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973494"/>
                  </a:ext>
                </a:extLst>
              </a:tr>
              <a:tr h="5093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data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34189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576EF47C-0CE0-0A0E-01E3-4A36F7BD3EA6}"/>
              </a:ext>
            </a:extLst>
          </p:cNvPr>
          <p:cNvSpPr txBox="1"/>
          <p:nvPr/>
        </p:nvSpPr>
        <p:spPr>
          <a:xfrm>
            <a:off x="3929516" y="3505419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B93FA034-31BF-33AF-A50F-932E454B715A}"/>
              </a:ext>
            </a:extLst>
          </p:cNvPr>
          <p:cNvSpPr/>
          <p:nvPr/>
        </p:nvSpPr>
        <p:spPr>
          <a:xfrm>
            <a:off x="7410450" y="3114675"/>
            <a:ext cx="409575" cy="1876425"/>
          </a:xfrm>
          <a:custGeom>
            <a:avLst/>
            <a:gdLst>
              <a:gd name="csX0" fmla="*/ 0 w 409575"/>
              <a:gd name="csY0" fmla="*/ 0 h 1876425"/>
              <a:gd name="csX1" fmla="*/ 409575 w 409575"/>
              <a:gd name="csY1" fmla="*/ 0 h 1876425"/>
              <a:gd name="csX2" fmla="*/ 409575 w 409575"/>
              <a:gd name="csY2" fmla="*/ 1876425 h 1876425"/>
              <a:gd name="csX3" fmla="*/ 28575 w 409575"/>
              <a:gd name="csY3" fmla="*/ 1876425 h 1876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09575" h="1876425">
                <a:moveTo>
                  <a:pt x="0" y="0"/>
                </a:moveTo>
                <a:lnTo>
                  <a:pt x="409575" y="0"/>
                </a:lnTo>
                <a:lnTo>
                  <a:pt x="409575" y="1876425"/>
                </a:lnTo>
                <a:lnTo>
                  <a:pt x="28575" y="1876425"/>
                </a:ln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C362FD-F234-22E6-795D-C5A7FECFA761}"/>
              </a:ext>
            </a:extLst>
          </p:cNvPr>
          <p:cNvSpPr txBox="1"/>
          <p:nvPr/>
        </p:nvSpPr>
        <p:spPr>
          <a:xfrm>
            <a:off x="7890888" y="38457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테이블들</a:t>
            </a:r>
          </a:p>
        </p:txBody>
      </p:sp>
    </p:spTree>
    <p:extLst>
      <p:ext uri="{BB962C8B-B14F-4D97-AF65-F5344CB8AC3E}">
        <p14:creationId xmlns:p14="http://schemas.microsoft.com/office/powerpoint/2010/main" val="63974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2341BE-20E5-53A9-228E-0F0D172F9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12" y="99369"/>
            <a:ext cx="10515600" cy="73961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관계형 데이터베이스란</a:t>
            </a:r>
            <a:r>
              <a:rPr lang="en-US" altLang="ko-KR" sz="3600" dirty="0"/>
              <a:t>?</a:t>
            </a:r>
            <a:endParaRPr lang="ko-KR" altLang="en-US" sz="36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D23CD4E-7213-355C-BAB3-BBC8DE293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507961"/>
              </p:ext>
            </p:extLst>
          </p:nvPr>
        </p:nvGraphicFramePr>
        <p:xfrm>
          <a:off x="391736" y="2090540"/>
          <a:ext cx="4547912" cy="42166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6978">
                  <a:extLst>
                    <a:ext uri="{9D8B030D-6E8A-4147-A177-3AD203B41FA5}">
                      <a16:colId xmlns:a16="http://schemas.microsoft.com/office/drawing/2014/main" val="3537770390"/>
                    </a:ext>
                  </a:extLst>
                </a:gridCol>
                <a:gridCol w="1136978">
                  <a:extLst>
                    <a:ext uri="{9D8B030D-6E8A-4147-A177-3AD203B41FA5}">
                      <a16:colId xmlns:a16="http://schemas.microsoft.com/office/drawing/2014/main" val="3248312700"/>
                    </a:ext>
                  </a:extLst>
                </a:gridCol>
                <a:gridCol w="1136978">
                  <a:extLst>
                    <a:ext uri="{9D8B030D-6E8A-4147-A177-3AD203B41FA5}">
                      <a16:colId xmlns:a16="http://schemas.microsoft.com/office/drawing/2014/main" val="4124004327"/>
                    </a:ext>
                  </a:extLst>
                </a:gridCol>
                <a:gridCol w="1136978">
                  <a:extLst>
                    <a:ext uri="{9D8B030D-6E8A-4147-A177-3AD203B41FA5}">
                      <a16:colId xmlns:a16="http://schemas.microsoft.com/office/drawing/2014/main" val="1858858992"/>
                    </a:ext>
                  </a:extLst>
                </a:gridCol>
              </a:tblGrid>
              <a:tr h="552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식별코드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ID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PWD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주소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075155"/>
                  </a:ext>
                </a:extLst>
              </a:tr>
              <a:tr h="732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A123-1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aaa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aaa123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광명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233090"/>
                  </a:ext>
                </a:extLst>
              </a:tr>
              <a:tr h="732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B123-1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bbb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bbb123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의정부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47227"/>
                  </a:ext>
                </a:extLst>
              </a:tr>
              <a:tr h="732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C456-2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ccc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ccc123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왕십리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589955"/>
                  </a:ext>
                </a:extLst>
              </a:tr>
              <a:tr h="732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D123-4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ddd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ddd123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121313"/>
                  </a:ext>
                </a:extLst>
              </a:tr>
              <a:tr h="732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88603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DAAD75C-BC50-A37A-DD84-E9453C298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967518"/>
              </p:ext>
            </p:extLst>
          </p:nvPr>
        </p:nvGraphicFramePr>
        <p:xfrm>
          <a:off x="6275109" y="2090540"/>
          <a:ext cx="5216166" cy="4110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8722">
                  <a:extLst>
                    <a:ext uri="{9D8B030D-6E8A-4147-A177-3AD203B41FA5}">
                      <a16:colId xmlns:a16="http://schemas.microsoft.com/office/drawing/2014/main" val="3244073527"/>
                    </a:ext>
                  </a:extLst>
                </a:gridCol>
                <a:gridCol w="1738722">
                  <a:extLst>
                    <a:ext uri="{9D8B030D-6E8A-4147-A177-3AD203B41FA5}">
                      <a16:colId xmlns:a16="http://schemas.microsoft.com/office/drawing/2014/main" val="3946354186"/>
                    </a:ext>
                  </a:extLst>
                </a:gridCol>
                <a:gridCol w="1738722">
                  <a:extLst>
                    <a:ext uri="{9D8B030D-6E8A-4147-A177-3AD203B41FA5}">
                      <a16:colId xmlns:a16="http://schemas.microsoft.com/office/drawing/2014/main" val="2344960872"/>
                    </a:ext>
                  </a:extLst>
                </a:gridCol>
              </a:tblGrid>
              <a:tr h="4963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식별코드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주문 내역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주문 완료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752834"/>
                  </a:ext>
                </a:extLst>
              </a:tr>
              <a:tr h="602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C456-2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침대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904311"/>
                  </a:ext>
                </a:extLst>
              </a:tr>
              <a:tr h="602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A123-1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라우터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출고중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448751"/>
                  </a:ext>
                </a:extLst>
              </a:tr>
              <a:tr h="602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A123-1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ZARA</a:t>
                      </a:r>
                      <a:r>
                        <a:rPr lang="ko-KR" altLang="en-US" dirty="0"/>
                        <a:t> 셔츠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268366"/>
                  </a:ext>
                </a:extLst>
              </a:tr>
              <a:tr h="602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B123-1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닭가슴살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835105"/>
                  </a:ext>
                </a:extLst>
              </a:tr>
              <a:tr h="602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B123-1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프로틴바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출고중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669722"/>
                  </a:ext>
                </a:extLst>
              </a:tr>
              <a:tr h="602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1556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6F61C7A-08D7-AAA8-1801-D8004C0AC89B}"/>
              </a:ext>
            </a:extLst>
          </p:cNvPr>
          <p:cNvSpPr txBox="1"/>
          <p:nvPr/>
        </p:nvSpPr>
        <p:spPr>
          <a:xfrm>
            <a:off x="3088771" y="1721208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고객 정보 테이블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2F8175-19D7-53EC-6E31-7B0A621C879D}"/>
              </a:ext>
            </a:extLst>
          </p:cNvPr>
          <p:cNvSpPr txBox="1"/>
          <p:nvPr/>
        </p:nvSpPr>
        <p:spPr>
          <a:xfrm>
            <a:off x="9527276" y="1721208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주문 정보 테이블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992BB52-2C66-3B13-8362-62B9318CE836}"/>
              </a:ext>
            </a:extLst>
          </p:cNvPr>
          <p:cNvGrpSpPr/>
          <p:nvPr/>
        </p:nvGrpSpPr>
        <p:grpSpPr>
          <a:xfrm>
            <a:off x="857840" y="1399009"/>
            <a:ext cx="6212265" cy="653781"/>
            <a:chOff x="857840" y="1018009"/>
            <a:chExt cx="6212265" cy="653781"/>
          </a:xfrm>
        </p:grpSpPr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550C80A1-9C3B-9C7F-6C14-08DAECABCD4D}"/>
                </a:ext>
              </a:extLst>
            </p:cNvPr>
            <p:cNvSpPr/>
            <p:nvPr/>
          </p:nvSpPr>
          <p:spPr>
            <a:xfrm>
              <a:off x="961535" y="1018009"/>
              <a:ext cx="6108570" cy="653781"/>
            </a:xfrm>
            <a:custGeom>
              <a:avLst/>
              <a:gdLst>
                <a:gd name="csX0" fmla="*/ 6108570 w 6108570"/>
                <a:gd name="csY0" fmla="*/ 518474 h 556181"/>
                <a:gd name="csX1" fmla="*/ 6108570 w 6108570"/>
                <a:gd name="csY1" fmla="*/ 0 h 556181"/>
                <a:gd name="csX2" fmla="*/ 0 w 6108570"/>
                <a:gd name="csY2" fmla="*/ 0 h 556181"/>
                <a:gd name="csX3" fmla="*/ 0 w 6108570"/>
                <a:gd name="csY3" fmla="*/ 556181 h 556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08570" h="556181">
                  <a:moveTo>
                    <a:pt x="6108570" y="518474"/>
                  </a:moveTo>
                  <a:lnTo>
                    <a:pt x="6108570" y="0"/>
                  </a:lnTo>
                  <a:lnTo>
                    <a:pt x="0" y="0"/>
                  </a:lnTo>
                  <a:lnTo>
                    <a:pt x="0" y="556181"/>
                  </a:lnTo>
                </a:path>
              </a:pathLst>
            </a:cu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순서도: 병합 49">
              <a:extLst>
                <a:ext uri="{FF2B5EF4-FFF2-40B4-BE49-F238E27FC236}">
                  <a16:creationId xmlns:a16="http://schemas.microsoft.com/office/drawing/2014/main" id="{AA8AA33A-F381-C22D-592C-6A8B983B009E}"/>
                </a:ext>
              </a:extLst>
            </p:cNvPr>
            <p:cNvSpPr/>
            <p:nvPr/>
          </p:nvSpPr>
          <p:spPr>
            <a:xfrm>
              <a:off x="857840" y="1524874"/>
              <a:ext cx="207390" cy="133663"/>
            </a:xfrm>
            <a:prstGeom prst="flowChartMerg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FD6DAE21-7EE1-0E3C-130F-3575301CB64A}"/>
              </a:ext>
            </a:extLst>
          </p:cNvPr>
          <p:cNvSpPr txBox="1"/>
          <p:nvPr/>
        </p:nvSpPr>
        <p:spPr>
          <a:xfrm>
            <a:off x="3484790" y="976520"/>
            <a:ext cx="3802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테이블의 식별코드 열을 </a:t>
            </a:r>
            <a:r>
              <a:rPr lang="ko-KR" altLang="en-US"/>
              <a:t>참조</a:t>
            </a:r>
            <a:r>
              <a:rPr lang="en-US" altLang="ko-KR" dirty="0"/>
              <a:t>(</a:t>
            </a:r>
            <a:r>
              <a:rPr lang="ko-KR" altLang="en-US" dirty="0"/>
              <a:t>관계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7001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F6FB8-8A0D-B17F-8D5E-EFF9C4C7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Select Where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C43C20-5471-5C9E-8508-FE03CB918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SQL</a:t>
            </a:r>
            <a:r>
              <a:rPr lang="ko-KR" altLang="en-US" dirty="0"/>
              <a:t>문은 관계형 데이터베이스 구조에서 데이터를 관리하기 위해서 주로 사용되는 언어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데이터 조회 </a:t>
            </a:r>
            <a:r>
              <a:rPr lang="en-US" altLang="ko-KR" dirty="0"/>
              <a:t>SQL</a:t>
            </a:r>
            <a:r>
              <a:rPr lang="ko-KR" altLang="en-US" dirty="0"/>
              <a:t>문 </a:t>
            </a:r>
            <a:r>
              <a:rPr lang="en-US" altLang="ko-KR" dirty="0"/>
              <a:t>= SELECT</a:t>
            </a:r>
            <a:r>
              <a:rPr lang="ko-KR" altLang="en-US" dirty="0"/>
              <a:t>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SELECT</a:t>
            </a:r>
            <a:r>
              <a:rPr lang="ko-KR" altLang="en-US" dirty="0"/>
              <a:t>문의 구조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SELECT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열의 이름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  <a:r>
              <a:rPr lang="en-US" altLang="ko-KR" dirty="0"/>
              <a:t> FROM </a:t>
            </a:r>
            <a:r>
              <a:rPr lang="en-US" altLang="ko-KR" dirty="0">
                <a:solidFill>
                  <a:srgbClr val="00B050"/>
                </a:solidFill>
              </a:rPr>
              <a:t>[</a:t>
            </a:r>
            <a:r>
              <a:rPr lang="ko-KR" altLang="en-US" dirty="0">
                <a:solidFill>
                  <a:srgbClr val="00B050"/>
                </a:solidFill>
              </a:rPr>
              <a:t>테이블 이름</a:t>
            </a:r>
            <a:r>
              <a:rPr lang="en-US" altLang="ko-KR" dirty="0">
                <a:solidFill>
                  <a:srgbClr val="00B050"/>
                </a:solidFill>
              </a:rPr>
              <a:t>]</a:t>
            </a:r>
            <a:r>
              <a:rPr lang="en-US" altLang="ko-K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97844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71A3C-8E23-47A2-C3A4-644EA2E26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</a:t>
            </a:r>
            <a:r>
              <a:rPr lang="ko-KR" altLang="en-US" dirty="0"/>
              <a:t>문 연습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11A6DB9-9D2C-DB9B-DCF5-9D2296ABD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267534"/>
              </p:ext>
            </p:extLst>
          </p:nvPr>
        </p:nvGraphicFramePr>
        <p:xfrm>
          <a:off x="1992312" y="1988607"/>
          <a:ext cx="8207376" cy="2537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5792">
                  <a:extLst>
                    <a:ext uri="{9D8B030D-6E8A-4147-A177-3AD203B41FA5}">
                      <a16:colId xmlns:a16="http://schemas.microsoft.com/office/drawing/2014/main" val="117404953"/>
                    </a:ext>
                  </a:extLst>
                </a:gridCol>
                <a:gridCol w="2735792">
                  <a:extLst>
                    <a:ext uri="{9D8B030D-6E8A-4147-A177-3AD203B41FA5}">
                      <a16:colId xmlns:a16="http://schemas.microsoft.com/office/drawing/2014/main" val="195624876"/>
                    </a:ext>
                  </a:extLst>
                </a:gridCol>
                <a:gridCol w="2735792">
                  <a:extLst>
                    <a:ext uri="{9D8B030D-6E8A-4147-A177-3AD203B41FA5}">
                      <a16:colId xmlns:a16="http://schemas.microsoft.com/office/drawing/2014/main" val="2201353458"/>
                    </a:ext>
                  </a:extLst>
                </a:gridCol>
              </a:tblGrid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rgbClr val="FF0000"/>
                          </a:solidFill>
                        </a:rPr>
                        <a:t>ID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rgbClr val="FF0000"/>
                          </a:solidFill>
                        </a:rPr>
                        <a:t>PWD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Name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400716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AlsongDalsong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gray!@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James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066569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Molang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red123!@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Alice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93442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SquarePants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sponge!@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BoB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80932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mouse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brownRat</a:t>
                      </a:r>
                      <a:r>
                        <a:rPr lang="en-US" altLang="ko-KR" dirty="0"/>
                        <a:t>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Jerry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4930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2DC641C-1911-C403-58F5-F256933FABA0}"/>
              </a:ext>
            </a:extLst>
          </p:cNvPr>
          <p:cNvSpPr txBox="1"/>
          <p:nvPr/>
        </p:nvSpPr>
        <p:spPr>
          <a:xfrm>
            <a:off x="7709904" y="1519238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테이블 이름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00B050"/>
                </a:solidFill>
              </a:rPr>
              <a:t>Account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45A64-5B96-5B53-825B-52BBBCB21CF1}"/>
              </a:ext>
            </a:extLst>
          </p:cNvPr>
          <p:cNvSpPr txBox="1"/>
          <p:nvPr/>
        </p:nvSpPr>
        <p:spPr>
          <a:xfrm>
            <a:off x="1992312" y="4824411"/>
            <a:ext cx="5484194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SELECT </a:t>
            </a:r>
            <a:r>
              <a:rPr lang="en-US" altLang="ko-KR" sz="2800" dirty="0">
                <a:solidFill>
                  <a:srgbClr val="FF0000"/>
                </a:solidFill>
              </a:rPr>
              <a:t>ID, PWD</a:t>
            </a:r>
            <a:r>
              <a:rPr lang="en-US" altLang="ko-KR" sz="2800" dirty="0"/>
              <a:t> FROM </a:t>
            </a:r>
            <a:r>
              <a:rPr lang="en-US" altLang="ko-KR" sz="2800" dirty="0">
                <a:solidFill>
                  <a:srgbClr val="00B050"/>
                </a:solidFill>
              </a:rPr>
              <a:t>Account</a:t>
            </a:r>
            <a:r>
              <a:rPr lang="en-US" altLang="ko-KR" sz="2800" dirty="0"/>
              <a:t>;</a:t>
            </a:r>
          </a:p>
          <a:p>
            <a:endParaRPr lang="en-US" altLang="ko-KR" sz="900" dirty="0"/>
          </a:p>
          <a:p>
            <a:r>
              <a:rPr lang="en-US" altLang="ko-KR" sz="2800" dirty="0"/>
              <a:t>SELECT </a:t>
            </a:r>
            <a:r>
              <a:rPr lang="en-US" altLang="ko-KR" sz="2800" dirty="0">
                <a:solidFill>
                  <a:srgbClr val="FF0000"/>
                </a:solidFill>
              </a:rPr>
              <a:t>*</a:t>
            </a:r>
            <a:r>
              <a:rPr lang="en-US" altLang="ko-KR" sz="2800" dirty="0"/>
              <a:t> FROM </a:t>
            </a:r>
            <a:r>
              <a:rPr lang="en-US" altLang="ko-KR" sz="2800" dirty="0">
                <a:solidFill>
                  <a:srgbClr val="00B050"/>
                </a:solidFill>
              </a:rPr>
              <a:t>Account</a:t>
            </a:r>
            <a:r>
              <a:rPr lang="en-US" altLang="ko-KR" sz="2800" dirty="0"/>
              <a:t>;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69553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402416-18D5-4A9D-D991-8489D748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Select Where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2D4C1B-6CE0-F5E7-DD70-50487DE5D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Where</a:t>
            </a:r>
            <a:r>
              <a:rPr lang="ko-KR" altLang="en-US" dirty="0"/>
              <a:t>문이란</a:t>
            </a:r>
            <a:r>
              <a:rPr lang="en-US" altLang="ko-KR" dirty="0"/>
              <a:t>? : </a:t>
            </a:r>
            <a:r>
              <a:rPr lang="ko-KR" altLang="en-US" dirty="0"/>
              <a:t>데이터를 조회할 때 조건문을 사용하여 그 조건문에 해당되는 데이터만 조회할 수 있도록 해주는 추가적인 부분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SELECT</a:t>
            </a:r>
            <a:r>
              <a:rPr lang="ko-KR" altLang="en-US" dirty="0"/>
              <a:t>문과 함께 사용하면 특정한 데이터를 조회할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구조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SELECT [</a:t>
            </a:r>
            <a:r>
              <a:rPr lang="ko-KR" altLang="en-US" dirty="0"/>
              <a:t>열의 이름</a:t>
            </a:r>
            <a:r>
              <a:rPr lang="en-US" altLang="ko-KR" dirty="0"/>
              <a:t>] FROM [</a:t>
            </a:r>
            <a:r>
              <a:rPr lang="ko-KR" altLang="en-US" dirty="0"/>
              <a:t>테이블 이름</a:t>
            </a:r>
            <a:r>
              <a:rPr lang="en-US" altLang="ko-KR" dirty="0"/>
              <a:t>] </a:t>
            </a:r>
            <a:r>
              <a:rPr lang="en-US" altLang="ko-KR" dirty="0">
                <a:solidFill>
                  <a:schemeClr val="accent2"/>
                </a:solidFill>
              </a:rPr>
              <a:t>WHERE [</a:t>
            </a:r>
            <a:r>
              <a:rPr lang="ko-KR" altLang="en-US" dirty="0">
                <a:solidFill>
                  <a:schemeClr val="accent2"/>
                </a:solidFill>
              </a:rPr>
              <a:t>조건문</a:t>
            </a:r>
            <a:r>
              <a:rPr lang="en-US" altLang="ko-KR" dirty="0">
                <a:solidFill>
                  <a:schemeClr val="accent2"/>
                </a:solidFill>
              </a:rPr>
              <a:t>]</a:t>
            </a:r>
            <a:r>
              <a:rPr lang="en-US" altLang="ko-KR" dirty="0"/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0788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D64A0-D04E-578E-A3BF-E99D4C7EC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7D719-C293-E523-AD23-99B00B6A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WHERE</a:t>
            </a:r>
            <a:r>
              <a:rPr lang="ko-KR" altLang="en-US" dirty="0"/>
              <a:t>문 연습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95C74F7-F2D5-8FEC-EBBE-1E3A64254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496727"/>
              </p:ext>
            </p:extLst>
          </p:nvPr>
        </p:nvGraphicFramePr>
        <p:xfrm>
          <a:off x="1992312" y="1988607"/>
          <a:ext cx="8207376" cy="2537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5792">
                  <a:extLst>
                    <a:ext uri="{9D8B030D-6E8A-4147-A177-3AD203B41FA5}">
                      <a16:colId xmlns:a16="http://schemas.microsoft.com/office/drawing/2014/main" val="117404953"/>
                    </a:ext>
                  </a:extLst>
                </a:gridCol>
                <a:gridCol w="2735792">
                  <a:extLst>
                    <a:ext uri="{9D8B030D-6E8A-4147-A177-3AD203B41FA5}">
                      <a16:colId xmlns:a16="http://schemas.microsoft.com/office/drawing/2014/main" val="195624876"/>
                    </a:ext>
                  </a:extLst>
                </a:gridCol>
                <a:gridCol w="2735792">
                  <a:extLst>
                    <a:ext uri="{9D8B030D-6E8A-4147-A177-3AD203B41FA5}">
                      <a16:colId xmlns:a16="http://schemas.microsoft.com/office/drawing/2014/main" val="2201353458"/>
                    </a:ext>
                  </a:extLst>
                </a:gridCol>
              </a:tblGrid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PWD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400716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AlsongDalsong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gray!@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James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066569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Molang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red123!@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Alice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93442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SquarePants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sponge!@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BoB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80932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Mouse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brownRat</a:t>
                      </a:r>
                      <a:r>
                        <a:rPr lang="en-US" altLang="ko-KR" dirty="0"/>
                        <a:t>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Jerry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4930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DA87D6-29C9-A3FF-09FB-AF5F59A5B104}"/>
              </a:ext>
            </a:extLst>
          </p:cNvPr>
          <p:cNvSpPr txBox="1"/>
          <p:nvPr/>
        </p:nvSpPr>
        <p:spPr>
          <a:xfrm>
            <a:off x="7709904" y="1519238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테이블 이름 </a:t>
            </a:r>
            <a:r>
              <a:rPr lang="en-US" altLang="ko-KR" dirty="0"/>
              <a:t>: Account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2B1A28C-2A91-F3C9-94B9-EF26C4722BCD}"/>
              </a:ext>
            </a:extLst>
          </p:cNvPr>
          <p:cNvCxnSpPr>
            <a:cxnSpLocks/>
          </p:cNvCxnSpPr>
          <p:nvPr/>
        </p:nvCxnSpPr>
        <p:spPr>
          <a:xfrm>
            <a:off x="1438275" y="32385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5F15495-BF38-A8A9-721F-E29E69D2D62E}"/>
              </a:ext>
            </a:extLst>
          </p:cNvPr>
          <p:cNvSpPr txBox="1"/>
          <p:nvPr/>
        </p:nvSpPr>
        <p:spPr>
          <a:xfrm>
            <a:off x="838200" y="4995863"/>
            <a:ext cx="43909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화살표 표시된 행만 조회하고 싶다면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D858B3-CD10-4072-CA75-EA8D2E372D1B}"/>
              </a:ext>
            </a:extLst>
          </p:cNvPr>
          <p:cNvSpPr txBox="1"/>
          <p:nvPr/>
        </p:nvSpPr>
        <p:spPr>
          <a:xfrm>
            <a:off x="838200" y="5493809"/>
            <a:ext cx="6885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SELECT * FROM Account </a:t>
            </a:r>
            <a:r>
              <a:rPr lang="en-US" altLang="ko-KR" sz="2400" dirty="0">
                <a:solidFill>
                  <a:schemeClr val="accent2"/>
                </a:solidFill>
              </a:rPr>
              <a:t>WHERE ID = ‘</a:t>
            </a:r>
            <a:r>
              <a:rPr lang="en-US" altLang="ko-KR" sz="2400" dirty="0" err="1">
                <a:solidFill>
                  <a:schemeClr val="accent2"/>
                </a:solidFill>
              </a:rPr>
              <a:t>Molang</a:t>
            </a:r>
            <a:r>
              <a:rPr lang="en-US" altLang="ko-KR" sz="2400" dirty="0">
                <a:solidFill>
                  <a:schemeClr val="accent2"/>
                </a:solidFill>
              </a:rPr>
              <a:t>’</a:t>
            </a:r>
            <a:r>
              <a:rPr lang="en-US" altLang="ko-KR" sz="2400" dirty="0"/>
              <a:t>;</a:t>
            </a:r>
            <a:endParaRPr lang="ko-KR" altLang="en-US" sz="2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D8B72-F523-7265-D7BD-9529A16DE8E6}"/>
              </a:ext>
            </a:extLst>
          </p:cNvPr>
          <p:cNvSpPr/>
          <p:nvPr/>
        </p:nvSpPr>
        <p:spPr>
          <a:xfrm>
            <a:off x="1992312" y="2990850"/>
            <a:ext cx="8207376" cy="52387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682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5FC31-9DDD-FE0C-C052-4479BEB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Update</a:t>
            </a:r>
            <a:r>
              <a:rPr lang="ko-KR" altLang="en-US" dirty="0"/>
              <a:t>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D23B9-5B7A-78C9-EE2F-F3AE41303521}"/>
              </a:ext>
            </a:extLst>
          </p:cNvPr>
          <p:cNvSpPr txBox="1"/>
          <p:nvPr/>
        </p:nvSpPr>
        <p:spPr>
          <a:xfrm>
            <a:off x="838200" y="1648374"/>
            <a:ext cx="7149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특정 셀 혹은 열의 값을 변경할 때 사용하는 </a:t>
            </a:r>
            <a:r>
              <a:rPr lang="en-US" altLang="ko-KR" sz="2400" dirty="0"/>
              <a:t>SQL</a:t>
            </a:r>
            <a:r>
              <a:rPr lang="ko-KR" altLang="en-US" sz="2400" dirty="0"/>
              <a:t>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F45CB-1BD9-E37C-7634-A387DCACADF2}"/>
              </a:ext>
            </a:extLst>
          </p:cNvPr>
          <p:cNvSpPr txBox="1"/>
          <p:nvPr/>
        </p:nvSpPr>
        <p:spPr>
          <a:xfrm>
            <a:off x="627099" y="2566744"/>
            <a:ext cx="109378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Update</a:t>
            </a:r>
            <a:r>
              <a:rPr lang="ko-KR" altLang="en-US" sz="2800" b="1" dirty="0"/>
              <a:t>문의 구조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800" dirty="0"/>
              <a:t>UPDATE [</a:t>
            </a:r>
            <a:r>
              <a:rPr lang="ko-KR" altLang="en-US" sz="2800" dirty="0"/>
              <a:t>테이블 이름</a:t>
            </a:r>
            <a:r>
              <a:rPr lang="en-US" altLang="ko-KR" sz="2800" dirty="0"/>
              <a:t>] SET [</a:t>
            </a:r>
            <a:r>
              <a:rPr lang="ko-KR" altLang="en-US" sz="2800" dirty="0"/>
              <a:t>열의 이름</a:t>
            </a:r>
            <a:r>
              <a:rPr lang="en-US" altLang="ko-KR" sz="2800" dirty="0"/>
              <a:t>]=‘[</a:t>
            </a:r>
            <a:r>
              <a:rPr lang="ko-KR" altLang="en-US" sz="2800" dirty="0"/>
              <a:t>바꿀 값</a:t>
            </a:r>
            <a:r>
              <a:rPr lang="en-US" altLang="ko-KR" sz="2800" dirty="0"/>
              <a:t>]’ WHERE [</a:t>
            </a:r>
            <a:r>
              <a:rPr lang="ko-KR" altLang="en-US" sz="2800" dirty="0"/>
              <a:t>조건문</a:t>
            </a:r>
            <a:r>
              <a:rPr lang="en-US" altLang="ko-KR" sz="2800" dirty="0"/>
              <a:t>]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7589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95037-2C98-79A8-BEC9-640A5E57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772"/>
            <a:ext cx="10515600" cy="1325563"/>
          </a:xfrm>
        </p:spPr>
        <p:txBody>
          <a:bodyPr/>
          <a:lstStyle/>
          <a:p>
            <a:r>
              <a:rPr lang="en-US" altLang="ko-KR" dirty="0"/>
              <a:t>Update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098927-140D-C47C-0502-8F95E3149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279594"/>
              </p:ext>
            </p:extLst>
          </p:nvPr>
        </p:nvGraphicFramePr>
        <p:xfrm>
          <a:off x="1639479" y="1828148"/>
          <a:ext cx="8207376" cy="2537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5792">
                  <a:extLst>
                    <a:ext uri="{9D8B030D-6E8A-4147-A177-3AD203B41FA5}">
                      <a16:colId xmlns:a16="http://schemas.microsoft.com/office/drawing/2014/main" val="117404953"/>
                    </a:ext>
                  </a:extLst>
                </a:gridCol>
                <a:gridCol w="2735792">
                  <a:extLst>
                    <a:ext uri="{9D8B030D-6E8A-4147-A177-3AD203B41FA5}">
                      <a16:colId xmlns:a16="http://schemas.microsoft.com/office/drawing/2014/main" val="195624876"/>
                    </a:ext>
                  </a:extLst>
                </a:gridCol>
                <a:gridCol w="2735792">
                  <a:extLst>
                    <a:ext uri="{9D8B030D-6E8A-4147-A177-3AD203B41FA5}">
                      <a16:colId xmlns:a16="http://schemas.microsoft.com/office/drawing/2014/main" val="2201353458"/>
                    </a:ext>
                  </a:extLst>
                </a:gridCol>
              </a:tblGrid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rgbClr val="FF0000"/>
                          </a:solidFill>
                        </a:rPr>
                        <a:t>ID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rgbClr val="FF0000"/>
                          </a:solidFill>
                        </a:rPr>
                        <a:t>PWD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Name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400716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AlsongDalsong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gray!@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James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066569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Molang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red123!@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Alice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93442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SquarePants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sponge!@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BoB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80932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mouse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brownRat</a:t>
                      </a:r>
                      <a:r>
                        <a:rPr lang="en-US" altLang="ko-KR" dirty="0"/>
                        <a:t>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Jerry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49301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8C9DC69-C17A-47CA-8BCD-CA3BB1724C97}"/>
              </a:ext>
            </a:extLst>
          </p:cNvPr>
          <p:cNvSpPr txBox="1"/>
          <p:nvPr/>
        </p:nvSpPr>
        <p:spPr>
          <a:xfrm>
            <a:off x="7357071" y="1358779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테이블 이름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00B050"/>
                </a:solidFill>
              </a:rPr>
              <a:t>Account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10EC41-00F6-1CE1-BFB9-1F07F0EA187B}"/>
              </a:ext>
            </a:extLst>
          </p:cNvPr>
          <p:cNvSpPr/>
          <p:nvPr/>
        </p:nvSpPr>
        <p:spPr>
          <a:xfrm>
            <a:off x="1639479" y="2837467"/>
            <a:ext cx="2734558" cy="509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A7A5472-BD82-505A-DB8C-56B2F8D599B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63192" y="3097090"/>
            <a:ext cx="376287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2AA049E-5E19-10C4-F60E-06DAD41D0C5E}"/>
              </a:ext>
            </a:extLst>
          </p:cNvPr>
          <p:cNvSpPr txBox="1"/>
          <p:nvPr/>
        </p:nvSpPr>
        <p:spPr>
          <a:xfrm>
            <a:off x="151317" y="2837467"/>
            <a:ext cx="1095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hacker</a:t>
            </a:r>
            <a:r>
              <a:rPr lang="ko-KR" altLang="en-US" dirty="0">
                <a:solidFill>
                  <a:srgbClr val="FF0000"/>
                </a:solidFill>
              </a:rPr>
              <a:t>로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변경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65798B-6AF8-D9FE-049D-5324396058BD}"/>
              </a:ext>
            </a:extLst>
          </p:cNvPr>
          <p:cNvSpPr txBox="1"/>
          <p:nvPr/>
        </p:nvSpPr>
        <p:spPr>
          <a:xfrm>
            <a:off x="1037680" y="4976001"/>
            <a:ext cx="9410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UPDATE</a:t>
            </a:r>
            <a:r>
              <a:rPr lang="ko-KR" altLang="en-US" sz="2800" dirty="0"/>
              <a:t> </a:t>
            </a:r>
            <a:r>
              <a:rPr lang="en-US" altLang="ko-KR" sz="2800" dirty="0"/>
              <a:t>Account</a:t>
            </a:r>
            <a:r>
              <a:rPr lang="ko-KR" altLang="en-US" sz="2800" dirty="0"/>
              <a:t> </a:t>
            </a:r>
            <a:r>
              <a:rPr lang="en-US" altLang="ko-KR" sz="2800" dirty="0"/>
              <a:t>SET ID=‘hacker’ WHERE ID = ‘</a:t>
            </a:r>
            <a:r>
              <a:rPr lang="en-US" altLang="ko-KR" sz="2800" dirty="0" err="1"/>
              <a:t>Molang</a:t>
            </a:r>
            <a:r>
              <a:rPr lang="en-US" altLang="ko-KR" sz="2800" dirty="0"/>
              <a:t>’;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33286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BFAB2-9D92-079A-26AC-E788F20F5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DROP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3B877B-7378-8D7E-7231-3D4C7BD5A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테이블 자체</a:t>
            </a:r>
            <a:r>
              <a:rPr lang="en-US" altLang="ko-KR" dirty="0"/>
              <a:t> </a:t>
            </a:r>
            <a:r>
              <a:rPr lang="ko-KR" altLang="en-US" dirty="0"/>
              <a:t>혹은 </a:t>
            </a:r>
            <a:r>
              <a:rPr lang="en-US" altLang="ko-KR" dirty="0"/>
              <a:t>DB</a:t>
            </a:r>
            <a:r>
              <a:rPr lang="ko-KR" altLang="en-US" dirty="0"/>
              <a:t>를 삭제할 때 사용하는 </a:t>
            </a:r>
            <a:r>
              <a:rPr lang="en-US" altLang="ko-KR" dirty="0"/>
              <a:t>SQL</a:t>
            </a:r>
            <a:r>
              <a:rPr lang="ko-KR" altLang="en-US" dirty="0"/>
              <a:t>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sz="3200" b="1" dirty="0"/>
              <a:t>DROP</a:t>
            </a:r>
            <a:r>
              <a:rPr lang="ko-KR" altLang="en-US" sz="3200" b="1" dirty="0"/>
              <a:t>문</a:t>
            </a:r>
            <a:endParaRPr lang="en-US" altLang="ko-KR" sz="3200" b="1" dirty="0"/>
          </a:p>
          <a:p>
            <a:pPr marL="0" indent="0">
              <a:buNone/>
            </a:pPr>
            <a:r>
              <a:rPr lang="en-US" altLang="ko-KR" dirty="0"/>
              <a:t>DROP [TABLE </a:t>
            </a:r>
            <a:r>
              <a:rPr lang="ko-KR" altLang="en-US" dirty="0"/>
              <a:t>혹은 </a:t>
            </a:r>
            <a:r>
              <a:rPr lang="en-US" altLang="ko-KR" dirty="0"/>
              <a:t>DATABASE] [</a:t>
            </a:r>
            <a:r>
              <a:rPr lang="ko-KR" altLang="en-US" dirty="0"/>
              <a:t>테이블 혹은 </a:t>
            </a:r>
            <a:r>
              <a:rPr lang="en-US" altLang="ko-KR" dirty="0"/>
              <a:t>DB</a:t>
            </a:r>
            <a:r>
              <a:rPr lang="ko-KR" altLang="en-US" dirty="0"/>
              <a:t>이름</a:t>
            </a:r>
            <a:r>
              <a:rPr lang="en-US" altLang="ko-KR" dirty="0"/>
              <a:t>];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29958-42D1-F8A6-151D-98197ACAB974}"/>
              </a:ext>
            </a:extLst>
          </p:cNvPr>
          <p:cNvSpPr txBox="1"/>
          <p:nvPr/>
        </p:nvSpPr>
        <p:spPr>
          <a:xfrm>
            <a:off x="838199" y="4477732"/>
            <a:ext cx="95784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예시로 </a:t>
            </a:r>
            <a:r>
              <a:rPr lang="en-US" altLang="ko-KR" sz="2800" dirty="0"/>
              <a:t>Account </a:t>
            </a:r>
            <a:r>
              <a:rPr lang="ko-KR" altLang="en-US" sz="2800" dirty="0"/>
              <a:t>테이블을 삭제한다고 가정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DROP TABLE Account;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79128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5B35B-3EB1-E2D2-C176-0E9EAE7E3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Injection</a:t>
            </a:r>
            <a:r>
              <a:rPr lang="ko-KR" altLang="en-US" dirty="0"/>
              <a:t>의 개념 및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4164D-8B49-E9F4-2C27-AFED9E523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주로 홈페이지에서 로그인을 하거나 특정 계정 정보를 조회할 경우 </a:t>
            </a:r>
            <a:r>
              <a:rPr lang="en-US" altLang="ko-KR" dirty="0"/>
              <a:t>SQL</a:t>
            </a:r>
            <a:r>
              <a:rPr lang="ko-KR" altLang="en-US" dirty="0"/>
              <a:t>문을 통해 </a:t>
            </a:r>
            <a:r>
              <a:rPr lang="en-US" altLang="ko-KR" dirty="0"/>
              <a:t>DB</a:t>
            </a:r>
            <a:r>
              <a:rPr lang="ko-KR" altLang="en-US" dirty="0"/>
              <a:t>에서 특정한 값을 조회해서 가져온다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이때 사용자가 일반적인 값 대신 </a:t>
            </a:r>
            <a:r>
              <a:rPr lang="en-US" altLang="ko-KR" dirty="0"/>
              <a:t>SQL</a:t>
            </a:r>
            <a:r>
              <a:rPr lang="ko-KR" altLang="en-US" dirty="0"/>
              <a:t>문을 입력해서 서버로 하여금 필요 이상의 데이터를 조회하거나 로그인 우회 등의 활동을 하는 공격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15603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D4BC6-95CB-F503-5D57-921B2596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Injection</a:t>
            </a:r>
            <a:r>
              <a:rPr lang="ko-KR" altLang="en-US" dirty="0"/>
              <a:t>의 개념 및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C85941-41E4-8B55-E2EC-8A218F8F8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예시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만약 </a:t>
            </a:r>
            <a:r>
              <a:rPr lang="en-US" altLang="ko-KR" dirty="0"/>
              <a:t>ID </a:t>
            </a:r>
            <a:r>
              <a:rPr lang="ko-KR" altLang="en-US" dirty="0"/>
              <a:t>값을 입력하면 해당 </a:t>
            </a:r>
            <a:r>
              <a:rPr lang="en-US" altLang="ko-KR" dirty="0"/>
              <a:t>ID</a:t>
            </a:r>
            <a:r>
              <a:rPr lang="ko-KR" altLang="en-US" dirty="0"/>
              <a:t>의 소유자 이름을 조회해서 화면에 출력해주는 웹 페이지가 있다 가정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사이트는 다음의 </a:t>
            </a:r>
            <a:r>
              <a:rPr lang="en-US" altLang="ko-KR" dirty="0"/>
              <a:t>SQL</a:t>
            </a:r>
            <a:r>
              <a:rPr lang="ko-KR" altLang="en-US" dirty="0"/>
              <a:t>문을 사용하여 조회한다 가정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SELECT Name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FROM Account WHERE ID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‘[</a:t>
            </a:r>
            <a:r>
              <a:rPr lang="ko-KR" altLang="en-US" dirty="0">
                <a:solidFill>
                  <a:srgbClr val="FF0000"/>
                </a:solidFill>
              </a:rPr>
              <a:t>사용자 입력 값</a:t>
            </a:r>
            <a:r>
              <a:rPr lang="en-US" altLang="ko-KR" dirty="0">
                <a:solidFill>
                  <a:srgbClr val="FF0000"/>
                </a:solidFill>
              </a:rPr>
              <a:t>]’;</a:t>
            </a:r>
          </a:p>
        </p:txBody>
      </p:sp>
    </p:spTree>
    <p:extLst>
      <p:ext uri="{BB962C8B-B14F-4D97-AF65-F5344CB8AC3E}">
        <p14:creationId xmlns:p14="http://schemas.microsoft.com/office/powerpoint/2010/main" val="2258036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88C35-E99D-9245-9A3A-68DF1D15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Injection</a:t>
            </a:r>
            <a:r>
              <a:rPr lang="ko-KR" altLang="en-US" dirty="0"/>
              <a:t>의 개념 및 원리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E8B3F-D1FC-0E6A-9014-C081AB5CCCCA}"/>
              </a:ext>
            </a:extLst>
          </p:cNvPr>
          <p:cNvSpPr txBox="1"/>
          <p:nvPr/>
        </p:nvSpPr>
        <p:spPr>
          <a:xfrm>
            <a:off x="838200" y="5293578"/>
            <a:ext cx="93630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dirty="0"/>
              <a:t>만약 사용자 입력 값이 </a:t>
            </a:r>
            <a:r>
              <a:rPr lang="en-US" altLang="ko-KR" sz="2400" dirty="0"/>
              <a:t>‘ OR</a:t>
            </a:r>
            <a:r>
              <a:rPr lang="ko-KR" altLang="en-US" sz="2400" dirty="0"/>
              <a:t> </a:t>
            </a:r>
            <a:r>
              <a:rPr lang="en-US" altLang="ko-KR" sz="2400" dirty="0"/>
              <a:t>1=1;</a:t>
            </a:r>
            <a:r>
              <a:rPr lang="ko-KR" altLang="en-US" sz="2400" dirty="0"/>
              <a:t> </a:t>
            </a:r>
            <a:r>
              <a:rPr lang="en-US" altLang="ko-KR" sz="2400" dirty="0"/>
              <a:t>#</a:t>
            </a:r>
            <a:r>
              <a:rPr lang="ko-KR" altLang="en-US" sz="2400" dirty="0"/>
              <a:t> 이라면</a:t>
            </a:r>
            <a:r>
              <a:rPr lang="en-US" altLang="ko-KR" sz="2400" dirty="0"/>
              <a:t>? (</a:t>
            </a:r>
            <a:r>
              <a:rPr lang="en-US" altLang="ko-KR" sz="2400" dirty="0">
                <a:solidFill>
                  <a:srgbClr val="0070C0"/>
                </a:solidFill>
              </a:rPr>
              <a:t># </a:t>
            </a:r>
            <a:r>
              <a:rPr lang="ko-KR" altLang="en-US" sz="2400" dirty="0">
                <a:solidFill>
                  <a:srgbClr val="0070C0"/>
                </a:solidFill>
              </a:rPr>
              <a:t>혹은 </a:t>
            </a:r>
            <a:r>
              <a:rPr lang="en-US" altLang="ko-KR" sz="2400" dirty="0">
                <a:solidFill>
                  <a:srgbClr val="0070C0"/>
                </a:solidFill>
              </a:rPr>
              <a:t>-- : </a:t>
            </a:r>
            <a:r>
              <a:rPr lang="ko-KR" altLang="en-US" sz="2400" dirty="0">
                <a:solidFill>
                  <a:srgbClr val="0070C0"/>
                </a:solidFill>
              </a:rPr>
              <a:t>주석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r>
              <a:rPr lang="en-US" altLang="ko-KR" sz="2400" dirty="0"/>
              <a:t>SELECT Name</a:t>
            </a:r>
            <a:r>
              <a:rPr lang="ko-KR" altLang="en-US" sz="2400" dirty="0"/>
              <a:t> </a:t>
            </a:r>
            <a:r>
              <a:rPr lang="en-US" altLang="ko-KR" sz="2400" dirty="0"/>
              <a:t>FROM Account WHERE ID</a:t>
            </a:r>
            <a:r>
              <a:rPr lang="ko-KR" altLang="en-US" sz="2400" dirty="0"/>
              <a:t> </a:t>
            </a:r>
            <a:r>
              <a:rPr lang="en-US" altLang="ko-KR" sz="2400" dirty="0"/>
              <a:t>=</a:t>
            </a:r>
            <a:r>
              <a:rPr lang="ko-KR" altLang="en-US" sz="2400" dirty="0"/>
              <a:t> </a:t>
            </a:r>
            <a:r>
              <a:rPr lang="en-US" altLang="ko-KR" sz="2400" dirty="0"/>
              <a:t>‘’ OR 1=1; #’; </a:t>
            </a:r>
            <a:r>
              <a:rPr lang="ko-KR" altLang="en-US" sz="2400" dirty="0"/>
              <a:t>이 된다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A734686-F501-473E-8E99-8EF76391C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871171"/>
              </p:ext>
            </p:extLst>
          </p:nvPr>
        </p:nvGraphicFramePr>
        <p:xfrm>
          <a:off x="1792287" y="2040672"/>
          <a:ext cx="8207376" cy="2537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5792">
                  <a:extLst>
                    <a:ext uri="{9D8B030D-6E8A-4147-A177-3AD203B41FA5}">
                      <a16:colId xmlns:a16="http://schemas.microsoft.com/office/drawing/2014/main" val="117404953"/>
                    </a:ext>
                  </a:extLst>
                </a:gridCol>
                <a:gridCol w="2735792">
                  <a:extLst>
                    <a:ext uri="{9D8B030D-6E8A-4147-A177-3AD203B41FA5}">
                      <a16:colId xmlns:a16="http://schemas.microsoft.com/office/drawing/2014/main" val="195624876"/>
                    </a:ext>
                  </a:extLst>
                </a:gridCol>
                <a:gridCol w="2735792">
                  <a:extLst>
                    <a:ext uri="{9D8B030D-6E8A-4147-A177-3AD203B41FA5}">
                      <a16:colId xmlns:a16="http://schemas.microsoft.com/office/drawing/2014/main" val="2201353458"/>
                    </a:ext>
                  </a:extLst>
                </a:gridCol>
              </a:tblGrid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PWD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400716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AlsongDalsong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gray!@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James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066569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Molang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red123!@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Alice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93442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SqurePants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sponge!@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BoB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80932"/>
                  </a:ext>
                </a:extLst>
              </a:tr>
              <a:tr h="507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mouse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brownRat</a:t>
                      </a:r>
                      <a:r>
                        <a:rPr lang="en-US" altLang="ko-KR" dirty="0"/>
                        <a:t>!@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Jerry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4930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64C956-D5CB-2092-C96B-7D81881F38E8}"/>
              </a:ext>
            </a:extLst>
          </p:cNvPr>
          <p:cNvSpPr txBox="1"/>
          <p:nvPr/>
        </p:nvSpPr>
        <p:spPr>
          <a:xfrm>
            <a:off x="7509879" y="1571303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테이블 이름 </a:t>
            </a:r>
            <a:r>
              <a:rPr lang="en-US" altLang="ko-KR" dirty="0"/>
              <a:t>: Account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8764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2D52C6-262B-F373-91CD-5AB8D6B23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Injection</a:t>
            </a:r>
            <a:r>
              <a:rPr lang="ko-KR" altLang="en-US" dirty="0"/>
              <a:t>의 개념 및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76DC13-C33E-BEC1-6B83-8D9F7607A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dirty="0"/>
              <a:t>그렇게 된 경우 </a:t>
            </a:r>
            <a:r>
              <a:rPr lang="en-US" altLang="ko-KR" dirty="0"/>
              <a:t>Where</a:t>
            </a:r>
            <a:r>
              <a:rPr lang="ko-KR" altLang="en-US" dirty="0"/>
              <a:t>문의 조건문은 다음과 같다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조건문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2"/>
                </a:solidFill>
              </a:rPr>
              <a:t>WHERE</a:t>
            </a:r>
            <a:r>
              <a:rPr lang="ko-KR" altLang="en-US" dirty="0">
                <a:solidFill>
                  <a:schemeClr val="accent2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ID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=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‘’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2"/>
                </a:solidFill>
              </a:rPr>
              <a:t>OR</a:t>
            </a:r>
            <a:r>
              <a:rPr lang="ko-KR" altLang="en-US" dirty="0">
                <a:solidFill>
                  <a:schemeClr val="accent2"/>
                </a:solidFill>
              </a:rPr>
              <a:t> </a:t>
            </a:r>
            <a:r>
              <a:rPr lang="en-US" altLang="ko-KR" dirty="0">
                <a:solidFill>
                  <a:schemeClr val="accent6"/>
                </a:solidFill>
              </a:rPr>
              <a:t>1=1</a:t>
            </a:r>
            <a:r>
              <a:rPr lang="en-US" altLang="ko-KR" dirty="0">
                <a:solidFill>
                  <a:schemeClr val="accent2"/>
                </a:solidFill>
              </a:rPr>
              <a:t>;</a:t>
            </a:r>
            <a:r>
              <a:rPr lang="ko-KR" altLang="en-US" dirty="0">
                <a:solidFill>
                  <a:schemeClr val="accent2"/>
                </a:solidFill>
              </a:rPr>
              <a:t> </a:t>
            </a:r>
            <a:r>
              <a:rPr lang="en-US" altLang="ko-KR" dirty="0">
                <a:solidFill>
                  <a:schemeClr val="accent2"/>
                </a:solidFill>
              </a:rPr>
              <a:t>#’;</a:t>
            </a:r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ID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=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‘’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: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6"/>
                </a:solidFill>
              </a:rPr>
              <a:t>1=1 : True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False OR True : True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조건문이 무조건 참이라서 모든 값을 조회하여 화면에 출력하게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3225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B507B-FAC2-96E8-2F20-0445DA1A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Query</a:t>
            </a:r>
            <a:r>
              <a:rPr lang="ko-KR" altLang="en-US" dirty="0"/>
              <a:t> </a:t>
            </a:r>
            <a:r>
              <a:rPr lang="en-US" altLang="ko-KR" dirty="0"/>
              <a:t>Chaining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69982C-287E-CEC2-7E87-BB40195DF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9855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문자 </a:t>
            </a:r>
            <a:r>
              <a:rPr lang="en-US" altLang="ko-KR" sz="2400" dirty="0"/>
              <a:t>‘;’</a:t>
            </a:r>
            <a:r>
              <a:rPr lang="ko-KR" altLang="en-US" sz="2400" dirty="0"/>
              <a:t>으로 </a:t>
            </a:r>
            <a:r>
              <a:rPr lang="en-US" altLang="ko-KR" sz="2400" dirty="0"/>
              <a:t>Query</a:t>
            </a:r>
            <a:r>
              <a:rPr lang="ko-KR" altLang="en-US" sz="2400" dirty="0"/>
              <a:t>문을</a:t>
            </a:r>
            <a:r>
              <a:rPr lang="en-US" altLang="ko-KR" sz="2400" dirty="0"/>
              <a:t>(SQL</a:t>
            </a:r>
            <a:r>
              <a:rPr lang="ko-KR" altLang="en-US" sz="2400" dirty="0"/>
              <a:t> 명령어 </a:t>
            </a:r>
            <a:r>
              <a:rPr lang="en-US" altLang="ko-KR" sz="2400" dirty="0"/>
              <a:t>1</a:t>
            </a:r>
            <a:r>
              <a:rPr lang="ko-KR" altLang="en-US" sz="2400" dirty="0"/>
              <a:t>개</a:t>
            </a:r>
            <a:r>
              <a:rPr lang="en-US" altLang="ko-KR" sz="2400" dirty="0"/>
              <a:t>) </a:t>
            </a:r>
            <a:r>
              <a:rPr lang="ko-KR" altLang="en-US" sz="2400" dirty="0"/>
              <a:t>구분하여 여러 개의 </a:t>
            </a:r>
            <a:r>
              <a:rPr lang="en-US" altLang="ko-KR" sz="2400" dirty="0"/>
              <a:t>Query </a:t>
            </a:r>
            <a:r>
              <a:rPr lang="ko-KR" altLang="en-US" sz="2400" dirty="0"/>
              <a:t>문을 실행시키는 기술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예시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>
                <a:solidFill>
                  <a:srgbClr val="00B050"/>
                </a:solidFill>
              </a:rPr>
              <a:t>SELECT * FROM Account Where ID=‘</a:t>
            </a:r>
            <a:r>
              <a:rPr lang="en-US" altLang="ko-KR" sz="2400" dirty="0" err="1">
                <a:solidFill>
                  <a:srgbClr val="00B050"/>
                </a:solidFill>
              </a:rPr>
              <a:t>Molang</a:t>
            </a:r>
            <a:r>
              <a:rPr lang="en-US" altLang="ko-KR" sz="2400" dirty="0">
                <a:solidFill>
                  <a:srgbClr val="00B050"/>
                </a:solidFill>
              </a:rPr>
              <a:t>’</a:t>
            </a:r>
            <a:r>
              <a:rPr lang="en-US" altLang="ko-KR" sz="2400" dirty="0">
                <a:solidFill>
                  <a:srgbClr val="FF0000"/>
                </a:solidFill>
              </a:rPr>
              <a:t>;</a:t>
            </a: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DROP TABLE Account;</a:t>
            </a:r>
          </a:p>
        </p:txBody>
      </p:sp>
    </p:spTree>
    <p:extLst>
      <p:ext uri="{BB962C8B-B14F-4D97-AF65-F5344CB8AC3E}">
        <p14:creationId xmlns:p14="http://schemas.microsoft.com/office/powerpoint/2010/main" val="2337612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39AFC5-909E-C46A-DCD4-EF898D124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실습 진행</a:t>
            </a:r>
          </a:p>
        </p:txBody>
      </p:sp>
    </p:spTree>
    <p:extLst>
      <p:ext uri="{BB962C8B-B14F-4D97-AF65-F5344CB8AC3E}">
        <p14:creationId xmlns:p14="http://schemas.microsoft.com/office/powerpoint/2010/main" val="939668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720</Words>
  <Application>Microsoft Office PowerPoint</Application>
  <PresentationFormat>와이드스크린</PresentationFormat>
  <Paragraphs>231</Paragraphs>
  <Slides>18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SQL Injection</vt:lpstr>
      <vt:lpstr>목차</vt:lpstr>
      <vt:lpstr>관계형 데이터베이스란?</vt:lpstr>
      <vt:lpstr>관계형 데이터베이스란?</vt:lpstr>
      <vt:lpstr>관계형 데이터베이스란?</vt:lpstr>
      <vt:lpstr>SQL Select Where 문</vt:lpstr>
      <vt:lpstr>SELECT문 연습</vt:lpstr>
      <vt:lpstr>SQL Select Where 문</vt:lpstr>
      <vt:lpstr>SELECT WHERE문 연습</vt:lpstr>
      <vt:lpstr>Update문</vt:lpstr>
      <vt:lpstr>Update문</vt:lpstr>
      <vt:lpstr>DROP 문</vt:lpstr>
      <vt:lpstr>SQL Injection의 개념 및 원리</vt:lpstr>
      <vt:lpstr>SQL Injection의 개념 및 원리</vt:lpstr>
      <vt:lpstr>SQL Injection의 개념 및 원리</vt:lpstr>
      <vt:lpstr>SQL Injection의 개념 및 원리</vt:lpstr>
      <vt:lpstr>Query Chaining</vt:lpstr>
      <vt:lpstr>실습 진행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36</cp:revision>
  <dcterms:created xsi:type="dcterms:W3CDTF">2025-12-08T14:22:13Z</dcterms:created>
  <dcterms:modified xsi:type="dcterms:W3CDTF">2025-12-16T05:05:24Z</dcterms:modified>
</cp:coreProperties>
</file>