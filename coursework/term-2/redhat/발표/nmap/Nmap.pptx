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63" r:id="rId12"/>
    <p:sldId id="264" r:id="rId13"/>
    <p:sldId id="265" r:id="rId14"/>
    <p:sldId id="273" r:id="rId15"/>
    <p:sldId id="268" r:id="rId16"/>
    <p:sldId id="269" r:id="rId17"/>
    <p:sldId id="281" r:id="rId18"/>
    <p:sldId id="274" r:id="rId19"/>
    <p:sldId id="275" r:id="rId20"/>
    <p:sldId id="276" r:id="rId21"/>
    <p:sldId id="277" r:id="rId22"/>
    <p:sldId id="290" r:id="rId23"/>
    <p:sldId id="278" r:id="rId24"/>
    <p:sldId id="279" r:id="rId25"/>
    <p:sldId id="291" r:id="rId26"/>
    <p:sldId id="282" r:id="rId27"/>
    <p:sldId id="293" r:id="rId28"/>
    <p:sldId id="292" r:id="rId29"/>
    <p:sldId id="296" r:id="rId30"/>
    <p:sldId id="297" r:id="rId31"/>
    <p:sldId id="298" r:id="rId32"/>
    <p:sldId id="299" r:id="rId33"/>
    <p:sldId id="280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0" y="74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900D8-F077-4056-B85B-AA77AA595A0A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8D8A2-116A-4ACA-BE5C-17F6AC472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0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F8D8A2-116A-4ACA-BE5C-17F6AC472E9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55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4000"/>
            </a:pPr>
            <a:r>
              <a:rPr sz="7200" dirty="0"/>
              <a:t>Nmap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Nmap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lang="en-US"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상의</a:t>
            </a:r>
            <a:r>
              <a:rPr dirty="0"/>
              <a:t> </a:t>
            </a:r>
            <a:r>
              <a:rPr dirty="0" err="1"/>
              <a:t>호스트와</a:t>
            </a:r>
            <a:r>
              <a:rPr dirty="0"/>
              <a:t> </a:t>
            </a:r>
            <a:r>
              <a:rPr dirty="0" err="1"/>
              <a:t>포트</a:t>
            </a:r>
            <a:r>
              <a:rPr dirty="0"/>
              <a:t>, </a:t>
            </a:r>
            <a:r>
              <a:rPr dirty="0" err="1"/>
              <a:t>서비스를</a:t>
            </a:r>
            <a:r>
              <a:rPr dirty="0"/>
              <a:t>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탐색하는</a:t>
            </a:r>
            <a:r>
              <a:rPr dirty="0"/>
              <a:t> </a:t>
            </a:r>
            <a:r>
              <a:rPr dirty="0" err="1"/>
              <a:t>도구</a:t>
            </a:r>
            <a:endParaRPr dirty="0"/>
          </a:p>
          <a:p>
            <a:pPr marL="0" indent="0">
              <a:buNone/>
              <a:defRPr sz="2200"/>
            </a:pPr>
            <a:endParaRPr lang="en-US"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lang="ko-KR" altLang="en-US" dirty="0"/>
              <a:t>패킷을 조작해 대상 서버의 응답 패턴을 분석하는 스캐너</a:t>
            </a:r>
            <a:endParaRPr lang="en-US" altLang="ko-KR" dirty="0"/>
          </a:p>
          <a:p>
            <a:pPr marL="0" indent="0">
              <a:buNone/>
              <a:defRPr sz="2200"/>
            </a:pPr>
            <a:endParaRPr lang="en-US"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lang="ko-KR" altLang="en-US" dirty="0"/>
              <a:t>열린 포트</a:t>
            </a:r>
            <a:r>
              <a:rPr lang="en-US" altLang="ko-KR" dirty="0"/>
              <a:t>·</a:t>
            </a:r>
            <a:r>
              <a:rPr lang="ko-KR" altLang="en-US" dirty="0"/>
              <a:t>취약 서비스</a:t>
            </a:r>
            <a:r>
              <a:rPr lang="en-US" altLang="ko-KR" dirty="0"/>
              <a:t>·OS </a:t>
            </a:r>
            <a:r>
              <a:rPr lang="ko-KR" altLang="en-US" dirty="0"/>
              <a:t>지문까지 추출하는 정보수집 툴</a:t>
            </a:r>
            <a:endParaRPr lang="en-US" altLang="ko-KR" dirty="0"/>
          </a:p>
          <a:p>
            <a:pPr marL="0" indent="0">
              <a:buNone/>
              <a:defRPr sz="2200"/>
            </a:pPr>
            <a:endParaRPr lang="en-US"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lang="ko-KR" altLang="en-US" dirty="0"/>
              <a:t>실제 공격자</a:t>
            </a:r>
            <a:r>
              <a:rPr lang="en-US" altLang="ko-KR" dirty="0"/>
              <a:t>·</a:t>
            </a:r>
            <a:r>
              <a:rPr lang="ko-KR" altLang="en-US" dirty="0"/>
              <a:t>침해대응팀 모두에게 필수인 표준 도구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ko-KR" altLang="en-US"/>
              <a:t>Nmap을 이해하는 관점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/>
            </a:pPr>
            <a:r>
              <a:rPr dirty="0"/>
              <a:t>1) </a:t>
            </a:r>
            <a:r>
              <a:rPr dirty="0" err="1"/>
              <a:t>포트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6가지로 </a:t>
            </a:r>
            <a:r>
              <a:rPr dirty="0" err="1"/>
              <a:t>세분화해서</a:t>
            </a:r>
            <a:r>
              <a:rPr dirty="0"/>
              <a:t> </a:t>
            </a:r>
            <a:r>
              <a:rPr dirty="0" err="1"/>
              <a:t>표현하는</a:t>
            </a:r>
            <a:r>
              <a:rPr dirty="0"/>
              <a:t> </a:t>
            </a:r>
            <a:r>
              <a:rPr dirty="0" err="1"/>
              <a:t>도구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2) </a:t>
            </a:r>
            <a:r>
              <a:rPr dirty="0" err="1"/>
              <a:t>플래그</a:t>
            </a:r>
            <a:r>
              <a:rPr dirty="0"/>
              <a:t>(TCP Flags)와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패턴을</a:t>
            </a:r>
            <a:r>
              <a:rPr dirty="0"/>
              <a:t> </a:t>
            </a:r>
            <a:r>
              <a:rPr dirty="0" err="1"/>
              <a:t>분석하는</a:t>
            </a:r>
            <a:r>
              <a:rPr dirty="0"/>
              <a:t> </a:t>
            </a:r>
            <a:r>
              <a:rPr dirty="0" err="1"/>
              <a:t>패킷</a:t>
            </a:r>
            <a:r>
              <a:rPr dirty="0"/>
              <a:t> </a:t>
            </a:r>
            <a:r>
              <a:rPr dirty="0" err="1"/>
              <a:t>엔진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3) </a:t>
            </a:r>
            <a:r>
              <a:rPr lang="ko-KR" altLang="en-US" dirty="0"/>
              <a:t>네 가지 모듈</a:t>
            </a:r>
            <a:r>
              <a:rPr lang="en-US" altLang="ko-KR" dirty="0"/>
              <a:t>(Host/Scan/Detection/Timing)</a:t>
            </a:r>
            <a:r>
              <a:rPr lang="ko-KR" altLang="en-US" dirty="0"/>
              <a:t>을 조합하는 프레임워크포트 상태를 </a:t>
            </a:r>
            <a:r>
              <a:rPr lang="en-US" altLang="ko-KR" dirty="0"/>
              <a:t>6</a:t>
            </a:r>
            <a:r>
              <a:rPr lang="ko-KR" altLang="en-US" dirty="0"/>
              <a:t>가지로 세분화해서 표현하는 도구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dirty="0"/>
              <a:t>Nmap </a:t>
            </a:r>
            <a:r>
              <a:rPr dirty="0" err="1"/>
              <a:t>포트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6가지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200"/>
            </a:pPr>
            <a:r>
              <a:rPr dirty="0"/>
              <a:t>• open: </a:t>
            </a:r>
            <a:r>
              <a:rPr dirty="0" err="1"/>
              <a:t>포트가</a:t>
            </a:r>
            <a:r>
              <a:rPr dirty="0"/>
              <a:t> </a:t>
            </a:r>
            <a:r>
              <a:rPr dirty="0" err="1"/>
              <a:t>열려</a:t>
            </a:r>
            <a:r>
              <a:rPr dirty="0"/>
              <a:t> </a:t>
            </a:r>
            <a:r>
              <a:rPr dirty="0" err="1"/>
              <a:t>있고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서비스가</a:t>
            </a:r>
            <a:r>
              <a:rPr dirty="0"/>
              <a:t> </a:t>
            </a:r>
            <a:r>
              <a:rPr dirty="0" err="1"/>
              <a:t>응답함</a:t>
            </a:r>
            <a:endParaRPr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closed: </a:t>
            </a:r>
            <a:r>
              <a:rPr dirty="0" err="1"/>
              <a:t>포트는</a:t>
            </a:r>
            <a:r>
              <a:rPr dirty="0"/>
              <a:t> </a:t>
            </a:r>
            <a:r>
              <a:rPr dirty="0" err="1"/>
              <a:t>열려</a:t>
            </a:r>
            <a:r>
              <a:rPr dirty="0"/>
              <a:t> </a:t>
            </a:r>
            <a:r>
              <a:rPr dirty="0" err="1"/>
              <a:t>있지</a:t>
            </a:r>
            <a:r>
              <a:rPr dirty="0"/>
              <a:t> </a:t>
            </a:r>
            <a:r>
              <a:rPr dirty="0" err="1"/>
              <a:t>않지만</a:t>
            </a:r>
            <a:r>
              <a:rPr dirty="0"/>
              <a:t> </a:t>
            </a:r>
            <a:r>
              <a:rPr dirty="0" err="1"/>
              <a:t>호스트는</a:t>
            </a:r>
            <a:r>
              <a:rPr dirty="0"/>
              <a:t> </a:t>
            </a:r>
            <a:r>
              <a:rPr dirty="0" err="1"/>
              <a:t>살아</a:t>
            </a:r>
            <a:r>
              <a:rPr dirty="0"/>
              <a:t> </a:t>
            </a:r>
            <a:r>
              <a:rPr dirty="0" err="1"/>
              <a:t>있음</a:t>
            </a:r>
            <a:r>
              <a:rPr dirty="0"/>
              <a:t> (RST </a:t>
            </a:r>
            <a:r>
              <a:rPr dirty="0" err="1"/>
              <a:t>반환</a:t>
            </a:r>
            <a:r>
              <a:rPr dirty="0"/>
              <a:t>)</a:t>
            </a:r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filtered: </a:t>
            </a:r>
            <a:r>
              <a:rPr dirty="0" err="1"/>
              <a:t>방화벽</a:t>
            </a:r>
            <a:r>
              <a:rPr dirty="0"/>
              <a:t>/</a:t>
            </a:r>
            <a:r>
              <a:rPr dirty="0" err="1"/>
              <a:t>필터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응답이</a:t>
            </a:r>
            <a:r>
              <a:rPr dirty="0"/>
              <a:t> </a:t>
            </a:r>
            <a:r>
              <a:rPr dirty="0" err="1"/>
              <a:t>차단됨</a:t>
            </a:r>
            <a:r>
              <a:rPr dirty="0"/>
              <a:t> (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불가</a:t>
            </a:r>
            <a:r>
              <a:rPr dirty="0"/>
              <a:t>)</a:t>
            </a:r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unfiltered: </a:t>
            </a:r>
            <a:r>
              <a:rPr dirty="0" err="1"/>
              <a:t>필터링은</a:t>
            </a:r>
            <a:r>
              <a:rPr dirty="0"/>
              <a:t> </a:t>
            </a:r>
            <a:r>
              <a:rPr dirty="0" err="1"/>
              <a:t>없지만</a:t>
            </a:r>
            <a:r>
              <a:rPr dirty="0"/>
              <a:t> </a:t>
            </a:r>
            <a:r>
              <a:rPr dirty="0" err="1"/>
              <a:t>포트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명확히</a:t>
            </a:r>
            <a:r>
              <a:rPr dirty="0"/>
              <a:t> 알 수 </a:t>
            </a:r>
            <a:r>
              <a:rPr dirty="0" err="1"/>
              <a:t>없음</a:t>
            </a:r>
            <a:endParaRPr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open|filtered</a:t>
            </a:r>
            <a:r>
              <a:rPr dirty="0"/>
              <a:t>: </a:t>
            </a:r>
            <a:r>
              <a:rPr dirty="0" err="1"/>
              <a:t>열려</a:t>
            </a:r>
            <a:r>
              <a:rPr dirty="0"/>
              <a:t> </a:t>
            </a:r>
            <a:r>
              <a:rPr dirty="0" err="1"/>
              <a:t>있거나</a:t>
            </a:r>
            <a:r>
              <a:rPr dirty="0"/>
              <a:t> </a:t>
            </a:r>
            <a:r>
              <a:rPr dirty="0" err="1"/>
              <a:t>필터링된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(UDP 등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)</a:t>
            </a:r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closed|filtered</a:t>
            </a:r>
            <a:r>
              <a:rPr dirty="0"/>
              <a:t>: </a:t>
            </a:r>
            <a:r>
              <a:rPr dirty="0" err="1"/>
              <a:t>닫혔거나</a:t>
            </a:r>
            <a:r>
              <a:rPr dirty="0"/>
              <a:t> </a:t>
            </a:r>
            <a:r>
              <a:rPr dirty="0" err="1"/>
              <a:t>필터링된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(</a:t>
            </a:r>
            <a:r>
              <a:rPr dirty="0" err="1"/>
              <a:t>드물게</a:t>
            </a:r>
            <a:r>
              <a:rPr dirty="0"/>
              <a:t> </a:t>
            </a:r>
            <a:r>
              <a:rPr dirty="0" err="1"/>
              <a:t>사용되는</a:t>
            </a:r>
            <a:r>
              <a:rPr dirty="0"/>
              <a:t> </a:t>
            </a:r>
            <a:r>
              <a:rPr dirty="0" err="1"/>
              <a:t>표현</a:t>
            </a:r>
            <a:r>
              <a:rPr dirty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Nmap 스캔의 4단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287962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200"/>
            </a:pPr>
            <a:r>
              <a:rPr dirty="0"/>
              <a:t>1) Host Discovery: </a:t>
            </a:r>
            <a:r>
              <a:rPr dirty="0" err="1"/>
              <a:t>살아있는</a:t>
            </a:r>
            <a:r>
              <a:rPr dirty="0"/>
              <a:t> </a:t>
            </a:r>
            <a:r>
              <a:rPr dirty="0" err="1"/>
              <a:t>호스트인지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판별</a:t>
            </a:r>
            <a:endParaRPr lang="en-US" dirty="0"/>
          </a:p>
          <a:p>
            <a:pPr marL="0" indent="0">
              <a:buNone/>
              <a:defRPr sz="2200"/>
            </a:pPr>
            <a:r>
              <a:rPr lang="en-US" sz="1600" dirty="0"/>
              <a:t>	ex) ICMP Ping(-PE), SYN Ping(-PS), ACK Ping(PA), UDP Ping(-PU)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2) Scan Type: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(TCP/UDP/</a:t>
            </a:r>
            <a:r>
              <a:rPr dirty="0" err="1"/>
              <a:t>플래그</a:t>
            </a:r>
            <a:r>
              <a:rPr dirty="0"/>
              <a:t>)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포트를</a:t>
            </a:r>
            <a:r>
              <a:rPr dirty="0"/>
              <a:t> </a:t>
            </a:r>
            <a:r>
              <a:rPr lang="ko-KR" altLang="en-US" dirty="0"/>
              <a:t>건드릴지</a:t>
            </a:r>
            <a:r>
              <a:rPr dirty="0"/>
              <a:t> </a:t>
            </a:r>
            <a:r>
              <a:rPr dirty="0" err="1"/>
              <a:t>결정</a:t>
            </a:r>
            <a:endParaRPr lang="en-US" dirty="0"/>
          </a:p>
          <a:p>
            <a:pPr marL="0" indent="0">
              <a:buNone/>
              <a:defRPr sz="2200"/>
            </a:pPr>
            <a:r>
              <a:rPr lang="en-US" sz="1600" dirty="0"/>
              <a:t>	ex) TCP(-</a:t>
            </a:r>
            <a:r>
              <a:rPr lang="en-US" sz="1600" dirty="0" err="1"/>
              <a:t>sT</a:t>
            </a:r>
            <a:r>
              <a:rPr lang="en-US" sz="1600" dirty="0"/>
              <a:t>), </a:t>
            </a:r>
            <a:r>
              <a:rPr lang="ko-KR" altLang="en-US" sz="1600" dirty="0" err="1"/>
              <a:t>스텔스</a:t>
            </a:r>
            <a:r>
              <a:rPr lang="en-US" altLang="ko-KR" sz="1600" dirty="0"/>
              <a:t>(-</a:t>
            </a:r>
            <a:r>
              <a:rPr lang="en-US" altLang="ko-KR" sz="1600" dirty="0" err="1"/>
              <a:t>sS</a:t>
            </a:r>
            <a:r>
              <a:rPr lang="en-US" altLang="ko-KR" sz="1600" dirty="0"/>
              <a:t>), UDP(-</a:t>
            </a:r>
            <a:r>
              <a:rPr lang="en-US" altLang="ko-KR" sz="1600" dirty="0" err="1"/>
              <a:t>sU</a:t>
            </a:r>
            <a:r>
              <a:rPr lang="en-US" altLang="ko-KR" sz="1600" dirty="0"/>
              <a:t>), NULL(-</a:t>
            </a:r>
            <a:r>
              <a:rPr lang="en-US" altLang="ko-KR" sz="1600" dirty="0" err="1"/>
              <a:t>sN</a:t>
            </a:r>
            <a:r>
              <a:rPr lang="en-US" altLang="ko-KR" sz="1600" dirty="0"/>
              <a:t>), FIN(-</a:t>
            </a:r>
            <a:r>
              <a:rPr lang="en-US" altLang="ko-KR" sz="1600" dirty="0" err="1"/>
              <a:t>sF</a:t>
            </a:r>
            <a:r>
              <a:rPr lang="en-US" altLang="ko-KR" sz="1600" dirty="0"/>
              <a:t>), XMAS(-</a:t>
            </a:r>
            <a:r>
              <a:rPr lang="en-US" altLang="ko-KR" sz="1600" dirty="0" err="1"/>
              <a:t>sX</a:t>
            </a:r>
            <a:r>
              <a:rPr lang="en-US" altLang="ko-KR" sz="1600" dirty="0"/>
              <a:t>)</a:t>
            </a:r>
          </a:p>
          <a:p>
            <a:pPr marL="0" indent="0">
              <a:buNone/>
              <a:defRPr sz="2200"/>
            </a:pPr>
            <a:endParaRPr sz="1600" dirty="0"/>
          </a:p>
          <a:p>
            <a:pPr>
              <a:defRPr sz="2200"/>
            </a:pPr>
            <a:r>
              <a:rPr dirty="0"/>
              <a:t>3) Service/OS Detection: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버전과</a:t>
            </a:r>
            <a:r>
              <a:rPr dirty="0"/>
              <a:t> </a:t>
            </a:r>
            <a:r>
              <a:rPr dirty="0" err="1"/>
              <a:t>운영체제</a:t>
            </a:r>
            <a:r>
              <a:rPr dirty="0"/>
              <a:t> </a:t>
            </a:r>
            <a:r>
              <a:rPr dirty="0" err="1"/>
              <a:t>지문</a:t>
            </a:r>
            <a:r>
              <a:rPr dirty="0"/>
              <a:t> </a:t>
            </a:r>
            <a:r>
              <a:rPr dirty="0" err="1"/>
              <a:t>분석</a:t>
            </a:r>
            <a:endParaRPr lang="en-US" dirty="0"/>
          </a:p>
          <a:p>
            <a:pPr marL="0" indent="0">
              <a:buNone/>
              <a:defRPr sz="2200"/>
            </a:pPr>
            <a:r>
              <a:rPr lang="en-US" sz="1600" dirty="0"/>
              <a:t>	ex) </a:t>
            </a:r>
            <a:r>
              <a:rPr lang="ko-KR" altLang="en-US" sz="1600" dirty="0"/>
              <a:t>서비스 버전</a:t>
            </a:r>
            <a:r>
              <a:rPr lang="en-US" altLang="ko-KR" sz="1600" dirty="0"/>
              <a:t>(-</a:t>
            </a:r>
            <a:r>
              <a:rPr lang="en-US" altLang="ko-KR" sz="1600" dirty="0" err="1"/>
              <a:t>sV</a:t>
            </a:r>
            <a:r>
              <a:rPr lang="en-US" altLang="ko-KR" sz="1600" dirty="0"/>
              <a:t>), OS </a:t>
            </a:r>
            <a:r>
              <a:rPr lang="ko-KR" altLang="en-US" sz="1600" dirty="0"/>
              <a:t>탐지</a:t>
            </a:r>
            <a:r>
              <a:rPr lang="en-US" altLang="ko-KR" sz="1600" dirty="0"/>
              <a:t>(-O)</a:t>
            </a:r>
          </a:p>
          <a:p>
            <a:pPr marL="0" indent="0">
              <a:buNone/>
              <a:defRPr sz="2200"/>
            </a:pPr>
            <a:endParaRPr sz="1600" dirty="0"/>
          </a:p>
          <a:p>
            <a:pPr>
              <a:defRPr sz="2200"/>
            </a:pPr>
            <a:r>
              <a:rPr dirty="0"/>
              <a:t>4) Timing / Evasion: </a:t>
            </a:r>
            <a:r>
              <a:rPr dirty="0" err="1"/>
              <a:t>속도</a:t>
            </a:r>
            <a:r>
              <a:rPr dirty="0"/>
              <a:t>, </a:t>
            </a:r>
            <a:r>
              <a:rPr dirty="0" err="1"/>
              <a:t>우회</a:t>
            </a:r>
            <a:r>
              <a:rPr dirty="0"/>
              <a:t> </a:t>
            </a:r>
            <a:r>
              <a:rPr dirty="0" err="1"/>
              <a:t>기법</a:t>
            </a:r>
            <a:r>
              <a:rPr dirty="0"/>
              <a:t>, </a:t>
            </a:r>
            <a:r>
              <a:rPr dirty="0" err="1"/>
              <a:t>탐지</a:t>
            </a:r>
            <a:r>
              <a:rPr dirty="0"/>
              <a:t> </a:t>
            </a:r>
            <a:r>
              <a:rPr dirty="0" err="1"/>
              <a:t>회피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 </a:t>
            </a:r>
            <a:r>
              <a:rPr dirty="0" err="1"/>
              <a:t>조절</a:t>
            </a:r>
            <a:endParaRPr lang="en-US" dirty="0"/>
          </a:p>
          <a:p>
            <a:pPr marL="0" indent="0">
              <a:buNone/>
              <a:defRPr sz="2200"/>
            </a:pPr>
            <a:r>
              <a:rPr lang="en-US" sz="1600" dirty="0"/>
              <a:t>	ex) Timing Template(-T0~T5)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dirty="0"/>
              <a:t>1. </a:t>
            </a:r>
            <a:r>
              <a:rPr dirty="0"/>
              <a:t>Host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/>
            </a:pPr>
            <a:r>
              <a:rPr dirty="0"/>
              <a:t>• ICMP Ping: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기본적인</a:t>
            </a:r>
            <a:r>
              <a:rPr dirty="0"/>
              <a:t> </a:t>
            </a:r>
            <a:r>
              <a:rPr dirty="0" err="1"/>
              <a:t>생존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방식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SYN Ping(-PS):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포트로</a:t>
            </a:r>
            <a:r>
              <a:rPr dirty="0"/>
              <a:t> </a:t>
            </a:r>
            <a:r>
              <a:rPr dirty="0" err="1"/>
              <a:t>SYN을</a:t>
            </a:r>
            <a:r>
              <a:rPr dirty="0"/>
              <a:t> </a:t>
            </a:r>
            <a:r>
              <a:rPr dirty="0" err="1"/>
              <a:t>보내</a:t>
            </a:r>
            <a:r>
              <a:rPr dirty="0"/>
              <a:t> SYN/ACK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확인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ACK Ping(-PA): </a:t>
            </a:r>
            <a:r>
              <a:rPr dirty="0" err="1"/>
              <a:t>ACK를</a:t>
            </a:r>
            <a:r>
              <a:rPr dirty="0"/>
              <a:t> </a:t>
            </a:r>
            <a:r>
              <a:rPr dirty="0" err="1"/>
              <a:t>보내</a:t>
            </a:r>
            <a:r>
              <a:rPr dirty="0"/>
              <a:t> RST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여부로</a:t>
            </a:r>
            <a:r>
              <a:rPr dirty="0"/>
              <a:t> </a:t>
            </a:r>
            <a:r>
              <a:rPr dirty="0" err="1"/>
              <a:t>호스트</a:t>
            </a:r>
            <a:r>
              <a:rPr dirty="0"/>
              <a:t> </a:t>
            </a:r>
            <a:r>
              <a:rPr dirty="0" err="1"/>
              <a:t>판단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UDP Ping(-PU): UDP </a:t>
            </a:r>
            <a:r>
              <a:rPr dirty="0" err="1"/>
              <a:t>전송</a:t>
            </a:r>
            <a:r>
              <a:rPr dirty="0"/>
              <a:t> 후 ICMP Port Unreachable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확인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-</a:t>
            </a:r>
            <a:r>
              <a:rPr dirty="0" err="1"/>
              <a:t>Pn</a:t>
            </a:r>
            <a:r>
              <a:rPr dirty="0"/>
              <a:t>: </a:t>
            </a:r>
            <a:r>
              <a:rPr dirty="0" err="1"/>
              <a:t>호스트</a:t>
            </a:r>
            <a:r>
              <a:rPr dirty="0"/>
              <a:t> </a:t>
            </a:r>
            <a:r>
              <a:rPr dirty="0" err="1"/>
              <a:t>탐지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 </a:t>
            </a:r>
            <a:r>
              <a:rPr dirty="0" err="1"/>
              <a:t>생략</a:t>
            </a:r>
            <a:r>
              <a:rPr dirty="0"/>
              <a:t> 후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포트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진행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dirty="0"/>
              <a:t>2. </a:t>
            </a:r>
            <a:r>
              <a:rPr dirty="0"/>
              <a:t>Scan Type(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) </a:t>
            </a:r>
            <a:r>
              <a:rPr dirty="0" err="1"/>
              <a:t>개요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/>
            </a:pPr>
            <a:r>
              <a:rPr dirty="0"/>
              <a:t>• TCP Connect Scan(-</a:t>
            </a:r>
            <a:r>
              <a:rPr dirty="0" err="1"/>
              <a:t>sT</a:t>
            </a:r>
            <a:r>
              <a:rPr dirty="0"/>
              <a:t>): </a:t>
            </a:r>
            <a:r>
              <a:rPr dirty="0" err="1"/>
              <a:t>OS가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3-Way </a:t>
            </a:r>
            <a:r>
              <a:rPr dirty="0" err="1"/>
              <a:t>Handshake를</a:t>
            </a:r>
            <a:r>
              <a:rPr dirty="0"/>
              <a:t> </a:t>
            </a:r>
            <a:r>
              <a:rPr dirty="0" err="1"/>
              <a:t>수행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SYN Scan(-</a:t>
            </a:r>
            <a:r>
              <a:rPr dirty="0" err="1"/>
              <a:t>sS</a:t>
            </a:r>
            <a:r>
              <a:rPr dirty="0"/>
              <a:t>): SYN → SYN/ACK → </a:t>
            </a:r>
            <a:r>
              <a:rPr dirty="0" err="1"/>
              <a:t>RST로</a:t>
            </a:r>
            <a:r>
              <a:rPr dirty="0"/>
              <a:t> </a:t>
            </a:r>
            <a:r>
              <a:rPr dirty="0" err="1"/>
              <a:t>연결을</a:t>
            </a:r>
            <a:r>
              <a:rPr dirty="0"/>
              <a:t> </a:t>
            </a:r>
            <a:r>
              <a:rPr dirty="0" err="1"/>
              <a:t>고의로</a:t>
            </a:r>
            <a:r>
              <a:rPr dirty="0"/>
              <a:t> </a:t>
            </a:r>
            <a:r>
              <a:rPr dirty="0" err="1"/>
              <a:t>미완성</a:t>
            </a:r>
            <a:r>
              <a:rPr dirty="0"/>
              <a:t>(</a:t>
            </a:r>
            <a:r>
              <a:rPr dirty="0" err="1"/>
              <a:t>스텔스</a:t>
            </a:r>
            <a:r>
              <a:rPr dirty="0"/>
              <a:t>)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UDP Scan(-</a:t>
            </a:r>
            <a:r>
              <a:rPr dirty="0" err="1"/>
              <a:t>sU</a:t>
            </a:r>
            <a:r>
              <a:rPr dirty="0"/>
              <a:t>): UDP </a:t>
            </a:r>
            <a:r>
              <a:rPr dirty="0" err="1"/>
              <a:t>전송</a:t>
            </a:r>
            <a:r>
              <a:rPr dirty="0"/>
              <a:t> 후 ICMP </a:t>
            </a:r>
            <a:r>
              <a:rPr dirty="0" err="1"/>
              <a:t>에러</a:t>
            </a:r>
            <a:r>
              <a:rPr dirty="0"/>
              <a:t> </a:t>
            </a:r>
            <a:r>
              <a:rPr dirty="0" err="1"/>
              <a:t>응답을</a:t>
            </a:r>
            <a:r>
              <a:rPr dirty="0"/>
              <a:t> </a:t>
            </a:r>
            <a:r>
              <a:rPr dirty="0" err="1"/>
              <a:t>기반으로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추정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플래그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(-</a:t>
            </a:r>
            <a:r>
              <a:rPr dirty="0" err="1"/>
              <a:t>sN</a:t>
            </a:r>
            <a:r>
              <a:rPr dirty="0"/>
              <a:t>/-</a:t>
            </a:r>
            <a:r>
              <a:rPr dirty="0" err="1"/>
              <a:t>sF</a:t>
            </a:r>
            <a:r>
              <a:rPr dirty="0"/>
              <a:t>/-</a:t>
            </a:r>
            <a:r>
              <a:rPr dirty="0" err="1"/>
              <a:t>sX</a:t>
            </a:r>
            <a:r>
              <a:rPr dirty="0"/>
              <a:t>): NULL/FIN/</a:t>
            </a:r>
            <a:r>
              <a:rPr dirty="0" err="1"/>
              <a:t>XMAS로</a:t>
            </a:r>
            <a:r>
              <a:rPr dirty="0"/>
              <a:t> </a:t>
            </a:r>
            <a:r>
              <a:rPr dirty="0" err="1"/>
              <a:t>방화벽</a:t>
            </a:r>
            <a:r>
              <a:rPr dirty="0"/>
              <a:t> </a:t>
            </a:r>
            <a:r>
              <a:rPr dirty="0" err="1"/>
              <a:t>정책과</a:t>
            </a:r>
            <a:r>
              <a:rPr dirty="0"/>
              <a:t> OS </a:t>
            </a:r>
            <a:r>
              <a:rPr dirty="0" err="1"/>
              <a:t>특성</a:t>
            </a:r>
            <a:r>
              <a:rPr dirty="0"/>
              <a:t> </a:t>
            </a:r>
            <a:r>
              <a:rPr dirty="0" err="1"/>
              <a:t>테스트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5519-B077-4841-0BD4-49F4F212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3B07-667F-ECB5-3B4E-2A873582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dirty="0"/>
              <a:t>3. </a:t>
            </a:r>
            <a:r>
              <a:rPr lang="ko-KR" altLang="en-US" dirty="0"/>
              <a:t>서비스</a:t>
            </a:r>
            <a:r>
              <a:rPr lang="en-US" dirty="0"/>
              <a:t> / OS </a:t>
            </a:r>
            <a:r>
              <a:rPr lang="ko-KR" altLang="en-US" dirty="0"/>
              <a:t>탐지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4430-A2C4-7EC4-1EE5-A60A00BC3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서비스 탐지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HTTP GET</a:t>
            </a:r>
          </a:p>
          <a:p>
            <a:pPr>
              <a:buFontTx/>
              <a:buChar char="-"/>
            </a:pPr>
            <a:r>
              <a:rPr lang="en-US" altLang="ko-KR" dirty="0"/>
              <a:t>SSH Key </a:t>
            </a:r>
            <a:r>
              <a:rPr lang="en-US" altLang="ko-KR" dirty="0" err="1"/>
              <a:t>init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FTP banner</a:t>
            </a:r>
          </a:p>
          <a:p>
            <a:pPr>
              <a:buFontTx/>
              <a:buChar char="-"/>
            </a:pPr>
            <a:r>
              <a:rPr lang="en-US" altLang="ko-KR" dirty="0"/>
              <a:t>SMTP HELO</a:t>
            </a:r>
          </a:p>
          <a:p>
            <a:pPr>
              <a:buFontTx/>
              <a:buChar char="-"/>
            </a:pPr>
            <a:r>
              <a:rPr lang="ko-KR" altLang="en-US" dirty="0"/>
              <a:t>그 외 프로토콜 별 테스트 패킷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72419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D145-A8EB-8411-7720-8935D49C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01B8-1A02-3F4A-562C-38D9DC34A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altLang="ko-KR" dirty="0"/>
              <a:t>3. </a:t>
            </a:r>
            <a:r>
              <a:rPr lang="ko-KR" altLang="en-US" dirty="0"/>
              <a:t>서비스</a:t>
            </a:r>
            <a:r>
              <a:rPr lang="en-US" altLang="ko-KR" dirty="0"/>
              <a:t> / OS </a:t>
            </a:r>
            <a:r>
              <a:rPr lang="ko-KR" altLang="en-US" dirty="0"/>
              <a:t>탐지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537FC-DC8B-AC3C-4758-BD2C915D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OS</a:t>
            </a:r>
            <a:r>
              <a:rPr lang="ko-KR" altLang="en-US" dirty="0"/>
              <a:t> 탐지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TTL</a:t>
            </a:r>
          </a:p>
          <a:p>
            <a:pPr>
              <a:buFontTx/>
              <a:buChar char="-"/>
            </a:pPr>
            <a:r>
              <a:rPr lang="en-US" altLang="ko-KR" dirty="0"/>
              <a:t>Window Size</a:t>
            </a:r>
          </a:p>
          <a:p>
            <a:pPr>
              <a:buFontTx/>
              <a:buChar char="-"/>
            </a:pPr>
            <a:r>
              <a:rPr lang="en-US" altLang="ko-KR" dirty="0"/>
              <a:t>DF Flag</a:t>
            </a:r>
          </a:p>
          <a:p>
            <a:pPr>
              <a:buFontTx/>
              <a:buChar char="-"/>
            </a:pPr>
            <a:r>
              <a:rPr lang="en-US" altLang="ko-KR" dirty="0"/>
              <a:t>RST </a:t>
            </a:r>
            <a:r>
              <a:rPr lang="ko-KR" altLang="en-US" dirty="0"/>
              <a:t>패킷 생성 방식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ISN</a:t>
            </a:r>
            <a:r>
              <a:rPr lang="ko-KR" altLang="en-US" dirty="0"/>
              <a:t> 증가 패턴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ICMP </a:t>
            </a:r>
            <a:r>
              <a:rPr lang="ko-KR" altLang="en-US" dirty="0"/>
              <a:t>응답 패턴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1109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79968-86A4-E645-FD58-BCE0B506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BC4A-2C99-BC00-2079-E9BEBD89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dirty="0"/>
              <a:t>4. Timing / Evasion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9A3D4-822F-CC0B-B423-D84DBC966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Timing Template(-T0~T5)</a:t>
            </a:r>
          </a:p>
          <a:p>
            <a:pPr>
              <a:buFontTx/>
              <a:buChar char="-"/>
            </a:pPr>
            <a:r>
              <a:rPr lang="en-US" altLang="ko-KR" sz="2400" dirty="0"/>
              <a:t>T0 = </a:t>
            </a:r>
            <a:r>
              <a:rPr lang="ko-KR" altLang="en-US" sz="2400" dirty="0"/>
              <a:t>느리고 조용함</a:t>
            </a:r>
            <a:endParaRPr lang="en-US" altLang="ko-KR" sz="2400" dirty="0"/>
          </a:p>
          <a:p>
            <a:pPr>
              <a:buFontTx/>
              <a:buChar char="-"/>
            </a:pPr>
            <a:r>
              <a:rPr lang="en-US" altLang="ko-KR" sz="2400" dirty="0"/>
              <a:t>T5 = </a:t>
            </a:r>
            <a:r>
              <a:rPr lang="ko-KR" altLang="en-US" sz="2400" dirty="0"/>
              <a:t>빠르고 시끄러움</a:t>
            </a:r>
            <a:endParaRPr lang="en-US" altLang="ko-KR" sz="2400" dirty="0"/>
          </a:p>
          <a:p>
            <a:r>
              <a:rPr lang="en-US" altLang="ko-KR" sz="2400" dirty="0"/>
              <a:t>Evasion </a:t>
            </a:r>
            <a:r>
              <a:rPr lang="ko-KR" altLang="en-US" sz="2400" dirty="0"/>
              <a:t>기법</a:t>
            </a:r>
            <a:endParaRPr lang="en-US" altLang="ko-KR" sz="2400" dirty="0"/>
          </a:p>
          <a:p>
            <a:pPr>
              <a:buFontTx/>
              <a:buChar char="-"/>
            </a:pPr>
            <a:r>
              <a:rPr lang="en-US" altLang="ko-KR" sz="2400" dirty="0"/>
              <a:t>Fragmentation (-f) </a:t>
            </a:r>
            <a:r>
              <a:rPr lang="ko-KR" altLang="en-US" sz="2400" dirty="0"/>
              <a:t>→ 패킷을 쪼개서 방화벽 우회</a:t>
            </a:r>
            <a:endParaRPr lang="en-US" altLang="ko-KR" sz="2400" dirty="0"/>
          </a:p>
          <a:p>
            <a:pPr>
              <a:buFontTx/>
              <a:buChar char="-"/>
            </a:pPr>
            <a:endParaRPr lang="en-US" altLang="ko-KR" sz="2400" dirty="0"/>
          </a:p>
          <a:p>
            <a:pPr>
              <a:buFontTx/>
              <a:buChar char="-"/>
            </a:pPr>
            <a:r>
              <a:rPr lang="en-US" altLang="ko-KR" sz="2400" dirty="0"/>
              <a:t>Decoy (-D) </a:t>
            </a:r>
            <a:r>
              <a:rPr lang="ko-KR" altLang="en-US" sz="2400" dirty="0"/>
              <a:t>→ 가짜 </a:t>
            </a:r>
            <a:r>
              <a:rPr lang="en-US" altLang="ko-KR" sz="2400" dirty="0"/>
              <a:t>IP </a:t>
            </a:r>
            <a:r>
              <a:rPr lang="ko-KR" altLang="en-US" sz="2400" dirty="0"/>
              <a:t>섞기</a:t>
            </a:r>
            <a:endParaRPr lang="en-US" altLang="ko-KR" sz="2400" dirty="0"/>
          </a:p>
          <a:p>
            <a:pPr>
              <a:buFontTx/>
              <a:buChar char="-"/>
            </a:pPr>
            <a:r>
              <a:rPr lang="en-US" altLang="ko-KR" sz="2400" dirty="0"/>
              <a:t>Spoofing (-S) </a:t>
            </a:r>
            <a:r>
              <a:rPr lang="ko-KR" altLang="en-US" sz="2400" dirty="0"/>
              <a:t>→ 출발지 위조</a:t>
            </a:r>
            <a:endParaRPr lang="en-US" altLang="ko-KR" sz="2400" dirty="0"/>
          </a:p>
          <a:p>
            <a:pPr>
              <a:buFontTx/>
              <a:buChar char="-"/>
            </a:pPr>
            <a:r>
              <a:rPr lang="en-US" altLang="ko-KR" sz="2400" dirty="0"/>
              <a:t>--scan-delay </a:t>
            </a:r>
            <a:r>
              <a:rPr lang="ko-KR" altLang="en-US" sz="2400" dirty="0"/>
              <a:t>→  패킷 단위 딜레이로 </a:t>
            </a:r>
            <a:r>
              <a:rPr lang="en-US" altLang="ko-KR" sz="2400" dirty="0"/>
              <a:t>IDS</a:t>
            </a:r>
            <a:r>
              <a:rPr lang="ko-KR" altLang="en-US" sz="2400" dirty="0"/>
              <a:t> 회피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26775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dirty="0" err="1"/>
              <a:t>스텔스</a:t>
            </a:r>
            <a:r>
              <a:rPr dirty="0"/>
              <a:t> </a:t>
            </a:r>
            <a:r>
              <a:rPr dirty="0" err="1"/>
              <a:t>스캔</a:t>
            </a:r>
            <a:r>
              <a:rPr lang="en-US" dirty="0"/>
              <a:t>(-</a:t>
            </a:r>
            <a:r>
              <a:rPr lang="en-US" dirty="0" err="1"/>
              <a:t>sS</a:t>
            </a:r>
            <a:r>
              <a:rPr lang="en-US" dirty="0"/>
              <a:t>)</a:t>
            </a:r>
            <a:r>
              <a:rPr dirty="0"/>
              <a:t> vs Connect </a:t>
            </a:r>
            <a:r>
              <a:rPr dirty="0" err="1"/>
              <a:t>스캔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/>
            </a:pPr>
            <a:r>
              <a:rPr dirty="0"/>
              <a:t>• Connect(-</a:t>
            </a:r>
            <a:r>
              <a:rPr dirty="0" err="1"/>
              <a:t>sT</a:t>
            </a:r>
            <a:r>
              <a:rPr dirty="0"/>
              <a:t>): SYN → SYN/ACK → ACK → </a:t>
            </a:r>
            <a:r>
              <a:rPr lang="ko-KR" altLang="en-US" dirty="0"/>
              <a:t>정확하지만 시끄러운 스캔 </a:t>
            </a:r>
            <a:r>
              <a:rPr lang="en-US" altLang="ko-KR" dirty="0"/>
              <a:t>(</a:t>
            </a:r>
            <a:r>
              <a:rPr lang="ko-KR" altLang="en-US" dirty="0"/>
              <a:t>서버 로그에 잘 남음</a:t>
            </a:r>
            <a:r>
              <a:rPr lang="en-US" altLang="ko-KR" dirty="0"/>
              <a:t>)</a:t>
            </a:r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SYN(-</a:t>
            </a:r>
            <a:r>
              <a:rPr dirty="0" err="1"/>
              <a:t>sS</a:t>
            </a:r>
            <a:r>
              <a:rPr dirty="0"/>
              <a:t>): SYN → SYN/ACK → RST, </a:t>
            </a:r>
            <a:r>
              <a:rPr dirty="0" err="1"/>
              <a:t>연결을</a:t>
            </a:r>
            <a:r>
              <a:rPr dirty="0"/>
              <a:t> </a:t>
            </a:r>
            <a:r>
              <a:rPr dirty="0" err="1"/>
              <a:t>만들지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상태만</a:t>
            </a:r>
            <a:r>
              <a:rPr dirty="0"/>
              <a:t> </a:t>
            </a:r>
            <a:r>
              <a:rPr dirty="0" err="1"/>
              <a:t>확인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dirty="0"/>
              <a:t>TCP vs UDP </a:t>
            </a:r>
            <a:r>
              <a:rPr dirty="0" err="1"/>
              <a:t>관점에서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스캔</a:t>
            </a:r>
            <a:r>
              <a:rPr lang="en-US" dirty="0"/>
              <a:t>(-</a:t>
            </a:r>
            <a:r>
              <a:rPr lang="en-US" dirty="0" err="1"/>
              <a:t>sTU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pPr>
              <a:defRPr sz="2200"/>
            </a:pPr>
            <a:r>
              <a:rPr dirty="0"/>
              <a:t>• TCP: </a:t>
            </a:r>
            <a:r>
              <a:rPr dirty="0" err="1"/>
              <a:t>연결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프로토콜</a:t>
            </a:r>
            <a:r>
              <a:rPr dirty="0"/>
              <a:t> → </a:t>
            </a:r>
            <a:r>
              <a:rPr dirty="0" err="1"/>
              <a:t>반응</a:t>
            </a:r>
            <a:r>
              <a:rPr dirty="0"/>
              <a:t>(ACK/RST)이 </a:t>
            </a:r>
            <a:r>
              <a:rPr dirty="0" err="1"/>
              <a:t>항상</a:t>
            </a:r>
            <a:r>
              <a:rPr dirty="0"/>
              <a:t> </a:t>
            </a:r>
            <a:r>
              <a:rPr dirty="0" err="1"/>
              <a:t>존재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• UDP: </a:t>
            </a:r>
            <a:r>
              <a:rPr dirty="0" err="1"/>
              <a:t>비연결성</a:t>
            </a:r>
            <a:r>
              <a:rPr dirty="0"/>
              <a:t> </a:t>
            </a:r>
            <a:r>
              <a:rPr dirty="0" err="1"/>
              <a:t>프로토콜</a:t>
            </a:r>
            <a:r>
              <a:rPr dirty="0"/>
              <a:t> → '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없음'이</a:t>
            </a:r>
            <a:r>
              <a:rPr dirty="0"/>
              <a:t> </a:t>
            </a:r>
            <a:r>
              <a:rPr dirty="0" err="1"/>
              <a:t>정상인</a:t>
            </a:r>
            <a:r>
              <a:rPr dirty="0"/>
              <a:t> </a:t>
            </a:r>
            <a:r>
              <a:rPr dirty="0" err="1"/>
              <a:t>경우가</a:t>
            </a:r>
            <a:r>
              <a:rPr dirty="0"/>
              <a:t> </a:t>
            </a:r>
            <a:r>
              <a:rPr dirty="0" err="1"/>
              <a:t>많음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• UDP </a:t>
            </a:r>
            <a:r>
              <a:rPr dirty="0" err="1"/>
              <a:t>포트가</a:t>
            </a:r>
            <a:r>
              <a:rPr dirty="0"/>
              <a:t> </a:t>
            </a:r>
            <a:r>
              <a:rPr dirty="0" err="1"/>
              <a:t>닫힌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: ICMP Port Unreachable </a:t>
            </a:r>
            <a:r>
              <a:rPr dirty="0" err="1"/>
              <a:t>응답으로</a:t>
            </a:r>
            <a:r>
              <a:rPr dirty="0"/>
              <a:t> closed </a:t>
            </a:r>
            <a:r>
              <a:rPr dirty="0" err="1"/>
              <a:t>판단</a:t>
            </a:r>
            <a:endParaRPr lang="en-US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• </a:t>
            </a:r>
            <a:r>
              <a:rPr dirty="0" err="1"/>
              <a:t>응답이</a:t>
            </a:r>
            <a:r>
              <a:rPr dirty="0"/>
              <a:t> </a:t>
            </a:r>
            <a:r>
              <a:rPr dirty="0" err="1"/>
              <a:t>전혀</a:t>
            </a:r>
            <a:r>
              <a:rPr dirty="0"/>
              <a:t> </a:t>
            </a:r>
            <a:r>
              <a:rPr dirty="0" err="1"/>
              <a:t>없으면</a:t>
            </a:r>
            <a:r>
              <a:rPr dirty="0"/>
              <a:t> </a:t>
            </a:r>
            <a:r>
              <a:rPr dirty="0" err="1"/>
              <a:t>Nmap은</a:t>
            </a:r>
            <a:r>
              <a:rPr dirty="0"/>
              <a:t> </a:t>
            </a:r>
            <a:r>
              <a:rPr dirty="0" err="1"/>
              <a:t>open|filtered로만</a:t>
            </a:r>
            <a:r>
              <a:rPr dirty="0"/>
              <a:t> </a:t>
            </a:r>
            <a:r>
              <a:rPr dirty="0" err="1"/>
              <a:t>표현</a:t>
            </a:r>
            <a:r>
              <a:rPr dirty="0"/>
              <a:t> (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구분</a:t>
            </a:r>
            <a:r>
              <a:rPr dirty="0"/>
              <a:t> </a:t>
            </a:r>
            <a:r>
              <a:rPr dirty="0" err="1"/>
              <a:t>불가</a:t>
            </a:r>
            <a:r>
              <a:rPr dirty="0"/>
              <a:t>)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→ </a:t>
            </a:r>
            <a:r>
              <a:rPr dirty="0" err="1"/>
              <a:t>같은</a:t>
            </a:r>
            <a:r>
              <a:rPr dirty="0"/>
              <a:t> Nmap </a:t>
            </a:r>
            <a:r>
              <a:rPr dirty="0" err="1"/>
              <a:t>스캔이어도</a:t>
            </a:r>
            <a:r>
              <a:rPr dirty="0"/>
              <a:t> TCP/</a:t>
            </a:r>
            <a:r>
              <a:rPr dirty="0" err="1"/>
              <a:t>UDP에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방식이</a:t>
            </a:r>
            <a:r>
              <a:rPr dirty="0"/>
              <a:t> </a:t>
            </a:r>
            <a:r>
              <a:rPr dirty="0" err="1"/>
              <a:t>달라짐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dirty="0" err="1"/>
              <a:t>플래그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(NULL/FIN/XMAS) </a:t>
            </a:r>
            <a:r>
              <a:rPr lang="en-US" dirty="0"/>
              <a:t>(-</a:t>
            </a:r>
            <a:r>
              <a:rPr lang="en-US" dirty="0" err="1"/>
              <a:t>sN</a:t>
            </a:r>
            <a:r>
              <a:rPr lang="en-US" dirty="0"/>
              <a:t>,-</a:t>
            </a:r>
            <a:r>
              <a:rPr lang="en-US" dirty="0" err="1"/>
              <a:t>sF</a:t>
            </a:r>
            <a:r>
              <a:rPr lang="en-US" dirty="0"/>
              <a:t>,-</a:t>
            </a:r>
            <a:r>
              <a:rPr lang="en-US" dirty="0" err="1"/>
              <a:t>sX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방화벽은</a:t>
            </a:r>
            <a:r>
              <a:rPr dirty="0"/>
              <a:t> </a:t>
            </a:r>
            <a:r>
              <a:rPr dirty="0" err="1"/>
              <a:t>일반적으로</a:t>
            </a:r>
            <a:r>
              <a:rPr dirty="0"/>
              <a:t> SYN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 </a:t>
            </a:r>
            <a:r>
              <a:rPr dirty="0" err="1"/>
              <a:t>시도를</a:t>
            </a:r>
            <a:r>
              <a:rPr dirty="0"/>
              <a:t> </a:t>
            </a:r>
            <a:r>
              <a:rPr dirty="0" err="1"/>
              <a:t>우선적으로</a:t>
            </a:r>
            <a:r>
              <a:rPr dirty="0"/>
              <a:t> </a:t>
            </a:r>
            <a:r>
              <a:rPr dirty="0" err="1"/>
              <a:t>차단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NULL </a:t>
            </a:r>
            <a:r>
              <a:rPr dirty="0" err="1"/>
              <a:t>스캔</a:t>
            </a:r>
            <a:r>
              <a:rPr dirty="0"/>
              <a:t>(-</a:t>
            </a:r>
            <a:r>
              <a:rPr dirty="0" err="1"/>
              <a:t>sN</a:t>
            </a:r>
            <a:r>
              <a:rPr dirty="0"/>
              <a:t>): </a:t>
            </a:r>
            <a:r>
              <a:rPr dirty="0" err="1"/>
              <a:t>플래그가</a:t>
            </a:r>
            <a:r>
              <a:rPr dirty="0"/>
              <a:t> </a:t>
            </a:r>
            <a:r>
              <a:rPr dirty="0" err="1"/>
              <a:t>전혀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비정상</a:t>
            </a:r>
            <a:r>
              <a:rPr dirty="0"/>
              <a:t> TCP </a:t>
            </a:r>
            <a:r>
              <a:rPr dirty="0" err="1"/>
              <a:t>패킷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FIN </a:t>
            </a:r>
            <a:r>
              <a:rPr dirty="0" err="1"/>
              <a:t>스캔</a:t>
            </a:r>
            <a:r>
              <a:rPr dirty="0"/>
              <a:t>(-</a:t>
            </a:r>
            <a:r>
              <a:rPr dirty="0" err="1"/>
              <a:t>sF</a:t>
            </a:r>
            <a:r>
              <a:rPr dirty="0"/>
              <a:t>): FIN </a:t>
            </a:r>
            <a:r>
              <a:rPr dirty="0" err="1"/>
              <a:t>플래그만</a:t>
            </a:r>
            <a:r>
              <a:rPr dirty="0"/>
              <a:t> </a:t>
            </a:r>
            <a:r>
              <a:rPr dirty="0" err="1"/>
              <a:t>설정된</a:t>
            </a:r>
            <a:r>
              <a:rPr dirty="0"/>
              <a:t> </a:t>
            </a:r>
            <a:r>
              <a:rPr dirty="0" err="1"/>
              <a:t>패킷으로</a:t>
            </a:r>
            <a:r>
              <a:rPr dirty="0"/>
              <a:t> </a:t>
            </a:r>
            <a:r>
              <a:rPr dirty="0" err="1"/>
              <a:t>포트</a:t>
            </a:r>
            <a:r>
              <a:rPr dirty="0"/>
              <a:t>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관찰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XMAS </a:t>
            </a:r>
            <a:r>
              <a:rPr dirty="0" err="1"/>
              <a:t>스캔</a:t>
            </a:r>
            <a:r>
              <a:rPr dirty="0"/>
              <a:t>(-</a:t>
            </a:r>
            <a:r>
              <a:rPr dirty="0" err="1"/>
              <a:t>sX</a:t>
            </a:r>
            <a:r>
              <a:rPr dirty="0"/>
              <a:t>): FIN+PSH+URG 등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플래그를</a:t>
            </a:r>
            <a:r>
              <a:rPr dirty="0"/>
              <a:t> 켠 </a:t>
            </a:r>
            <a:r>
              <a:rPr dirty="0" err="1"/>
              <a:t>패킷</a:t>
            </a:r>
            <a:endParaRPr lang="en-US" dirty="0"/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OS마다</a:t>
            </a:r>
            <a:r>
              <a:rPr dirty="0"/>
              <a:t> </a:t>
            </a:r>
            <a:r>
              <a:rPr dirty="0" err="1"/>
              <a:t>이런</a:t>
            </a:r>
            <a:r>
              <a:rPr dirty="0"/>
              <a:t> </a:t>
            </a:r>
            <a:r>
              <a:rPr dirty="0" err="1"/>
              <a:t>비정상</a:t>
            </a:r>
            <a:r>
              <a:rPr dirty="0"/>
              <a:t> </a:t>
            </a:r>
            <a:r>
              <a:rPr dirty="0" err="1"/>
              <a:t>플래그에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반응이</a:t>
            </a:r>
            <a:r>
              <a:rPr dirty="0"/>
              <a:t> </a:t>
            </a:r>
            <a:r>
              <a:rPr dirty="0" err="1"/>
              <a:t>달라서</a:t>
            </a:r>
            <a:r>
              <a:rPr dirty="0"/>
              <a:t> </a:t>
            </a:r>
            <a:r>
              <a:rPr dirty="0" err="1"/>
              <a:t>우회·지문</a:t>
            </a:r>
            <a:r>
              <a:rPr dirty="0"/>
              <a:t> </a:t>
            </a:r>
            <a:r>
              <a:rPr dirty="0" err="1"/>
              <a:t>분석에</a:t>
            </a:r>
            <a:r>
              <a:rPr dirty="0"/>
              <a:t> </a:t>
            </a:r>
            <a:r>
              <a:rPr dirty="0" err="1"/>
              <a:t>활용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33609-2347-7B11-5B48-D8F1340D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EA55-DEA3-B559-C9DF-9FD69616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dirty="0"/>
              <a:t>Version/OS </a:t>
            </a:r>
            <a:r>
              <a:rPr lang="ko-KR" altLang="en-US" dirty="0"/>
              <a:t>스캔</a:t>
            </a:r>
            <a:r>
              <a:rPr lang="en-US" altLang="ko-KR" dirty="0"/>
              <a:t>(-</a:t>
            </a:r>
            <a:r>
              <a:rPr lang="en-US" altLang="ko-KR" dirty="0" err="1"/>
              <a:t>sV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AE9C8-22AE-75AD-A2DF-7190F8C9F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  <a:defRPr sz="2200"/>
            </a:pPr>
            <a:r>
              <a:rPr dirty="0"/>
              <a:t>•</a:t>
            </a:r>
            <a:r>
              <a:rPr lang="en-US" dirty="0"/>
              <a:t>  </a:t>
            </a:r>
            <a:r>
              <a:rPr lang="ko-KR" altLang="en-US" dirty="0"/>
              <a:t>서비스 배너 분석</a:t>
            </a:r>
            <a:endParaRPr lang="en-US" altLang="ko-KR" dirty="0"/>
          </a:p>
          <a:p>
            <a:pPr marL="0" indent="0">
              <a:buNone/>
              <a:defRPr sz="2200"/>
            </a:pPr>
            <a:endParaRPr lang="en-US" altLang="ko-KR" dirty="0"/>
          </a:p>
          <a:p>
            <a:pPr marL="0" indent="0">
              <a:buNone/>
              <a:defRPr sz="2200"/>
            </a:pPr>
            <a:r>
              <a:rPr lang="en-US" altLang="ko-KR" dirty="0"/>
              <a:t>•</a:t>
            </a:r>
            <a:r>
              <a:rPr lang="ko-KR" altLang="en-US" dirty="0"/>
              <a:t> </a:t>
            </a:r>
            <a:r>
              <a:rPr lang="en-US" altLang="ko-KR" dirty="0"/>
              <a:t>Nmap</a:t>
            </a:r>
            <a:r>
              <a:rPr lang="ko-KR" altLang="en-US" dirty="0"/>
              <a:t>의 서비스 </a:t>
            </a:r>
            <a:r>
              <a:rPr lang="ko-KR" altLang="en-US" dirty="0" err="1"/>
              <a:t>프로브</a:t>
            </a:r>
            <a:r>
              <a:rPr lang="en-US" altLang="ko-KR" dirty="0"/>
              <a:t>(DB </a:t>
            </a:r>
            <a:r>
              <a:rPr lang="ko-KR" altLang="en-US" dirty="0"/>
              <a:t>기반</a:t>
            </a:r>
            <a:r>
              <a:rPr lang="en-US" altLang="ko-KR" dirty="0"/>
              <a:t>)</a:t>
            </a:r>
          </a:p>
          <a:p>
            <a:pPr marL="0" indent="0">
              <a:buNone/>
              <a:defRPr sz="2200"/>
            </a:pPr>
            <a:endParaRPr lang="en-US" altLang="ko-KR" dirty="0"/>
          </a:p>
          <a:p>
            <a:pPr marL="0" indent="0">
              <a:buNone/>
              <a:defRPr sz="2200"/>
            </a:pPr>
            <a:r>
              <a:rPr lang="en-US" altLang="ko-KR" dirty="0"/>
              <a:t>•</a:t>
            </a:r>
            <a:r>
              <a:rPr lang="ko-KR" altLang="en-US" dirty="0"/>
              <a:t> 서비스 악성 버전 탐지</a:t>
            </a:r>
            <a:r>
              <a:rPr lang="en-US" altLang="ko-KR" dirty="0"/>
              <a:t>(</a:t>
            </a:r>
            <a:r>
              <a:rPr lang="ko-KR" altLang="en-US" dirty="0"/>
              <a:t>취약점 선제 조사</a:t>
            </a:r>
            <a:r>
              <a:rPr lang="en-US" altLang="ko-KR" dirty="0"/>
              <a:t>)</a:t>
            </a:r>
          </a:p>
          <a:p>
            <a:pPr marL="0" indent="0">
              <a:buNone/>
              <a:defRPr sz="2200"/>
            </a:pPr>
            <a:endParaRPr lang="en-US" altLang="ko-KR" dirty="0"/>
          </a:p>
          <a:p>
            <a:pPr marL="0" indent="0">
              <a:buNone/>
              <a:defRPr sz="2200"/>
            </a:pPr>
            <a:r>
              <a:rPr lang="en-US" altLang="ko-KR" dirty="0"/>
              <a:t>•</a:t>
            </a:r>
            <a:r>
              <a:rPr lang="ko-KR" altLang="en-US" dirty="0"/>
              <a:t> 단순 포트 열림 여부가 아니라 </a:t>
            </a:r>
            <a:r>
              <a:rPr lang="ko-KR" altLang="en-US" b="1" dirty="0"/>
              <a:t>정확한 버전 번호</a:t>
            </a:r>
            <a:r>
              <a:rPr lang="ko-KR" altLang="en-US" dirty="0"/>
              <a:t>까지 얻어</a:t>
            </a:r>
            <a:br>
              <a:rPr lang="ko-KR" altLang="en-US" dirty="0"/>
            </a:br>
            <a:r>
              <a:rPr lang="ko-KR" altLang="en-US" dirty="0"/>
              <a:t>불필요한 공격 시도를 줄이는 데 사용</a:t>
            </a:r>
          </a:p>
          <a:p>
            <a:pPr marL="0" indent="0">
              <a:buNone/>
              <a:defRPr sz="22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9746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dirty="0"/>
              <a:t>Timing / Evasion </a:t>
            </a:r>
            <a:r>
              <a:rPr dirty="0" err="1"/>
              <a:t>개념</a:t>
            </a:r>
            <a:r>
              <a:rPr lang="en-US" dirty="0"/>
              <a:t>(-T0 -T5)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/>
            </a:pPr>
            <a:r>
              <a:rPr dirty="0"/>
              <a:t>• -T0 ~ -T5 </a:t>
            </a:r>
            <a:r>
              <a:rPr dirty="0" err="1"/>
              <a:t>옵션으로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속도와</a:t>
            </a:r>
            <a:r>
              <a:rPr dirty="0"/>
              <a:t> </a:t>
            </a:r>
            <a:r>
              <a:rPr dirty="0" err="1"/>
              <a:t>간격</a:t>
            </a:r>
            <a:r>
              <a:rPr dirty="0"/>
              <a:t> </a:t>
            </a:r>
            <a:r>
              <a:rPr dirty="0" err="1"/>
              <a:t>조절</a:t>
            </a:r>
            <a:r>
              <a:rPr dirty="0"/>
              <a:t> (</a:t>
            </a:r>
            <a:r>
              <a:rPr dirty="0" err="1"/>
              <a:t>느릴수록</a:t>
            </a:r>
            <a:r>
              <a:rPr dirty="0"/>
              <a:t> </a:t>
            </a:r>
            <a:r>
              <a:rPr dirty="0" err="1"/>
              <a:t>조용</a:t>
            </a:r>
            <a:r>
              <a:rPr dirty="0"/>
              <a:t>, </a:t>
            </a:r>
            <a:r>
              <a:rPr dirty="0" err="1"/>
              <a:t>빠를수록</a:t>
            </a:r>
            <a:r>
              <a:rPr dirty="0"/>
              <a:t> </a:t>
            </a:r>
            <a:r>
              <a:rPr dirty="0" err="1"/>
              <a:t>시끄러움</a:t>
            </a:r>
            <a:r>
              <a:rPr dirty="0"/>
              <a:t>)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느린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: IDS/IPS </a:t>
            </a:r>
            <a:r>
              <a:rPr dirty="0" err="1"/>
              <a:t>탐지를</a:t>
            </a:r>
            <a:r>
              <a:rPr dirty="0"/>
              <a:t> </a:t>
            </a:r>
            <a:r>
              <a:rPr dirty="0" err="1"/>
              <a:t>회피하는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시간이</a:t>
            </a:r>
            <a:r>
              <a:rPr dirty="0"/>
              <a:t> </a:t>
            </a:r>
            <a:r>
              <a:rPr dirty="0" err="1"/>
              <a:t>오래</a:t>
            </a:r>
            <a:r>
              <a:rPr dirty="0"/>
              <a:t> </a:t>
            </a:r>
            <a:r>
              <a:rPr dirty="0" err="1"/>
              <a:t>걸림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: </a:t>
            </a:r>
            <a:r>
              <a:rPr dirty="0" err="1"/>
              <a:t>짧은</a:t>
            </a:r>
            <a:r>
              <a:rPr dirty="0"/>
              <a:t> </a:t>
            </a:r>
            <a:r>
              <a:rPr dirty="0" err="1"/>
              <a:t>시간에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포트를</a:t>
            </a:r>
            <a:r>
              <a:rPr dirty="0"/>
              <a:t> </a:t>
            </a:r>
            <a:r>
              <a:rPr dirty="0" err="1"/>
              <a:t>조사하지만</a:t>
            </a:r>
            <a:r>
              <a:rPr dirty="0"/>
              <a:t> </a:t>
            </a:r>
            <a:r>
              <a:rPr dirty="0" err="1"/>
              <a:t>탐지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증가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Fragmentation(-f), Decoy(-D) </a:t>
            </a:r>
            <a:r>
              <a:rPr dirty="0" err="1"/>
              <a:t>등은</a:t>
            </a:r>
            <a:r>
              <a:rPr dirty="0"/>
              <a:t> </a:t>
            </a:r>
            <a:r>
              <a:rPr dirty="0" err="1"/>
              <a:t>패킷</a:t>
            </a:r>
            <a:r>
              <a:rPr dirty="0"/>
              <a:t> </a:t>
            </a:r>
            <a:r>
              <a:rPr dirty="0" err="1"/>
              <a:t>분할·위장으로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우회를</a:t>
            </a:r>
            <a:r>
              <a:rPr dirty="0"/>
              <a:t> </a:t>
            </a:r>
            <a:r>
              <a:rPr dirty="0" err="1"/>
              <a:t>시도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Nmap 이론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Nmap은</a:t>
            </a:r>
            <a:r>
              <a:rPr dirty="0"/>
              <a:t> </a:t>
            </a:r>
            <a:r>
              <a:rPr dirty="0" err="1"/>
              <a:t>포트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6가지로 </a:t>
            </a:r>
            <a:r>
              <a:rPr dirty="0" err="1"/>
              <a:t>표현하는</a:t>
            </a:r>
            <a:r>
              <a:rPr dirty="0"/>
              <a:t> </a:t>
            </a:r>
            <a:r>
              <a:rPr dirty="0" err="1"/>
              <a:t>패킷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도구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작업은</a:t>
            </a:r>
            <a:r>
              <a:rPr dirty="0"/>
              <a:t> Host Discovery, Scan Type, Detection, Timing 4단 </a:t>
            </a:r>
            <a:r>
              <a:rPr dirty="0" err="1"/>
              <a:t>구조로</a:t>
            </a:r>
            <a:r>
              <a:rPr dirty="0"/>
              <a:t> </a:t>
            </a:r>
            <a:r>
              <a:rPr dirty="0" err="1"/>
              <a:t>이해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TCP/UDP </a:t>
            </a:r>
            <a:r>
              <a:rPr dirty="0" err="1"/>
              <a:t>차이</a:t>
            </a:r>
            <a:r>
              <a:rPr dirty="0"/>
              <a:t>, </a:t>
            </a:r>
            <a:r>
              <a:rPr dirty="0" err="1"/>
              <a:t>플래그</a:t>
            </a:r>
            <a:r>
              <a:rPr dirty="0"/>
              <a:t> </a:t>
            </a:r>
            <a:r>
              <a:rPr dirty="0" err="1"/>
              <a:t>조작</a:t>
            </a:r>
            <a:r>
              <a:rPr dirty="0"/>
              <a:t>, </a:t>
            </a:r>
            <a:r>
              <a:rPr dirty="0" err="1"/>
              <a:t>서비스</a:t>
            </a:r>
            <a:r>
              <a:rPr dirty="0"/>
              <a:t>/OS </a:t>
            </a:r>
            <a:r>
              <a:rPr dirty="0" err="1"/>
              <a:t>지문</a:t>
            </a:r>
            <a:r>
              <a:rPr dirty="0"/>
              <a:t> </a:t>
            </a:r>
            <a:r>
              <a:rPr dirty="0" err="1"/>
              <a:t>분석이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이론</a:t>
            </a:r>
            <a:endParaRPr lang="en-US" dirty="0"/>
          </a:p>
          <a:p>
            <a:pPr marL="0" indent="0">
              <a:buNone/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실습에서는</a:t>
            </a:r>
            <a:r>
              <a:rPr dirty="0"/>
              <a:t> 이 </a:t>
            </a:r>
            <a:r>
              <a:rPr dirty="0" err="1"/>
              <a:t>이론을</a:t>
            </a:r>
            <a:r>
              <a:rPr dirty="0"/>
              <a:t> </a:t>
            </a:r>
            <a:r>
              <a:rPr dirty="0" err="1"/>
              <a:t>바탕으로</a:t>
            </a:r>
            <a:r>
              <a:rPr dirty="0"/>
              <a:t> </a:t>
            </a:r>
            <a:r>
              <a:rPr dirty="0" err="1"/>
              <a:t>스텔스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, UDP </a:t>
            </a:r>
            <a:r>
              <a:rPr dirty="0" err="1"/>
              <a:t>스캔</a:t>
            </a:r>
            <a:r>
              <a:rPr dirty="0"/>
              <a:t>, </a:t>
            </a:r>
            <a:r>
              <a:rPr dirty="0" err="1"/>
              <a:t>플래그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, </a:t>
            </a:r>
            <a:r>
              <a:rPr dirty="0" err="1"/>
              <a:t>타이밍</a:t>
            </a:r>
            <a:r>
              <a:rPr dirty="0"/>
              <a:t> </a:t>
            </a:r>
            <a:r>
              <a:rPr dirty="0" err="1"/>
              <a:t>조절을</a:t>
            </a:r>
            <a:r>
              <a:rPr dirty="0"/>
              <a:t> </a:t>
            </a:r>
            <a:r>
              <a:rPr dirty="0" err="1"/>
              <a:t>경험하게</a:t>
            </a:r>
            <a:r>
              <a:rPr dirty="0"/>
              <a:t> 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B659-6D12-1ED7-E1D5-74BB0F87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A1F3-637D-56CD-5C52-B5D98E21A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4000"/>
            </a:pPr>
            <a:r>
              <a:rPr sz="7200" dirty="0"/>
              <a:t>Nmap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384833-F957-F5D0-CED3-5884FF61ED4F}"/>
              </a:ext>
            </a:extLst>
          </p:cNvPr>
          <p:cNvSpPr txBox="1">
            <a:spLocks/>
          </p:cNvSpPr>
          <p:nvPr/>
        </p:nvSpPr>
        <p:spPr>
          <a:xfrm>
            <a:off x="2381250" y="39973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000"/>
            </a:pPr>
            <a:r>
              <a:rPr lang="en-US" sz="2400" dirty="0"/>
              <a:t>2</a:t>
            </a:r>
            <a:r>
              <a:rPr lang="ko-KR" altLang="en-US" sz="2400" dirty="0"/>
              <a:t>부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758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B457-41BF-620D-407E-D54D9491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93B7-B8CC-9906-F6CB-BC452E122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핑 무시 </a:t>
            </a:r>
            <a:r>
              <a:rPr lang="en-US" altLang="ko-KR" dirty="0"/>
              <a:t>(</a:t>
            </a:r>
            <a:r>
              <a:rPr lang="en-US" dirty="0"/>
              <a:t>-</a:t>
            </a:r>
            <a:r>
              <a:rPr lang="en-US" dirty="0" err="1"/>
              <a:t>Pn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1324-3C52-BAFA-647A-F4B5647B3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defRPr sz="1800"/>
            </a:pPr>
            <a:r>
              <a:rPr lang="ko-KR" altLang="en-US" sz="2800" dirty="0"/>
              <a:t>호스트 발견 단계에서 </a:t>
            </a:r>
            <a:r>
              <a:rPr lang="ko-KR" altLang="en-US" sz="2800" dirty="0" err="1"/>
              <a:t>핑을</a:t>
            </a:r>
            <a:r>
              <a:rPr lang="ko-KR" altLang="en-US" sz="2800" dirty="0"/>
              <a:t> 보내지 않고 스캔을 바로 시작하는 옵션</a:t>
            </a:r>
            <a:endParaRPr lang="en-US" altLang="ko-KR" sz="2800" dirty="0"/>
          </a:p>
          <a:p>
            <a:pPr>
              <a:defRPr sz="1800"/>
            </a:pPr>
            <a:endParaRPr lang="en-US" altLang="ko-KR" sz="2800" dirty="0"/>
          </a:p>
          <a:p>
            <a:pPr>
              <a:defRPr sz="1800"/>
            </a:pPr>
            <a:r>
              <a:rPr lang="ko-KR" altLang="en-US" sz="2800" dirty="0"/>
              <a:t>핑이 차단된 서버</a:t>
            </a:r>
            <a:r>
              <a:rPr lang="en-US" altLang="ko-KR" sz="2800" dirty="0"/>
              <a:t>(AWS, </a:t>
            </a:r>
            <a:r>
              <a:rPr lang="ko-KR" altLang="en-US" sz="2800" dirty="0"/>
              <a:t>방화벽 뒤</a:t>
            </a:r>
            <a:r>
              <a:rPr lang="en-US" altLang="ko-KR" sz="2800" dirty="0"/>
              <a:t>)</a:t>
            </a:r>
            <a:r>
              <a:rPr lang="ko-KR" altLang="en-US" sz="2800" dirty="0"/>
              <a:t>에서도 정상적으로 스캔 가능</a:t>
            </a:r>
            <a:endParaRPr lang="en-US" altLang="ko-KR" sz="2800" dirty="0"/>
          </a:p>
          <a:p>
            <a:pPr>
              <a:defRPr sz="1800"/>
            </a:pPr>
            <a:endParaRPr lang="en-US" altLang="ko-KR" sz="2800" dirty="0"/>
          </a:p>
          <a:p>
            <a:pPr>
              <a:defRPr sz="1800"/>
            </a:pPr>
            <a:r>
              <a:rPr lang="ko-KR" altLang="en-US" sz="2800" dirty="0"/>
              <a:t>스캔 자체가 </a:t>
            </a:r>
            <a:r>
              <a:rPr lang="en-US" altLang="ko-KR" sz="2800" dirty="0"/>
              <a:t>SYN, ACK </a:t>
            </a:r>
            <a:r>
              <a:rPr lang="ko-KR" altLang="en-US" sz="2800" dirty="0"/>
              <a:t>등으로 반응을 받기 때문에 핑 없이도 생존 확인 가능</a:t>
            </a:r>
            <a:endParaRPr lang="en-US" altLang="ko-KR" sz="2800" dirty="0"/>
          </a:p>
          <a:p>
            <a:pPr>
              <a:defRPr sz="1800"/>
            </a:pPr>
            <a:endParaRPr lang="en-US" altLang="ko-KR" sz="2800" dirty="0"/>
          </a:p>
          <a:p>
            <a:pPr>
              <a:defRPr sz="1800"/>
            </a:pPr>
            <a:r>
              <a:rPr lang="ko-KR" altLang="en-US" sz="2800" dirty="0"/>
              <a:t>단점은 죽은 </a:t>
            </a:r>
            <a:r>
              <a:rPr lang="en-US" altLang="ko-KR" sz="2800" dirty="0"/>
              <a:t>IP</a:t>
            </a:r>
            <a:r>
              <a:rPr lang="ko-KR" altLang="en-US" sz="2800" dirty="0"/>
              <a:t>도 끝까지 스캔하려 해서 대역 스캔에서는 매우 느려짐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2649214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Timing / Stealth </a:t>
            </a:r>
            <a:r>
              <a:rPr dirty="0" err="1"/>
              <a:t>옵션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1800"/>
            </a:pPr>
            <a:r>
              <a:rPr sz="2800" dirty="0"/>
              <a:t>- T0~T5: </a:t>
            </a:r>
            <a:r>
              <a:rPr sz="2800" dirty="0" err="1"/>
              <a:t>패킷</a:t>
            </a:r>
            <a:r>
              <a:rPr sz="2800" dirty="0"/>
              <a:t> </a:t>
            </a:r>
            <a:r>
              <a:rPr sz="2800" dirty="0" err="1"/>
              <a:t>간격</a:t>
            </a:r>
            <a:r>
              <a:rPr sz="2800" dirty="0"/>
              <a:t> </a:t>
            </a:r>
            <a:r>
              <a:rPr sz="2800" dirty="0" err="1"/>
              <a:t>조절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- --max-rate: </a:t>
            </a:r>
            <a:r>
              <a:rPr sz="2800" dirty="0" err="1"/>
              <a:t>초당</a:t>
            </a:r>
            <a:r>
              <a:rPr sz="2800" dirty="0"/>
              <a:t> </a:t>
            </a:r>
            <a:r>
              <a:rPr sz="2800" dirty="0" err="1"/>
              <a:t>패킷</a:t>
            </a:r>
            <a:r>
              <a:rPr sz="2800" dirty="0"/>
              <a:t> 수 </a:t>
            </a:r>
            <a:r>
              <a:rPr sz="2800" dirty="0" err="1"/>
              <a:t>제한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- --max-retries: </a:t>
            </a:r>
            <a:r>
              <a:rPr sz="2800" dirty="0" err="1"/>
              <a:t>재전송</a:t>
            </a:r>
            <a:r>
              <a:rPr sz="2800" dirty="0"/>
              <a:t> </a:t>
            </a:r>
            <a:r>
              <a:rPr sz="2800" dirty="0" err="1"/>
              <a:t>횟수</a:t>
            </a:r>
            <a:r>
              <a:rPr sz="2800" dirty="0"/>
              <a:t> </a:t>
            </a:r>
            <a:r>
              <a:rPr sz="2800" dirty="0" err="1"/>
              <a:t>제한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- --scan-delay: </a:t>
            </a:r>
            <a:r>
              <a:rPr sz="2800" dirty="0" err="1"/>
              <a:t>패킷</a:t>
            </a:r>
            <a:r>
              <a:rPr sz="2800" dirty="0"/>
              <a:t> 간 </a:t>
            </a:r>
            <a:r>
              <a:rPr sz="2800" dirty="0" err="1"/>
              <a:t>휴식</a:t>
            </a:r>
            <a:r>
              <a:rPr sz="2800" dirty="0"/>
              <a:t> </a:t>
            </a:r>
            <a:r>
              <a:rPr sz="2800" dirty="0" err="1"/>
              <a:t>시간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- -</a:t>
            </a:r>
            <a:r>
              <a:rPr sz="2800" dirty="0" err="1"/>
              <a:t>Pn</a:t>
            </a:r>
            <a:r>
              <a:rPr sz="2800" dirty="0"/>
              <a:t>: Ping </a:t>
            </a:r>
            <a:r>
              <a:rPr sz="2800" dirty="0" err="1"/>
              <a:t>무시하고</a:t>
            </a:r>
            <a:r>
              <a:rPr sz="2800" dirty="0"/>
              <a:t> </a:t>
            </a:r>
            <a:r>
              <a:rPr sz="2800" dirty="0" err="1"/>
              <a:t>스캔</a:t>
            </a:r>
            <a:endParaRPr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Decoy </a:t>
            </a:r>
            <a:r>
              <a:rPr dirty="0" err="1"/>
              <a:t>스캔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lang="en-US" altLang="ko-KR" sz="2400" dirty="0"/>
              <a:t>-D RND:5 → </a:t>
            </a:r>
            <a:r>
              <a:rPr lang="ko-KR" altLang="en-US" sz="2400" dirty="0"/>
              <a:t>공격자 </a:t>
            </a:r>
            <a:r>
              <a:rPr lang="en-US" altLang="ko-KR" sz="2400" dirty="0"/>
              <a:t>IP + </a:t>
            </a:r>
            <a:r>
              <a:rPr lang="ko-KR" altLang="en-US" sz="2400" dirty="0"/>
              <a:t>랜덤 </a:t>
            </a:r>
            <a:r>
              <a:rPr lang="en-US" altLang="ko-KR" sz="2400" dirty="0"/>
              <a:t>5</a:t>
            </a:r>
            <a:r>
              <a:rPr lang="ko-KR" altLang="en-US" sz="2400" dirty="0"/>
              <a:t>개 </a:t>
            </a:r>
            <a:r>
              <a:rPr lang="en-US" altLang="ko-KR" sz="2400" dirty="0"/>
              <a:t>IP</a:t>
            </a:r>
            <a:r>
              <a:rPr lang="ko-KR" altLang="en-US" sz="2400" dirty="0"/>
              <a:t>를 섞어 스캔</a:t>
            </a:r>
            <a:endParaRPr lang="en-US" altLang="ko-KR" sz="2400" dirty="0"/>
          </a:p>
          <a:p>
            <a:pPr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ko-KR" altLang="en-US" sz="2400" dirty="0"/>
              <a:t>목적</a:t>
            </a:r>
            <a:r>
              <a:rPr lang="en-US" altLang="ko-KR" sz="2400" dirty="0"/>
              <a:t>: </a:t>
            </a:r>
            <a:r>
              <a:rPr lang="ko-KR" altLang="en-US" sz="2400" dirty="0"/>
              <a:t>추적 혼란 유발 </a:t>
            </a:r>
            <a:r>
              <a:rPr lang="en-US" altLang="ko-KR" sz="2400" dirty="0"/>
              <a:t>(</a:t>
            </a:r>
            <a:r>
              <a:rPr lang="ko-KR" altLang="en-US" sz="2400" dirty="0"/>
              <a:t>로그에 여러 </a:t>
            </a:r>
            <a:r>
              <a:rPr lang="en-US" altLang="ko-KR" sz="2400" dirty="0"/>
              <a:t>IP</a:t>
            </a:r>
            <a:r>
              <a:rPr lang="ko-KR" altLang="en-US" sz="2400" dirty="0"/>
              <a:t>가 동시에 찍힘</a:t>
            </a:r>
            <a:r>
              <a:rPr lang="en-US" altLang="ko-KR" sz="2400" dirty="0"/>
              <a:t>)</a:t>
            </a:r>
          </a:p>
          <a:p>
            <a:pPr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ko-KR" altLang="en-US" sz="2400" dirty="0"/>
              <a:t>방화벽 우회 기능은 없음 </a:t>
            </a:r>
            <a:r>
              <a:rPr lang="en-US" altLang="ko-KR" sz="2400" dirty="0"/>
              <a:t>(</a:t>
            </a:r>
            <a:r>
              <a:rPr lang="ko-KR" altLang="en-US" sz="2400" dirty="0"/>
              <a:t>우회</a:t>
            </a:r>
            <a:r>
              <a:rPr lang="en-US" altLang="ko-KR" sz="2400" dirty="0"/>
              <a:t>X, </a:t>
            </a:r>
            <a:r>
              <a:rPr lang="ko-KR" altLang="en-US" sz="2400" dirty="0"/>
              <a:t>혼란용 기술</a:t>
            </a:r>
            <a:r>
              <a:rPr lang="en-US" altLang="ko-KR" sz="2400" dirty="0"/>
              <a:t>)</a:t>
            </a:r>
          </a:p>
          <a:p>
            <a:pPr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ko-KR" altLang="en-US" sz="2400" dirty="0"/>
              <a:t>과도하게 사용 시 오히려 탐지 시스템에서 더 잘 보일 수 있음</a:t>
            </a:r>
            <a:endParaRPr lang="en-US" altLang="ko-KR" sz="2400" dirty="0"/>
          </a:p>
          <a:p>
            <a:pPr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ko-KR" altLang="en-US" sz="2400" dirty="0"/>
              <a:t>정리</a:t>
            </a:r>
            <a:r>
              <a:rPr lang="en-US" altLang="ko-KR" sz="2400" dirty="0"/>
              <a:t>: “</a:t>
            </a:r>
            <a:r>
              <a:rPr lang="ko-KR" altLang="en-US" sz="2400" dirty="0"/>
              <a:t>누가 진짜 공격자인지 헷갈리게 만드는 옵션”</a:t>
            </a: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9DD30-17C7-FD16-A9B6-DF684DB5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9410-6766-53E3-239D-841E935C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출발지 </a:t>
            </a:r>
            <a:r>
              <a:rPr lang="en-US" altLang="ko-KR" dirty="0"/>
              <a:t>Spoofing (-S)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AD77A-10E9-6AC6-21AC-EA7706D4B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1800"/>
            </a:pPr>
            <a:r>
              <a:rPr lang="ko-KR" altLang="en-US" sz="2400" dirty="0"/>
              <a:t>스캔 패킷의 출발지 </a:t>
            </a:r>
            <a:r>
              <a:rPr lang="en-US" altLang="ko-KR" sz="2400" dirty="0"/>
              <a:t>IP</a:t>
            </a:r>
            <a:r>
              <a:rPr lang="ko-KR" altLang="en-US" sz="2400" dirty="0"/>
              <a:t>를 ‘내가 아닌 다른 </a:t>
            </a:r>
            <a:r>
              <a:rPr lang="en-US" altLang="ko-KR" sz="2400" dirty="0"/>
              <a:t>IP’</a:t>
            </a:r>
            <a:r>
              <a:rPr lang="ko-KR" altLang="en-US" sz="2400" dirty="0"/>
              <a:t>로 바꾸는 옵션</a:t>
            </a:r>
            <a:endParaRPr lang="en-US" altLang="ko-KR" sz="2400" dirty="0"/>
          </a:p>
          <a:p>
            <a:pPr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ko-KR" altLang="en-US" sz="2400" dirty="0"/>
              <a:t>목적</a:t>
            </a:r>
            <a:r>
              <a:rPr lang="en-US" altLang="ko-KR" sz="2400" dirty="0"/>
              <a:t>: </a:t>
            </a:r>
            <a:r>
              <a:rPr lang="ko-KR" altLang="en-US" sz="2400" dirty="0"/>
              <a:t>추적을 어렵게 만들거나 특정 상황에서 응답 흐름을 바꾸기 위함</a:t>
            </a:r>
            <a:endParaRPr lang="en-US" altLang="ko-KR" sz="2400" dirty="0"/>
          </a:p>
          <a:p>
            <a:pPr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ko-KR" altLang="en-US" sz="2400" dirty="0"/>
              <a:t>단점</a:t>
            </a:r>
            <a:r>
              <a:rPr lang="en-US" altLang="ko-KR" sz="2400" dirty="0"/>
              <a:t>: </a:t>
            </a:r>
            <a:r>
              <a:rPr lang="ko-KR" altLang="en-US" sz="2400" dirty="0"/>
              <a:t>정상적인 응답은 </a:t>
            </a:r>
            <a:r>
              <a:rPr lang="ko-KR" altLang="en-US" sz="2400" dirty="0" err="1"/>
              <a:t>스푸핑된</a:t>
            </a:r>
            <a:r>
              <a:rPr lang="ko-KR" altLang="en-US" sz="2400" dirty="0"/>
              <a:t> </a:t>
            </a:r>
            <a:r>
              <a:rPr lang="en-US" altLang="ko-KR" sz="2400" dirty="0"/>
              <a:t>IP</a:t>
            </a:r>
            <a:r>
              <a:rPr lang="ko-KR" altLang="en-US" sz="2400" dirty="0"/>
              <a:t>로 돌아가므로 내가 받지 못함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981229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ED2B-5FCB-5C9F-330C-2C352A5F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F32F-8260-FC22-3426-B22693112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Decoy, Spoofing </a:t>
            </a:r>
            <a:r>
              <a:rPr lang="ko-KR" altLang="en-US" dirty="0"/>
              <a:t>차이점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73A87-4B01-76DE-12AD-7BEFBEFD6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lang="en-US" altLang="ko-KR" sz="1800" dirty="0"/>
              <a:t> </a:t>
            </a:r>
            <a:r>
              <a:rPr lang="en-US" altLang="ko-KR" sz="2400" dirty="0"/>
              <a:t>Spoof(-S) = </a:t>
            </a:r>
            <a:r>
              <a:rPr lang="ko-KR" altLang="en-US" sz="2400" dirty="0"/>
              <a:t>진짜 </a:t>
            </a:r>
            <a:r>
              <a:rPr lang="ko-KR" altLang="en-US" sz="2400" dirty="0" err="1"/>
              <a:t>스푸핑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ko-KR" altLang="en-US" sz="2400" dirty="0"/>
              <a:t>→ </a:t>
            </a:r>
            <a:r>
              <a:rPr lang="en-US" altLang="ko-KR" sz="2400" dirty="0"/>
              <a:t>IP </a:t>
            </a:r>
            <a:r>
              <a:rPr lang="ko-KR" altLang="en-US" sz="2400" dirty="0" err="1"/>
              <a:t>바꿔치기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ko-KR" altLang="en-US" sz="2400" dirty="0"/>
              <a:t>→ 응답을 받아야 의미 있음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ko-KR" altLang="en-US" sz="2400" dirty="0"/>
              <a:t>→ </a:t>
            </a:r>
            <a:r>
              <a:rPr lang="en-US" altLang="ko-KR" sz="2400" dirty="0"/>
              <a:t>ARP / </a:t>
            </a:r>
            <a:r>
              <a:rPr lang="ko-KR" altLang="en-US" sz="2400" dirty="0"/>
              <a:t>라우팅 제약 존재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ko-KR" altLang="en-US" sz="2400" dirty="0"/>
              <a:t>→ 완전 다른 대역 </a:t>
            </a:r>
            <a:r>
              <a:rPr lang="ko-KR" altLang="en-US" sz="2400" dirty="0" err="1"/>
              <a:t>스푸핑은</a:t>
            </a:r>
            <a:r>
              <a:rPr lang="ko-KR" altLang="en-US" sz="2400" dirty="0"/>
              <a:t> 거의 불가능</a:t>
            </a:r>
            <a:endParaRPr lang="en-US" altLang="ko-KR" sz="2400" dirty="0"/>
          </a:p>
          <a:p>
            <a:pPr marL="0" indent="0">
              <a:buNone/>
              <a:defRPr sz="1800"/>
            </a:pP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en-US" altLang="ko-KR" sz="2400" dirty="0"/>
              <a:t> Decoy(-D </a:t>
            </a:r>
            <a:r>
              <a:rPr lang="en-US" altLang="ko-KR" sz="2400" dirty="0" err="1"/>
              <a:t>RND:x</a:t>
            </a:r>
            <a:r>
              <a:rPr lang="en-US" altLang="ko-KR" sz="2400" dirty="0"/>
              <a:t>) = </a:t>
            </a:r>
            <a:r>
              <a:rPr lang="ko-KR" altLang="en-US" sz="2400" dirty="0"/>
              <a:t>페이크 트래픽 생성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ko-KR" altLang="en-US" sz="2400" dirty="0"/>
              <a:t>→ 응답을 받을 필요 없음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ko-KR" altLang="en-US" sz="2400" dirty="0"/>
              <a:t>→ </a:t>
            </a:r>
            <a:r>
              <a:rPr lang="en-US" altLang="ko-KR" sz="2400" dirty="0"/>
              <a:t>ARP </a:t>
            </a:r>
            <a:r>
              <a:rPr lang="ko-KR" altLang="en-US" sz="2400" dirty="0"/>
              <a:t>필요 없음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ko-KR" altLang="en-US" sz="2400" dirty="0"/>
              <a:t>→ 랜덤 </a:t>
            </a:r>
            <a:r>
              <a:rPr lang="en-US" altLang="ko-KR" sz="2400" dirty="0"/>
              <a:t>IP </a:t>
            </a:r>
            <a:r>
              <a:rPr lang="ko-KR" altLang="en-US" sz="2400" dirty="0"/>
              <a:t>아무거나 막 씀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ko-KR" altLang="en-US" sz="2400" dirty="0"/>
              <a:t>→ </a:t>
            </a:r>
            <a:r>
              <a:rPr lang="en-US" altLang="ko-KR" sz="2400" dirty="0"/>
              <a:t>“</a:t>
            </a:r>
            <a:r>
              <a:rPr lang="ko-KR" altLang="en-US" sz="2400" dirty="0"/>
              <a:t>로그 교란용</a:t>
            </a:r>
            <a:r>
              <a:rPr lang="en-US" altLang="ko-KR" sz="2400" dirty="0"/>
              <a:t>”</a:t>
            </a:r>
          </a:p>
          <a:p>
            <a:pPr marL="0" indent="0">
              <a:buNone/>
              <a:defRPr sz="1800"/>
            </a:pPr>
            <a:r>
              <a:rPr lang="en-US" altLang="ko-KR" sz="2400" dirty="0"/>
              <a:t>	</a:t>
            </a:r>
          </a:p>
          <a:p>
            <a:pPr>
              <a:defRPr sz="1800"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85977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TXT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자동화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lang="ko-KR" altLang="en-US" sz="2800" dirty="0"/>
              <a:t>대상 목록을 </a:t>
            </a:r>
            <a:r>
              <a:rPr lang="en-US" altLang="ko-KR" sz="2800" dirty="0"/>
              <a:t>txt</a:t>
            </a:r>
            <a:r>
              <a:rPr lang="ko-KR" altLang="en-US" sz="2800" dirty="0"/>
              <a:t>로 관리하고 한 번에 불러오는 구조</a:t>
            </a:r>
            <a:r>
              <a:rPr lang="en-US" altLang="ko-KR" sz="2800" dirty="0"/>
              <a:t> (-</a:t>
            </a:r>
            <a:r>
              <a:rPr lang="en-US" altLang="ko-KR" sz="2800" dirty="0" err="1"/>
              <a:t>iL</a:t>
            </a:r>
            <a:r>
              <a:rPr lang="en-US" altLang="ko-KR" sz="2800" dirty="0"/>
              <a:t> [</a:t>
            </a:r>
            <a:r>
              <a:rPr lang="ko-KR" altLang="en-US" sz="2800" dirty="0"/>
              <a:t>대상</a:t>
            </a:r>
            <a:r>
              <a:rPr lang="en-US" altLang="ko-KR" sz="2800" dirty="0"/>
              <a:t>_IP_</a:t>
            </a:r>
            <a:r>
              <a:rPr lang="ko-KR" altLang="en-US" sz="2800" dirty="0"/>
              <a:t>목록</a:t>
            </a:r>
            <a:r>
              <a:rPr lang="en-US" altLang="ko-KR" sz="2800" dirty="0"/>
              <a:t>].txt)</a:t>
            </a:r>
          </a:p>
          <a:p>
            <a:pPr>
              <a:defRPr sz="1800"/>
            </a:pPr>
            <a:endParaRPr lang="en-US" altLang="ko-KR" sz="2800" dirty="0"/>
          </a:p>
          <a:p>
            <a:pPr>
              <a:defRPr sz="1800"/>
            </a:pPr>
            <a:r>
              <a:rPr lang="ko-KR" altLang="en-US" sz="2800" dirty="0"/>
              <a:t>포트 목록도 </a:t>
            </a:r>
            <a:r>
              <a:rPr lang="en-US" altLang="ko-KR" sz="2800" dirty="0"/>
              <a:t>txt</a:t>
            </a:r>
            <a:r>
              <a:rPr lang="ko-KR" altLang="en-US" sz="2800" dirty="0"/>
              <a:t>로 관리해 자동 반영 가능</a:t>
            </a:r>
            <a:endParaRPr lang="en-US" altLang="ko-KR" sz="2800" dirty="0"/>
          </a:p>
          <a:p>
            <a:pPr marL="0" indent="0">
              <a:buNone/>
              <a:defRPr sz="1800"/>
            </a:pPr>
            <a:r>
              <a:rPr lang="en-US" altLang="ko-KR" sz="2800" dirty="0"/>
              <a:t>Ex)  -p $(cat [</a:t>
            </a:r>
            <a:r>
              <a:rPr lang="ko-KR" altLang="en-US" sz="2800" dirty="0"/>
              <a:t>포트</a:t>
            </a:r>
            <a:r>
              <a:rPr lang="en-US" altLang="ko-KR" sz="2800" dirty="0"/>
              <a:t>_</a:t>
            </a:r>
            <a:r>
              <a:rPr lang="ko-KR" altLang="en-US" sz="2800" dirty="0"/>
              <a:t>목록</a:t>
            </a:r>
            <a:r>
              <a:rPr lang="en-US" altLang="ko-KR" sz="2800" dirty="0"/>
              <a:t>].txt) or </a:t>
            </a:r>
          </a:p>
          <a:p>
            <a:pPr marL="0" indent="0">
              <a:buNone/>
              <a:defRPr sz="1800"/>
            </a:pPr>
            <a:r>
              <a:rPr lang="en-US" altLang="ko-KR" sz="2800" dirty="0"/>
              <a:t>       </a:t>
            </a:r>
            <a:r>
              <a:rPr lang="sv-SE" altLang="ko-KR" sz="2800" dirty="0"/>
              <a:t>-p $(paste -sd "," </a:t>
            </a:r>
            <a:r>
              <a:rPr lang="en-US" altLang="ko-KR" sz="2800" dirty="0"/>
              <a:t>[</a:t>
            </a:r>
            <a:r>
              <a:rPr lang="ko-KR" altLang="en-US" sz="2800" dirty="0"/>
              <a:t>포트</a:t>
            </a:r>
            <a:r>
              <a:rPr lang="en-US" altLang="ko-KR" sz="2800" dirty="0"/>
              <a:t>_</a:t>
            </a:r>
            <a:r>
              <a:rPr lang="ko-KR" altLang="en-US" sz="2800" dirty="0"/>
              <a:t>목록</a:t>
            </a:r>
            <a:r>
              <a:rPr lang="en-US" altLang="ko-KR" sz="2800" dirty="0"/>
              <a:t>].txt</a:t>
            </a:r>
            <a:r>
              <a:rPr lang="sv-SE" altLang="ko-KR" sz="2800" dirty="0"/>
              <a:t>)</a:t>
            </a:r>
            <a:endParaRPr lang="en-US" altLang="ko-KR" sz="2800" dirty="0"/>
          </a:p>
          <a:p>
            <a:pPr>
              <a:defRPr sz="1800"/>
            </a:pPr>
            <a:endParaRPr lang="en-US" altLang="ko-KR" sz="2800" dirty="0"/>
          </a:p>
          <a:p>
            <a:pPr>
              <a:defRPr sz="1800"/>
            </a:pPr>
            <a:r>
              <a:rPr lang="ko-KR" altLang="en-US" sz="2800" dirty="0"/>
              <a:t>결과는 파일로 저장해 후처리</a:t>
            </a:r>
            <a:r>
              <a:rPr lang="en-US" altLang="ko-KR" sz="2800" dirty="0"/>
              <a:t>·</a:t>
            </a:r>
            <a:r>
              <a:rPr lang="ko-KR" altLang="en-US" sz="2800" dirty="0"/>
              <a:t>비교 가능</a:t>
            </a:r>
            <a:r>
              <a:rPr lang="en-US" altLang="ko-KR" sz="2800" dirty="0"/>
              <a:t> (-</a:t>
            </a:r>
            <a:r>
              <a:rPr lang="en-US" altLang="ko-KR" sz="2800" dirty="0" err="1"/>
              <a:t>oN</a:t>
            </a:r>
            <a:r>
              <a:rPr lang="en-US" altLang="ko-KR" sz="2800" dirty="0"/>
              <a:t> / -</a:t>
            </a:r>
            <a:r>
              <a:rPr lang="en-US" altLang="ko-KR" sz="2800" dirty="0" err="1"/>
              <a:t>oG</a:t>
            </a:r>
            <a:r>
              <a:rPr lang="en-US" altLang="ko-KR" sz="2800" dirty="0"/>
              <a:t> / -</a:t>
            </a:r>
            <a:r>
              <a:rPr lang="en-US" altLang="ko-KR" sz="2800" dirty="0" err="1"/>
              <a:t>oX</a:t>
            </a:r>
            <a:r>
              <a:rPr lang="en-US" altLang="ko-KR" sz="2800" dirty="0"/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5AC5-32EC-BC8F-1190-3CD81BD6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400B-CF34-086E-7DDD-514C0BA8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68962"/>
          </a:xfrm>
        </p:spPr>
        <p:txBody>
          <a:bodyPr>
            <a:normAutofit/>
          </a:bodyPr>
          <a:lstStyle/>
          <a:p>
            <a:r>
              <a:rPr sz="8800" dirty="0"/>
              <a:t>NS</a:t>
            </a:r>
            <a:r>
              <a:rPr lang="en-US" sz="8800" dirty="0"/>
              <a:t>E</a:t>
            </a:r>
            <a:endParaRPr sz="8800" dirty="0"/>
          </a:p>
        </p:txBody>
      </p:sp>
    </p:spTree>
    <p:extLst>
      <p:ext uri="{BB962C8B-B14F-4D97-AF65-F5344CB8AC3E}">
        <p14:creationId xmlns:p14="http://schemas.microsoft.com/office/powerpoint/2010/main" val="1238341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49D0-3000-677E-C6DF-A0FCA48F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AC11-0C27-C8B2-0F7E-4ECD02FAC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33462"/>
          </a:xfrm>
        </p:spPr>
        <p:txBody>
          <a:bodyPr>
            <a:normAutofit/>
          </a:bodyPr>
          <a:lstStyle/>
          <a:p>
            <a:r>
              <a:rPr lang="en-US" dirty="0"/>
              <a:t>NSE</a:t>
            </a:r>
            <a:r>
              <a:rPr lang="ko-KR" altLang="en-US" dirty="0"/>
              <a:t>란 무엇인가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0E5E1E-A6EF-0126-E6C5-B64619630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8100"/>
            <a:ext cx="8229600" cy="5382411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altLang="ko-KR" sz="2400" dirty="0"/>
              <a:t>Nmap NSE – Nmap Scripting Engine</a:t>
            </a:r>
          </a:p>
          <a:p>
            <a:pPr marL="0" indent="0">
              <a:buNone/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en-US" altLang="ko-KR" sz="2400" dirty="0"/>
              <a:t>Nmap</a:t>
            </a:r>
            <a:r>
              <a:rPr lang="ko-KR" altLang="en-US" sz="2400" dirty="0"/>
              <a:t>의 기능을 자동화 </a:t>
            </a:r>
            <a:r>
              <a:rPr lang="en-US" altLang="ko-KR" sz="2400" dirty="0"/>
              <a:t>+ </a:t>
            </a:r>
            <a:r>
              <a:rPr lang="ko-KR" altLang="en-US" sz="2400" dirty="0"/>
              <a:t>확장 </a:t>
            </a:r>
            <a:r>
              <a:rPr lang="en-US" altLang="ko-KR" sz="2400" dirty="0"/>
              <a:t>+</a:t>
            </a:r>
            <a:r>
              <a:rPr lang="ko-KR" altLang="en-US" sz="2400" dirty="0"/>
              <a:t>보안 점검</a:t>
            </a:r>
            <a:endParaRPr lang="en-US" altLang="ko-KR" sz="2400" dirty="0"/>
          </a:p>
          <a:p>
            <a:pPr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en-US" altLang="ko-KR" sz="2400" b="1" dirty="0"/>
              <a:t>Lua</a:t>
            </a:r>
            <a:r>
              <a:rPr lang="ko-KR" altLang="en-US" sz="2400" dirty="0"/>
              <a:t> 프로그래밍 언어로 작성</a:t>
            </a:r>
            <a:endParaRPr lang="en-US" altLang="ko-KR" sz="2400" dirty="0"/>
          </a:p>
          <a:p>
            <a:pPr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ko-KR" altLang="en-US" sz="2400" dirty="0"/>
              <a:t>보안 자동화의 핵심</a:t>
            </a:r>
            <a:endParaRPr lang="en-US" altLang="ko-KR" sz="2400" dirty="0"/>
          </a:p>
          <a:p>
            <a:pPr>
              <a:buFontTx/>
              <a:buChar char="-"/>
              <a:defRPr sz="1800"/>
            </a:pPr>
            <a:r>
              <a:rPr lang="en-US" altLang="ko-KR" sz="2400" dirty="0"/>
              <a:t>Vuln(</a:t>
            </a:r>
            <a:r>
              <a:rPr lang="ko-KR" altLang="en-US" sz="2400" dirty="0"/>
              <a:t>취약점 점검</a:t>
            </a:r>
            <a:r>
              <a:rPr lang="en-US" altLang="ko-KR" sz="2400" dirty="0"/>
              <a:t>)</a:t>
            </a:r>
          </a:p>
          <a:p>
            <a:pPr>
              <a:buFontTx/>
              <a:buChar char="-"/>
              <a:defRPr sz="1800"/>
            </a:pPr>
            <a:r>
              <a:rPr lang="en-US" altLang="ko-KR" sz="2400" dirty="0"/>
              <a:t>Brute(</a:t>
            </a:r>
            <a:r>
              <a:rPr lang="ko-KR" altLang="en-US" sz="2400" dirty="0"/>
              <a:t>무차별 대입</a:t>
            </a:r>
            <a:r>
              <a:rPr lang="en-US" altLang="ko-KR" sz="2400" dirty="0"/>
              <a:t>)</a:t>
            </a:r>
          </a:p>
          <a:p>
            <a:pPr>
              <a:buFontTx/>
              <a:buChar char="-"/>
              <a:defRPr sz="1800"/>
            </a:pPr>
            <a:r>
              <a:rPr lang="en-US" altLang="ko-KR" sz="2400" dirty="0"/>
              <a:t>Version(</a:t>
            </a:r>
            <a:r>
              <a:rPr lang="ko-KR" altLang="en-US" sz="2400" dirty="0"/>
              <a:t>서비스 정보</a:t>
            </a:r>
            <a:r>
              <a:rPr lang="en-US" altLang="ko-KR" sz="2400" dirty="0"/>
              <a:t>)</a:t>
            </a:r>
          </a:p>
          <a:p>
            <a:pPr>
              <a:buFontTx/>
              <a:buChar char="-"/>
              <a:defRPr sz="1800"/>
            </a:pPr>
            <a:r>
              <a:rPr lang="en-US" altLang="ko-KR" sz="2400" dirty="0"/>
              <a:t>http-*(</a:t>
            </a:r>
            <a:r>
              <a:rPr lang="ko-KR" altLang="en-US" sz="2400" dirty="0"/>
              <a:t>웹 분석</a:t>
            </a:r>
            <a:r>
              <a:rPr lang="en-US" altLang="ko-KR" sz="2400" dirty="0"/>
              <a:t>)</a:t>
            </a:r>
          </a:p>
          <a:p>
            <a:pPr>
              <a:buFontTx/>
              <a:buChar char="-"/>
              <a:defRPr sz="1800"/>
            </a:pPr>
            <a:r>
              <a:rPr lang="en-US" altLang="ko-KR" sz="2400" dirty="0"/>
              <a:t>SMB</a:t>
            </a:r>
          </a:p>
        </p:txBody>
      </p:sp>
    </p:spTree>
    <p:extLst>
      <p:ext uri="{BB962C8B-B14F-4D97-AF65-F5344CB8AC3E}">
        <p14:creationId xmlns:p14="http://schemas.microsoft.com/office/powerpoint/2010/main" val="3265671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425E-DC0E-D78D-3DB8-CC46BCC0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452A-2BDB-E097-3BC8-3370A8CB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33462"/>
          </a:xfrm>
        </p:spPr>
        <p:txBody>
          <a:bodyPr>
            <a:normAutofit/>
          </a:bodyPr>
          <a:lstStyle/>
          <a:p>
            <a:r>
              <a:rPr lang="ko-KR" altLang="en-US" dirty="0"/>
              <a:t>왜 </a:t>
            </a:r>
            <a:r>
              <a:rPr lang="en-US" dirty="0"/>
              <a:t>NSE</a:t>
            </a:r>
            <a:r>
              <a:rPr lang="ko-KR" altLang="en-US" dirty="0"/>
              <a:t>가 중요한가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449BCA-CF43-C96D-1B4C-2D714EF3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8100"/>
            <a:ext cx="8229600" cy="5148943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ko-KR" altLang="en-US" sz="2400" dirty="0"/>
              <a:t>기존 </a:t>
            </a:r>
            <a:r>
              <a:rPr lang="en-US" altLang="ko-KR" sz="2400" dirty="0"/>
              <a:t>Nmap</a:t>
            </a:r>
            <a:r>
              <a:rPr lang="ko-KR" altLang="en-US" sz="2400" dirty="0"/>
              <a:t>의 한계</a:t>
            </a:r>
            <a:endParaRPr lang="en-US" altLang="ko-KR" sz="2400" dirty="0"/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단순 포트 열린 상태만 확인 가능</a:t>
            </a:r>
            <a:endParaRPr lang="en-US" altLang="ko-KR" sz="2000" dirty="0"/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심화된 취약점 점검 불가능</a:t>
            </a:r>
            <a:endParaRPr lang="en-US" altLang="ko-KR" sz="2000" dirty="0"/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인증</a:t>
            </a:r>
            <a:r>
              <a:rPr lang="en-US" altLang="ko-KR" sz="2000" dirty="0"/>
              <a:t>/</a:t>
            </a:r>
            <a:r>
              <a:rPr lang="ko-KR" altLang="en-US" sz="2000" dirty="0"/>
              <a:t>익명 여부 확인 어려움</a:t>
            </a:r>
            <a:endParaRPr lang="en-US" altLang="ko-KR" sz="2000" dirty="0"/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웹</a:t>
            </a:r>
            <a:r>
              <a:rPr lang="en-US" altLang="ko-KR" sz="2000" dirty="0"/>
              <a:t>/DB/SMB/SSH </a:t>
            </a:r>
            <a:r>
              <a:rPr lang="ko-KR" altLang="en-US" sz="2000" dirty="0"/>
              <a:t>등 복잡한 서비스 정보 확인 어려움</a:t>
            </a:r>
            <a:endParaRPr lang="en-US" altLang="ko-KR" sz="2000" dirty="0"/>
          </a:p>
          <a:p>
            <a:pPr>
              <a:buFontTx/>
              <a:buChar char="-"/>
              <a:defRPr sz="1800"/>
            </a:pPr>
            <a:endParaRPr lang="en-US" altLang="ko-KR" sz="2400" dirty="0"/>
          </a:p>
          <a:p>
            <a:pPr>
              <a:defRPr sz="1800"/>
            </a:pPr>
            <a:r>
              <a:rPr lang="en-US" altLang="ko-KR" sz="2400" dirty="0"/>
              <a:t>NSE</a:t>
            </a:r>
            <a:r>
              <a:rPr lang="ko-KR" altLang="en-US" sz="2400" dirty="0"/>
              <a:t>가 해결하는 것</a:t>
            </a:r>
            <a:endParaRPr lang="en-US" altLang="ko-KR" sz="2400" dirty="0"/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취약점 자동 점검 </a:t>
            </a:r>
            <a:r>
              <a:rPr lang="en-US" altLang="ko-KR" sz="2000" dirty="0"/>
              <a:t>(CVE </a:t>
            </a:r>
            <a:r>
              <a:rPr lang="ko-KR" altLang="en-US" sz="2000" dirty="0"/>
              <a:t>감지</a:t>
            </a:r>
            <a:r>
              <a:rPr lang="en-US" altLang="ko-KR" sz="2000" dirty="0"/>
              <a:t>)</a:t>
            </a:r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서비스 상세 분석 </a:t>
            </a:r>
            <a:r>
              <a:rPr lang="en-US" altLang="ko-KR" sz="2000" dirty="0"/>
              <a:t>(banner, </a:t>
            </a:r>
            <a:r>
              <a:rPr lang="en-US" altLang="ko-KR" sz="2000" dirty="0" err="1"/>
              <a:t>os</a:t>
            </a:r>
            <a:r>
              <a:rPr lang="en-US" altLang="ko-KR" sz="2000" dirty="0"/>
              <a:t>-discovery, </a:t>
            </a:r>
            <a:r>
              <a:rPr lang="en-US" altLang="ko-KR" sz="2000" dirty="0" err="1"/>
              <a:t>smb</a:t>
            </a:r>
            <a:r>
              <a:rPr lang="en-US" altLang="ko-KR" sz="2000" dirty="0"/>
              <a:t>-</a:t>
            </a:r>
            <a:r>
              <a:rPr lang="en-US" altLang="ko-KR" sz="2000" dirty="0" err="1"/>
              <a:t>enum</a:t>
            </a:r>
            <a:r>
              <a:rPr lang="en-US" altLang="ko-KR" sz="2000" dirty="0"/>
              <a:t>-shares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무차별 대입 공격 자동화 </a:t>
            </a:r>
            <a:r>
              <a:rPr lang="en-US" altLang="ko-KR" sz="2000" dirty="0"/>
              <a:t>(ssh-brute, http-brute </a:t>
            </a:r>
            <a:r>
              <a:rPr lang="ko-KR" altLang="en-US" sz="2000" dirty="0"/>
              <a:t>등</a:t>
            </a:r>
            <a:r>
              <a:rPr lang="en-US" altLang="ko-KR" sz="2000" dirty="0"/>
              <a:t>)</a:t>
            </a:r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네트워크 탐색 자동화 </a:t>
            </a:r>
            <a:r>
              <a:rPr lang="en-US" altLang="ko-KR" sz="2000" dirty="0"/>
              <a:t>(discovery category)</a:t>
            </a:r>
          </a:p>
          <a:p>
            <a:pPr>
              <a:buFontTx/>
              <a:buChar char="-"/>
              <a:defRPr sz="1800"/>
            </a:pPr>
            <a:r>
              <a:rPr lang="ko-KR" altLang="en-US" sz="2000" dirty="0"/>
              <a:t>스캐닝 결과 자동 가공</a:t>
            </a:r>
            <a:r>
              <a:rPr lang="en-US" altLang="ko-KR" sz="2000" dirty="0"/>
              <a:t>(</a:t>
            </a:r>
            <a:r>
              <a:rPr lang="en-US" altLang="ko-KR" sz="2000" dirty="0" err="1"/>
              <a:t>postrule</a:t>
            </a:r>
            <a:r>
              <a:rPr lang="en-US" altLang="ko-KR" sz="2000" dirty="0"/>
              <a:t> </a:t>
            </a:r>
            <a:r>
              <a:rPr lang="ko-KR" altLang="en-US" sz="2000" dirty="0"/>
              <a:t>활용</a:t>
            </a:r>
            <a:r>
              <a:rPr lang="en-US" altLang="ko-KR" sz="2000" dirty="0"/>
              <a:t>)</a:t>
            </a:r>
          </a:p>
          <a:p>
            <a:pPr marL="0" indent="0">
              <a:buNone/>
              <a:defRPr sz="1800"/>
            </a:pPr>
            <a:endParaRPr lang="en-US" altLang="ko-KR" sz="2400" dirty="0"/>
          </a:p>
          <a:p>
            <a:pPr>
              <a:buFontTx/>
              <a:buChar char="-"/>
              <a:defRPr sz="1800"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134485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F912-4F02-564D-7E94-00D751C41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93EF-E861-9F28-9423-AA48486C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33462"/>
          </a:xfrm>
        </p:spPr>
        <p:txBody>
          <a:bodyPr>
            <a:normAutofit/>
          </a:bodyPr>
          <a:lstStyle/>
          <a:p>
            <a:r>
              <a:rPr lang="en-US" dirty="0"/>
              <a:t>NSE</a:t>
            </a:r>
            <a:r>
              <a:rPr lang="ko-KR" altLang="en-US" dirty="0"/>
              <a:t> 구조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B6FF903-D3DA-A370-E884-B00B3E339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951"/>
            <a:ext cx="8229600" cy="5382411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ko-KR" altLang="en-US" sz="2400" dirty="0"/>
              <a:t>엔진</a:t>
            </a:r>
            <a:endParaRPr lang="en-US" altLang="ko-KR" sz="2400" dirty="0"/>
          </a:p>
          <a:p>
            <a:pPr>
              <a:buFontTx/>
              <a:buChar char="-"/>
              <a:defRPr sz="1800"/>
            </a:pPr>
            <a:r>
              <a:rPr lang="en-US" altLang="ko-KR" sz="2200" dirty="0"/>
              <a:t>Nmap </a:t>
            </a:r>
            <a:r>
              <a:rPr lang="ko-KR" altLang="en-US" sz="2200" dirty="0"/>
              <a:t>실행할 때</a:t>
            </a:r>
            <a:r>
              <a:rPr lang="en-US" altLang="ko-KR" sz="2200" dirty="0"/>
              <a:t>, </a:t>
            </a:r>
            <a:r>
              <a:rPr lang="ko-KR" altLang="en-US" sz="2200" dirty="0"/>
              <a:t>어떤 스크립트를 언제 돌릴지 관리</a:t>
            </a:r>
            <a:endParaRPr lang="en-US" altLang="ko-KR" sz="2200" dirty="0"/>
          </a:p>
          <a:p>
            <a:pPr>
              <a:buFontTx/>
              <a:buChar char="-"/>
              <a:defRPr sz="1800"/>
            </a:pPr>
            <a:r>
              <a:rPr lang="ko-KR" altLang="en-US" sz="2200" dirty="0"/>
              <a:t>스캔 단계와 스크립트를 연결</a:t>
            </a:r>
            <a:endParaRPr lang="en-US" altLang="ko-KR" sz="2200" dirty="0"/>
          </a:p>
          <a:p>
            <a:pPr marL="0" indent="0">
              <a:buNone/>
              <a:defRPr sz="1800"/>
            </a:pPr>
            <a:r>
              <a:rPr lang="en-US" altLang="ko-KR" sz="1400" dirty="0"/>
              <a:t>	</a:t>
            </a:r>
          </a:p>
          <a:p>
            <a:pPr>
              <a:defRPr sz="1800"/>
            </a:pPr>
            <a:r>
              <a:rPr lang="en-US" altLang="ko-KR" sz="2400" dirty="0"/>
              <a:t>LUA </a:t>
            </a:r>
            <a:r>
              <a:rPr lang="ko-KR" altLang="en-US" sz="2400" dirty="0"/>
              <a:t>스크립트 모음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en-US" altLang="ko-KR" sz="2400" dirty="0"/>
              <a:t>- </a:t>
            </a:r>
            <a:r>
              <a:rPr lang="en-US" altLang="ko-KR" sz="2200" dirty="0"/>
              <a:t>/</a:t>
            </a:r>
            <a:r>
              <a:rPr lang="en-US" altLang="ko-KR" sz="2200" dirty="0" err="1"/>
              <a:t>usr</a:t>
            </a:r>
            <a:r>
              <a:rPr lang="en-US" altLang="ko-KR" sz="2200" dirty="0"/>
              <a:t>/share/</a:t>
            </a:r>
            <a:r>
              <a:rPr lang="en-US" altLang="ko-KR" sz="2200" dirty="0" err="1"/>
              <a:t>nmap</a:t>
            </a:r>
            <a:r>
              <a:rPr lang="en-US" altLang="ko-KR" sz="2200" dirty="0"/>
              <a:t>/scripts</a:t>
            </a:r>
          </a:p>
          <a:p>
            <a:pPr>
              <a:buFontTx/>
              <a:buChar char="-"/>
              <a:defRPr sz="1800"/>
            </a:pPr>
            <a:r>
              <a:rPr lang="ko-KR" altLang="en-US" sz="2200" dirty="0"/>
              <a:t>패턴</a:t>
            </a:r>
            <a:r>
              <a:rPr lang="en-US" altLang="ko-KR" sz="2200" dirty="0"/>
              <a:t>:</a:t>
            </a:r>
          </a:p>
          <a:p>
            <a:pPr marL="0" indent="0">
              <a:buNone/>
              <a:defRPr sz="1800"/>
            </a:pPr>
            <a:r>
              <a:rPr lang="en-US" altLang="ko-KR" sz="2200" dirty="0"/>
              <a:t>	</a:t>
            </a:r>
            <a:r>
              <a:rPr lang="ko-KR" altLang="en-US" sz="2200" dirty="0"/>
              <a:t>타겟에 패킷</a:t>
            </a:r>
            <a:r>
              <a:rPr lang="en-US" altLang="ko-KR" sz="2200" dirty="0"/>
              <a:t>/</a:t>
            </a:r>
            <a:r>
              <a:rPr lang="ko-KR" altLang="en-US" sz="2200" dirty="0"/>
              <a:t>요청 보냄 </a:t>
            </a:r>
            <a:r>
              <a:rPr lang="en-US" altLang="ko-KR" sz="2200" dirty="0"/>
              <a:t>&gt; </a:t>
            </a:r>
            <a:r>
              <a:rPr lang="ko-KR" altLang="en-US" sz="2200" dirty="0"/>
              <a:t>응답 파싱 </a:t>
            </a:r>
            <a:r>
              <a:rPr lang="en-US" altLang="ko-KR" sz="2200" dirty="0"/>
              <a:t>&gt; </a:t>
            </a:r>
            <a:r>
              <a:rPr lang="ko-KR" altLang="en-US" sz="2200" dirty="0"/>
              <a:t>결과 출력</a:t>
            </a:r>
            <a:endParaRPr lang="en-US" altLang="ko-KR" sz="2200" dirty="0"/>
          </a:p>
          <a:p>
            <a:pPr marL="0" indent="0">
              <a:buNone/>
              <a:defRPr sz="1800"/>
            </a:pPr>
            <a:r>
              <a:rPr lang="en-US" altLang="ko-KR" sz="1400" dirty="0"/>
              <a:t>	</a:t>
            </a:r>
          </a:p>
          <a:p>
            <a:pPr>
              <a:defRPr sz="1800"/>
            </a:pPr>
            <a:r>
              <a:rPr lang="ko-KR" altLang="en-US" sz="2400" dirty="0"/>
              <a:t>스크립트 라이브러리</a:t>
            </a:r>
            <a:endParaRPr lang="en-US" altLang="ko-KR" sz="2400" dirty="0"/>
          </a:p>
          <a:p>
            <a:pPr marL="0" indent="0">
              <a:buNone/>
              <a:defRPr sz="1800"/>
            </a:pPr>
            <a:r>
              <a:rPr lang="en-US" altLang="ko-KR" sz="2400" dirty="0"/>
              <a:t>-	/</a:t>
            </a:r>
            <a:r>
              <a:rPr lang="en-US" altLang="ko-KR" sz="2400" dirty="0" err="1"/>
              <a:t>usr</a:t>
            </a:r>
            <a:r>
              <a:rPr lang="en-US" altLang="ko-KR" sz="2400" dirty="0"/>
              <a:t>/share/</a:t>
            </a:r>
            <a:r>
              <a:rPr lang="en-US" altLang="ko-KR" sz="2400" dirty="0" err="1"/>
              <a:t>nmap</a:t>
            </a:r>
            <a:r>
              <a:rPr lang="en-US" altLang="ko-KR" sz="2400" dirty="0"/>
              <a:t>/</a:t>
            </a:r>
            <a:r>
              <a:rPr lang="en-US" altLang="ko-KR" sz="2400" dirty="0" err="1"/>
              <a:t>nselib</a:t>
            </a:r>
            <a:endParaRPr lang="en-US" altLang="ko-KR" sz="2400" dirty="0"/>
          </a:p>
          <a:p>
            <a:pPr>
              <a:buFontTx/>
              <a:buChar char="-"/>
              <a:defRPr sz="1800"/>
            </a:pPr>
            <a:r>
              <a:rPr lang="en-US" altLang="ko-KR" sz="2400" dirty="0"/>
              <a:t>DNS, HTTP, FTP, SMB </a:t>
            </a:r>
            <a:r>
              <a:rPr lang="ko-KR" altLang="en-US" sz="2400" dirty="0"/>
              <a:t>등 프로토콜 처리용 라이브러리 모듈</a:t>
            </a:r>
            <a:endParaRPr lang="en-US" altLang="ko-KR" sz="2400" dirty="0"/>
          </a:p>
          <a:p>
            <a:pPr>
              <a:buFontTx/>
              <a:buChar char="-"/>
              <a:defRPr sz="1800"/>
            </a:pPr>
            <a:r>
              <a:rPr lang="ko-KR" altLang="en-US" sz="2400" dirty="0"/>
              <a:t>스크립트에서 </a:t>
            </a:r>
            <a:r>
              <a:rPr lang="en-US" altLang="ko-KR" sz="2400" dirty="0" err="1"/>
              <a:t>http.get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ftp.login</a:t>
            </a:r>
            <a:r>
              <a:rPr lang="en-US" altLang="ko-KR" sz="2400" dirty="0"/>
              <a:t>() </a:t>
            </a:r>
            <a:r>
              <a:rPr lang="ko-KR" altLang="en-US" sz="2400" dirty="0"/>
              <a:t>같은 함수 호출 가능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03604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9B50-5B86-8643-CF7A-0694C7A4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5132-FC52-E9BC-D7B4-5567B4AC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33462"/>
          </a:xfrm>
        </p:spPr>
        <p:txBody>
          <a:bodyPr/>
          <a:lstStyle/>
          <a:p>
            <a:r>
              <a:rPr lang="en-US" dirty="0"/>
              <a:t>NSE </a:t>
            </a:r>
            <a:r>
              <a:rPr lang="ko-KR" altLang="en-US" dirty="0"/>
              <a:t>스크립트 카테고리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593AD2-2C13-A22D-F528-856C474BE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8100"/>
            <a:ext cx="8229600" cy="4938791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ko-KR" altLang="en-US" sz="2200" dirty="0"/>
              <a:t>정보 수집</a:t>
            </a:r>
            <a:endParaRPr lang="en-US" altLang="ko-KR" sz="2200" dirty="0"/>
          </a:p>
          <a:p>
            <a:pPr marL="0" indent="0">
              <a:buNone/>
              <a:defRPr sz="1800"/>
            </a:pPr>
            <a:endParaRPr lang="en-US" altLang="ko-KR" sz="2200" dirty="0"/>
          </a:p>
          <a:p>
            <a:pPr>
              <a:defRPr sz="1800"/>
            </a:pPr>
            <a:r>
              <a:rPr lang="ko-KR" altLang="en-US" sz="2200" dirty="0"/>
              <a:t>인증 및 접근 점검</a:t>
            </a:r>
            <a:endParaRPr lang="en-US" altLang="ko-KR" sz="2200" dirty="0"/>
          </a:p>
          <a:p>
            <a:pPr>
              <a:defRPr sz="1800"/>
            </a:pPr>
            <a:endParaRPr lang="en-US" altLang="ko-KR" sz="2200" dirty="0"/>
          </a:p>
          <a:p>
            <a:pPr>
              <a:defRPr sz="1800"/>
            </a:pPr>
            <a:r>
              <a:rPr lang="ko-KR" altLang="en-US" sz="2200" dirty="0"/>
              <a:t>취약점 분석</a:t>
            </a:r>
            <a:endParaRPr lang="en-US" altLang="ko-KR" sz="2200" dirty="0"/>
          </a:p>
          <a:p>
            <a:pPr>
              <a:defRPr sz="1800"/>
            </a:pPr>
            <a:endParaRPr lang="en-US" altLang="ko-KR" sz="2200" dirty="0"/>
          </a:p>
          <a:p>
            <a:pPr>
              <a:defRPr sz="1800"/>
            </a:pPr>
            <a:r>
              <a:rPr lang="ko-KR" altLang="en-US" sz="2200" dirty="0"/>
              <a:t>공격성</a:t>
            </a:r>
            <a:r>
              <a:rPr lang="en-US" altLang="ko-KR" sz="2200" dirty="0"/>
              <a:t>, </a:t>
            </a:r>
            <a:r>
              <a:rPr lang="ko-KR" altLang="en-US" sz="2200" dirty="0"/>
              <a:t>위험성 스크립트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813147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정보 수집 계열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Safe: </a:t>
            </a:r>
            <a:r>
              <a:rPr dirty="0" err="1"/>
              <a:t>안전한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r>
              <a:rPr dirty="0"/>
              <a:t>- Default: -</a:t>
            </a:r>
            <a:r>
              <a:rPr dirty="0" err="1"/>
              <a:t>sC</a:t>
            </a:r>
            <a:r>
              <a:rPr dirty="0"/>
              <a:t> </a:t>
            </a:r>
            <a:r>
              <a:rPr dirty="0" err="1"/>
              <a:t>포함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패키지</a:t>
            </a:r>
            <a:endParaRPr dirty="0"/>
          </a:p>
          <a:p>
            <a:r>
              <a:rPr dirty="0"/>
              <a:t>- Version: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버전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r>
              <a:rPr dirty="0"/>
              <a:t>- Discovery: </a:t>
            </a:r>
            <a:r>
              <a:rPr dirty="0" err="1"/>
              <a:t>네트워크</a:t>
            </a:r>
            <a:r>
              <a:rPr dirty="0"/>
              <a:t>/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정찰</a:t>
            </a:r>
            <a:endParaRPr dirty="0"/>
          </a:p>
          <a:p>
            <a:r>
              <a:rPr dirty="0"/>
              <a:t>- External: </a:t>
            </a:r>
            <a:r>
              <a:rPr dirty="0" err="1"/>
              <a:t>외부</a:t>
            </a:r>
            <a:r>
              <a:rPr dirty="0"/>
              <a:t> DB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부가</a:t>
            </a:r>
            <a:r>
              <a:rPr dirty="0"/>
              <a:t> </a:t>
            </a:r>
            <a:r>
              <a:rPr dirty="0" err="1"/>
              <a:t>정보</a:t>
            </a:r>
            <a:endParaRPr dirty="0"/>
          </a:p>
          <a:p>
            <a:r>
              <a:rPr dirty="0"/>
              <a:t>- Broadcast: </a:t>
            </a:r>
            <a:r>
              <a:rPr dirty="0" err="1"/>
              <a:t>로컬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탐색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Ex) http-title, </a:t>
            </a:r>
            <a:r>
              <a:rPr lang="en-US" dirty="0" err="1"/>
              <a:t>smb</a:t>
            </a:r>
            <a:r>
              <a:rPr lang="en-US" dirty="0"/>
              <a:t>-</a:t>
            </a:r>
            <a:r>
              <a:rPr lang="en-US" dirty="0" err="1"/>
              <a:t>os</a:t>
            </a:r>
            <a:r>
              <a:rPr lang="en-US" dirty="0"/>
              <a:t>-discovery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인증 및 접근 점검 계열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Auth: </a:t>
            </a:r>
            <a:r>
              <a:rPr dirty="0" err="1"/>
              <a:t>인증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및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계정</a:t>
            </a:r>
            <a:r>
              <a:rPr dirty="0"/>
              <a:t> </a:t>
            </a:r>
            <a:r>
              <a:rPr dirty="0" err="1"/>
              <a:t>점검</a:t>
            </a:r>
            <a:endParaRPr dirty="0"/>
          </a:p>
          <a:p>
            <a:pPr marL="0" indent="0">
              <a:buNone/>
            </a:pPr>
            <a:r>
              <a:rPr lang="en-US" dirty="0"/>
              <a:t>Ex) ftp-anon, ssh-auth-methods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취약점 분석 계열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Vuln: CVE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취약점</a:t>
            </a:r>
            <a:r>
              <a:rPr dirty="0"/>
              <a:t> </a:t>
            </a:r>
            <a:r>
              <a:rPr dirty="0" err="1"/>
              <a:t>점검</a:t>
            </a:r>
            <a:endParaRPr dirty="0"/>
          </a:p>
          <a:p>
            <a:r>
              <a:rPr dirty="0"/>
              <a:t>- Exploit: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취약점</a:t>
            </a:r>
            <a:r>
              <a:rPr dirty="0"/>
              <a:t> </a:t>
            </a:r>
            <a:r>
              <a:rPr dirty="0" err="1"/>
              <a:t>악용</a:t>
            </a:r>
            <a:r>
              <a:rPr dirty="0"/>
              <a:t> </a:t>
            </a:r>
            <a:r>
              <a:rPr dirty="0" err="1"/>
              <a:t>테스트</a:t>
            </a:r>
            <a:endParaRPr dirty="0"/>
          </a:p>
          <a:p>
            <a:r>
              <a:rPr dirty="0"/>
              <a:t>- </a:t>
            </a:r>
            <a:r>
              <a:rPr dirty="0" err="1"/>
              <a:t>Fuzzer</a:t>
            </a:r>
            <a:r>
              <a:rPr dirty="0"/>
              <a:t>: </a:t>
            </a:r>
            <a:r>
              <a:rPr dirty="0" err="1"/>
              <a:t>랜덤</a:t>
            </a:r>
            <a:r>
              <a:rPr dirty="0"/>
              <a:t> </a:t>
            </a:r>
            <a:r>
              <a:rPr dirty="0" err="1"/>
              <a:t>입력을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퍼징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r>
              <a:rPr dirty="0"/>
              <a:t>- Malware: </a:t>
            </a:r>
            <a:r>
              <a:rPr dirty="0" err="1"/>
              <a:t>악성코드</a:t>
            </a:r>
            <a:r>
              <a:rPr dirty="0"/>
              <a:t> </a:t>
            </a:r>
            <a:r>
              <a:rPr dirty="0" err="1"/>
              <a:t>흔적</a:t>
            </a:r>
            <a:r>
              <a:rPr dirty="0"/>
              <a:t> </a:t>
            </a:r>
            <a:r>
              <a:rPr dirty="0" err="1"/>
              <a:t>탐지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Ex) http-vuln-cve2014-3704, </a:t>
            </a:r>
            <a:r>
              <a:rPr lang="en-US" dirty="0" err="1"/>
              <a:t>ssl-heartbleed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공격성·위험성 스크립트 계열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Intrusive: </a:t>
            </a:r>
            <a:r>
              <a:rPr dirty="0" err="1"/>
              <a:t>공격적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(</a:t>
            </a:r>
            <a:r>
              <a:rPr dirty="0" err="1"/>
              <a:t>부하</a:t>
            </a:r>
            <a:r>
              <a:rPr dirty="0"/>
              <a:t> </a:t>
            </a:r>
            <a:r>
              <a:rPr dirty="0" err="1"/>
              <a:t>증가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)</a:t>
            </a:r>
          </a:p>
          <a:p>
            <a:r>
              <a:rPr dirty="0"/>
              <a:t>- Dos: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중단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스크립트</a:t>
            </a:r>
            <a:endParaRPr lang="en-US" dirty="0"/>
          </a:p>
          <a:p>
            <a:r>
              <a:rPr lang="en-US" altLang="ko-KR" dirty="0"/>
              <a:t>- Brute: </a:t>
            </a:r>
            <a:r>
              <a:rPr lang="ko-KR" altLang="en-US" dirty="0"/>
              <a:t>무차별 대입 공격 자동화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Ex) http-brute, ftp-brute</a:t>
            </a:r>
            <a:endParaRPr lang="ko-KR" alt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마무리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0633" y="3594226"/>
            <a:ext cx="1453081" cy="1481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^-^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3540</TotalTime>
  <Words>1674</Words>
  <Application>Microsoft Office PowerPoint</Application>
  <PresentationFormat>화면 슬라이드 쇼(4:3)</PresentationFormat>
  <Paragraphs>276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Arial</vt:lpstr>
      <vt:lpstr>Calibri</vt:lpstr>
      <vt:lpstr>Office Theme</vt:lpstr>
      <vt:lpstr>Nmap</vt:lpstr>
      <vt:lpstr>Nmap 정의</vt:lpstr>
      <vt:lpstr>Nmap을 이해하는 관점</vt:lpstr>
      <vt:lpstr>Nmap 포트 상태 6가지</vt:lpstr>
      <vt:lpstr>Nmap 스캔의 4단 구조</vt:lpstr>
      <vt:lpstr>1. Host Discovery</vt:lpstr>
      <vt:lpstr>2. Scan Type(스캔 방식) 개요</vt:lpstr>
      <vt:lpstr>3. 서비스 / OS 탐지</vt:lpstr>
      <vt:lpstr>3. 서비스 / OS 탐지</vt:lpstr>
      <vt:lpstr>4. Timing / Evasion</vt:lpstr>
      <vt:lpstr>스텔스 스캔(-sS) vs Connect 스캔</vt:lpstr>
      <vt:lpstr>TCP vs UDP 관점에서 보는 스캔(-sTU)</vt:lpstr>
      <vt:lpstr>플래그 스캔(NULL/FIN/XMAS) (-sN,-sF,-sX)</vt:lpstr>
      <vt:lpstr>Version/OS 스캔(-sV)</vt:lpstr>
      <vt:lpstr>Timing / Evasion 개념(-T0 -T5)</vt:lpstr>
      <vt:lpstr>Nmap 이론 요약</vt:lpstr>
      <vt:lpstr>Nmap</vt:lpstr>
      <vt:lpstr>핑 무시 (-Pn)</vt:lpstr>
      <vt:lpstr>Timing / Stealth 옵션</vt:lpstr>
      <vt:lpstr>Decoy 스캔</vt:lpstr>
      <vt:lpstr>출발지 Spoofing (-S)</vt:lpstr>
      <vt:lpstr>Decoy, Spoofing 차이점</vt:lpstr>
      <vt:lpstr>TXT 기반 자동화 스캔 구조</vt:lpstr>
      <vt:lpstr>NSE</vt:lpstr>
      <vt:lpstr>NSE란 무엇인가</vt:lpstr>
      <vt:lpstr>왜 NSE가 중요한가</vt:lpstr>
      <vt:lpstr>NSE 구조</vt:lpstr>
      <vt:lpstr>NSE 스크립트 카테고리</vt:lpstr>
      <vt:lpstr>1. 정보 수집 계열</vt:lpstr>
      <vt:lpstr>2. 인증 및 접근 점검 계열</vt:lpstr>
      <vt:lpstr>3. 취약점 분석 계열</vt:lpstr>
      <vt:lpstr>4. 공격성·위험성 스크립트 계열</vt:lpstr>
      <vt:lpstr>마무리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TJ</cp:lastModifiedBy>
  <cp:revision>16</cp:revision>
  <dcterms:created xsi:type="dcterms:W3CDTF">2013-01-27T09:14:16Z</dcterms:created>
  <dcterms:modified xsi:type="dcterms:W3CDTF">2025-12-09T02:14:57Z</dcterms:modified>
  <cp:version/>
</cp:coreProperties>
</file>