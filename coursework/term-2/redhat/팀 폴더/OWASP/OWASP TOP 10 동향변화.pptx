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34" autoAdjust="0"/>
    <p:restoredTop sz="94660"/>
  </p:normalViewPr>
  <p:slideViewPr>
    <p:cSldViewPr snapToGrid="0">
      <p:cViewPr varScale="1">
        <p:scale>
          <a:sx n="66" d="100"/>
          <a:sy n="66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E51285-1595-4AC0-4112-4816F3533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3BA412-7796-B5F0-1E57-00D30E34F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7094F8-7F75-AA39-65AF-B3952BB0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AAC2-A94D-4C0F-833F-5EF28A0A8E1D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0EE768-C318-E86A-2AD8-6326AF841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8912EA-FF49-010B-601D-8606DA92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C9FC-F0F9-4BFB-889B-C49A087F2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31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BF76F-AB70-7BD7-9C0B-D884D2AD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E95FC5-3E55-E684-B5BD-103328A16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A7B1B0-32E4-1184-D21E-64419A67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AAC2-A94D-4C0F-833F-5EF28A0A8E1D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93F3B7-DB48-53B1-56A7-0186F619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0554C0-80A5-FB64-1383-A9DAB372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C9FC-F0F9-4BFB-889B-C49A087F2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89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020D5-09EB-2A02-4D0E-C3DABD22C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0CA316-9558-A0A4-F8EE-63A627652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94ACEA-DD2C-8882-CE02-6FA792DDA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AAC2-A94D-4C0F-833F-5EF28A0A8E1D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9E415B-8A40-B2E8-93D6-B737BE51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4A2C47-9D21-DD55-EF00-9D6A5B9D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C9FC-F0F9-4BFB-889B-C49A087F2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99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4BE8A-8B4B-F816-3ABF-51BA8B191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F508A0-ADCF-D3AE-467A-B1DBB7B82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4BF12A-ABAC-02FB-6270-E2927A650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17C8D1-5F53-4B13-9799-D3E860A4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AAC2-A94D-4C0F-833F-5EF28A0A8E1D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3A0AE8-1A90-4B10-CCD3-68FF27E14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6BD3A3-5725-B5AF-0E84-0CA890C9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C9FC-F0F9-4BFB-889B-C49A087F2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546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24C8E7-2165-497A-B11B-A417A2A6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983210-9D57-B7A6-2528-B0C5089FD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3721C0-6955-15B0-823B-13062E73A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6B52F2F-DDF8-BE84-D871-D0BB4BA04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B77165-DF8D-5B49-D0B6-0E437179D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57315E-8FCB-E7F5-2221-F5290972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AAC2-A94D-4C0F-833F-5EF28A0A8E1D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541E63-951C-ED3D-09B7-2C00AD565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22B4AF-B698-2276-F25C-FE85CE76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C9FC-F0F9-4BFB-889B-C49A087F2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82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4CAAD-52D9-FB35-FBA4-17BE091A6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555DD2-2EA0-9C99-0185-70CA9DE3A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AAC2-A94D-4C0F-833F-5EF28A0A8E1D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928B7A-2AC0-FC79-33DF-86379F4D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AC4C68-EE0F-A742-9662-DFCF679D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C9FC-F0F9-4BFB-889B-C49A087F2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502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4B34944-8B18-357F-212D-C73C5E24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AAC2-A94D-4C0F-833F-5EF28A0A8E1D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F6F9E0-AFB7-0AC5-9D34-59B3A5D54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D59B1-AF64-3EE0-688E-56A941540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C9FC-F0F9-4BFB-889B-C49A087F2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84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C537D6-ABA5-2BD6-C1B8-09C49A32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467A59-B31F-710B-B923-FE6DB639A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249328-AD6F-285B-0142-701DF9124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B79828-394D-1F67-A8C8-164BC3FC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AAC2-A94D-4C0F-833F-5EF28A0A8E1D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48FE50-9ED2-2CCE-701A-FD31F26DB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9E2CF9-5974-7671-E6A3-6E01F6BA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C9FC-F0F9-4BFB-889B-C49A087F2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284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EF96D5-1541-B17B-E09E-67A3685E4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938C0D-89BD-1CC4-6E1C-79D69610CD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E3896C-864C-0203-5C91-30FFB4D71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394F47-2F49-ABE4-E30C-E8671C41D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AAC2-A94D-4C0F-833F-5EF28A0A8E1D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73B69E-6907-8F1E-087D-896C7CF8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DF3D7A-A4E2-D08F-97F5-78E5D1C2F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C9FC-F0F9-4BFB-889B-C49A087F2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956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3507F-3FD2-1967-E7BF-7E33241E1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5173BB-70AC-09C2-3CC3-5EBC8FB8A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95D7EA-CFDD-0085-707D-CA819EFD2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AAC2-A94D-4C0F-833F-5EF28A0A8E1D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21843-F1D1-96DA-AACC-1E601181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BD121D-7E8C-7620-B7B5-4B51A24A6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C9FC-F0F9-4BFB-889B-C49A087F2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860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5B1843-9F01-8AED-851A-6067A1DC28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615866-9484-BE14-7BC5-2E7CA7575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5D10C4-139C-D47B-C286-5F9F357A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AAC2-A94D-4C0F-833F-5EF28A0A8E1D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3043AA-E558-9542-9740-414671308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E1C9CF-7EBF-1274-E8CD-D11F8170B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C9FC-F0F9-4BFB-889B-C49A087F2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49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375E8D-9DCD-342C-1FAA-AC8804624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5C4E8A-1C7C-0BC7-B430-78010A84C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0B0018-3427-52FB-AB1C-E9890530D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0AAC2-A94D-4C0F-833F-5EF28A0A8E1D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EDE011-3F1C-1189-3629-756100DB3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3434B1-193E-1A8D-7A87-C01FB591E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DC9FC-F0F9-4BFB-889B-C49A087F2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12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85FC44F-2B9D-E622-FA1C-B560287C1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898610"/>
              </p:ext>
            </p:extLst>
          </p:nvPr>
        </p:nvGraphicFramePr>
        <p:xfrm>
          <a:off x="205375" y="406386"/>
          <a:ext cx="11651344" cy="475570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42057">
                  <a:extLst>
                    <a:ext uri="{9D8B030D-6E8A-4147-A177-3AD203B41FA5}">
                      <a16:colId xmlns:a16="http://schemas.microsoft.com/office/drawing/2014/main" val="1115187372"/>
                    </a:ext>
                  </a:extLst>
                </a:gridCol>
                <a:gridCol w="2383947">
                  <a:extLst>
                    <a:ext uri="{9D8B030D-6E8A-4147-A177-3AD203B41FA5}">
                      <a16:colId xmlns:a16="http://schemas.microsoft.com/office/drawing/2014/main" val="1345022724"/>
                    </a:ext>
                  </a:extLst>
                </a:gridCol>
                <a:gridCol w="2494462">
                  <a:extLst>
                    <a:ext uri="{9D8B030D-6E8A-4147-A177-3AD203B41FA5}">
                      <a16:colId xmlns:a16="http://schemas.microsoft.com/office/drawing/2014/main" val="1383219080"/>
                    </a:ext>
                  </a:extLst>
                </a:gridCol>
                <a:gridCol w="2116237">
                  <a:extLst>
                    <a:ext uri="{9D8B030D-6E8A-4147-A177-3AD203B41FA5}">
                      <a16:colId xmlns:a16="http://schemas.microsoft.com/office/drawing/2014/main" val="3839865059"/>
                    </a:ext>
                  </a:extLst>
                </a:gridCol>
                <a:gridCol w="2198942">
                  <a:extLst>
                    <a:ext uri="{9D8B030D-6E8A-4147-A177-3AD203B41FA5}">
                      <a16:colId xmlns:a16="http://schemas.microsoft.com/office/drawing/2014/main" val="2808523501"/>
                    </a:ext>
                  </a:extLst>
                </a:gridCol>
                <a:gridCol w="2015699">
                  <a:extLst>
                    <a:ext uri="{9D8B030D-6E8A-4147-A177-3AD203B41FA5}">
                      <a16:colId xmlns:a16="http://schemas.microsoft.com/office/drawing/2014/main" val="875743362"/>
                    </a:ext>
                  </a:extLst>
                </a:gridCol>
              </a:tblGrid>
              <a:tr h="17016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순위</a:t>
                      </a:r>
                      <a:endParaRPr lang="ko-KR" altLang="en-US" sz="1000" b="1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2010</a:t>
                      </a:r>
                      <a:r>
                        <a:rPr lang="ko-KR" altLang="en-US" sz="1000" b="1">
                          <a:effectLst/>
                        </a:rPr>
                        <a:t>년</a:t>
                      </a:r>
                      <a:endParaRPr lang="ko-KR" altLang="en-US" sz="1000" b="1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2013</a:t>
                      </a:r>
                      <a:r>
                        <a:rPr lang="ko-KR" altLang="en-US" sz="1000" b="1">
                          <a:effectLst/>
                        </a:rPr>
                        <a:t>년</a:t>
                      </a:r>
                      <a:endParaRPr lang="ko-KR" altLang="en-US" sz="1000" b="1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2017</a:t>
                      </a:r>
                      <a:r>
                        <a:rPr lang="ko-KR" altLang="en-US" sz="1000" b="1" dirty="0">
                          <a:effectLst/>
                        </a:rPr>
                        <a:t>년</a:t>
                      </a:r>
                      <a:endParaRPr lang="ko-KR" altLang="en-US" sz="1000" b="1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2021</a:t>
                      </a:r>
                      <a:r>
                        <a:rPr lang="ko-KR" altLang="en-US" sz="1000" b="1">
                          <a:effectLst/>
                        </a:rPr>
                        <a:t>년</a:t>
                      </a:r>
                      <a:endParaRPr lang="ko-KR" altLang="en-US" sz="1000" b="1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2025</a:t>
                      </a:r>
                      <a:r>
                        <a:rPr lang="ko-KR" altLang="en-US" sz="1000" b="1">
                          <a:effectLst/>
                        </a:rPr>
                        <a:t>년 </a:t>
                      </a:r>
                      <a:r>
                        <a:rPr lang="en-US" altLang="ko-KR" sz="1000" b="1">
                          <a:effectLst/>
                        </a:rPr>
                        <a:t>(</a:t>
                      </a:r>
                      <a:r>
                        <a:rPr lang="en-US" sz="1000" b="1">
                          <a:effectLst/>
                        </a:rPr>
                        <a:t>RC1)</a:t>
                      </a:r>
                      <a:endParaRPr lang="en-US" sz="1000" b="1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7732678"/>
                  </a:ext>
                </a:extLst>
              </a:tr>
              <a:tr h="376991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1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 err="1">
                          <a:effectLst/>
                        </a:rPr>
                        <a:t>인젝션</a:t>
                      </a:r>
                      <a:r>
                        <a:rPr lang="ko-KR" altLang="en-US" sz="1000" b="0" dirty="0">
                          <a:effectLst/>
                        </a:rPr>
                        <a:t> </a:t>
                      </a: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en-US" sz="1000" b="0" dirty="0">
                          <a:effectLst/>
                        </a:rPr>
                        <a:t>Injection)</a:t>
                      </a:r>
                      <a:endParaRPr 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 err="1">
                          <a:effectLst/>
                        </a:rPr>
                        <a:t>인젝션</a:t>
                      </a:r>
                      <a:r>
                        <a:rPr lang="ko-KR" altLang="en-US" sz="1000" b="0" dirty="0">
                          <a:effectLst/>
                        </a:rPr>
                        <a:t> </a:t>
                      </a: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en-US" sz="1000" b="0" dirty="0">
                          <a:effectLst/>
                        </a:rPr>
                        <a:t>Injection)</a:t>
                      </a:r>
                      <a:endParaRPr 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 err="1">
                          <a:effectLst/>
                        </a:rPr>
                        <a:t>인젝션</a:t>
                      </a:r>
                      <a:r>
                        <a:rPr lang="ko-KR" altLang="en-US" sz="1000" b="0" dirty="0">
                          <a:effectLst/>
                        </a:rPr>
                        <a:t> </a:t>
                      </a: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en-US" sz="1000" b="0" dirty="0">
                          <a:effectLst/>
                        </a:rPr>
                        <a:t>Injection)</a:t>
                      </a:r>
                      <a:endParaRPr 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접근 권한 손상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1">
                          <a:effectLst/>
                        </a:rPr>
                        <a:t>접근 권한 손상</a:t>
                      </a:r>
                      <a:r>
                        <a:rPr lang="ko-KR" altLang="en-US" sz="1000" b="0">
                          <a:effectLst/>
                        </a:rPr>
                        <a:t> </a:t>
                      </a:r>
                      <a:r>
                        <a:rPr lang="en-US" altLang="ko-KR" sz="1000" b="0">
                          <a:effectLst/>
                        </a:rPr>
                        <a:t>(</a:t>
                      </a:r>
                      <a:r>
                        <a:rPr lang="en-US" sz="1000" b="0">
                          <a:effectLst/>
                        </a:rPr>
                        <a:t>Broken Access Control)</a:t>
                      </a:r>
                      <a:endParaRPr 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985318"/>
                  </a:ext>
                </a:extLst>
              </a:tr>
              <a:tr h="376991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2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크로스사이트 </a:t>
                      </a:r>
                      <a:r>
                        <a:rPr lang="ko-KR" altLang="en-US" sz="1000" b="0" dirty="0" err="1">
                          <a:effectLst/>
                        </a:rPr>
                        <a:t>스크립팅</a:t>
                      </a:r>
                      <a:r>
                        <a:rPr lang="ko-KR" altLang="en-US" sz="1000" b="0" dirty="0">
                          <a:effectLst/>
                        </a:rPr>
                        <a:t> </a:t>
                      </a:r>
                      <a:r>
                        <a:rPr lang="en-US" altLang="ko-KR" sz="1000" b="0" dirty="0">
                          <a:effectLst/>
                        </a:rPr>
                        <a:t>(XSS)</a:t>
                      </a:r>
                      <a:endParaRPr lang="en-US" altLang="ko-KR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>
                          <a:effectLst/>
                        </a:rPr>
                        <a:t>취약한 인증 및 세션 관리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>
                          <a:effectLst/>
                        </a:rPr>
                        <a:t>취약한 인증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>
                          <a:effectLst/>
                        </a:rPr>
                        <a:t>암호화 실패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보안 설정 오류</a:t>
                      </a:r>
                      <a:r>
                        <a:rPr lang="ko-KR" altLang="en-US" sz="1000" b="0" dirty="0">
                          <a:effectLst/>
                        </a:rPr>
                        <a:t> </a:t>
                      </a: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en-US" sz="1000" b="0" dirty="0">
                          <a:effectLst/>
                        </a:rPr>
                        <a:t>Security Misconfiguration)</a:t>
                      </a:r>
                      <a:endParaRPr 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957156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3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>
                          <a:effectLst/>
                        </a:rPr>
                        <a:t>취약한 인증 및 세션 관리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크로스사이트 </a:t>
                      </a:r>
                      <a:r>
                        <a:rPr lang="ko-KR" altLang="en-US" sz="1000" b="0" dirty="0" err="1">
                          <a:effectLst/>
                        </a:rPr>
                        <a:t>스크립팅</a:t>
                      </a:r>
                      <a:r>
                        <a:rPr lang="ko-KR" altLang="en-US" sz="1000" b="0" dirty="0">
                          <a:effectLst/>
                        </a:rPr>
                        <a:t> </a:t>
                      </a:r>
                      <a:r>
                        <a:rPr lang="en-US" altLang="ko-KR" sz="1000" b="0" dirty="0">
                          <a:effectLst/>
                        </a:rPr>
                        <a:t>(XSS)</a:t>
                      </a:r>
                      <a:endParaRPr lang="en-US" altLang="ko-KR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민감한 데이터 노출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 err="1">
                          <a:effectLst/>
                        </a:rPr>
                        <a:t>인젝션</a:t>
                      </a:r>
                      <a:r>
                        <a:rPr lang="ko-KR" altLang="en-US" sz="1000" b="0" dirty="0">
                          <a:effectLst/>
                        </a:rPr>
                        <a:t> </a:t>
                      </a: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en-US" sz="1000" b="0" dirty="0">
                          <a:effectLst/>
                        </a:rPr>
                        <a:t>Injection)</a:t>
                      </a:r>
                      <a:endParaRPr 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effectLst/>
                        </a:rPr>
                        <a:t>소프트웨어 공급망 실패 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effectLst/>
                        </a:rPr>
                        <a:t>Software Supply Chain Failures) -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effectLst/>
                        </a:rPr>
                        <a:t>신규</a:t>
                      </a:r>
                      <a:endParaRPr lang="en-US" sz="1000" b="0" dirty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283183"/>
                  </a:ext>
                </a:extLst>
              </a:tr>
              <a:tr h="376991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4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안전하지 않은 직접 객체 참조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안전하지 않은 직접 객체 참조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000" b="0" dirty="0">
                          <a:effectLst/>
                        </a:rPr>
                        <a:t>XML </a:t>
                      </a:r>
                      <a:r>
                        <a:rPr lang="ko-KR" altLang="en-US" sz="1000" b="0" dirty="0">
                          <a:effectLst/>
                        </a:rPr>
                        <a:t>외부 개체 </a:t>
                      </a: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en-US" sz="1000" b="0" dirty="0">
                          <a:effectLst/>
                        </a:rPr>
                        <a:t>XXE) -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  <a:effectLst/>
                        </a:rPr>
                        <a:t>신규</a:t>
                      </a:r>
                      <a:endParaRPr lang="en-US" sz="1000" b="0" dirty="0">
                        <a:solidFill>
                          <a:srgbClr val="FF0000"/>
                        </a:solidFill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</a:rPr>
                        <a:t>안전하지 않은 설계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</a:rPr>
                        <a:t>-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</a:rPr>
                        <a:t>신규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1">
                          <a:effectLst/>
                        </a:rPr>
                        <a:t>암호화 실패</a:t>
                      </a:r>
                      <a:r>
                        <a:rPr lang="ko-KR" altLang="en-US" sz="1000" b="0">
                          <a:effectLst/>
                        </a:rPr>
                        <a:t> </a:t>
                      </a:r>
                      <a:r>
                        <a:rPr lang="en-US" altLang="ko-KR" sz="1000" b="0">
                          <a:effectLst/>
                        </a:rPr>
                        <a:t>(</a:t>
                      </a:r>
                      <a:r>
                        <a:rPr lang="en-US" sz="1000" b="0">
                          <a:effectLst/>
                        </a:rPr>
                        <a:t>Cryptographic Failures)</a:t>
                      </a:r>
                      <a:endParaRPr 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162752"/>
                  </a:ext>
                </a:extLst>
              </a:tr>
              <a:tr h="376991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5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>
                          <a:effectLst/>
                        </a:rPr>
                        <a:t>크로스사이트 요청 위조 </a:t>
                      </a:r>
                      <a:r>
                        <a:rPr lang="en-US" altLang="ko-KR" sz="1000" b="0">
                          <a:effectLst/>
                        </a:rPr>
                        <a:t>(CSRF)</a:t>
                      </a:r>
                      <a:endParaRPr lang="en-US" altLang="ko-KR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>
                          <a:effectLst/>
                        </a:rPr>
                        <a:t>보안 설정 오류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접근 권한 손상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보안 설정 오류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1">
                          <a:effectLst/>
                        </a:rPr>
                        <a:t>인젝션</a:t>
                      </a:r>
                      <a:r>
                        <a:rPr lang="ko-KR" altLang="en-US" sz="1000" b="0">
                          <a:effectLst/>
                        </a:rPr>
                        <a:t> </a:t>
                      </a:r>
                      <a:r>
                        <a:rPr lang="en-US" altLang="ko-KR" sz="1000" b="0">
                          <a:effectLst/>
                        </a:rPr>
                        <a:t>(</a:t>
                      </a:r>
                      <a:r>
                        <a:rPr lang="en-US" sz="1000" b="0">
                          <a:effectLst/>
                        </a:rPr>
                        <a:t>Injection)</a:t>
                      </a:r>
                      <a:endParaRPr 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581177"/>
                  </a:ext>
                </a:extLst>
              </a:tr>
              <a:tr h="376991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6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보안 설정 오류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민감한 데이터 노출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보안 설정 오류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취약하고 오래된 구성 요소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안전하지 않은 설계</a:t>
                      </a:r>
                      <a:r>
                        <a:rPr lang="ko-KR" altLang="en-US" sz="1000" b="0" dirty="0">
                          <a:effectLst/>
                        </a:rPr>
                        <a:t> </a:t>
                      </a: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en-US" sz="1000" b="0" dirty="0">
                          <a:effectLst/>
                        </a:rPr>
                        <a:t>Insecure Design)</a:t>
                      </a:r>
                      <a:endParaRPr 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854976"/>
                  </a:ext>
                </a:extLst>
              </a:tr>
              <a:tr h="376991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7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안전하지 않은 암호화 저장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기능 수준의 접근 통제 누락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크로스사이트 </a:t>
                      </a:r>
                      <a:r>
                        <a:rPr lang="ko-KR" altLang="en-US" sz="1000" b="0" dirty="0" err="1">
                          <a:effectLst/>
                        </a:rPr>
                        <a:t>스크립팅</a:t>
                      </a:r>
                      <a:r>
                        <a:rPr lang="ko-KR" altLang="en-US" sz="1000" b="0" dirty="0">
                          <a:effectLst/>
                        </a:rPr>
                        <a:t> </a:t>
                      </a:r>
                      <a:r>
                        <a:rPr lang="en-US" altLang="ko-KR" sz="1000" b="0" dirty="0">
                          <a:effectLst/>
                        </a:rPr>
                        <a:t>(XSS)</a:t>
                      </a:r>
                      <a:endParaRPr lang="en-US" altLang="ko-KR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>
                          <a:effectLst/>
                        </a:rPr>
                        <a:t>식별 및 인증 실패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1">
                          <a:effectLst/>
                        </a:rPr>
                        <a:t>인증 실패</a:t>
                      </a:r>
                      <a:r>
                        <a:rPr lang="ko-KR" altLang="en-US" sz="1000" b="0">
                          <a:effectLst/>
                        </a:rPr>
                        <a:t> </a:t>
                      </a:r>
                      <a:r>
                        <a:rPr lang="en-US" altLang="ko-KR" sz="1000" b="0">
                          <a:effectLst/>
                        </a:rPr>
                        <a:t>(</a:t>
                      </a:r>
                      <a:r>
                        <a:rPr lang="en-US" sz="1000" b="0">
                          <a:effectLst/>
                        </a:rPr>
                        <a:t>Authentication Failures)</a:t>
                      </a:r>
                      <a:endParaRPr 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70638"/>
                  </a:ext>
                </a:extLst>
              </a:tr>
              <a:tr h="376991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8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URL </a:t>
                      </a:r>
                      <a:r>
                        <a:rPr lang="ko-KR" altLang="en-US" sz="1000" b="0" dirty="0">
                          <a:effectLst/>
                        </a:rPr>
                        <a:t>접근 제한 실패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strike="sngStrike" dirty="0">
                          <a:effectLst/>
                        </a:rPr>
                        <a:t>크로스사이트 요청 위조 </a:t>
                      </a:r>
                      <a:r>
                        <a:rPr lang="en-US" altLang="ko-KR" sz="1000" b="0" strike="sngStrike" dirty="0">
                          <a:effectLst/>
                        </a:rPr>
                        <a:t>(CSRF)</a:t>
                      </a:r>
                      <a:endParaRPr lang="en-US" altLang="ko-KR" sz="1000" b="0" strike="sngStrike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안전하지 않은 역직렬화</a:t>
                      </a:r>
                      <a:r>
                        <a:rPr lang="en-US" altLang="ko-KR" sz="1000" b="0" dirty="0">
                          <a:effectLst/>
                        </a:rPr>
                        <a:t>-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  <a:effectLst/>
                        </a:rPr>
                        <a:t>신규</a:t>
                      </a:r>
                      <a:endParaRPr lang="ko-KR" altLang="en-US" sz="1000" b="0" dirty="0">
                        <a:solidFill>
                          <a:srgbClr val="FF0000"/>
                        </a:solidFill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및 데이터 무결성 실패</a:t>
                      </a:r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</a:t>
                      </a: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소프트웨어 및 데이터 무결성 실패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5956790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9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불충분한 전송 계층 보호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알려진 취약점이 있는 구성요소 사용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알려진 취약점이 있는 구성요소 사용</a:t>
                      </a:r>
                      <a:r>
                        <a:rPr lang="en-US" altLang="ko-KR" sz="1000" b="0" dirty="0">
                          <a:effectLst/>
                        </a:rPr>
                        <a:t>-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  <a:effectLst/>
                        </a:rPr>
                        <a:t>신규</a:t>
                      </a:r>
                      <a:endParaRPr lang="ko-KR" altLang="en-US" sz="1000" b="0" dirty="0">
                        <a:solidFill>
                          <a:srgbClr val="FF0000"/>
                        </a:solidFill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보안 로깅 및 모니터링 실패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1">
                          <a:effectLst/>
                        </a:rPr>
                        <a:t>로깅 및 경고 실패</a:t>
                      </a:r>
                      <a:r>
                        <a:rPr lang="ko-KR" altLang="en-US" sz="1000" b="0">
                          <a:effectLst/>
                        </a:rPr>
                        <a:t> </a:t>
                      </a:r>
                      <a:r>
                        <a:rPr lang="en-US" altLang="ko-KR" sz="1000" b="0">
                          <a:effectLst/>
                        </a:rPr>
                        <a:t>(</a:t>
                      </a:r>
                      <a:r>
                        <a:rPr lang="en-US" sz="1000" b="0">
                          <a:effectLst/>
                        </a:rPr>
                        <a:t>Logging &amp; Alerting Failures)</a:t>
                      </a:r>
                      <a:endParaRPr 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679528"/>
                  </a:ext>
                </a:extLst>
              </a:tr>
              <a:tr h="582623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000" b="1">
                          <a:effectLst/>
                        </a:rPr>
                        <a:t>10</a:t>
                      </a:r>
                      <a:endParaRPr lang="ko-KR" altLang="en-US" sz="1000" b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effectLst/>
                        </a:rPr>
                        <a:t>검증되지 않은 </a:t>
                      </a:r>
                      <a:r>
                        <a:rPr lang="ko-KR" altLang="en-US" sz="1000" b="0" dirty="0" err="1">
                          <a:effectLst/>
                        </a:rPr>
                        <a:t>리다이렉트</a:t>
                      </a:r>
                      <a:r>
                        <a:rPr lang="ko-KR" altLang="en-US" sz="1000" b="0" dirty="0">
                          <a:effectLst/>
                        </a:rPr>
                        <a:t> 및 포워드</a:t>
                      </a:r>
                      <a:endParaRPr lang="ko-KR" altLang="en-US" sz="1000" b="0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strike="sngStrike" dirty="0">
                          <a:effectLst/>
                        </a:rPr>
                        <a:t>검증되지 않은 </a:t>
                      </a:r>
                      <a:r>
                        <a:rPr lang="ko-KR" altLang="en-US" sz="1000" b="0" strike="sngStrike" dirty="0" err="1">
                          <a:effectLst/>
                        </a:rPr>
                        <a:t>리다이렉트</a:t>
                      </a:r>
                      <a:r>
                        <a:rPr lang="ko-KR" altLang="en-US" sz="1000" b="0" strike="sngStrike" dirty="0">
                          <a:effectLst/>
                        </a:rPr>
                        <a:t> 및 포워드</a:t>
                      </a:r>
                      <a:endParaRPr lang="ko-KR" altLang="en-US" sz="1000" b="0" strike="sngStrike" dirty="0"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불충분한 로깅 및 모니터링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</a:t>
                      </a: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서버 측 요청 위조 </a:t>
                      </a:r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(SSRF)- </a:t>
                      </a: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</a:t>
                      </a:r>
                      <a:endParaRPr lang="en-US" altLang="ko-KR" sz="10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effectLst/>
                        </a:rPr>
                        <a:t>예외 조건의 잘못된 처리 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000" b="0" dirty="0">
                          <a:solidFill>
                            <a:schemeClr val="bg1"/>
                          </a:solidFill>
                          <a:effectLst/>
                        </a:rPr>
                        <a:t>Mishandling of Exceptional Conditions) -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  <a:effectLst/>
                        </a:rPr>
                        <a:t>신규</a:t>
                      </a:r>
                      <a:endParaRPr lang="en-US" sz="1000" b="0" dirty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61690" marR="61690" marT="30845" marB="30845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7828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C99A9F-7292-F094-6265-B20F26970D6C}"/>
              </a:ext>
            </a:extLst>
          </p:cNvPr>
          <p:cNvSpPr txBox="1"/>
          <p:nvPr/>
        </p:nvSpPr>
        <p:spPr>
          <a:xfrm>
            <a:off x="2885490" y="5300801"/>
            <a:ext cx="24144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삭제 사유</a:t>
            </a:r>
            <a:r>
              <a:rPr lang="en-US" altLang="ko-KR" sz="1200" dirty="0"/>
              <a:t>]</a:t>
            </a:r>
          </a:p>
          <a:p>
            <a:r>
              <a:rPr lang="ko-KR" altLang="en-US" sz="1200" dirty="0"/>
              <a:t>크로스사이트 요청 위조</a:t>
            </a:r>
            <a:r>
              <a:rPr lang="en-US" altLang="ko-KR" sz="1200" dirty="0"/>
              <a:t>(CSRF) , </a:t>
            </a:r>
            <a:r>
              <a:rPr lang="ko-KR" altLang="en-US" sz="1200" dirty="0"/>
              <a:t>검증되지 않은 </a:t>
            </a:r>
            <a:r>
              <a:rPr lang="ko-KR" altLang="en-US" sz="1200" dirty="0" err="1"/>
              <a:t>리다이렉트</a:t>
            </a:r>
            <a:r>
              <a:rPr lang="ko-KR" altLang="en-US" sz="1200" dirty="0"/>
              <a:t> 및 포워드</a:t>
            </a:r>
            <a:endParaRPr lang="en-US" altLang="ko-KR" sz="1200" dirty="0"/>
          </a:p>
          <a:p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ko-KR" altLang="en-US" sz="1200" dirty="0" err="1">
                <a:highlight>
                  <a:srgbClr val="FFFF00"/>
                </a:highlight>
              </a:rPr>
              <a:t>웹프레임워크에</a:t>
            </a:r>
            <a:r>
              <a:rPr lang="ko-KR" altLang="en-US" sz="1200" dirty="0">
                <a:highlight>
                  <a:srgbClr val="FFFF00"/>
                </a:highlight>
              </a:rPr>
              <a:t> 방어기능이 내장되면서 위험도가 감소하여 </a:t>
            </a:r>
            <a:r>
              <a:rPr lang="en-US" altLang="ko-KR" sz="1200" dirty="0">
                <a:highlight>
                  <a:srgbClr val="FFFF00"/>
                </a:highlight>
              </a:rPr>
              <a:t>2017</a:t>
            </a:r>
            <a:r>
              <a:rPr lang="ko-KR" altLang="en-US" sz="1200" dirty="0">
                <a:highlight>
                  <a:srgbClr val="FFFF00"/>
                </a:highlight>
              </a:rPr>
              <a:t>년에 삭제됨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8C74B25-AF5D-2A91-B9C4-9C945D766691}"/>
              </a:ext>
            </a:extLst>
          </p:cNvPr>
          <p:cNvCxnSpPr/>
          <p:nvPr/>
        </p:nvCxnSpPr>
        <p:spPr>
          <a:xfrm>
            <a:off x="7288348" y="2191657"/>
            <a:ext cx="464457" cy="319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B910DDA-C7A8-9CCF-8996-6C1DC6CE19DC}"/>
              </a:ext>
            </a:extLst>
          </p:cNvPr>
          <p:cNvCxnSpPr>
            <a:cxnSpLocks/>
          </p:cNvCxnSpPr>
          <p:nvPr/>
        </p:nvCxnSpPr>
        <p:spPr>
          <a:xfrm>
            <a:off x="6809377" y="855897"/>
            <a:ext cx="897661" cy="961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FA78BDD-DB2D-3075-5099-EBB38C7877F8}"/>
              </a:ext>
            </a:extLst>
          </p:cNvPr>
          <p:cNvCxnSpPr>
            <a:cxnSpLocks/>
          </p:cNvCxnSpPr>
          <p:nvPr/>
        </p:nvCxnSpPr>
        <p:spPr>
          <a:xfrm flipV="1">
            <a:off x="7056120" y="1817026"/>
            <a:ext cx="609603" cy="1626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4CCB414-BB69-9573-5E6D-986B0E2A3A0D}"/>
              </a:ext>
            </a:extLst>
          </p:cNvPr>
          <p:cNvCxnSpPr>
            <a:cxnSpLocks/>
          </p:cNvCxnSpPr>
          <p:nvPr/>
        </p:nvCxnSpPr>
        <p:spPr>
          <a:xfrm flipV="1">
            <a:off x="2585719" y="3077029"/>
            <a:ext cx="449944" cy="351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A840A38-FC34-DAD8-23FE-0B6524F440EB}"/>
              </a:ext>
            </a:extLst>
          </p:cNvPr>
          <p:cNvCxnSpPr>
            <a:cxnSpLocks/>
          </p:cNvCxnSpPr>
          <p:nvPr/>
        </p:nvCxnSpPr>
        <p:spPr>
          <a:xfrm flipV="1">
            <a:off x="2629262" y="3077029"/>
            <a:ext cx="406401" cy="1218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1C4843-5B19-6AAC-824C-7FE626C4F717}"/>
              </a:ext>
            </a:extLst>
          </p:cNvPr>
          <p:cNvCxnSpPr>
            <a:cxnSpLocks/>
          </p:cNvCxnSpPr>
          <p:nvPr/>
        </p:nvCxnSpPr>
        <p:spPr>
          <a:xfrm>
            <a:off x="4835435" y="2253685"/>
            <a:ext cx="746215" cy="376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EABAF03-7BF6-E49D-815E-E58467292D1F}"/>
              </a:ext>
            </a:extLst>
          </p:cNvPr>
          <p:cNvCxnSpPr>
            <a:cxnSpLocks/>
          </p:cNvCxnSpPr>
          <p:nvPr/>
        </p:nvCxnSpPr>
        <p:spPr>
          <a:xfrm flipV="1">
            <a:off x="4878978" y="2630158"/>
            <a:ext cx="702672" cy="813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BF352FE-0851-09D1-7E4B-0561CEC26B15}"/>
              </a:ext>
            </a:extLst>
          </p:cNvPr>
          <p:cNvCxnSpPr>
            <a:cxnSpLocks/>
          </p:cNvCxnSpPr>
          <p:nvPr/>
        </p:nvCxnSpPr>
        <p:spPr>
          <a:xfrm flipV="1">
            <a:off x="2958850" y="4925085"/>
            <a:ext cx="280191" cy="553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970B454-11B1-2537-FD94-DE90DF140AC0}"/>
              </a:ext>
            </a:extLst>
          </p:cNvPr>
          <p:cNvCxnSpPr>
            <a:cxnSpLocks/>
          </p:cNvCxnSpPr>
          <p:nvPr/>
        </p:nvCxnSpPr>
        <p:spPr>
          <a:xfrm flipV="1">
            <a:off x="2958850" y="3929011"/>
            <a:ext cx="280191" cy="1549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974A7C9-BAB5-A2C1-A52C-0E5255742BDD}"/>
              </a:ext>
            </a:extLst>
          </p:cNvPr>
          <p:cNvSpPr txBox="1"/>
          <p:nvPr/>
        </p:nvSpPr>
        <p:spPr>
          <a:xfrm>
            <a:off x="9792836" y="5213717"/>
            <a:ext cx="2310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소프트웨어 생태계 전반의 위험과 시스템의 예외처리 능력에 대한 강조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4AF3A5A-E74F-9D94-67BC-5E355768FD2E}"/>
              </a:ext>
            </a:extLst>
          </p:cNvPr>
          <p:cNvCxnSpPr>
            <a:cxnSpLocks/>
          </p:cNvCxnSpPr>
          <p:nvPr/>
        </p:nvCxnSpPr>
        <p:spPr>
          <a:xfrm flipV="1">
            <a:off x="7217954" y="1336462"/>
            <a:ext cx="431075" cy="388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4CDB940-2788-451F-58D1-31F1330B60FF}"/>
              </a:ext>
            </a:extLst>
          </p:cNvPr>
          <p:cNvCxnSpPr>
            <a:cxnSpLocks/>
          </p:cNvCxnSpPr>
          <p:nvPr/>
        </p:nvCxnSpPr>
        <p:spPr>
          <a:xfrm>
            <a:off x="6241143" y="1336462"/>
            <a:ext cx="1538514" cy="1981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B015EC7-CE98-575A-C8F4-EAB3CB292A58}"/>
              </a:ext>
            </a:extLst>
          </p:cNvPr>
          <p:cNvCxnSpPr>
            <a:cxnSpLocks/>
          </p:cNvCxnSpPr>
          <p:nvPr/>
        </p:nvCxnSpPr>
        <p:spPr>
          <a:xfrm flipV="1">
            <a:off x="9390743" y="855897"/>
            <a:ext cx="582753" cy="3847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4E459C5-B477-CC7F-7AF3-B473B1F42916}"/>
              </a:ext>
            </a:extLst>
          </p:cNvPr>
          <p:cNvSpPr txBox="1"/>
          <p:nvPr/>
        </p:nvSpPr>
        <p:spPr>
          <a:xfrm>
            <a:off x="9792837" y="5841809"/>
            <a:ext cx="2310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보안설정 오류는 </a:t>
            </a:r>
            <a:r>
              <a:rPr lang="ko-KR" altLang="en-US" sz="1200" dirty="0" err="1"/>
              <a:t>클라우드환경설정오류</a:t>
            </a:r>
            <a:r>
              <a:rPr lang="en-US" altLang="ko-KR" sz="1200" dirty="0"/>
              <a:t>, </a:t>
            </a:r>
            <a:r>
              <a:rPr lang="ko-KR" altLang="en-US" sz="1200" dirty="0"/>
              <a:t>코드형 인프라의 잘못된 구성 등 배포환경의 복잡성 증가로 인한 위험이 커졌음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63CDFD2-D04A-C3C6-40A5-9A0DDD60B6B1}"/>
              </a:ext>
            </a:extLst>
          </p:cNvPr>
          <p:cNvCxnSpPr>
            <a:cxnSpLocks/>
          </p:cNvCxnSpPr>
          <p:nvPr/>
        </p:nvCxnSpPr>
        <p:spPr>
          <a:xfrm>
            <a:off x="8723086" y="855897"/>
            <a:ext cx="125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EFDA1F0-D0E1-7D9B-F6C8-23A0DD90FFE3}"/>
              </a:ext>
            </a:extLst>
          </p:cNvPr>
          <p:cNvCxnSpPr>
            <a:cxnSpLocks/>
          </p:cNvCxnSpPr>
          <p:nvPr/>
        </p:nvCxnSpPr>
        <p:spPr>
          <a:xfrm flipV="1">
            <a:off x="9332734" y="1725416"/>
            <a:ext cx="597219" cy="1293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0145ED2-F5AE-0B55-5AF7-7FC6CE521BC0}"/>
              </a:ext>
            </a:extLst>
          </p:cNvPr>
          <p:cNvSpPr txBox="1"/>
          <p:nvPr/>
        </p:nvSpPr>
        <p:spPr>
          <a:xfrm>
            <a:off x="0" y="75576"/>
            <a:ext cx="4499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OWASP TOP 10 </a:t>
            </a:r>
            <a:r>
              <a:rPr lang="ko-KR" altLang="en-US" sz="1400" b="1" dirty="0"/>
              <a:t>동향 변화 </a:t>
            </a:r>
            <a:r>
              <a:rPr lang="en-US" altLang="ko-KR" sz="1400" b="1" dirty="0"/>
              <a:t>(2010~2025)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75252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339</Words>
  <Application>Microsoft Office PowerPoint</Application>
  <PresentationFormat>와이드스크린</PresentationFormat>
  <Paragraphs>72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Inter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Hyerim Park</dc:creator>
  <cp:lastModifiedBy>Hyerim Park</cp:lastModifiedBy>
  <cp:revision>2</cp:revision>
  <dcterms:created xsi:type="dcterms:W3CDTF">2025-11-17T01:24:38Z</dcterms:created>
  <dcterms:modified xsi:type="dcterms:W3CDTF">2025-11-17T02:14:19Z</dcterms:modified>
</cp:coreProperties>
</file>