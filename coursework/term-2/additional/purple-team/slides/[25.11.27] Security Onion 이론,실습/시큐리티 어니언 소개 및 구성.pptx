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Noto Sans KR" panose="020B0200000000000000" pitchFamily="50" charset="-127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BCB3DF4-BFBC-423C-9EF0-602114AA76D6}">
  <a:tblStyle styleId="{8BCB3DF4-BFBC-423C-9EF0-602114AA76D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27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2234654"/>
            <a:ext cx="5960745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39FF14"/>
                </a:solidFill>
                <a:latin typeface="Noto Sans KR"/>
                <a:ea typeface="Noto Sans KR"/>
                <a:cs typeface="Noto Sans KR"/>
                <a:sym typeface="Noto Sans KR"/>
              </a:rPr>
              <a:t>Security Onion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F0F0F0"/>
                </a:solidFill>
                <a:latin typeface="Noto Sans KR"/>
                <a:ea typeface="Noto Sans KR"/>
                <a:cs typeface="Noto Sans KR"/>
                <a:sym typeface="Noto Sans KR"/>
              </a:rPr>
              <a:t> 16.04.7.3 가이드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19275"/>
            <a:ext cx="5229225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771525" y="581025"/>
            <a:ext cx="8301037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0F0F0"/>
                </a:solidFill>
                <a:latin typeface="Noto Sans KR"/>
                <a:ea typeface="Noto Sans KR"/>
                <a:cs typeface="Noto Sans KR"/>
                <a:sym typeface="Noto Sans KR"/>
              </a:rPr>
              <a:t>시큐리티 어니언(Security Onion)이란?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81025" y="581025"/>
            <a:ext cx="47625" cy="66675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581025" y="2543175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시큐리티 어니언은 침입 탐지, 네트워크 보안 모니터링(NSM), 로그 관리를 위한 </a:t>
            </a:r>
            <a:r>
              <a:rPr lang="en-US" sz="1500" b="1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무료 오픈 소스 리눅스 배포판</a:t>
            </a:r>
            <a:r>
              <a:rPr lang="en-US" sz="1500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입니다.</a:t>
            </a:r>
            <a:endParaRPr/>
          </a:p>
        </p:txBody>
      </p:sp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684859"/>
            <a:ext cx="5210175" cy="272653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866775" y="3343275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NSM (Network Security Monitoring):</a:t>
            </a:r>
            <a:r>
              <a:rPr lang="en-US" sz="1500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 네트워크 트래픽을 가시화하여 위협을 탐지합니다.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66775" y="4143375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IDS (Intrusion Detection System):</a:t>
            </a:r>
            <a:r>
              <a:rPr lang="en-US" sz="1500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 악성 행위를 실시간으로 식별합니다.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66775" y="4943475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완전한 패킷 캡처:</a:t>
            </a:r>
            <a:r>
              <a:rPr lang="en-US" sz="1500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 모든 트래픽을 저장하여 사후 분석이 가능합니다.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34327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14337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943475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771525" y="581025"/>
            <a:ext cx="534066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F0F0F0"/>
                </a:solidFill>
                <a:latin typeface="Noto Sans KR"/>
                <a:ea typeface="Noto Sans KR"/>
                <a:cs typeface="Noto Sans KR"/>
                <a:sym typeface="Noto Sans KR"/>
              </a:rPr>
              <a:t>배포</a:t>
            </a:r>
            <a:r>
              <a:rPr lang="en-US" sz="3600" b="1" i="0" u="none" strike="noStrike" cap="none" dirty="0">
                <a:solidFill>
                  <a:srgbClr val="F0F0F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600" b="1" i="0" u="none" strike="noStrike" cap="none" dirty="0" err="1">
                <a:solidFill>
                  <a:srgbClr val="F0F0F0"/>
                </a:solidFill>
                <a:latin typeface="Noto Sans KR"/>
                <a:ea typeface="Noto Sans KR"/>
                <a:cs typeface="Noto Sans KR"/>
                <a:sym typeface="Noto Sans KR"/>
              </a:rPr>
              <a:t>아키텍처</a:t>
            </a:r>
            <a:endParaRPr dirty="0"/>
          </a:p>
        </p:txBody>
      </p:sp>
      <p:sp>
        <p:nvSpPr>
          <p:cNvPr id="109" name="Google Shape;109;p15"/>
          <p:cNvSpPr/>
          <p:nvPr/>
        </p:nvSpPr>
        <p:spPr>
          <a:xfrm>
            <a:off x="581025" y="581025"/>
            <a:ext cx="47625" cy="66675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9525"/>
            <a:ext cx="5848350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81025" y="3005137"/>
            <a:ext cx="1710213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BFFF"/>
                </a:solidFill>
                <a:latin typeface="Noto Sans KR"/>
                <a:ea typeface="Noto Sans KR"/>
                <a:cs typeface="Noto Sans KR"/>
                <a:sym typeface="Noto Sans KR"/>
              </a:rPr>
              <a:t>1. 독립형 (Standalone)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3375124" y="3005137"/>
            <a:ext cx="1690211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BFFF"/>
                </a:solidFill>
                <a:latin typeface="Noto Sans KR"/>
                <a:ea typeface="Noto Sans KR"/>
                <a:cs typeface="Noto Sans KR"/>
                <a:sym typeface="Noto Sans KR"/>
              </a:rPr>
              <a:t>2. 분산형 (Distributed)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4" y="2629941"/>
            <a:ext cx="4614431" cy="2836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96545" y="2629941"/>
            <a:ext cx="4548621" cy="283636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771524" y="581025"/>
            <a:ext cx="1077364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0F0F0"/>
                </a:solidFill>
                <a:latin typeface="Noto Sans KR"/>
                <a:ea typeface="Noto Sans KR"/>
                <a:cs typeface="Noto Sans KR"/>
                <a:sym typeface="Noto Sans KR"/>
              </a:rPr>
              <a:t>Evaluation Mode             </a:t>
            </a:r>
            <a:r>
              <a:rPr lang="en-US" sz="3600" b="1" dirty="0">
                <a:solidFill>
                  <a:srgbClr val="F0F0F0"/>
                </a:solidFill>
                <a:latin typeface="Noto Sans KR"/>
                <a:ea typeface="Noto Sans KR"/>
                <a:cs typeface="Noto Sans KR"/>
                <a:sym typeface="Noto Sans KR"/>
              </a:rPr>
              <a:t>vs         </a:t>
            </a:r>
            <a:r>
              <a:rPr lang="en-US" sz="3600" b="1" i="0" u="none" strike="noStrike" cap="none" dirty="0">
                <a:solidFill>
                  <a:srgbClr val="F0F0F0"/>
                </a:solidFill>
                <a:latin typeface="Noto Sans KR"/>
                <a:ea typeface="Noto Sans KR"/>
                <a:cs typeface="Noto Sans KR"/>
                <a:sym typeface="Noto Sans KR"/>
              </a:rPr>
              <a:t>Production Mode</a:t>
            </a:r>
            <a:endParaRPr dirty="0"/>
          </a:p>
        </p:txBody>
      </p:sp>
      <p:sp>
        <p:nvSpPr>
          <p:cNvPr id="124" name="Google Shape;124;p16"/>
          <p:cNvSpPr/>
          <p:nvPr/>
        </p:nvSpPr>
        <p:spPr>
          <a:xfrm>
            <a:off x="581025" y="581025"/>
            <a:ext cx="47625" cy="66675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1259421" y="3806663"/>
            <a:ext cx="325763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BFFF"/>
                </a:solidFill>
                <a:latin typeface="Noto Sans KR"/>
                <a:ea typeface="Noto Sans KR"/>
                <a:cs typeface="Noto Sans KR"/>
                <a:sym typeface="Noto Sans KR"/>
              </a:rPr>
              <a:t>Evaluation Mode (</a:t>
            </a:r>
            <a:r>
              <a:rPr lang="ko-KR" altLang="en-US" sz="1800" b="0" i="0" u="none" strike="noStrike" cap="none" dirty="0">
                <a:solidFill>
                  <a:srgbClr val="00BFFF"/>
                </a:solidFill>
                <a:latin typeface="Noto Sans KR"/>
                <a:ea typeface="Noto Sans KR"/>
                <a:cs typeface="Noto Sans KR"/>
                <a:sym typeface="Noto Sans KR"/>
              </a:rPr>
              <a:t>평가</a:t>
            </a:r>
            <a:r>
              <a:rPr lang="en-US" sz="1800" b="0" i="0" u="none" strike="noStrike" cap="none" dirty="0">
                <a:solidFill>
                  <a:srgbClr val="00BFFF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/>
          </a:p>
        </p:txBody>
      </p:sp>
      <p:sp>
        <p:nvSpPr>
          <p:cNvPr id="126" name="Google Shape;126;p16"/>
          <p:cNvSpPr txBox="1"/>
          <p:nvPr/>
        </p:nvSpPr>
        <p:spPr>
          <a:xfrm>
            <a:off x="1408747" y="4277239"/>
            <a:ext cx="28956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단일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장비에서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모든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(Sniffing, Indexing, Web UI)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실행</a:t>
            </a:r>
            <a:endParaRPr dirty="0"/>
          </a:p>
        </p:txBody>
      </p:sp>
      <p:sp>
        <p:nvSpPr>
          <p:cNvPr id="127" name="Google Shape;127;p16"/>
          <p:cNvSpPr txBox="1"/>
          <p:nvPr/>
        </p:nvSpPr>
        <p:spPr>
          <a:xfrm>
            <a:off x="7742873" y="3748695"/>
            <a:ext cx="30403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BFFF"/>
                </a:solidFill>
                <a:latin typeface="Noto Sans KR"/>
                <a:ea typeface="Noto Sans KR"/>
                <a:cs typeface="Noto Sans KR"/>
                <a:sym typeface="Noto Sans KR"/>
              </a:rPr>
              <a:t>Production Mode</a:t>
            </a:r>
            <a:r>
              <a:rPr lang="en-US" sz="1800" dirty="0">
                <a:solidFill>
                  <a:srgbClr val="00BFFF"/>
                </a:solidFill>
                <a:latin typeface="Noto Sans KR"/>
                <a:ea typeface="Noto Sans KR"/>
                <a:cs typeface="Noto Sans KR"/>
                <a:sym typeface="Noto Sans KR"/>
              </a:rPr>
              <a:t> (</a:t>
            </a:r>
            <a:r>
              <a:rPr lang="ko-KR" altLang="en-US" sz="1800" dirty="0">
                <a:solidFill>
                  <a:srgbClr val="00BFFF"/>
                </a:solidFill>
                <a:latin typeface="Noto Sans KR"/>
                <a:ea typeface="Noto Sans KR"/>
                <a:cs typeface="Noto Sans KR"/>
                <a:sym typeface="Noto Sans KR"/>
              </a:rPr>
              <a:t>운영</a:t>
            </a:r>
            <a:r>
              <a:rPr lang="en-US" sz="1800" dirty="0">
                <a:solidFill>
                  <a:srgbClr val="00BFFF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/>
          </a:p>
        </p:txBody>
      </p:sp>
      <p:sp>
        <p:nvSpPr>
          <p:cNvPr id="128" name="Google Shape;128;p16"/>
          <p:cNvSpPr txBox="1"/>
          <p:nvPr/>
        </p:nvSpPr>
        <p:spPr>
          <a:xfrm>
            <a:off x="7742874" y="4225554"/>
            <a:ext cx="31468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실제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운영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환경을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위한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설정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.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보존과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성능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최적화가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적용됨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 (Evaluation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모드와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다름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/>
          </a:p>
        </p:txBody>
      </p:sp>
      <p:pic>
        <p:nvPicPr>
          <p:cNvPr id="131" name="Google Shape;13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618422" y="3109906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04155" y="2996221"/>
            <a:ext cx="53340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19275"/>
            <a:ext cx="5229225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771525" y="581025"/>
            <a:ext cx="7210901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0F0F0"/>
                </a:solidFill>
                <a:latin typeface="Noto Sans KR"/>
                <a:ea typeface="Noto Sans KR"/>
                <a:cs typeface="Noto Sans KR"/>
                <a:sym typeface="Noto Sans KR"/>
              </a:rPr>
              <a:t>IDS </a:t>
            </a:r>
            <a:r>
              <a:rPr lang="en-US" sz="3600" b="1" i="0" u="none" strike="noStrike" cap="none" dirty="0" err="1">
                <a:solidFill>
                  <a:srgbClr val="F0F0F0"/>
                </a:solidFill>
                <a:latin typeface="Noto Sans KR"/>
                <a:ea typeface="Noto Sans KR"/>
                <a:cs typeface="Noto Sans KR"/>
                <a:sym typeface="Noto Sans KR"/>
              </a:rPr>
              <a:t>엔진</a:t>
            </a:r>
            <a:r>
              <a:rPr lang="en-US" sz="3600" b="1" i="0" u="none" strike="noStrike" cap="none" dirty="0">
                <a:solidFill>
                  <a:srgbClr val="F0F0F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600" b="1" i="0" u="none" strike="noStrike" cap="none" dirty="0" err="1">
                <a:solidFill>
                  <a:srgbClr val="F0F0F0"/>
                </a:solidFill>
                <a:latin typeface="Noto Sans KR"/>
                <a:ea typeface="Noto Sans KR"/>
                <a:cs typeface="Noto Sans KR"/>
                <a:sym typeface="Noto Sans KR"/>
              </a:rPr>
              <a:t>비교</a:t>
            </a:r>
            <a:r>
              <a:rPr lang="en-US" sz="3600" b="1" i="0" u="none" strike="noStrike" cap="none" dirty="0">
                <a:solidFill>
                  <a:srgbClr val="F0F0F0"/>
                </a:solidFill>
                <a:latin typeface="Noto Sans KR"/>
                <a:ea typeface="Noto Sans KR"/>
                <a:cs typeface="Noto Sans KR"/>
                <a:sym typeface="Noto Sans KR"/>
              </a:rPr>
              <a:t>: Snort vs Suricata</a:t>
            </a:r>
            <a:endParaRPr dirty="0"/>
          </a:p>
        </p:txBody>
      </p:sp>
      <p:sp>
        <p:nvSpPr>
          <p:cNvPr id="141" name="Google Shape;141;p17"/>
          <p:cNvSpPr/>
          <p:nvPr/>
        </p:nvSpPr>
        <p:spPr>
          <a:xfrm>
            <a:off x="581025" y="581025"/>
            <a:ext cx="47625" cy="66675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" y="2582763"/>
            <a:ext cx="5210175" cy="293072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3" name="Google Shape;143;p17"/>
          <p:cNvGraphicFramePr/>
          <p:nvPr>
            <p:extLst>
              <p:ext uri="{D42A27DB-BD31-4B8C-83A1-F6EECF244321}">
                <p14:modId xmlns:p14="http://schemas.microsoft.com/office/powerpoint/2010/main" val="1960978971"/>
              </p:ext>
            </p:extLst>
          </p:nvPr>
        </p:nvGraphicFramePr>
        <p:xfrm>
          <a:off x="6372225" y="2281237"/>
          <a:ext cx="5229225" cy="3714750"/>
        </p:xfrm>
        <a:graphic>
          <a:graphicData uri="http://schemas.openxmlformats.org/drawingml/2006/table">
            <a:tbl>
              <a:tblPr firstRow="1" bandRow="1">
                <a:noFill/>
                <a:tableStyleId>{8BCB3DF4-BFBC-423C-9EF0-602114AA76D6}</a:tableStyleId>
              </a:tblPr>
              <a:tblGrid>
                <a:gridCol w="79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 err="1">
                          <a:solidFill>
                            <a:srgbClr val="39FF14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39FF14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Snort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39FF14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Suricata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스레딩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싱글</a:t>
                      </a:r>
                      <a:r>
                        <a:rPr lang="en-US" sz="1500" b="0" i="0" u="none" strike="noStrike" cap="none" dirty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스레드</a:t>
                      </a:r>
                      <a:r>
                        <a:rPr lang="en-US" sz="1500" b="0" i="0" u="none" strike="noStrike" cap="none" dirty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(Single)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멀티</a:t>
                      </a:r>
                      <a:r>
                        <a:rPr lang="en-US" sz="1500" b="0" i="0" u="none" strike="noStrike" cap="none" dirty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스레드</a:t>
                      </a:r>
                      <a:r>
                        <a:rPr lang="en-US" sz="1500" b="0" i="0" u="none" strike="noStrike" cap="none" dirty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(Multi)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성능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단일</a:t>
                      </a:r>
                      <a:r>
                        <a:rPr lang="en-US" sz="1500" b="0" i="0" u="none" strike="noStrike" cap="none" dirty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코어</a:t>
                      </a:r>
                      <a:r>
                        <a:rPr lang="en-US" sz="1500" b="0" i="0" u="none" strike="noStrike" cap="none" dirty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성능</a:t>
                      </a:r>
                      <a:r>
                        <a:rPr lang="en-US" sz="1500" b="0" i="0" u="none" strike="noStrike" cap="none" dirty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의존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대용량</a:t>
                      </a:r>
                      <a:r>
                        <a:rPr lang="en-US" sz="1500" b="0" i="0" u="none" strike="noStrike" cap="none" dirty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트래픽에</a:t>
                      </a:r>
                      <a:r>
                        <a:rPr lang="en-US" sz="1500" b="0" i="0" u="none" strike="noStrike" cap="none" dirty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강함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패킷</a:t>
                      </a:r>
                      <a:r>
                        <a:rPr lang="en-US" sz="1500" b="0" i="0" u="none" strike="noStrike" cap="none" dirty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기반</a:t>
                      </a:r>
                      <a:r>
                        <a:rPr lang="en-US" sz="1500" b="0" i="0" u="none" strike="noStrike" cap="none" dirty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탐지</a:t>
                      </a:r>
                      <a:r>
                        <a:rPr lang="en-US" sz="1500" b="0" i="0" u="none" strike="noStrike" cap="none" dirty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강력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파일</a:t>
                      </a:r>
                      <a:r>
                        <a:rPr lang="en-US" sz="1500" b="0" i="0" u="none" strike="noStrike" cap="none" dirty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추출</a:t>
                      </a:r>
                      <a:r>
                        <a:rPr lang="en-US" sz="1500" b="0" i="0" u="none" strike="noStrike" cap="none" dirty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JSON </a:t>
                      </a:r>
                      <a:r>
                        <a:rPr lang="en-US" sz="1500" b="0" i="0" u="none" strike="noStrike" cap="none" dirty="0" err="1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로그</a:t>
                      </a:r>
                      <a:r>
                        <a:rPr lang="en-US" sz="1500" b="0" i="0" u="none" strike="noStrike" cap="none" dirty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지원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특징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오랜</a:t>
                      </a:r>
                      <a:r>
                        <a:rPr lang="en-US" sz="1500" b="0" i="0" u="none" strike="noStrike" cap="none" dirty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역사</a:t>
                      </a:r>
                      <a:r>
                        <a:rPr lang="en-US" sz="1500" b="0" i="0" u="none" strike="noStrike" cap="none" dirty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en-US" sz="1500" b="0" i="0" u="none" strike="noStrike" cap="none" dirty="0" err="1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방대한</a:t>
                      </a:r>
                      <a:r>
                        <a:rPr lang="en-US" sz="1500" b="0" i="0" u="none" strike="noStrike" cap="none" dirty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룰셋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현대적</a:t>
                      </a:r>
                      <a:r>
                        <a:rPr lang="en-US" sz="1500" b="0" i="0" u="none" strike="noStrike" cap="none" dirty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아키텍처</a:t>
                      </a:r>
                      <a:r>
                        <a:rPr lang="en-US" sz="1500" b="0" i="0" u="none" strike="noStrike" cap="none" dirty="0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en-US" sz="1500" b="0" i="0" u="none" strike="noStrike" cap="none" dirty="0" err="1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EVE.json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4" name="Google Shape;144;p17"/>
          <p:cNvSpPr/>
          <p:nvPr/>
        </p:nvSpPr>
        <p:spPr>
          <a:xfrm>
            <a:off x="6381750" y="2871787"/>
            <a:ext cx="792063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7173813" y="2871787"/>
            <a:ext cx="203061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9204424" y="2871787"/>
            <a:ext cx="240655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6381750" y="3719512"/>
            <a:ext cx="792063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7173813" y="3719512"/>
            <a:ext cx="203061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9204424" y="3719512"/>
            <a:ext cx="240655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6381750" y="4291012"/>
            <a:ext cx="792063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7173813" y="4291012"/>
            <a:ext cx="203061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9204424" y="4291012"/>
            <a:ext cx="240655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6381750" y="5138737"/>
            <a:ext cx="792063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173813" y="5138737"/>
            <a:ext cx="203061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9204424" y="5138737"/>
            <a:ext cx="240655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6381750" y="5986462"/>
            <a:ext cx="792063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7173813" y="5986462"/>
            <a:ext cx="203061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9204424" y="5986462"/>
            <a:ext cx="240655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19275"/>
            <a:ext cx="5229225" cy="44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819275"/>
            <a:ext cx="5229225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771525" y="581025"/>
            <a:ext cx="5590698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0F0F0"/>
                </a:solidFill>
                <a:latin typeface="Noto Sans KR"/>
                <a:ea typeface="Noto Sans KR"/>
                <a:cs typeface="Noto Sans KR"/>
                <a:sym typeface="Noto Sans KR"/>
              </a:rPr>
              <a:t>왜 Suricata를 선택했는가?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581025" y="581025"/>
            <a:ext cx="47625" cy="66675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971550" y="2952750"/>
            <a:ext cx="467058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BFFF"/>
                </a:solidFill>
                <a:latin typeface="Noto Sans KR"/>
                <a:ea typeface="Noto Sans KR"/>
                <a:cs typeface="Noto Sans KR"/>
                <a:sym typeface="Noto Sans KR"/>
              </a:rPr>
              <a:t>고성능 멀티스레딩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971550" y="3524250"/>
            <a:ext cx="44481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Suricata는 멀티 코어 CPU를 효율적으로 사용하여, 트래픽이 많은 현대적인 네트워크 환경에서도 패킷 손실 없이 실시간 탐지가 가능합니다.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772275" y="2952750"/>
            <a:ext cx="467058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BFFF"/>
                </a:solidFill>
                <a:latin typeface="Noto Sans KR"/>
                <a:ea typeface="Noto Sans KR"/>
                <a:cs typeface="Noto Sans KR"/>
                <a:sym typeface="Noto Sans KR"/>
              </a:rPr>
              <a:t>풍부한 메타데이터 (EVE.json)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772275" y="3524250"/>
            <a:ext cx="44481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단순한 경고(Alert) 뿐만 아니라, DNS, HTTP, TLS 등 프로토콜 상세 정보를 JSON 형식으로 남겨 Logstash/Elasticsearch와의 연동성이 매우 뛰어납니다.</a:t>
            </a:r>
            <a:endParaRPr/>
          </a:p>
        </p:txBody>
      </p:sp>
      <p:pic>
        <p:nvPicPr>
          <p:cNvPr id="172" name="Google Shape;17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28950" y="23145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53487" y="2314575"/>
            <a:ext cx="2857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991891"/>
            <a:ext cx="3486150" cy="2112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991891"/>
            <a:ext cx="3486150" cy="2112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991891"/>
            <a:ext cx="3486150" cy="211246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771525" y="581025"/>
            <a:ext cx="6190773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0F0F0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서비스 구성 (The Stack)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581025" y="581025"/>
            <a:ext cx="47625" cy="66675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803910" y="3287166"/>
            <a:ext cx="304038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BFFF"/>
                </a:solidFill>
                <a:latin typeface="Noto Sans KR"/>
                <a:ea typeface="Noto Sans KR"/>
                <a:cs typeface="Noto Sans KR"/>
                <a:sym typeface="Noto Sans KR"/>
              </a:rPr>
              <a:t>탐지 &amp; 분석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876300" y="3772941"/>
            <a:ext cx="2895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9FF14"/>
                </a:solidFill>
                <a:latin typeface="Noto Sans KR"/>
                <a:ea typeface="Noto Sans KR"/>
                <a:cs typeface="Noto Sans KR"/>
                <a:sym typeface="Noto Sans KR"/>
              </a:rPr>
              <a:t>Suricata / Zeek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876300" y="4169122"/>
            <a:ext cx="28956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네트워크 트래픽을 분석하고 로그 및 경고 생성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4575810" y="3287166"/>
            <a:ext cx="304038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BFFF"/>
                </a:solidFill>
                <a:latin typeface="Noto Sans KR"/>
                <a:ea typeface="Noto Sans KR"/>
                <a:cs typeface="Noto Sans KR"/>
                <a:sym typeface="Noto Sans KR"/>
              </a:rPr>
              <a:t>저장 &amp; 검색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4648200" y="3772941"/>
            <a:ext cx="2895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9FF14"/>
                </a:solidFill>
                <a:latin typeface="Noto Sans KR"/>
                <a:ea typeface="Noto Sans KR"/>
                <a:cs typeface="Noto Sans KR"/>
                <a:sym typeface="Noto Sans KR"/>
              </a:rPr>
              <a:t>Elasticsearch / Logstash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4648200" y="4169122"/>
            <a:ext cx="28956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로그 데이터를 수집, 파싱하고 검색 가능한 형태로 인덱싱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8347710" y="3287166"/>
            <a:ext cx="304038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BFFF"/>
                </a:solidFill>
                <a:latin typeface="Noto Sans KR"/>
                <a:ea typeface="Noto Sans KR"/>
                <a:cs typeface="Noto Sans KR"/>
                <a:sym typeface="Noto Sans KR"/>
              </a:rPr>
              <a:t>시각화 &amp; 대응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8420100" y="3772941"/>
            <a:ext cx="2895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9FF14"/>
                </a:solidFill>
                <a:latin typeface="Noto Sans KR"/>
                <a:ea typeface="Noto Sans KR"/>
                <a:cs typeface="Noto Sans KR"/>
                <a:sym typeface="Noto Sans KR"/>
              </a:rPr>
              <a:t>Kibana / Sguil / Squert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8420100" y="4169122"/>
            <a:ext cx="28956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사용자가 데이터를 분석하고 위협에 대응하는 인터페이스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19275"/>
            <a:ext cx="5229225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771525" y="581025"/>
            <a:ext cx="5830728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0F0F0"/>
                </a:solidFill>
                <a:latin typeface="Noto Sans KR"/>
                <a:ea typeface="Noto Sans KR"/>
                <a:cs typeface="Noto Sans KR"/>
                <a:sym typeface="Noto Sans KR"/>
              </a:rPr>
              <a:t>Sguil (스구일) - 분석가 콘솔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81025" y="581025"/>
            <a:ext cx="47625" cy="66675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" y="2666851"/>
            <a:ext cx="5210175" cy="2762547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6381750" y="2847975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네트워크 보안 분석가를 위한 핵심 도구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7048500" y="3343275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실시간 이벤트를 확인하고 분류(Categorize) 할 수 있습니다.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7048500" y="4143375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알람(Alert)과 관련된 실제 패킷 데이터(PCAP)를 바로 조회할 수 있습니다.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7048500" y="4943475"/>
            <a:ext cx="4562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가장 로우 레벨의 상세 분석이 필요할 때 주로 사용됩니다.</a:t>
            </a:r>
            <a:endParaRPr/>
          </a:p>
        </p:txBody>
      </p:sp>
      <p:pic>
        <p:nvPicPr>
          <p:cNvPr id="206" name="Google Shape;20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0" y="334327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0" y="414337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0" y="4943475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19275"/>
            <a:ext cx="5229225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771525" y="581025"/>
            <a:ext cx="5800725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0F0F0"/>
                </a:solidFill>
                <a:latin typeface="Noto Sans KR"/>
                <a:ea typeface="Noto Sans KR"/>
                <a:cs typeface="Noto Sans KR"/>
                <a:sym typeface="Noto Sans KR"/>
              </a:rPr>
              <a:t>Squert (스쿼트) - 웹 시각화</a:t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581025" y="581025"/>
            <a:ext cx="47625" cy="66675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581025" y="2695575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Sguil 데이터베이스의 웹 인터페이스</a:t>
            </a:r>
            <a:endParaRPr/>
          </a:p>
        </p:txBody>
      </p:sp>
      <p:pic>
        <p:nvPicPr>
          <p:cNvPr id="218" name="Google Shape;21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666851"/>
            <a:ext cx="5210175" cy="2762547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1247775" y="3190875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Sguil에 저장된 이벤트 데이터를 웹 브라우저에서 시각적으로 탐색합니다.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1247775" y="3990975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시계열 데이터, IP 관계도, 국가별 통계 등을 직관적으로 보여줍니다.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1247775" y="4791075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대량의 경고 데이터를 빠르게 필터링하고 우선순위를 정하는 데 유용합니다.</a:t>
            </a:r>
            <a:endParaRPr/>
          </a:p>
        </p:txBody>
      </p:sp>
      <p:pic>
        <p:nvPicPr>
          <p:cNvPr id="222" name="Google Shape;222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319087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399097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4791075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19275"/>
            <a:ext cx="5229225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771525" y="581025"/>
            <a:ext cx="672084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0F0F0"/>
                </a:solidFill>
                <a:latin typeface="Noto Sans KR"/>
                <a:ea typeface="Noto Sans KR"/>
                <a:cs typeface="Noto Sans KR"/>
                <a:sym typeface="Noto Sans KR"/>
              </a:rPr>
              <a:t>Kibana (키바나) - 통합 대시보드</a:t>
            </a:r>
            <a:endParaRPr/>
          </a:p>
        </p:txBody>
      </p:sp>
      <p:sp>
        <p:nvSpPr>
          <p:cNvPr id="232" name="Google Shape;232;p22"/>
          <p:cNvSpPr/>
          <p:nvPr/>
        </p:nvSpPr>
        <p:spPr>
          <a:xfrm>
            <a:off x="581025" y="581025"/>
            <a:ext cx="47625" cy="66675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" y="2564903"/>
            <a:ext cx="5210175" cy="296644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2"/>
          <p:cNvSpPr txBox="1"/>
          <p:nvPr/>
        </p:nvSpPr>
        <p:spPr>
          <a:xfrm>
            <a:off x="6381750" y="2695575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모든 로그의 시각화 허브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7048500" y="3190875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Elasticsearch에 저장된 모든 데이터(Suricata, Zeek, Syslog 등)를 시각화합니다.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7048500" y="3990975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사용자 정의 대시보드를 생성하여 네트워크 트렌드를 파악할 수 있습니다.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7048500" y="4791075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강력한 검색 쿼리(Lucene)를 통해 특정 위협을 헌팅(Hunting)할 때 필수적입니다.</a:t>
            </a:r>
            <a:endParaRPr/>
          </a:p>
        </p:txBody>
      </p:sp>
      <p:pic>
        <p:nvPicPr>
          <p:cNvPr id="238" name="Google Shape;238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0" y="319087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0" y="399097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0" y="4791075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19275"/>
            <a:ext cx="5229225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 txBox="1"/>
          <p:nvPr/>
        </p:nvSpPr>
        <p:spPr>
          <a:xfrm>
            <a:off x="771525" y="581025"/>
            <a:ext cx="8611076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0F0F0"/>
                </a:solidFill>
                <a:latin typeface="Noto Sans KR"/>
                <a:ea typeface="Noto Sans KR"/>
                <a:cs typeface="Noto Sans KR"/>
                <a:sym typeface="Noto Sans KR"/>
              </a:rPr>
              <a:t>Zeek (구 Bro) - 네트워크 분석 프레임워크</a:t>
            </a:r>
            <a:endParaRPr/>
          </a:p>
        </p:txBody>
      </p:sp>
      <p:sp>
        <p:nvSpPr>
          <p:cNvPr id="248" name="Google Shape;248;p23"/>
          <p:cNvSpPr/>
          <p:nvPr/>
        </p:nvSpPr>
        <p:spPr>
          <a:xfrm>
            <a:off x="581025" y="581025"/>
            <a:ext cx="47625" cy="66675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 txBox="1"/>
          <p:nvPr/>
        </p:nvSpPr>
        <p:spPr>
          <a:xfrm>
            <a:off x="581025" y="2543175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단순 탐지를 넘어선 '이해'</a:t>
            </a:r>
            <a:endParaRPr/>
          </a:p>
        </p:txBody>
      </p:sp>
      <p:pic>
        <p:nvPicPr>
          <p:cNvPr id="250" name="Google Shape;25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86675" y="3614737"/>
            <a:ext cx="2619375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3"/>
          <p:cNvSpPr txBox="1"/>
          <p:nvPr/>
        </p:nvSpPr>
        <p:spPr>
          <a:xfrm>
            <a:off x="1247775" y="3038475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시그니처 기반 탐지가 아닌, 네트워크 행위 기반의 로그를 생성합니다.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1247775" y="3838575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모든 연결(conn.log), DNS 쿼리, HTTP 요청, SSL 인증서 정보 등을 상세히 기록합니다.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1247775" y="4638675"/>
            <a:ext cx="45624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Suricata가 '도둑이야!'라고 외친다면, Zeek는 도둑이 '어디로 들어와서 무엇을 만졌는지' 기록하는 CCTV 역할을 합니다.</a:t>
            </a:r>
            <a:endParaRPr/>
          </a:p>
        </p:txBody>
      </p:sp>
      <p:pic>
        <p:nvPicPr>
          <p:cNvPr id="254" name="Google Shape;254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303847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383857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4638675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4"/>
          <p:cNvSpPr txBox="1"/>
          <p:nvPr/>
        </p:nvSpPr>
        <p:spPr>
          <a:xfrm>
            <a:off x="1826180" y="2714625"/>
            <a:ext cx="2710338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39FF14"/>
                </a:solidFill>
                <a:latin typeface="Noto Sans KR"/>
                <a:ea typeface="Noto Sans KR"/>
                <a:cs typeface="Noto Sans KR"/>
                <a:sym typeface="Noto Sans KR"/>
              </a:rPr>
              <a:t>Q &amp; A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4471987" y="327660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질문이 있으신가요?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5995987" y="3276600"/>
            <a:ext cx="4305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Security Onion 16.04.7.3 / Standalone / Suricata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5"/>
          <p:cNvSpPr txBox="1"/>
          <p:nvPr/>
        </p:nvSpPr>
        <p:spPr>
          <a:xfrm>
            <a:off x="771525" y="262235"/>
            <a:ext cx="3500437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0F0F0"/>
                </a:solidFill>
                <a:latin typeface="Noto Sans KR"/>
                <a:ea typeface="Noto Sans KR"/>
                <a:cs typeface="Noto Sans KR"/>
                <a:sym typeface="Noto Sans KR"/>
              </a:rPr>
              <a:t>Image Sources</a:t>
            </a:r>
            <a:endParaRPr/>
          </a:p>
        </p:txBody>
      </p:sp>
      <p:sp>
        <p:nvSpPr>
          <p:cNvPr id="271" name="Google Shape;271;p25"/>
          <p:cNvSpPr/>
          <p:nvPr/>
        </p:nvSpPr>
        <p:spPr>
          <a:xfrm>
            <a:off x="581025" y="262235"/>
            <a:ext cx="47625" cy="66675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581025" y="227573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581025" y="3060501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581025" y="384527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581025" y="482813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581025" y="5810994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64990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5"/>
          <p:cNvSpPr txBox="1"/>
          <p:nvPr/>
        </p:nvSpPr>
        <p:spPr>
          <a:xfrm>
            <a:off x="1676400" y="1643360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https://miro.medium.com/1*WjfB9F9HKH06q6_dMd5wVw.jpeg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1676400" y="1889075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Noto Sans KR"/>
                <a:ea typeface="Noto Sans KR"/>
                <a:cs typeface="Noto Sans KR"/>
                <a:sym typeface="Noto Sans KR"/>
              </a:rPr>
              <a:t>medium.com</a:t>
            </a:r>
            <a:endParaRPr/>
          </a:p>
        </p:txBody>
      </p:sp>
      <p:pic>
        <p:nvPicPr>
          <p:cNvPr id="280" name="Google Shape;280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43467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5"/>
          <p:cNvSpPr txBox="1"/>
          <p:nvPr/>
        </p:nvSpPr>
        <p:spPr>
          <a:xfrm>
            <a:off x="1676400" y="2428130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https://docs.securityonion.net/en/2.4/_images/receiver.png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1676400" y="2673846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Noto Sans KR"/>
                <a:ea typeface="Noto Sans KR"/>
                <a:cs typeface="Noto Sans KR"/>
                <a:sym typeface="Noto Sans KR"/>
              </a:rPr>
              <a:t>docs.securityonion.net</a:t>
            </a:r>
            <a:endParaRPr/>
          </a:p>
        </p:txBody>
      </p:sp>
      <p:pic>
        <p:nvPicPr>
          <p:cNvPr id="283" name="Google Shape;283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2194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5"/>
          <p:cNvSpPr txBox="1"/>
          <p:nvPr/>
        </p:nvSpPr>
        <p:spPr>
          <a:xfrm>
            <a:off x="1676400" y="3212901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https://nextdoorsec.com/wp-content/uploads/2023/06/suricata-vs-snort-FI-1.png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1676400" y="3458616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Noto Sans KR"/>
                <a:ea typeface="Noto Sans KR"/>
                <a:cs typeface="Noto Sans KR"/>
                <a:sym typeface="Noto Sans KR"/>
              </a:rPr>
              <a:t>nextdoorsec.com</a:t>
            </a:r>
            <a:endParaRPr/>
          </a:p>
        </p:txBody>
      </p:sp>
      <p:pic>
        <p:nvPicPr>
          <p:cNvPr id="286" name="Google Shape;286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10334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5"/>
          <p:cNvSpPr txBox="1"/>
          <p:nvPr/>
        </p:nvSpPr>
        <p:spPr>
          <a:xfrm>
            <a:off x="1676400" y="3997672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https://blogger.googleusercontent.com/img/b/R29vZ2xl/AVvXsEgJ5mAgTp2rbem2FFEzKR9hKYHThmOtQDzBMmUlNTLctiPBD2o-ZK-n5bljAeIOGEMjdlUudzb2tgNtmycExtkXWj8CaBBj8Y0VYxJOZnD3zXxO-sKSRY7YIKfLa0p8LuFhx7ts6tc4KHOC/s1600/Security_Onion_20110116_Sguil_alert.PNG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1676400" y="4441477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Noto Sans KR"/>
                <a:ea typeface="Noto Sans KR"/>
                <a:cs typeface="Noto Sans KR"/>
                <a:sym typeface="Noto Sans KR"/>
              </a:rPr>
              <a:t>blog.securityonion.net</a:t>
            </a:r>
            <a:endParaRPr/>
          </a:p>
        </p:txBody>
      </p:sp>
      <p:pic>
        <p:nvPicPr>
          <p:cNvPr id="289" name="Google Shape;289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508620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5"/>
          <p:cNvSpPr txBox="1"/>
          <p:nvPr/>
        </p:nvSpPr>
        <p:spPr>
          <a:xfrm>
            <a:off x="1676400" y="4980533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https://blogger.googleusercontent.com/img/b/R29vZ2xl/AVvXsEja9gg7vvWeHKJ6V1n0ZhPEMga5iOV6M7raY74iZ1JQtaNgMYKY4S2rmIAMyjwS_hDKhBT4CeTCD1IgA8FaGzZCWBIaZylvkGIk0a6BLlYQWHAqZIsE0fL5DuKwhm4OAF4_1yHjH876Vo0s/s1600/Screen+Shot+2017-06-01+at+5.00.01+PM.png</a:t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1676400" y="5424338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Noto Sans KR"/>
                <a:ea typeface="Noto Sans KR"/>
                <a:cs typeface="Noto Sans KR"/>
                <a:sym typeface="Noto Sans KR"/>
              </a:rPr>
              <a:t>blog.securityonion.net</a:t>
            </a:r>
            <a:endParaRPr/>
          </a:p>
        </p:txBody>
      </p:sp>
      <p:pic>
        <p:nvPicPr>
          <p:cNvPr id="292" name="Google Shape;292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1025" y="596994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5"/>
          <p:cNvSpPr txBox="1"/>
          <p:nvPr/>
        </p:nvSpPr>
        <p:spPr>
          <a:xfrm>
            <a:off x="1676400" y="5963394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https://zeek.org/wp-content/uploads/2021/01/zeek-logo-blue-black-rgb-horizontal.png</a:t>
            </a:r>
            <a:endParaRPr/>
          </a:p>
        </p:txBody>
      </p:sp>
      <p:sp>
        <p:nvSpPr>
          <p:cNvPr id="294" name="Google Shape;294;p25"/>
          <p:cNvSpPr txBox="1"/>
          <p:nvPr/>
        </p:nvSpPr>
        <p:spPr>
          <a:xfrm>
            <a:off x="1676400" y="6209109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D5DB"/>
                </a:solidFill>
                <a:latin typeface="Noto Sans KR"/>
                <a:ea typeface="Noto Sans KR"/>
                <a:cs typeface="Noto Sans KR"/>
                <a:sym typeface="Noto Sans K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Noto Sans KR"/>
                <a:ea typeface="Noto Sans KR"/>
                <a:cs typeface="Noto Sans KR"/>
                <a:sym typeface="Noto Sans KR"/>
              </a:rPr>
              <a:t>zeek.org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683</Words>
  <Application>Microsoft Office PowerPoint</Application>
  <PresentationFormat>와이드스크린</PresentationFormat>
  <Paragraphs>81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Noto Sans KR</vt:lpstr>
      <vt:lpstr>Calibri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TJ</cp:lastModifiedBy>
  <cp:revision>1</cp:revision>
  <dcterms:modified xsi:type="dcterms:W3CDTF">2025-11-26T13:49:50Z</dcterms:modified>
</cp:coreProperties>
</file>