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71" r:id="rId6"/>
    <p:sldId id="263" r:id="rId7"/>
    <p:sldId id="262" r:id="rId8"/>
    <p:sldId id="267" r:id="rId9"/>
    <p:sldId id="268" r:id="rId10"/>
    <p:sldId id="269" r:id="rId11"/>
  </p:sldIdLst>
  <p:sldSz cx="12192000" cy="6858000"/>
  <p:notesSz cx="6858000" cy="9144000"/>
  <p:embeddedFontLst>
    <p:embeddedFont>
      <p:font typeface="Noto Sans KR" panose="020B0200000000000000" pitchFamily="50" charset="-127"/>
      <p:regular r:id="rId13"/>
      <p:bold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Roboto Mono" panose="00000009000000000000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81727" y="2273647"/>
            <a:ext cx="770021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Snort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실습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상세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가이드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743200" y="3540472"/>
            <a:ext cx="67056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내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손으로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직접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잡는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침입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설치부터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탐지까지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4550"/>
            <a:ext cx="11049000" cy="5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17540"/>
            <a:ext cx="11049000" cy="275644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60020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Snort가 지켜야 할 '내 집'(`$HOME_NET`) 주소를 확인합니다.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90319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출력된 `inet` 주소를 확인하고 메모합니다.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71525" y="3617565"/>
            <a:ext cx="11181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예시 IP 확인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4141440"/>
            <a:ext cx="10648950" cy="100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ens33: 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inet </a:t>
            </a:r>
            <a:r>
              <a:rPr lang="en-US" sz="1500" b="1" i="0" u="none" strike="noStrike" cap="none">
                <a:solidFill>
                  <a:srgbClr val="F59E0B"/>
                </a:solidFill>
                <a:latin typeface="Roboto Mono"/>
                <a:ea typeface="Roboto Mono"/>
                <a:cs typeface="Roboto Mono"/>
                <a:sym typeface="Roboto Mono"/>
              </a:rPr>
              <a:t>192.168.111.130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/24 brd ...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5288160"/>
            <a:ext cx="1064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내 IP: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192.168.111.130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내 네트워크 대역: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192.168.111.0/24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684240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36436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70726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47625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1단계: 방어자 PC IP 확인 (내 집 주소)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4550"/>
            <a:ext cx="11049000" cy="5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12890"/>
            <a:ext cx="5334000" cy="87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312890"/>
            <a:ext cx="5334000" cy="114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160020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Snort의 메인 설정 파일을 엽니다. (가장 중요!)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2903190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1: HOME_NET 설정 (내 집 주소 알려주기)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Ctrl + W로 ipvar HOME_NET을 검색하여 1단계에서 확인한 내 IP 대역으로 수정합니다.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3779490"/>
            <a:ext cx="56007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수정 전 (Before)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286500" y="3779490"/>
            <a:ext cx="56007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수정 후 (After)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47625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3단계: snort.conf 핵심 수정 (1/2)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1851"/>
            <a:ext cx="11049000" cy="2518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40523"/>
            <a:ext cx="1104900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1574601"/>
            <a:ext cx="11049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2: 테스트를 위한 규칙 파일 정리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파일 하단(약 500~600줄)으로 이동하여, local.rules를 제외한 모든 공식 룰(include $RULE_PATH/...)을 #으로 주석 처리합니다.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71525" y="5340548"/>
            <a:ext cx="11181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저장하고 종료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5864423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Ctrl + X (종료) → Y (저장) → Enter (파일 이름 확인)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5407223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450651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3단계: snort.conf 핵심 수정 (2/2)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C9AC-2EF9-8D05-A735-45F13D24B7E8}"/>
              </a:ext>
            </a:extLst>
          </p:cNvPr>
          <p:cNvSpPr txBox="1"/>
          <p:nvPr/>
        </p:nvSpPr>
        <p:spPr>
          <a:xfrm>
            <a:off x="4687433" y="2988617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:546,649s/^/#/</a:t>
            </a:r>
          </a:p>
          <a:p>
            <a:endParaRPr lang="en-US" altLang="ko-KR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ko-KR" altLang="en-US" sz="2400" dirty="0">
                <a:solidFill>
                  <a:schemeClr val="bg1"/>
                </a:solidFill>
              </a:rPr>
              <a:t>한 번에 주석 처리하는 </a:t>
            </a:r>
            <a:r>
              <a:rPr lang="en-US" altLang="ko-KR" sz="2400" dirty="0">
                <a:solidFill>
                  <a:schemeClr val="bg1"/>
                </a:solidFill>
              </a:rPr>
              <a:t>vim </a:t>
            </a:r>
            <a:r>
              <a:rPr lang="ko-KR" altLang="en-US" sz="2400" dirty="0">
                <a:solidFill>
                  <a:schemeClr val="bg1"/>
                </a:solidFill>
              </a:rPr>
              <a:t>명령어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4140EC-CACC-FAFA-6EC4-484AA2EAD574}"/>
              </a:ext>
            </a:extLst>
          </p:cNvPr>
          <p:cNvSpPr txBox="1"/>
          <p:nvPr/>
        </p:nvSpPr>
        <p:spPr>
          <a:xfrm>
            <a:off x="1122946" y="1228397"/>
            <a:ext cx="92562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# </a:t>
            </a:r>
            <a:r>
              <a:rPr lang="ko-KR" altLang="en-US" sz="2800" dirty="0" err="1"/>
              <a:t>Path</a:t>
            </a:r>
            <a:r>
              <a:rPr lang="ko-KR" altLang="en-US" sz="2800" dirty="0"/>
              <a:t> </a:t>
            </a:r>
            <a:r>
              <a:rPr lang="ko-KR" altLang="en-US" sz="2800" dirty="0" err="1"/>
              <a:t>to</a:t>
            </a:r>
            <a:r>
              <a:rPr lang="ko-KR" altLang="en-US" sz="2800" dirty="0"/>
              <a:t> </a:t>
            </a:r>
            <a:r>
              <a:rPr lang="ko-KR" altLang="en-US" sz="2800" dirty="0" err="1"/>
              <a:t>your</a:t>
            </a:r>
            <a:r>
              <a:rPr lang="ko-KR" altLang="en-US" sz="2800" dirty="0"/>
              <a:t> </a:t>
            </a:r>
            <a:r>
              <a:rPr lang="ko-KR" altLang="en-US" sz="2800" dirty="0" err="1"/>
              <a:t>rules</a:t>
            </a:r>
            <a:r>
              <a:rPr lang="ko-KR" altLang="en-US" sz="2800" dirty="0"/>
              <a:t> </a:t>
            </a:r>
            <a:r>
              <a:rPr lang="ko-KR" altLang="en-US" sz="2800" dirty="0" err="1"/>
              <a:t>files</a:t>
            </a:r>
            <a:endParaRPr lang="ko-KR" altLang="en-US" sz="2800" dirty="0"/>
          </a:p>
          <a:p>
            <a:r>
              <a:rPr lang="ko-KR" altLang="en-US" sz="2800" dirty="0"/>
              <a:t># 경로를 /</a:t>
            </a:r>
            <a:r>
              <a:rPr lang="ko-KR" altLang="en-US" sz="2800" dirty="0" err="1"/>
              <a:t>etc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snort</a:t>
            </a:r>
            <a:r>
              <a:rPr lang="ko-KR" altLang="en-US" sz="2800" dirty="0"/>
              <a:t>/</a:t>
            </a:r>
            <a:r>
              <a:rPr lang="ko-KR" altLang="en-US" sz="2800" dirty="0" err="1"/>
              <a:t>rules</a:t>
            </a:r>
            <a:r>
              <a:rPr lang="ko-KR" altLang="en-US" sz="2800" dirty="0"/>
              <a:t> 폴더로 명확하게 지정합니다.</a:t>
            </a:r>
          </a:p>
          <a:p>
            <a:r>
              <a:rPr lang="ko-KR" altLang="en-US" sz="2800" dirty="0" err="1"/>
              <a:t>var</a:t>
            </a:r>
            <a:r>
              <a:rPr lang="ko-KR" altLang="en-US" sz="2800" dirty="0"/>
              <a:t> RULE_PATH /</a:t>
            </a:r>
            <a:r>
              <a:rPr lang="ko-KR" altLang="en-US" sz="2800" dirty="0" err="1"/>
              <a:t>etc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snort</a:t>
            </a:r>
            <a:r>
              <a:rPr lang="ko-KR" altLang="en-US" sz="2800" dirty="0"/>
              <a:t>/</a:t>
            </a:r>
            <a:r>
              <a:rPr lang="ko-KR" altLang="en-US" sz="2800" dirty="0" err="1"/>
              <a:t>rules</a:t>
            </a:r>
            <a:endParaRPr lang="ko-KR" altLang="en-US" sz="2800" dirty="0"/>
          </a:p>
          <a:p>
            <a:r>
              <a:rPr lang="ko-KR" altLang="en-US" sz="2800" dirty="0" err="1"/>
              <a:t>var</a:t>
            </a:r>
            <a:r>
              <a:rPr lang="ko-KR" altLang="en-US" sz="2800" dirty="0"/>
              <a:t> SO_RULE_PATH /</a:t>
            </a:r>
            <a:r>
              <a:rPr lang="ko-KR" altLang="en-US" sz="2800" dirty="0" err="1"/>
              <a:t>etc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snort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so_rules</a:t>
            </a:r>
            <a:endParaRPr lang="ko-KR" altLang="en-US" sz="2800" dirty="0"/>
          </a:p>
          <a:p>
            <a:r>
              <a:rPr lang="ko-KR" altLang="en-US" sz="2800" dirty="0" err="1"/>
              <a:t>var</a:t>
            </a:r>
            <a:r>
              <a:rPr lang="ko-KR" altLang="en-US" sz="2800" dirty="0"/>
              <a:t> PREPROC_RULE_PATH /</a:t>
            </a:r>
            <a:r>
              <a:rPr lang="ko-KR" altLang="en-US" sz="2800" dirty="0" err="1"/>
              <a:t>etc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snort</a:t>
            </a:r>
            <a:r>
              <a:rPr lang="ko-KR" altLang="en-US" sz="2800" dirty="0"/>
              <a:t>/</a:t>
            </a:r>
            <a:r>
              <a:rPr lang="ko-KR" altLang="en-US" sz="2800" dirty="0" err="1"/>
              <a:t>preproc_rules</a:t>
            </a:r>
            <a:endParaRPr lang="ko-KR" altLang="en-US" sz="2800" dirty="0"/>
          </a:p>
          <a:p>
            <a:endParaRPr lang="ko-KR" altLang="en-US" sz="2800" dirty="0"/>
          </a:p>
          <a:p>
            <a:r>
              <a:rPr lang="ko-KR" altLang="en-US" sz="2800" dirty="0"/>
              <a:t># </a:t>
            </a:r>
            <a:r>
              <a:rPr lang="ko-KR" altLang="en-US" sz="2800" dirty="0" err="1"/>
              <a:t>Reputation</a:t>
            </a:r>
            <a:r>
              <a:rPr lang="ko-KR" altLang="en-US" sz="2800" dirty="0"/>
              <a:t> </a:t>
            </a:r>
            <a:r>
              <a:rPr lang="ko-KR" altLang="en-US" sz="2800" dirty="0" err="1"/>
              <a:t>preprocessor</a:t>
            </a:r>
            <a:r>
              <a:rPr lang="ko-KR" altLang="en-US" sz="2800" dirty="0"/>
              <a:t> </a:t>
            </a:r>
            <a:r>
              <a:rPr lang="ko-KR" altLang="en-US" sz="2800" dirty="0" err="1"/>
              <a:t>settings</a:t>
            </a:r>
            <a:endParaRPr lang="ko-KR" altLang="en-US" sz="2800" dirty="0"/>
          </a:p>
          <a:p>
            <a:r>
              <a:rPr lang="ko-KR" altLang="en-US" sz="2800" dirty="0"/>
              <a:t># 화이트/블랙리스트 경로도 절대 경로로 변경합니다.</a:t>
            </a:r>
          </a:p>
          <a:p>
            <a:r>
              <a:rPr lang="ko-KR" altLang="en-US" sz="2800" dirty="0" err="1"/>
              <a:t>var</a:t>
            </a:r>
            <a:r>
              <a:rPr lang="ko-KR" altLang="en-US" sz="2800" dirty="0"/>
              <a:t> WHITE_LIST_PATH /</a:t>
            </a:r>
            <a:r>
              <a:rPr lang="ko-KR" altLang="en-US" sz="2800" dirty="0" err="1"/>
              <a:t>etc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snort</a:t>
            </a:r>
            <a:r>
              <a:rPr lang="ko-KR" altLang="en-US" sz="2800" dirty="0"/>
              <a:t>/</a:t>
            </a:r>
            <a:r>
              <a:rPr lang="ko-KR" altLang="en-US" sz="2800" dirty="0" err="1"/>
              <a:t>rules</a:t>
            </a:r>
            <a:endParaRPr lang="ko-KR" altLang="en-US" sz="2800" dirty="0"/>
          </a:p>
          <a:p>
            <a:r>
              <a:rPr lang="ko-KR" altLang="en-US" sz="2800" dirty="0" err="1"/>
              <a:t>var</a:t>
            </a:r>
            <a:r>
              <a:rPr lang="ko-KR" altLang="en-US" sz="2800" dirty="0"/>
              <a:t> BLACK_LIST_PATH /</a:t>
            </a:r>
            <a:r>
              <a:rPr lang="ko-KR" altLang="en-US" sz="2800" dirty="0" err="1"/>
              <a:t>etc</a:t>
            </a:r>
            <a:r>
              <a:rPr lang="ko-KR" altLang="en-US" sz="2800" dirty="0"/>
              <a:t>/</a:t>
            </a:r>
            <a:r>
              <a:rPr lang="ko-KR" altLang="en-US" sz="2800" dirty="0" err="1"/>
              <a:t>snort</a:t>
            </a:r>
            <a:r>
              <a:rPr lang="ko-KR" altLang="en-US" sz="2800" dirty="0"/>
              <a:t>/</a:t>
            </a:r>
            <a:r>
              <a:rPr lang="ko-KR" altLang="en-US" sz="2800" dirty="0" err="1"/>
              <a:t>rules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0783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7932"/>
            <a:ext cx="11049000" cy="5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34742"/>
            <a:ext cx="110490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149453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3단계에서 활성화했던 local.rules 파일을 엽니다.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816572"/>
            <a:ext cx="110490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파일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맨 </a:t>
            </a:r>
            <a:r>
              <a:rPr lang="ko-KR" altLang="en-US" sz="1500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위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쪽에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"ICMP(Ping)가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오면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경고해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!"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라는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한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줄을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추가합니다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852487" y="4401442"/>
            <a:ext cx="1118139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룰 </a:t>
            </a:r>
            <a:r>
              <a:rPr lang="ko-KR" altLang="en-US" sz="165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설명</a:t>
            </a:r>
            <a:endParaRPr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771525" y="4858642"/>
            <a:ext cx="106489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alert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icmp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any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any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-&gt; $HOME_NET any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"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누구든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(any) ICMP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패킷을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내 집($HOME_NET)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보내면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(-&gt;)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경고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(alert)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해라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!"</a:t>
            </a:r>
            <a:endParaRPr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771525" y="5620642"/>
            <a:ext cx="106489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(msg:"..."; sid:1000001; rev:1;)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"메시지는 'ICMP Ping Detected'로 하고, 이 룰의 고유 ID(sid)는 1000001이다."</a:t>
            </a:r>
            <a:endParaRPr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401442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370582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4단계: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사용자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정의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규칙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작성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local.rules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4EB90-5AF0-137F-F336-10179BA96552}"/>
              </a:ext>
            </a:extLst>
          </p:cNvPr>
          <p:cNvSpPr txBox="1"/>
          <p:nvPr/>
        </p:nvSpPr>
        <p:spPr>
          <a:xfrm>
            <a:off x="571500" y="3312604"/>
            <a:ext cx="10250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</a:rPr>
              <a:t>alert </a:t>
            </a:r>
            <a:r>
              <a:rPr lang="en-US" altLang="ko-KR" sz="1800" dirty="0" err="1">
                <a:solidFill>
                  <a:schemeClr val="bg1"/>
                </a:solidFill>
              </a:rPr>
              <a:t>icmp</a:t>
            </a:r>
            <a:r>
              <a:rPr lang="en-US" altLang="ko-KR" sz="1800" dirty="0">
                <a:solidFill>
                  <a:schemeClr val="bg1"/>
                </a:solidFill>
              </a:rPr>
              <a:t> any </a:t>
            </a:r>
            <a:r>
              <a:rPr lang="en-US" altLang="ko-KR" sz="1800" dirty="0" err="1">
                <a:solidFill>
                  <a:schemeClr val="bg1"/>
                </a:solidFill>
              </a:rPr>
              <a:t>any</a:t>
            </a:r>
            <a:r>
              <a:rPr lang="en-US" altLang="ko-KR" sz="1800" dirty="0">
                <a:solidFill>
                  <a:schemeClr val="bg1"/>
                </a:solidFill>
              </a:rPr>
              <a:t> -&gt; $HOME_NET any (</a:t>
            </a:r>
            <a:r>
              <a:rPr lang="en-US" altLang="ko-KR" sz="1800" dirty="0" err="1">
                <a:solidFill>
                  <a:schemeClr val="bg1"/>
                </a:solidFill>
              </a:rPr>
              <a:t>msg:"ICMP</a:t>
            </a:r>
            <a:r>
              <a:rPr lang="en-US" altLang="ko-KR" sz="1800" dirty="0">
                <a:solidFill>
                  <a:schemeClr val="bg1"/>
                </a:solidFill>
              </a:rPr>
              <a:t> Ping Detected"; itype:8; sid:1000001; rev:1;)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61CBC-C466-13AB-9CFE-CADD7D6528B1}"/>
              </a:ext>
            </a:extLst>
          </p:cNvPr>
          <p:cNvSpPr txBox="1"/>
          <p:nvPr/>
        </p:nvSpPr>
        <p:spPr>
          <a:xfrm>
            <a:off x="1989500" y="4442831"/>
            <a:ext cx="6097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# itype:8 </a:t>
            </a:r>
            <a:r>
              <a:rPr lang="ko-KR" altLang="en-US" sz="1400" dirty="0">
                <a:solidFill>
                  <a:schemeClr val="bg1"/>
                </a:solidFill>
              </a:rPr>
              <a:t>은 </a:t>
            </a:r>
            <a:r>
              <a:rPr lang="en-US" altLang="ko-KR" sz="1400" dirty="0">
                <a:solidFill>
                  <a:schemeClr val="bg1"/>
                </a:solidFill>
              </a:rPr>
              <a:t>'Ping </a:t>
            </a:r>
            <a:r>
              <a:rPr lang="ko-KR" altLang="en-US" sz="1400" dirty="0">
                <a:solidFill>
                  <a:schemeClr val="bg1"/>
                </a:solidFill>
              </a:rPr>
              <a:t>요청</a:t>
            </a:r>
            <a:r>
              <a:rPr lang="en-US" altLang="ko-KR" sz="1400" dirty="0">
                <a:solidFill>
                  <a:schemeClr val="bg1"/>
                </a:solidFill>
              </a:rPr>
              <a:t>'</a:t>
            </a:r>
            <a:r>
              <a:rPr lang="ko-KR" altLang="en-US" sz="1400" dirty="0">
                <a:solidFill>
                  <a:schemeClr val="bg1"/>
                </a:solidFill>
              </a:rPr>
              <a:t>만 잡으라는 뜻입니다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4219"/>
            <a:ext cx="110490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37819"/>
            <a:ext cx="1104900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1434554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수정한 snort.conf 파일에 오타가 없는지 Snort 자체 검사 기능으로 확인합니다.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71525" y="3004244"/>
            <a:ext cx="11181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성공 메시지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71525" y="3528119"/>
            <a:ext cx="106489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Snort successfully validated configuration!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 Snort exiting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71525" y="5137844"/>
            <a:ext cx="11181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에러 발생 시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71525" y="5661719"/>
            <a:ext cx="1064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100% 3단계의 snort.conf 파일 수정 시 오타가 난 것입니다.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3단계로 돌아가 IP 주소, # 문자 등을 다시 확인하세요.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07091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204519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310604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5단계: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설정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파일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유효성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검사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45BBD-6E69-BF4E-2F3D-432C65E92AD3}"/>
              </a:ext>
            </a:extLst>
          </p:cNvPr>
          <p:cNvSpPr txBox="1"/>
          <p:nvPr/>
        </p:nvSpPr>
        <p:spPr>
          <a:xfrm>
            <a:off x="571500" y="20776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 err="1">
                <a:solidFill>
                  <a:schemeClr val="bg1"/>
                </a:solidFill>
              </a:rPr>
              <a:t>snort</a:t>
            </a:r>
            <a:r>
              <a:rPr lang="ko-KR" altLang="en-US" sz="1800" dirty="0">
                <a:solidFill>
                  <a:schemeClr val="bg1"/>
                </a:solidFill>
              </a:rPr>
              <a:t> -c /</a:t>
            </a:r>
            <a:r>
              <a:rPr lang="ko-KR" altLang="en-US" sz="1800" dirty="0" err="1">
                <a:solidFill>
                  <a:schemeClr val="bg1"/>
                </a:solidFill>
              </a:rPr>
              <a:t>etc</a:t>
            </a:r>
            <a:r>
              <a:rPr lang="ko-KR" altLang="en-US" sz="1800" dirty="0">
                <a:solidFill>
                  <a:schemeClr val="bg1"/>
                </a:solidFill>
              </a:rPr>
              <a:t>/</a:t>
            </a:r>
            <a:r>
              <a:rPr lang="ko-KR" altLang="en-US" sz="1800" dirty="0" err="1">
                <a:solidFill>
                  <a:schemeClr val="bg1"/>
                </a:solidFill>
              </a:rPr>
              <a:t>snort</a:t>
            </a:r>
            <a:r>
              <a:rPr lang="ko-KR" altLang="en-US" sz="1800" dirty="0">
                <a:solidFill>
                  <a:schemeClr val="bg1"/>
                </a:solidFill>
              </a:rPr>
              <a:t>/</a:t>
            </a:r>
            <a:r>
              <a:rPr lang="ko-KR" altLang="en-US" sz="1800" dirty="0" err="1">
                <a:solidFill>
                  <a:schemeClr val="bg1"/>
                </a:solidFill>
              </a:rPr>
              <a:t>snort.conf</a:t>
            </a:r>
            <a:r>
              <a:rPr lang="ko-KR" altLang="en-US" sz="1800" dirty="0">
                <a:solidFill>
                  <a:schemeClr val="bg1"/>
                </a:solidFill>
              </a:rPr>
              <a:t> -</a:t>
            </a:r>
            <a:r>
              <a:rPr lang="ko-KR" altLang="en-US" sz="1800" dirty="0" err="1">
                <a:solidFill>
                  <a:schemeClr val="bg1"/>
                </a:solidFill>
              </a:rPr>
              <a:t>i</a:t>
            </a:r>
            <a:r>
              <a:rPr lang="ko-KR" altLang="en-US" sz="1800" dirty="0">
                <a:solidFill>
                  <a:schemeClr val="bg1"/>
                </a:solidFill>
              </a:rPr>
              <a:t> ens33 -</a:t>
            </a:r>
            <a:r>
              <a:rPr lang="ko-KR" altLang="en-US" sz="1800" dirty="0" err="1">
                <a:solidFill>
                  <a:schemeClr val="bg1"/>
                </a:solidFill>
              </a:rPr>
              <a:t>A</a:t>
            </a:r>
            <a:r>
              <a:rPr lang="ko-KR" altLang="en-US" sz="1800" dirty="0">
                <a:solidFill>
                  <a:schemeClr val="bg1"/>
                </a:solidFill>
              </a:rPr>
              <a:t> </a:t>
            </a:r>
            <a:r>
              <a:rPr lang="ko-KR" altLang="en-US" sz="1800" dirty="0" err="1">
                <a:solidFill>
                  <a:schemeClr val="bg1"/>
                </a:solidFill>
              </a:rPr>
              <a:t>console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1803"/>
            <a:ext cx="5334000" cy="87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28925"/>
            <a:ext cx="5334000" cy="87243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1409700"/>
            <a:ext cx="56007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[터미널 1] tcpdump 실행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1990725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먼저 'X-Ray'를 켭니다.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icmp 프로토콜만 필터링해서 봅니다.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4817149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실행하면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커서가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깜빡이며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대기합니다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6286500" y="1409700"/>
            <a:ext cx="56007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[터미널 2] snort 실행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286500" y="1990725"/>
            <a:ext cx="5334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'경보 시스템'을 켭니다.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경고를 콘솔에 바로 띄웁니다.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286500" y="3844230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(마찬가지로 커서가 깜빡이며 대기합니다)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85900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48590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47625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3단계: 감시 시작 (방어자 PC)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34158-C70F-1340-3AFA-A704F031797A}"/>
              </a:ext>
            </a:extLst>
          </p:cNvPr>
          <p:cNvSpPr txBox="1"/>
          <p:nvPr/>
        </p:nvSpPr>
        <p:spPr>
          <a:xfrm>
            <a:off x="571500" y="2939355"/>
            <a:ext cx="62082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ip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link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set</a:t>
            </a:r>
            <a:r>
              <a:rPr lang="ko-KR" altLang="en-US" dirty="0">
                <a:solidFill>
                  <a:schemeClr val="bg1"/>
                </a:solidFill>
              </a:rPr>
              <a:t> ens33 </a:t>
            </a:r>
            <a:r>
              <a:rPr lang="ko-KR" altLang="en-US" dirty="0" err="1">
                <a:solidFill>
                  <a:schemeClr val="bg1"/>
                </a:solidFill>
              </a:rPr>
              <a:t>promisc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on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네트워크 카드에 무차별 모드 켜주세요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647950"/>
            <a:ext cx="8839200" cy="87243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16002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이제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공격자 PC (터미널 3)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에서 방어자 PC(192.168.111.130)를 향해 ping을 보냅니다.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213360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대량의 공격이 아닌, 1초에 1개씩 보내는 일반적인 진단 명령어입니다.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380613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이제 즉시 방어자 PC의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터미널 1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터미널 2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확인하세요!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47625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4단계: 패킷 전송 (공격자 PC)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B388F4E-8E34-ED09-1228-CABE59282C0C}"/>
              </a:ext>
            </a:extLst>
          </p:cNvPr>
          <p:cNvGrpSpPr/>
          <p:nvPr/>
        </p:nvGrpSpPr>
        <p:grpSpPr>
          <a:xfrm>
            <a:off x="126449" y="1440427"/>
            <a:ext cx="5789442" cy="3323846"/>
            <a:chOff x="126450" y="1440427"/>
            <a:chExt cx="6489791" cy="3227975"/>
          </a:xfrm>
        </p:grpSpPr>
        <p:pic>
          <p:nvPicPr>
            <p:cNvPr id="180" name="Google Shape;180;p1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6450" y="1440427"/>
              <a:ext cx="6489791" cy="322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3265" y="2596444"/>
              <a:ext cx="6036164" cy="10915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9"/>
            <p:cNvSpPr txBox="1"/>
            <p:nvPr/>
          </p:nvSpPr>
          <p:spPr>
            <a:xfrm>
              <a:off x="353270" y="1667250"/>
              <a:ext cx="29640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21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7" b="1" i="0" u="none" strike="noStrike" cap="none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rPr>
                <a:t>[터미널 1] tcpdump의 화면</a:t>
              </a:r>
              <a:endParaRPr sz="1075"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353265" y="2040385"/>
              <a:ext cx="6036300" cy="147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70225" tIns="35100" rIns="70225" bIns="35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353265" y="2201350"/>
              <a:ext cx="6036300" cy="1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 b="1" i="0" u="none" strike="noStrike" cap="none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모든</a:t>
              </a:r>
              <a:r>
                <a:rPr lang="en-US" sz="1152" b="0" i="0" u="none" strike="noStrike" cap="none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ICMP 패킷을 보여줍니다.</a:t>
              </a:r>
              <a:endParaRPr sz="1075"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126450" y="3790985"/>
              <a:ext cx="60363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82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 b="1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1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관찰</a:t>
              </a:r>
              <a:r>
                <a:rPr lang="en-US" sz="1152" b="1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`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ping`이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보낸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'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요청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(request)'과 내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PC가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답장한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'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응답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(reply)'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패킷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1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모두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를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그냥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사실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그대로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보여줍니다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sz="1075" dirty="0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A3EAD04-F5CB-F6F4-7884-C3DA27F5F93A}"/>
              </a:ext>
            </a:extLst>
          </p:cNvPr>
          <p:cNvGrpSpPr/>
          <p:nvPr/>
        </p:nvGrpSpPr>
        <p:grpSpPr>
          <a:xfrm>
            <a:off x="5848060" y="1440425"/>
            <a:ext cx="6194790" cy="3323848"/>
            <a:chOff x="6852112" y="1440425"/>
            <a:chExt cx="5190738" cy="3227975"/>
          </a:xfrm>
        </p:grpSpPr>
        <p:pic>
          <p:nvPicPr>
            <p:cNvPr id="181" name="Google Shape;181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908949" y="1440425"/>
              <a:ext cx="5133901" cy="322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135750" y="2596450"/>
              <a:ext cx="4722276" cy="880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9"/>
            <p:cNvSpPr txBox="1"/>
            <p:nvPr/>
          </p:nvSpPr>
          <p:spPr>
            <a:xfrm>
              <a:off x="7135743" y="1667250"/>
              <a:ext cx="30687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21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7" b="1" i="0" u="none" strike="noStrike" cap="none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rPr>
                <a:t>[터미널 2] snort의 화면</a:t>
              </a:r>
              <a:endParaRPr sz="1075"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7135754" y="2040363"/>
              <a:ext cx="4547100" cy="147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70225" tIns="35100" rIns="70225" bIns="35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7135762" y="2201350"/>
              <a:ext cx="1917000" cy="1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 b="1" i="0" u="none" strike="noStrike" cap="none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규칙에 맞는</a:t>
              </a:r>
              <a:r>
                <a:rPr lang="en-US" sz="1152" b="0" i="0" u="none" strike="noStrike" cap="none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패킷만 보여줍니다.</a:t>
              </a:r>
              <a:endParaRPr sz="1075"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6852112" y="3755029"/>
              <a:ext cx="44013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82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 b="1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1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관찰</a:t>
              </a:r>
              <a:r>
                <a:rPr lang="en-US" sz="1152" b="1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`ping` '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요청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'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패킷이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우리가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만든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규칙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(sid:1000001)과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일치했기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때문에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1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'</a:t>
              </a:r>
              <a:r>
                <a:rPr lang="en-US" sz="1152" b="1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경고</a:t>
              </a:r>
              <a:r>
                <a:rPr lang="en-US" sz="1152" b="1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(Alert)'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를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띄웁니다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 '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응답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'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패킷은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규칙에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없으니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152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무시합니다</a:t>
              </a:r>
              <a:r>
                <a:rPr lang="en-US" sz="1152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sz="1075" dirty="0"/>
            </a:p>
          </p:txBody>
        </p:sp>
      </p:grpSp>
      <p:sp>
        <p:nvSpPr>
          <p:cNvPr id="192" name="Google Shape;192;p19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5단계: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결과</a:t>
            </a:r>
            <a:r>
              <a:rPr lang="en-US" sz="3300" b="1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비교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767</Words>
  <Application>Microsoft Office PowerPoint</Application>
  <PresentationFormat>와이드스크린</PresentationFormat>
  <Paragraphs>66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Noto Sans KR</vt:lpstr>
      <vt:lpstr>Roboto Mono</vt:lpstr>
      <vt:lpstr>Poppins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13</cp:revision>
  <dcterms:modified xsi:type="dcterms:W3CDTF">2025-11-19T08:49:42Z</dcterms:modified>
</cp:coreProperties>
</file>