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31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5" r:id="rId13"/>
    <p:sldId id="269" r:id="rId14"/>
    <p:sldId id="270" r:id="rId15"/>
    <p:sldId id="272" r:id="rId16"/>
    <p:sldId id="273" r:id="rId17"/>
    <p:sldId id="274" r:id="rId18"/>
    <p:sldId id="275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5" r:id="rId27"/>
    <p:sldId id="286" r:id="rId28"/>
    <p:sldId id="287" r:id="rId29"/>
    <p:sldId id="284" r:id="rId3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0" autoAdjust="0"/>
    <p:restoredTop sz="94703" autoAdjust="0"/>
  </p:normalViewPr>
  <p:slideViewPr>
    <p:cSldViewPr snapToGrid="0">
      <p:cViewPr varScale="1">
        <p:scale>
          <a:sx n="50" d="100"/>
          <a:sy n="50" d="100"/>
        </p:scale>
        <p:origin x="38" y="187"/>
      </p:cViewPr>
      <p:guideLst/>
    </p:cSldViewPr>
  </p:slideViewPr>
  <p:outlineViewPr>
    <p:cViewPr>
      <p:scale>
        <a:sx n="33" d="100"/>
        <a:sy n="33" d="100"/>
      </p:scale>
      <p:origin x="0" y="-1006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389"/>
    </p:cViewPr>
  </p:sorterViewPr>
  <p:notesViewPr>
    <p:cSldViewPr snapToGrid="0">
      <p:cViewPr varScale="1">
        <p:scale>
          <a:sx n="63" d="100"/>
          <a:sy n="63" d="100"/>
        </p:scale>
        <p:origin x="320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F318F4BA-4AD3-5203-E74F-D24328DA011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49BE397-7B07-35F4-B27B-3498ACC983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E570D2-3713-4986-8E02-FFC7645B6FC5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AC6884C-D92C-7024-E924-6759511AB18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96E4F8C-4555-9A00-0121-2DFD3DF3120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966449-769E-4087-90CF-F686D315FE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35504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3:10:04.8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3:10:05.4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5:18:26.6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8273 5190 24575,'-11'-17'0,"2"-12"0,2-1 0,1-1 0,-4-50 0,8 64 0,-10-291 0,3 28 0,-5 75 0,-21-184 0,-81-278 0,42 256 0,-80-206 0,147 593 0,-231-685 0,198 600 0,-40-173 0,43 139 0,-17-27 0,-9-36 0,56 173 0,0-1 0,2-1 0,2 1 0,1-42 0,4 41 0,-1 21 0,0 0 0,0 0 0,-2-1 0,-2-15 0,2 27 0,0 0 0,0 0 0,0 0 0,0 0 0,-1 1 0,1-1 0,-1 0 0,0 1 0,0-1 0,0 1 0,0 0 0,0 0 0,0 0 0,-1 0 0,-3-3 0,-46-22 0,20 12 0,27 12 0,-4-3 0,0 1 0,0 0 0,-1 0 0,0 1 0,0 0 0,0 1 0,0 0 0,0 0 0,0 1 0,-21-1 0,-361 3 0,158 2 0,146 1 0,-149 26 0,-27 24 0,217-46 0,-69 13 0,-180 6 0,-656-27 0,386 0 0,155 29 0,-2-1 0,89-14 0,-6 0 0,-98 3 0,69-8 0,66-4 0,181 9 0,71-7 0,-74 1 0,112-7 0,1 1 0,-1-1 0,0 0 0,0 1 0,0 0 0,1-1 0,-1 1 0,0 0 0,1 0 0,-1 1 0,1-1 0,-1 1 0,1-1 0,-1 1 0,1 0 0,0 0 0,0 0 0,0 0 0,0 0 0,0 0 0,1 0 0,-1 1 0,1-1 0,-1 1 0,1-1 0,-2 6 0,-2 6 0,0 2 0,1-1 0,-4 29 0,3-15 0,-11 44 0,-44 232 0,47-219 0,-3 138 0,4 39 0,-1 4 0,14 625 0,1-844 0,3 1 0,16 69 0,-11-70 0,-3 0 0,4 73 0,-11-87 0,1 0 0,-1 0 0,-2 0 0,-1-1 0,-1 1 0,-16 57 0,-49 156 0,21-67 0,2 0 0,-14 44 0,43-174 0,-5 20 0,-3-1 0,-67 129 0,15-83 0,49-76 0,2 1 0,-40 83 0,10 13 0,-104 182 0,157-313-105,0 0 0,0 0 0,0 1 0,1-1 0,0 1 0,0 0 0,1 0 0,-1 0 0,1 0 0,1 0 0,-1 0 0,1 7 0,0-6-6721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5:18:31.7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24575,'1'5'0,"0"-1"0,0 0 0,-1 0 0,1 0 0,-1 1 0,0-1 0,-1 0 0,0 5 0,0 16 0,26 123 0,-14-96 0,5 66 0,-2 26 0,-5-72 0,-2 74 0,-8-126 0,0-14 0,1 1 0,-1-1 0,2 0 0,-1 1 0,2 8 0,-2-14 0,1 0 0,-1 1 0,1-1 0,-1 0 0,1 1 0,-1-1 0,1 0 0,0 0 0,0 0 0,0 0 0,0 0 0,-1 0 0,1 0 0,1 0 0,-1 0 0,0 0 0,0 0 0,0 0 0,0-1 0,1 1 0,-1-1 0,0 1 0,0-1 0,1 1 0,-1-1 0,0 0 0,1 1 0,-1-1 0,2 0 0,11-1 0,0 0 0,-1 0 0,1-2 0,-1 1 0,0-2 0,0 0 0,0-1 0,21-10 0,13-4 0,33-10 0,-1-3 0,137-79 0,-194 96-98,-18 11 1,1 0-1,0 1 1,0 0-1,1 0 1,-1 0-1,1 0 1,-1 1-1,1 0 1,0 0-1,0 1 1,0 0-1,10-2 1,-4 4-6729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5:18:14.8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5027 4869 24575,'9'-1'0,"-9"2"0,1-1 0,-1 0 0,0 0 0,1 0 0,-1 0 0,1 0 0,-1 0 0,0 0 0,1 0 0,-1 0 0,1 0 0,-1 0 0,1 0 0,-1 0 0,0 0 0,1 0 0,-1 0 0,1-1 0,-1 1 0,0 0 0,1 0 0,-1 0 0,0-1 0,1 1 0,-1 0 0,0 0 0,1-1 0,-1 1 0,0 0 0,1-1 0,-1 1 0,0-1 0,8-17 0,0 0 0,8-33 0,6-17 0,-4 25 0,-2-1 0,-2-1 0,-2 0 0,-2-1 0,-2 0 0,-2-1 0,0-63 0,-5 30 0,-6-325 0,-7 243 0,-2-32 0,6 83 0,-37-178 0,-2-1 0,-5-173 0,44 218 0,5 46 0,-23 3 0,15 118 0,-5-63 0,11 86 0,-3 0 0,-2 0 0,-3 1 0,-24-67 0,29 97 0,-8-36 0,3 0 0,2 0 0,3-1 0,3 0 0,3-78 0,2-406 0,0 544 0,0-1 0,0 0 0,0 0 0,0 0 0,-1 1 0,1-1 0,-1 0 0,1 1 0,-1-1 0,1 0 0,-1 1 0,0-1 0,0 1 0,0-1 0,0 1 0,0-1 0,0 1 0,-1 0 0,1-1 0,0 1 0,-1 0 0,1 0 0,-1 0 0,1 0 0,-1 0 0,1 0 0,-3 0 0,-5-2 0,1 1 0,-1 0 0,0 0 0,-14 0 0,-20-5 0,24 1 0,-1 1 0,0 1 0,0 1 0,0 1 0,0 1 0,0 1 0,-32 3 0,-5-2 0,-146-2 0,-180 4 0,27 22 0,172-11 0,-23 1 0,-1120-14 0,633-3 0,53 2 0,639 1 0,0-1 0,-1 1 0,1-1 0,0 1 0,0 0 0,0 0 0,0 0 0,-1 0 0,1 0 0,1 0 0,-1 1 0,0-1 0,0 1 0,0-1 0,1 1 0,-1 0 0,1-1 0,-1 1 0,1 0 0,0 0 0,0 0 0,0 0 0,-1 3 0,-4 8 0,0 1 0,-5 22 0,8-25 0,-6 24 0,-6 66 0,3-20 0,5-27 0,3 1 0,3 71 0,1-61 0,-8 70 0,-4-15 0,-19 110 0,14-151 0,-5 20 0,4 1 0,-7 128 0,18-137 0,-26 129 0,16-132 0,-6 134 0,21-172 0,-2-1 0,-3 1 0,-1-2 0,-23 75 0,21-87 0,3 0 0,0 1 0,-1 55 0,8-92 0,-12 89 0,7-53 0,-3 54 0,9-39 0,3-1 0,2 0 0,11 49 0,48 144 0,-29-115 0,-1 25 0,12 41 0,73 179 0,-113-345 0,-1 0 0,-1 0 0,-2 0 0,0 1 0,-2 0 0,-4 36 0,2 0 0,2-59 0,0-1 0,-1 1 0,2-1 0,-1 1 0,1-1 0,0 1 0,0-1 0,0 0 0,1 0 0,-1 0 0,1 0 0,8 8 0,4 5 0,32 29 0,-26-27 0,5 2 0,-22-20 0,0 0 0,-1 1 0,1 0 0,-1 0 0,0 0 0,1 0 0,-2 0 0,1 0 0,0 1 0,-1 0 0,1-1 0,-1 1 0,0 0 0,0 0 0,-1 0 0,1 0 0,-1 0 0,2 7 0,2 16-1365,0-17-5461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5:18:16.0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73 24575,'1'3'0,"-1"1"0,1-1 0,-1 0 0,1 1 0,0-1 0,1 0 0,-1 0 0,0 0 0,1 0 0,0 0 0,-1 0 0,5 5 0,33 32 0,-18-19 0,7 13 0,23 37 0,-35-46 0,1 0 0,1-2 0,1 0 0,31 28 0,-47-49 0,-1 0 0,0-1 0,0 1 0,1 0 0,-1-1 0,1 0 0,-1 1 0,1-1 0,0 0 0,0-1 0,-1 1 0,1 0 0,0-1 0,0 1 0,0-1 0,0 0 0,0 0 0,-1 0 0,1 0 0,0-1 0,0 1 0,0-1 0,0 0 0,-1 1 0,1-1 0,0-1 0,-1 1 0,1 0 0,-1-1 0,1 1 0,-1-1 0,0 0 0,4-2 0,6-8 0,-1 0 0,0 0 0,-1-1 0,16-25 0,-14 19 0,10-16 0,21-47 0,-31 56 0,1 1 0,1 0 0,2 0 0,27-33 0,-38 53-273,-1-1 0,1 1 0,-1-1 0,7-11 0,-7 7-6553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FC43DA-FD40-E6AD-162C-03C6DBA692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2E6F3C6-35BE-009B-63F0-C95D151E9D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EB3E98-C3C5-384A-48B8-9BB4D3108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CCC0F-117D-4B4F-AB2E-4A5070448848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5817FA-0AD6-88A1-B05E-FF3DDBECB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0D6DF1-04EB-655B-AEA3-194957E9E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CAC32-97CA-4517-A4A3-D8E4A08F03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691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2261C7-1F14-2918-8037-D95C2E2EE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D382196-287B-2C39-4F18-C5D14BA85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8E89E1-382E-F8E0-621F-BF2CC4F98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CCC0F-117D-4B4F-AB2E-4A5070448848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9AB89A-8ABB-B86E-DE2B-BA3470E13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6FF705-1F0B-960D-6930-8D9F47AF6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CAC32-97CA-4517-A4A3-D8E4A08F03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8317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F11699-E415-B1BF-9CE6-388888239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CD11043-1DD0-F875-A357-2C2D542ED7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C7ED92-DE49-0CF9-8697-D60A5A7E8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CCC0F-117D-4B4F-AB2E-4A5070448848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7D8250-A7D8-CF3B-27BD-78CFBB4EB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9DEE74-0D4D-570A-DF71-04DD62F05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CAC32-97CA-4517-A4A3-D8E4A08F03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9036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9A99EA-573E-9043-29CC-90AF4C543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762D86-F25D-1EEE-144D-9793243917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C3E4C0A-20D3-DB10-EF42-52DB83AB50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98C2D79-FBA7-688F-877E-E4D475061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CCC0F-117D-4B4F-AB2E-4A5070448848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C5B00BD-12D0-21E8-3AF6-3FA304762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60BD297-F542-3FCF-A74C-86BE0E7DB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CAC32-97CA-4517-A4A3-D8E4A08F03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8759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8F013A-21B7-4774-25D7-416F4347C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A5BB4C-0F02-8372-DC09-85B184E56B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CCB391F-785B-6EC9-C88B-572EEB8506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BF41D43-46C9-9635-BBE6-5652819CBC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1B598EE-F126-D203-AA4A-BC08312C70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A6EAC9C-D128-BC8E-4593-9B3C46585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CCC0F-117D-4B4F-AB2E-4A5070448848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CB430F8-8E9B-F5E8-E5A8-E44AE0A6D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898BA83-81EA-3E21-D32D-E9291358B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CAC32-97CA-4517-A4A3-D8E4A08F03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2246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2596F9-F102-AAEA-6AFA-A62F6DFC7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065B16A-2FF3-33BB-0F8B-6FFB27E9D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CCC0F-117D-4B4F-AB2E-4A5070448848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1E18F9E-3A95-D644-E92A-4783C7714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D937E23-8196-C3C0-C81E-4F6CE4300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CAC32-97CA-4517-A4A3-D8E4A08F03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2694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5924DCD-5024-2C7F-E312-0AC8718B0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CCC0F-117D-4B4F-AB2E-4A5070448848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65E695F-C83C-3ECA-7F53-891A11EDD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A6B7D7-40D0-F5BC-D626-CC0530CC5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CAC32-97CA-4517-A4A3-D8E4A08F03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0993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598FE8-8498-2931-4BF2-E53EA101D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70AB27-96D3-E3AA-A005-6C3ACB134B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982FE4D-E749-356C-0352-E3BE907914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4DD7279-0B91-D252-360D-05A432711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CCC0F-117D-4B4F-AB2E-4A5070448848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F0AE536-34D5-3C61-79B2-74906F3E5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246B774-0AD0-22D1-7E30-639C33EA7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CAC32-97CA-4517-A4A3-D8E4A08F03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6655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6B3C59-F3FD-2C2E-22B3-2AEB78046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FE9B49F-3AE0-D277-B34C-49F2D6C626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FF917F0-DC91-15FD-AAF6-AFD36E1D23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6A5797E-2069-D42D-3F05-1D2E75A96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CCC0F-117D-4B4F-AB2E-4A5070448848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B48D1B9-6458-1A8E-4A6F-F0EFDA7AC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8F0B393-228D-9CA4-94B5-9E2B68BAF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CAC32-97CA-4517-A4A3-D8E4A08F03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7038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471965-82B0-D9C9-399D-ED8480B27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DAD6E8E-D269-B107-94EE-36335097D9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D89BCF-3678-46AA-2CBA-B6C40DE9B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CCC0F-117D-4B4F-AB2E-4A5070448848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FBF29B-84E1-2062-E1BA-2E986203F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63D9B0-E89E-8382-0995-A35893B29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CAC32-97CA-4517-A4A3-D8E4A08F03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1622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36FFC97-ADDF-E629-0D4B-8D8C44C2A2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A13F096-8B52-8A4D-049F-5A9299790D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D79A09-EE38-5B1F-570C-AE39CCEAC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CCC0F-117D-4B4F-AB2E-4A5070448848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09645B-4109-1DD9-C5F9-EBE8B79C5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F48748-90CE-1683-184F-2FC91F095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CAC32-97CA-4517-A4A3-D8E4A08F03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1180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79783C5-52D2-C6B2-903A-59C079883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1E57C2-0704-0DE5-658B-16B5D3C8B0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8FCB34-B9CC-36E5-8700-92A1942AF0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ACCC0F-117D-4B4F-AB2E-4A5070448848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3C48EA-E73E-61FA-ABFF-189CD78913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644858-AD90-C48E-56CF-8B85BD0E60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1CAC32-97CA-4517-A4A3-D8E4A08F03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1486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2.xml"/><Relationship Id="rId4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customXml" Target="../ink/ink3.xml"/><Relationship Id="rId7" Type="http://schemas.openxmlformats.org/officeDocument/2006/relationships/customXml" Target="../ink/ink5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customXml" Target="../ink/ink4.xml"/><Relationship Id="rId10" Type="http://schemas.openxmlformats.org/officeDocument/2006/relationships/image" Target="../media/image10.png"/><Relationship Id="rId4" Type="http://schemas.openxmlformats.org/officeDocument/2006/relationships/image" Target="../media/image7.png"/><Relationship Id="rId9" Type="http://schemas.openxmlformats.org/officeDocument/2006/relationships/customXml" Target="../ink/ink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94E7CD-98C4-70E9-A2F4-A1BD9E5949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ACL</a:t>
            </a:r>
            <a:br>
              <a:rPr lang="en-US" altLang="ko-KR" dirty="0"/>
            </a:br>
            <a:r>
              <a:rPr lang="en-US" altLang="ko-KR" dirty="0"/>
              <a:t>(Access control list)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6FB5C1-BF44-A357-085A-6726076CF6E5}"/>
              </a:ext>
            </a:extLst>
          </p:cNvPr>
          <p:cNvSpPr txBox="1"/>
          <p:nvPr/>
        </p:nvSpPr>
        <p:spPr>
          <a:xfrm>
            <a:off x="1280160" y="4470400"/>
            <a:ext cx="1003808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800" b="1" dirty="0" err="1"/>
              <a:t>킹왕짱</a:t>
            </a:r>
            <a:r>
              <a:rPr lang="ko-KR" altLang="en-US" sz="8800" b="1" dirty="0"/>
              <a:t> 네트워크팀</a:t>
            </a:r>
          </a:p>
        </p:txBody>
      </p:sp>
      <p:sp>
        <p:nvSpPr>
          <p:cNvPr id="5" name="별: 꼭짓점 4개 4">
            <a:extLst>
              <a:ext uri="{FF2B5EF4-FFF2-40B4-BE49-F238E27FC236}">
                <a16:creationId xmlns:a16="http://schemas.microsoft.com/office/drawing/2014/main" id="{E8D61112-0FDF-16BA-9664-AC6F3A964F7F}"/>
              </a:ext>
            </a:extLst>
          </p:cNvPr>
          <p:cNvSpPr/>
          <p:nvPr/>
        </p:nvSpPr>
        <p:spPr>
          <a:xfrm>
            <a:off x="853440" y="1122363"/>
            <a:ext cx="1198880" cy="950277"/>
          </a:xfrm>
          <a:prstGeom prst="star4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148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AD85D1-C089-CF94-AE8A-897A62FD4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  <a:r>
              <a:rPr lang="en-US" altLang="ko-KR" dirty="0"/>
              <a:t>	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9A7966-5A1B-6FF5-18A0-C1D763420B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4400" dirty="0"/>
              <a:t>0. ACL</a:t>
            </a:r>
            <a:r>
              <a:rPr lang="ko-KR" altLang="en-US" sz="4400" dirty="0"/>
              <a:t>이란 </a:t>
            </a:r>
            <a:endParaRPr lang="en-US" altLang="ko-KR" sz="4400" dirty="0"/>
          </a:p>
          <a:p>
            <a:pPr marL="514350" indent="-514350">
              <a:buAutoNum type="arabicPeriod"/>
            </a:pPr>
            <a:r>
              <a:rPr lang="ko-KR" altLang="en-US" sz="4400" dirty="0"/>
              <a:t>표준</a:t>
            </a:r>
            <a:r>
              <a:rPr lang="en-US" altLang="ko-KR" sz="4400" dirty="0"/>
              <a:t>,named</a:t>
            </a:r>
            <a:r>
              <a:rPr lang="ko-KR" altLang="en-US" sz="4400" dirty="0"/>
              <a:t> </a:t>
            </a:r>
            <a:r>
              <a:rPr lang="en-US" altLang="ko-KR" sz="4400" dirty="0"/>
              <a:t>ACL </a:t>
            </a:r>
            <a:r>
              <a:rPr lang="ko-KR" altLang="en-US" sz="4400" dirty="0"/>
              <a:t>이론</a:t>
            </a:r>
            <a:endParaRPr lang="en-US" altLang="ko-KR" sz="4400" dirty="0"/>
          </a:p>
          <a:p>
            <a:pPr marL="514350" indent="-514350">
              <a:buAutoNum type="arabicPeriod"/>
            </a:pPr>
            <a:r>
              <a:rPr lang="ko-KR" altLang="en-US" sz="4400" dirty="0"/>
              <a:t>표준</a:t>
            </a:r>
            <a:r>
              <a:rPr lang="en-US" altLang="ko-KR" sz="4400" dirty="0"/>
              <a:t>,named</a:t>
            </a:r>
            <a:r>
              <a:rPr lang="ko-KR" altLang="en-US" sz="4400" dirty="0"/>
              <a:t> </a:t>
            </a:r>
            <a:r>
              <a:rPr lang="en-US" altLang="ko-KR" sz="4400" dirty="0"/>
              <a:t>ACL </a:t>
            </a:r>
            <a:r>
              <a:rPr lang="ko-KR" altLang="en-US" sz="4400" dirty="0"/>
              <a:t>실습</a:t>
            </a:r>
            <a:endParaRPr lang="en-US" altLang="ko-KR" sz="4400" dirty="0"/>
          </a:p>
          <a:p>
            <a:pPr marL="514350" indent="-514350">
              <a:buAutoNum type="arabicPeriod"/>
            </a:pPr>
            <a:r>
              <a:rPr lang="ko-KR" altLang="en-US" sz="4400" dirty="0"/>
              <a:t>확장</a:t>
            </a:r>
            <a:r>
              <a:rPr lang="en-US" altLang="ko-KR" sz="4400" dirty="0"/>
              <a:t>,named</a:t>
            </a:r>
            <a:r>
              <a:rPr lang="ko-KR" altLang="en-US" sz="4400" dirty="0"/>
              <a:t> </a:t>
            </a:r>
            <a:r>
              <a:rPr lang="en-US" altLang="ko-KR" sz="4400" dirty="0"/>
              <a:t>ACL </a:t>
            </a:r>
            <a:r>
              <a:rPr lang="ko-KR" altLang="en-US" sz="4400" dirty="0"/>
              <a:t>이론</a:t>
            </a:r>
            <a:endParaRPr lang="en-US" altLang="ko-KR" sz="4400" dirty="0"/>
          </a:p>
          <a:p>
            <a:pPr marL="514350" indent="-514350">
              <a:buAutoNum type="arabicPeriod"/>
            </a:pPr>
            <a:r>
              <a:rPr lang="ko-KR" altLang="en-US" sz="4400" dirty="0"/>
              <a:t>확장</a:t>
            </a:r>
            <a:r>
              <a:rPr lang="en-US" altLang="ko-KR" sz="4400" dirty="0"/>
              <a:t>,named</a:t>
            </a:r>
            <a:r>
              <a:rPr lang="ko-KR" altLang="en-US" sz="4400" dirty="0"/>
              <a:t> </a:t>
            </a:r>
            <a:r>
              <a:rPr lang="en-US" altLang="ko-KR" sz="4400" dirty="0"/>
              <a:t>ACL </a:t>
            </a:r>
            <a:r>
              <a:rPr lang="ko-KR" altLang="en-US" sz="4400" dirty="0"/>
              <a:t>실습</a:t>
            </a:r>
            <a:endParaRPr lang="en-US" altLang="ko-KR" sz="4400" dirty="0"/>
          </a:p>
          <a:p>
            <a:pPr marL="0" indent="0">
              <a:buNone/>
            </a:pPr>
            <a:endParaRPr lang="ko-KR" altLang="en-US" sz="4400" dirty="0"/>
          </a:p>
        </p:txBody>
      </p:sp>
    </p:spTree>
    <p:extLst>
      <p:ext uri="{BB962C8B-B14F-4D97-AF65-F5344CB8AC3E}">
        <p14:creationId xmlns:p14="http://schemas.microsoft.com/office/powerpoint/2010/main" val="2661585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2222D0-A85B-3D01-6D5F-7371176F3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0. ACL</a:t>
            </a:r>
            <a:r>
              <a:rPr lang="ko-KR" altLang="en-US" dirty="0"/>
              <a:t>이란</a:t>
            </a:r>
            <a:r>
              <a:rPr lang="en-US" altLang="ko-KR" dirty="0"/>
              <a:t>??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730003-B9F8-E563-866F-1434B2B05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/>
              <a:t>ACL(Access control list)</a:t>
            </a:r>
          </a:p>
          <a:p>
            <a:pPr marL="0" indent="0">
              <a:buNone/>
            </a:pPr>
            <a:r>
              <a:rPr lang="ko-KR" altLang="en-US" sz="3600" dirty="0"/>
              <a:t>네트워크 접근 제어 목록</a:t>
            </a:r>
            <a:endParaRPr lang="en-US" altLang="ko-KR" sz="3600" dirty="0"/>
          </a:p>
          <a:p>
            <a:pPr marL="0" indent="0">
              <a:buNone/>
            </a:pPr>
            <a:endParaRPr lang="en-US" altLang="ko-KR" sz="3600" dirty="0"/>
          </a:p>
          <a:p>
            <a:r>
              <a:rPr lang="ko-KR" altLang="en-US" sz="3600" dirty="0"/>
              <a:t>사용 목적</a:t>
            </a:r>
            <a:endParaRPr lang="en-US" altLang="ko-KR" sz="3600" dirty="0"/>
          </a:p>
          <a:p>
            <a:pPr marL="0" indent="0">
              <a:buNone/>
            </a:pPr>
            <a:r>
              <a:rPr lang="ko-KR" altLang="en-US" sz="3600" dirty="0"/>
              <a:t>라우터에서 보안제공</a:t>
            </a:r>
            <a:r>
              <a:rPr lang="en-US" altLang="ko-KR" sz="3600" dirty="0"/>
              <a:t>, </a:t>
            </a:r>
            <a:r>
              <a:rPr lang="ko-KR" altLang="en-US" sz="3600" dirty="0"/>
              <a:t>네트워크의 트래픽 제어</a:t>
            </a:r>
            <a:endParaRPr lang="en-US" altLang="ko-KR" sz="3600" dirty="0"/>
          </a:p>
          <a:p>
            <a:pPr marL="0" indent="0">
              <a:buNone/>
            </a:pPr>
            <a:endParaRPr lang="en-US" altLang="ko-KR" sz="3600" dirty="0"/>
          </a:p>
        </p:txBody>
      </p:sp>
    </p:spTree>
    <p:extLst>
      <p:ext uri="{BB962C8B-B14F-4D97-AF65-F5344CB8AC3E}">
        <p14:creationId xmlns:p14="http://schemas.microsoft.com/office/powerpoint/2010/main" val="662406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15348B-E314-4CDE-9CD2-3790CDE31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</a:t>
            </a:r>
            <a:r>
              <a:rPr lang="ko-KR" altLang="en-US" dirty="0"/>
              <a:t>표준 </a:t>
            </a:r>
            <a:r>
              <a:rPr lang="en-US" altLang="ko-KR" dirty="0"/>
              <a:t>ACL(standard ACL)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4AEE52-D012-49F4-0135-444B169914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3600" dirty="0"/>
              <a:t>출발지 </a:t>
            </a:r>
            <a:r>
              <a:rPr lang="en-US" altLang="ko-KR" sz="3600" dirty="0"/>
              <a:t>IP</a:t>
            </a:r>
            <a:r>
              <a:rPr lang="ko-KR" altLang="en-US" sz="3600" dirty="0"/>
              <a:t> 기반</a:t>
            </a:r>
            <a:endParaRPr lang="en-US" altLang="ko-KR" sz="3600" dirty="0"/>
          </a:p>
          <a:p>
            <a:r>
              <a:rPr lang="ko-KR" altLang="en-US" sz="3600" dirty="0"/>
              <a:t>번호</a:t>
            </a:r>
            <a:r>
              <a:rPr lang="en-US" altLang="ko-KR" sz="3600" dirty="0"/>
              <a:t>: 1 ~ 99 &amp; 1300 ~ 1999</a:t>
            </a:r>
            <a:endParaRPr lang="ko-KR" altLang="en-US" sz="3600" dirty="0"/>
          </a:p>
          <a:p>
            <a:r>
              <a:rPr lang="ko-KR" altLang="en-US" sz="3600" dirty="0"/>
              <a:t>위치</a:t>
            </a:r>
            <a:r>
              <a:rPr lang="en-US" altLang="ko-KR" sz="3600" dirty="0"/>
              <a:t>: </a:t>
            </a:r>
            <a:r>
              <a:rPr lang="ko-KR" altLang="en-US" sz="3600" dirty="0"/>
              <a:t>목적지 근처</a:t>
            </a:r>
            <a:r>
              <a:rPr lang="en-US" altLang="ko-KR" sz="3600" dirty="0"/>
              <a:t>(</a:t>
            </a:r>
            <a:r>
              <a:rPr lang="ko-KR" altLang="en-US" sz="3600" dirty="0"/>
              <a:t>권장</a:t>
            </a:r>
            <a:r>
              <a:rPr lang="en-US" altLang="ko-KR" sz="3600" dirty="0"/>
              <a:t>)</a:t>
            </a:r>
            <a:endParaRPr lang="ko-KR" altLang="en-US" sz="3600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26445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05581D-6EBD-C009-6E35-558E0BE1C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</a:t>
            </a:r>
            <a:r>
              <a:rPr lang="ko-KR" altLang="en-US" dirty="0"/>
              <a:t>표준 </a:t>
            </a:r>
            <a:r>
              <a:rPr lang="en-US" altLang="ko-KR" dirty="0"/>
              <a:t>ACL(standard ACL)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6D0F48-55D5-2EE0-7BD9-8E70871B93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9053"/>
            <a:ext cx="11081657" cy="5228318"/>
          </a:xfrm>
        </p:spPr>
        <p:txBody>
          <a:bodyPr>
            <a:noAutofit/>
          </a:bodyPr>
          <a:lstStyle/>
          <a:p>
            <a:r>
              <a:rPr lang="en-US" altLang="ko-KR" dirty="0"/>
              <a:t>1</a:t>
            </a:r>
            <a:r>
              <a:rPr lang="ko-KR" altLang="en-US" dirty="0"/>
              <a:t>단계</a:t>
            </a:r>
            <a:r>
              <a:rPr lang="en-US" altLang="ko-KR" dirty="0"/>
              <a:t>: ACL </a:t>
            </a:r>
            <a:r>
              <a:rPr lang="ko-KR" altLang="en-US" dirty="0"/>
              <a:t>생성 </a:t>
            </a:r>
            <a:r>
              <a:rPr lang="en-US" altLang="ko-KR" dirty="0"/>
              <a:t>(</a:t>
            </a:r>
            <a:r>
              <a:rPr lang="ko-KR" altLang="en-US" dirty="0"/>
              <a:t>규칙 정의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r>
              <a:rPr lang="en-US" altLang="ko-KR" dirty="0"/>
              <a:t>   access-list [</a:t>
            </a:r>
            <a:r>
              <a:rPr lang="ko-KR" altLang="en-US" dirty="0"/>
              <a:t>번호</a:t>
            </a:r>
            <a:r>
              <a:rPr lang="en-US" altLang="ko-KR" dirty="0"/>
              <a:t>] [permit | deny] [IP </a:t>
            </a:r>
            <a:r>
              <a:rPr lang="ko-KR" altLang="en-US" dirty="0"/>
              <a:t>주소</a:t>
            </a:r>
            <a:r>
              <a:rPr lang="en-US" altLang="ko-KR" dirty="0"/>
              <a:t>] [</a:t>
            </a:r>
            <a:r>
              <a:rPr lang="ko-KR" altLang="en-US" dirty="0"/>
              <a:t>와일드카드 마스크</a:t>
            </a:r>
            <a:r>
              <a:rPr lang="en-US" altLang="ko-KR" dirty="0"/>
              <a:t>] </a:t>
            </a:r>
          </a:p>
          <a:p>
            <a:pPr marL="0" indent="0">
              <a:buNone/>
            </a:pPr>
            <a:endParaRPr lang="en-US" altLang="ko-KR" dirty="0"/>
          </a:p>
          <a:p>
            <a:r>
              <a:rPr lang="en-US" altLang="ko-KR" dirty="0"/>
              <a:t>2</a:t>
            </a:r>
            <a:r>
              <a:rPr lang="ko-KR" altLang="en-US" dirty="0"/>
              <a:t>단계</a:t>
            </a:r>
            <a:r>
              <a:rPr lang="en-US" altLang="ko-KR" dirty="0"/>
              <a:t>: ACL </a:t>
            </a:r>
            <a:r>
              <a:rPr lang="ko-KR" altLang="en-US" dirty="0"/>
              <a:t>적용 </a:t>
            </a:r>
            <a:r>
              <a:rPr lang="en-US" altLang="ko-KR" dirty="0"/>
              <a:t>(</a:t>
            </a:r>
            <a:r>
              <a:rPr lang="ko-KR" altLang="en-US" dirty="0"/>
              <a:t>인터페이스</a:t>
            </a:r>
            <a:r>
              <a:rPr lang="en-US" altLang="ko-KR" dirty="0"/>
              <a:t>) </a:t>
            </a:r>
          </a:p>
          <a:p>
            <a:pPr marL="0" indent="0">
              <a:buNone/>
            </a:pPr>
            <a:r>
              <a:rPr lang="en-US" altLang="ko-KR" dirty="0"/>
              <a:t>  interface</a:t>
            </a:r>
            <a:r>
              <a:rPr lang="ko-KR" altLang="en-US" dirty="0"/>
              <a:t> </a:t>
            </a:r>
            <a:r>
              <a:rPr lang="en-US" altLang="ko-KR" dirty="0"/>
              <a:t>[</a:t>
            </a:r>
            <a:r>
              <a:rPr lang="ko-KR" altLang="en-US" dirty="0"/>
              <a:t>인터페이스 </a:t>
            </a:r>
            <a:r>
              <a:rPr lang="en-US" altLang="ko-KR" dirty="0"/>
              <a:t>] </a:t>
            </a:r>
          </a:p>
          <a:p>
            <a:pPr marL="0" indent="0">
              <a:buNone/>
            </a:pPr>
            <a:r>
              <a:rPr lang="en-US" altLang="ko-KR" dirty="0"/>
              <a:t>  </a:t>
            </a:r>
            <a:r>
              <a:rPr lang="en-US" altLang="ko-KR" dirty="0" err="1"/>
              <a:t>ip</a:t>
            </a:r>
            <a:r>
              <a:rPr lang="en-US" altLang="ko-KR" dirty="0"/>
              <a:t> access-group [</a:t>
            </a:r>
            <a:r>
              <a:rPr lang="ko-KR" altLang="en-US" dirty="0"/>
              <a:t>번호</a:t>
            </a:r>
            <a:r>
              <a:rPr lang="en-US" altLang="ko-KR" dirty="0"/>
              <a:t>] [in</a:t>
            </a:r>
            <a:r>
              <a:rPr lang="ko-KR" altLang="en-US" dirty="0"/>
              <a:t> </a:t>
            </a:r>
            <a:r>
              <a:rPr lang="en-US" altLang="ko-KR" dirty="0"/>
              <a:t>| out]</a:t>
            </a:r>
          </a:p>
          <a:p>
            <a:endParaRPr lang="en-US" altLang="ko-KR" dirty="0"/>
          </a:p>
          <a:p>
            <a:r>
              <a:rPr lang="en-US" altLang="ko-KR" dirty="0"/>
              <a:t>3</a:t>
            </a:r>
            <a:r>
              <a:rPr lang="ko-KR" altLang="en-US" dirty="0"/>
              <a:t>단계 </a:t>
            </a:r>
            <a:r>
              <a:rPr lang="en-US" altLang="ko-KR" dirty="0"/>
              <a:t>: </a:t>
            </a:r>
            <a:r>
              <a:rPr lang="ko-KR" altLang="en-US" dirty="0"/>
              <a:t>설정된 </a:t>
            </a:r>
            <a:r>
              <a:rPr lang="en-US" altLang="ko-KR" dirty="0"/>
              <a:t>ACL </a:t>
            </a:r>
            <a:r>
              <a:rPr lang="ko-KR" altLang="en-US" dirty="0"/>
              <a:t>확인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show </a:t>
            </a:r>
            <a:r>
              <a:rPr lang="en-US" altLang="ko-KR" dirty="0" err="1"/>
              <a:t>ip</a:t>
            </a:r>
            <a:r>
              <a:rPr lang="en-US" altLang="ko-KR" dirty="0"/>
              <a:t> access-lists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75280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DA344-50CE-5690-83C1-FCAFC7DEC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060EC8-8DEA-3070-D65B-C46994359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</a:t>
            </a:r>
            <a:r>
              <a:rPr lang="ko-KR" altLang="en-US" dirty="0"/>
              <a:t>표준 </a:t>
            </a:r>
            <a:r>
              <a:rPr lang="en-US" altLang="ko-KR" dirty="0"/>
              <a:t>ACL(standard ACL)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9A9483-1A26-3559-78FA-FB054D938B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9053"/>
            <a:ext cx="11081657" cy="5228318"/>
          </a:xfrm>
        </p:spPr>
        <p:txBody>
          <a:bodyPr>
            <a:noAutofit/>
          </a:bodyPr>
          <a:lstStyle/>
          <a:p>
            <a:r>
              <a:rPr lang="en-US" altLang="ko-KR" dirty="0"/>
              <a:t>1</a:t>
            </a:r>
            <a:r>
              <a:rPr lang="ko-KR" altLang="en-US" dirty="0"/>
              <a:t>단계</a:t>
            </a:r>
            <a:r>
              <a:rPr lang="en-US" altLang="ko-KR" dirty="0"/>
              <a:t>: ACL </a:t>
            </a:r>
            <a:r>
              <a:rPr lang="ko-KR" altLang="en-US" dirty="0"/>
              <a:t>생성 </a:t>
            </a:r>
            <a:r>
              <a:rPr lang="en-US" altLang="ko-KR" dirty="0"/>
              <a:t>(</a:t>
            </a:r>
            <a:r>
              <a:rPr lang="ko-KR" altLang="en-US" dirty="0"/>
              <a:t>규칙 정의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r>
              <a:rPr lang="en-US" altLang="ko-KR" dirty="0"/>
              <a:t>   access-list [</a:t>
            </a:r>
            <a:r>
              <a:rPr lang="ko-KR" altLang="en-US" dirty="0"/>
              <a:t>번호</a:t>
            </a:r>
            <a:r>
              <a:rPr lang="en-US" altLang="ko-KR" dirty="0"/>
              <a:t>] [permit | deny] [IP </a:t>
            </a:r>
            <a:r>
              <a:rPr lang="ko-KR" altLang="en-US" dirty="0"/>
              <a:t>주소</a:t>
            </a:r>
            <a:r>
              <a:rPr lang="en-US" altLang="ko-KR" dirty="0"/>
              <a:t>] [</a:t>
            </a:r>
            <a:r>
              <a:rPr lang="ko-KR" altLang="en-US" dirty="0"/>
              <a:t>와일드카드 마스크</a:t>
            </a:r>
            <a:r>
              <a:rPr lang="en-US" altLang="ko-KR" dirty="0"/>
              <a:t>] </a:t>
            </a:r>
          </a:p>
          <a:p>
            <a:pPr marL="0" indent="0">
              <a:buNone/>
            </a:pPr>
            <a:endParaRPr lang="en-US" altLang="ko-KR" dirty="0"/>
          </a:p>
          <a:p>
            <a:r>
              <a:rPr lang="en-US" altLang="ko-KR" dirty="0"/>
              <a:t>2</a:t>
            </a:r>
            <a:r>
              <a:rPr lang="ko-KR" altLang="en-US" dirty="0"/>
              <a:t>단계</a:t>
            </a:r>
            <a:r>
              <a:rPr lang="en-US" altLang="ko-KR" dirty="0"/>
              <a:t>: ACL </a:t>
            </a:r>
            <a:r>
              <a:rPr lang="ko-KR" altLang="en-US" dirty="0"/>
              <a:t>적용 </a:t>
            </a:r>
            <a:r>
              <a:rPr lang="en-US" altLang="ko-KR" dirty="0"/>
              <a:t>(</a:t>
            </a:r>
            <a:r>
              <a:rPr lang="ko-KR" altLang="en-US" dirty="0"/>
              <a:t>인터페이스</a:t>
            </a:r>
            <a:r>
              <a:rPr lang="en-US" altLang="ko-KR" dirty="0"/>
              <a:t>) </a:t>
            </a:r>
          </a:p>
          <a:p>
            <a:pPr marL="0" indent="0">
              <a:buNone/>
            </a:pPr>
            <a:r>
              <a:rPr lang="en-US" altLang="ko-KR" dirty="0"/>
              <a:t>  interface</a:t>
            </a:r>
            <a:r>
              <a:rPr lang="ko-KR" altLang="en-US" dirty="0"/>
              <a:t> </a:t>
            </a:r>
            <a:r>
              <a:rPr lang="en-US" altLang="ko-KR" dirty="0"/>
              <a:t>[</a:t>
            </a:r>
            <a:r>
              <a:rPr lang="ko-KR" altLang="en-US" dirty="0"/>
              <a:t>인터페이스 </a:t>
            </a:r>
            <a:r>
              <a:rPr lang="en-US" altLang="ko-KR" dirty="0"/>
              <a:t>] </a:t>
            </a:r>
          </a:p>
          <a:p>
            <a:pPr marL="0" indent="0">
              <a:buNone/>
            </a:pPr>
            <a:r>
              <a:rPr lang="en-US" altLang="ko-KR" dirty="0"/>
              <a:t>  </a:t>
            </a:r>
            <a:r>
              <a:rPr lang="en-US" altLang="ko-KR" dirty="0" err="1"/>
              <a:t>ip</a:t>
            </a:r>
            <a:r>
              <a:rPr lang="en-US" altLang="ko-KR" dirty="0"/>
              <a:t> access-group [</a:t>
            </a:r>
            <a:r>
              <a:rPr lang="ko-KR" altLang="en-US" dirty="0"/>
              <a:t>번호</a:t>
            </a:r>
            <a:r>
              <a:rPr lang="en-US" altLang="ko-KR" dirty="0"/>
              <a:t>] [in</a:t>
            </a:r>
            <a:r>
              <a:rPr lang="ko-KR" altLang="en-US" dirty="0"/>
              <a:t> </a:t>
            </a:r>
            <a:r>
              <a:rPr lang="en-US" altLang="ko-KR" dirty="0"/>
              <a:t>| out]</a:t>
            </a:r>
          </a:p>
          <a:p>
            <a:endParaRPr lang="en-US" altLang="ko-KR" dirty="0"/>
          </a:p>
          <a:p>
            <a:r>
              <a:rPr lang="en-US" altLang="ko-KR" dirty="0"/>
              <a:t>3</a:t>
            </a:r>
            <a:r>
              <a:rPr lang="ko-KR" altLang="en-US" dirty="0"/>
              <a:t>단계 </a:t>
            </a:r>
            <a:r>
              <a:rPr lang="en-US" altLang="ko-KR" dirty="0"/>
              <a:t>: </a:t>
            </a:r>
            <a:r>
              <a:rPr lang="ko-KR" altLang="en-US" dirty="0"/>
              <a:t>설정된 </a:t>
            </a:r>
            <a:r>
              <a:rPr lang="en-US" altLang="ko-KR" dirty="0"/>
              <a:t>ACL </a:t>
            </a:r>
            <a:r>
              <a:rPr lang="ko-KR" altLang="en-US" dirty="0"/>
              <a:t>확인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show </a:t>
            </a:r>
            <a:r>
              <a:rPr lang="en-US" altLang="ko-KR" dirty="0" err="1"/>
              <a:t>ip</a:t>
            </a:r>
            <a:r>
              <a:rPr lang="en-US" altLang="ko-KR" dirty="0"/>
              <a:t> access-lists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21503A2-0CB8-40A5-45D3-A0EE9182785C}"/>
              </a:ext>
            </a:extLst>
          </p:cNvPr>
          <p:cNvSpPr/>
          <p:nvPr/>
        </p:nvSpPr>
        <p:spPr>
          <a:xfrm>
            <a:off x="664723" y="1499053"/>
            <a:ext cx="10689077" cy="507263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b="1" dirty="0"/>
              <a:t>1</a:t>
            </a:r>
            <a:r>
              <a:rPr lang="ko-KR" altLang="en-US" sz="2800" b="1" dirty="0"/>
              <a:t>단계 </a:t>
            </a:r>
            <a:r>
              <a:rPr lang="en-US" altLang="ko-KR" sz="2800" b="1" dirty="0"/>
              <a:t>: ACL </a:t>
            </a:r>
            <a:r>
              <a:rPr lang="ko-KR" altLang="en-US" sz="2800" b="1" dirty="0"/>
              <a:t>생성</a:t>
            </a:r>
            <a:endParaRPr lang="en-US" altLang="ko-KR" sz="2800" b="1" dirty="0"/>
          </a:p>
          <a:p>
            <a:r>
              <a:rPr lang="en-US" altLang="ko-KR" sz="2400" dirty="0"/>
              <a:t>access-list </a:t>
            </a:r>
            <a:r>
              <a:rPr lang="en-US" altLang="ko-KR" sz="2400" dirty="0">
                <a:solidFill>
                  <a:schemeClr val="accent4"/>
                </a:solidFill>
              </a:rPr>
              <a:t>[</a:t>
            </a:r>
            <a:r>
              <a:rPr lang="ko-KR" altLang="en-US" sz="2400" dirty="0">
                <a:solidFill>
                  <a:schemeClr val="accent4"/>
                </a:solidFill>
              </a:rPr>
              <a:t>번호</a:t>
            </a:r>
            <a:r>
              <a:rPr lang="en-US" altLang="ko-KR" sz="2400" dirty="0">
                <a:solidFill>
                  <a:schemeClr val="accent4"/>
                </a:solidFill>
              </a:rPr>
              <a:t>]</a:t>
            </a:r>
            <a:r>
              <a:rPr lang="en-US" altLang="ko-KR" sz="2400" dirty="0">
                <a:solidFill>
                  <a:schemeClr val="accent5"/>
                </a:solidFill>
              </a:rPr>
              <a:t> [permit | deny]</a:t>
            </a:r>
            <a:r>
              <a:rPr lang="en-US" altLang="ko-KR" sz="2400" dirty="0">
                <a:solidFill>
                  <a:schemeClr val="accent6"/>
                </a:solidFill>
              </a:rPr>
              <a:t> [IP </a:t>
            </a:r>
            <a:r>
              <a:rPr lang="ko-KR" altLang="en-US" sz="2400" dirty="0">
                <a:solidFill>
                  <a:schemeClr val="accent6"/>
                </a:solidFill>
              </a:rPr>
              <a:t>주소</a:t>
            </a:r>
            <a:r>
              <a:rPr lang="en-US" altLang="ko-KR" sz="2400" dirty="0">
                <a:solidFill>
                  <a:schemeClr val="accent6"/>
                </a:solidFill>
              </a:rPr>
              <a:t>]</a:t>
            </a:r>
            <a:r>
              <a:rPr lang="en-US" altLang="ko-KR" sz="2400" dirty="0"/>
              <a:t> </a:t>
            </a:r>
            <a:r>
              <a:rPr lang="en-US" altLang="ko-KR" sz="2400" dirty="0">
                <a:solidFill>
                  <a:srgbClr val="FF0000"/>
                </a:solidFill>
              </a:rPr>
              <a:t>[</a:t>
            </a:r>
            <a:r>
              <a:rPr lang="ko-KR" altLang="en-US" sz="2400" dirty="0">
                <a:solidFill>
                  <a:srgbClr val="FF0000"/>
                </a:solidFill>
              </a:rPr>
              <a:t>와일드카드 마스크</a:t>
            </a:r>
            <a:r>
              <a:rPr lang="en-US" altLang="ko-KR" sz="2400" dirty="0">
                <a:solidFill>
                  <a:srgbClr val="FF0000"/>
                </a:solidFill>
              </a:rPr>
              <a:t>]</a:t>
            </a:r>
          </a:p>
          <a:p>
            <a:r>
              <a:rPr lang="ko-KR" altLang="en-US" sz="2000" dirty="0">
                <a:solidFill>
                  <a:schemeClr val="accent4"/>
                </a:solidFill>
              </a:rPr>
              <a:t>표준 </a:t>
            </a:r>
            <a:r>
              <a:rPr lang="en-US" altLang="ko-KR" sz="2000" dirty="0">
                <a:solidFill>
                  <a:schemeClr val="accent4"/>
                </a:solidFill>
              </a:rPr>
              <a:t>ACL</a:t>
            </a:r>
            <a:r>
              <a:rPr lang="ko-KR" altLang="en-US" sz="2000" dirty="0">
                <a:solidFill>
                  <a:schemeClr val="accent4"/>
                </a:solidFill>
              </a:rPr>
              <a:t>번호</a:t>
            </a:r>
            <a:r>
              <a:rPr lang="en-US" altLang="ko-KR" sz="2000" dirty="0">
                <a:solidFill>
                  <a:schemeClr val="accent4"/>
                </a:solidFill>
              </a:rPr>
              <a:t>: 1~99 / 1300~1999</a:t>
            </a:r>
          </a:p>
          <a:p>
            <a:r>
              <a:rPr lang="en-US" altLang="ko-KR" sz="2000" dirty="0">
                <a:solidFill>
                  <a:schemeClr val="accent5"/>
                </a:solidFill>
              </a:rPr>
              <a:t>                           permit: </a:t>
            </a:r>
            <a:r>
              <a:rPr lang="ko-KR" altLang="en-US" sz="2000" dirty="0">
                <a:solidFill>
                  <a:schemeClr val="accent5"/>
                </a:solidFill>
              </a:rPr>
              <a:t>이 규칙과 일치하는 트래픽을 허용</a:t>
            </a:r>
            <a:endParaRPr lang="en-US" altLang="ko-KR" sz="2000" dirty="0">
              <a:solidFill>
                <a:schemeClr val="accent5"/>
              </a:solidFill>
            </a:endParaRPr>
          </a:p>
          <a:p>
            <a:r>
              <a:rPr lang="en-US" altLang="ko-KR" sz="2000" dirty="0">
                <a:solidFill>
                  <a:schemeClr val="accent5"/>
                </a:solidFill>
              </a:rPr>
              <a:t>		       deny: </a:t>
            </a:r>
            <a:r>
              <a:rPr lang="ko-KR" altLang="en-US" sz="2000" dirty="0">
                <a:solidFill>
                  <a:schemeClr val="accent5"/>
                </a:solidFill>
              </a:rPr>
              <a:t>이 규칙과 일치하는 트래픽을 거부</a:t>
            </a:r>
            <a:endParaRPr lang="en-US" altLang="ko-KR" sz="2000" dirty="0">
              <a:solidFill>
                <a:schemeClr val="accent5"/>
              </a:solidFill>
            </a:endParaRPr>
          </a:p>
          <a:p>
            <a:r>
              <a:rPr lang="en-US" altLang="ko-KR" sz="2000" dirty="0">
                <a:solidFill>
                  <a:schemeClr val="accent5"/>
                </a:solidFill>
              </a:rPr>
              <a:t>					</a:t>
            </a:r>
            <a:r>
              <a:rPr lang="ko-KR" altLang="en-US" sz="2000" dirty="0">
                <a:solidFill>
                  <a:schemeClr val="accent6"/>
                </a:solidFill>
              </a:rPr>
              <a:t> 출발지 </a:t>
            </a:r>
            <a:r>
              <a:rPr lang="en-US" altLang="ko-KR" sz="2000" dirty="0">
                <a:solidFill>
                  <a:schemeClr val="accent6"/>
                </a:solidFill>
              </a:rPr>
              <a:t>IP </a:t>
            </a:r>
            <a:r>
              <a:rPr lang="ko-KR" altLang="en-US" sz="2000" dirty="0">
                <a:solidFill>
                  <a:schemeClr val="accent6"/>
                </a:solidFill>
              </a:rPr>
              <a:t>주소</a:t>
            </a:r>
            <a:r>
              <a:rPr lang="en-US" altLang="ko-KR" sz="2000" dirty="0">
                <a:solidFill>
                  <a:schemeClr val="accent6"/>
                </a:solidFill>
              </a:rPr>
              <a:t>(Source Address)</a:t>
            </a:r>
          </a:p>
          <a:p>
            <a:r>
              <a:rPr lang="en-US" altLang="ko-KR" sz="2000" dirty="0">
                <a:solidFill>
                  <a:schemeClr val="accent6"/>
                </a:solidFill>
              </a:rPr>
              <a:t>						</a:t>
            </a:r>
            <a:r>
              <a:rPr lang="en-US" altLang="ko-KR" sz="2000" dirty="0">
                <a:solidFill>
                  <a:srgbClr val="FF0000"/>
                </a:solidFill>
              </a:rPr>
              <a:t> IP</a:t>
            </a:r>
            <a:r>
              <a:rPr lang="ko-KR" altLang="en-US" sz="2000" dirty="0">
                <a:solidFill>
                  <a:srgbClr val="FF0000"/>
                </a:solidFill>
              </a:rPr>
              <a:t>에서 어느 </a:t>
            </a:r>
            <a:r>
              <a:rPr lang="ko-KR" altLang="en-US" sz="2000" dirty="0" err="1">
                <a:solidFill>
                  <a:srgbClr val="FF0000"/>
                </a:solidFill>
              </a:rPr>
              <a:t>비트까지가</a:t>
            </a:r>
            <a:r>
              <a:rPr lang="ko-KR" altLang="en-US" sz="2000" dirty="0">
                <a:solidFill>
                  <a:srgbClr val="FF0000"/>
                </a:solidFill>
              </a:rPr>
              <a:t> 호스트 주소인지 </a:t>
            </a:r>
            <a:endParaRPr lang="en-US" altLang="ko-KR" sz="2000" dirty="0">
              <a:solidFill>
                <a:srgbClr val="FF0000"/>
              </a:solidFill>
            </a:endParaRPr>
          </a:p>
          <a:p>
            <a:r>
              <a:rPr lang="en-US" altLang="ko-KR" sz="2000" dirty="0">
                <a:solidFill>
                  <a:srgbClr val="FF0000"/>
                </a:solidFill>
              </a:rPr>
              <a:t>						 </a:t>
            </a:r>
            <a:r>
              <a:rPr lang="ko-KR" altLang="en-US" sz="2000" dirty="0">
                <a:solidFill>
                  <a:srgbClr val="FF0000"/>
                </a:solidFill>
              </a:rPr>
              <a:t>알려주는 비트 마스크</a:t>
            </a:r>
            <a:endParaRPr lang="en-US" altLang="ko-KR" sz="2000" dirty="0">
              <a:solidFill>
                <a:srgbClr val="FF0000"/>
              </a:solidFill>
            </a:endParaRPr>
          </a:p>
          <a:p>
            <a:r>
              <a:rPr lang="en-US" altLang="ko-KR" sz="2400" dirty="0">
                <a:ln>
                  <a:solidFill>
                    <a:schemeClr val="bg1"/>
                  </a:solidFill>
                </a:ln>
                <a:solidFill>
                  <a:schemeClr val="accent5"/>
                </a:solidFill>
              </a:rPr>
              <a:t>		</a:t>
            </a:r>
            <a:endParaRPr lang="ko-KR" altLang="en-US" sz="2400" dirty="0">
              <a:ln>
                <a:solidFill>
                  <a:schemeClr val="bg1"/>
                </a:solidFill>
              </a:ln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0635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D1E8F-7896-1728-69BF-14E12F368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99B1C7-E4AD-B6CE-1E88-EF115DF18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</a:t>
            </a:r>
            <a:r>
              <a:rPr lang="ko-KR" altLang="en-US" dirty="0"/>
              <a:t>표준 </a:t>
            </a:r>
            <a:r>
              <a:rPr lang="en-US" altLang="ko-KR" dirty="0"/>
              <a:t>ACL(standard ACL)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8A1F54D-E178-3154-3B7C-F51880D11152}"/>
              </a:ext>
            </a:extLst>
          </p:cNvPr>
          <p:cNvSpPr/>
          <p:nvPr/>
        </p:nvSpPr>
        <p:spPr>
          <a:xfrm>
            <a:off x="590955" y="1617392"/>
            <a:ext cx="11010089" cy="507263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b="1" dirty="0"/>
              <a:t>2</a:t>
            </a:r>
            <a:r>
              <a:rPr lang="ko-KR" altLang="en-US" sz="2800" b="1" dirty="0"/>
              <a:t>단계 </a:t>
            </a:r>
            <a:r>
              <a:rPr lang="en-US" altLang="ko-KR" sz="2800" b="1" dirty="0"/>
              <a:t>: ACL </a:t>
            </a:r>
            <a:r>
              <a:rPr lang="ko-KR" altLang="en-US" sz="2800" b="1" dirty="0"/>
              <a:t>적용</a:t>
            </a:r>
            <a:r>
              <a:rPr lang="en-US" altLang="ko-KR" sz="2800" b="1" dirty="0"/>
              <a:t>(</a:t>
            </a:r>
            <a:r>
              <a:rPr lang="ko-KR" altLang="en-US" sz="2800" b="1" dirty="0"/>
              <a:t>인터페이스</a:t>
            </a:r>
            <a:r>
              <a:rPr lang="en-US" altLang="ko-KR" sz="2800" b="1" dirty="0"/>
              <a:t>)</a:t>
            </a:r>
          </a:p>
          <a:p>
            <a:r>
              <a:rPr lang="en-US" altLang="ko-KR" sz="2400" dirty="0"/>
              <a:t>interface</a:t>
            </a:r>
            <a:r>
              <a:rPr lang="ko-KR" altLang="en-US" sz="2400" dirty="0"/>
              <a:t> </a:t>
            </a:r>
            <a:r>
              <a:rPr lang="en-US" altLang="ko-KR" sz="2400" dirty="0">
                <a:solidFill>
                  <a:schemeClr val="accent5"/>
                </a:solidFill>
              </a:rPr>
              <a:t>[</a:t>
            </a:r>
            <a:r>
              <a:rPr lang="ko-KR" altLang="en-US" sz="2400" dirty="0">
                <a:solidFill>
                  <a:schemeClr val="accent5"/>
                </a:solidFill>
              </a:rPr>
              <a:t>인터페이스</a:t>
            </a:r>
            <a:r>
              <a:rPr lang="en-US" altLang="ko-KR" sz="2400" dirty="0">
                <a:solidFill>
                  <a:schemeClr val="accent5"/>
                </a:solidFill>
              </a:rPr>
              <a:t>] </a:t>
            </a:r>
          </a:p>
          <a:p>
            <a:r>
              <a:rPr lang="en-US" altLang="ko-KR" sz="2400" dirty="0" err="1"/>
              <a:t>ip</a:t>
            </a:r>
            <a:r>
              <a:rPr lang="en-US" altLang="ko-KR" sz="2400" dirty="0"/>
              <a:t> access-group </a:t>
            </a:r>
            <a:r>
              <a:rPr lang="en-US" altLang="ko-KR" sz="2400" dirty="0">
                <a:solidFill>
                  <a:schemeClr val="accent4"/>
                </a:solidFill>
              </a:rPr>
              <a:t>[</a:t>
            </a:r>
            <a:r>
              <a:rPr lang="ko-KR" altLang="en-US" sz="2400" dirty="0">
                <a:solidFill>
                  <a:schemeClr val="accent4"/>
                </a:solidFill>
              </a:rPr>
              <a:t>번호</a:t>
            </a:r>
            <a:r>
              <a:rPr lang="en-US" altLang="ko-KR" sz="2400" dirty="0">
                <a:solidFill>
                  <a:schemeClr val="accent4"/>
                </a:solidFill>
              </a:rPr>
              <a:t>] </a:t>
            </a:r>
            <a:r>
              <a:rPr lang="en-US" altLang="ko-KR" sz="2400" dirty="0">
                <a:solidFill>
                  <a:schemeClr val="accent6"/>
                </a:solidFill>
              </a:rPr>
              <a:t>[in</a:t>
            </a:r>
            <a:r>
              <a:rPr lang="ko-KR" altLang="en-US" sz="2400" dirty="0">
                <a:solidFill>
                  <a:schemeClr val="accent6"/>
                </a:solidFill>
              </a:rPr>
              <a:t> </a:t>
            </a:r>
            <a:r>
              <a:rPr lang="en-US" altLang="ko-KR" sz="2400" dirty="0">
                <a:solidFill>
                  <a:schemeClr val="accent6"/>
                </a:solidFill>
              </a:rPr>
              <a:t>| out]</a:t>
            </a:r>
          </a:p>
          <a:p>
            <a:r>
              <a:rPr lang="ko-KR" altLang="en-US" sz="2400" dirty="0">
                <a:ln>
                  <a:solidFill>
                    <a:schemeClr val="bg1"/>
                  </a:solidFill>
                </a:ln>
                <a:solidFill>
                  <a:schemeClr val="accent5"/>
                </a:solidFill>
              </a:rPr>
              <a:t> </a:t>
            </a:r>
            <a:r>
              <a:rPr lang="en-US" altLang="ko-KR" sz="2400" dirty="0">
                <a:ln>
                  <a:solidFill>
                    <a:schemeClr val="bg1"/>
                  </a:solidFill>
                </a:ln>
                <a:solidFill>
                  <a:schemeClr val="accent5"/>
                </a:solidFill>
              </a:rPr>
              <a:t>		   </a:t>
            </a:r>
            <a:r>
              <a:rPr lang="ko-KR" altLang="en-US" sz="2400" dirty="0">
                <a:solidFill>
                  <a:schemeClr val="accent4"/>
                </a:solidFill>
              </a:rPr>
              <a:t>표준 </a:t>
            </a:r>
            <a:r>
              <a:rPr lang="en-US" altLang="ko-KR" sz="2400" dirty="0">
                <a:solidFill>
                  <a:schemeClr val="accent4"/>
                </a:solidFill>
              </a:rPr>
              <a:t>ACL</a:t>
            </a:r>
            <a:r>
              <a:rPr lang="ko-KR" altLang="en-US" sz="2400" dirty="0">
                <a:solidFill>
                  <a:schemeClr val="accent4"/>
                </a:solidFill>
              </a:rPr>
              <a:t>번호</a:t>
            </a:r>
            <a:r>
              <a:rPr lang="en-US" altLang="ko-KR" sz="2400" dirty="0">
                <a:solidFill>
                  <a:schemeClr val="accent4"/>
                </a:solidFill>
              </a:rPr>
              <a:t>: 1~99 / 1300~1999</a:t>
            </a:r>
          </a:p>
          <a:p>
            <a:r>
              <a:rPr lang="en-US" altLang="ko-KR" sz="2400" dirty="0">
                <a:ln>
                  <a:solidFill>
                    <a:schemeClr val="bg1"/>
                  </a:solidFill>
                </a:ln>
                <a:solidFill>
                  <a:schemeClr val="accent5"/>
                </a:solidFill>
              </a:rPr>
              <a:t>			 </a:t>
            </a:r>
            <a:r>
              <a:rPr lang="en-US" altLang="ko-KR" sz="2000" dirty="0">
                <a:solidFill>
                  <a:schemeClr val="accent6"/>
                </a:solidFill>
              </a:rPr>
              <a:t>ACL</a:t>
            </a:r>
            <a:r>
              <a:rPr lang="ko-KR" altLang="en-US" sz="2000" dirty="0">
                <a:solidFill>
                  <a:schemeClr val="accent6"/>
                </a:solidFill>
              </a:rPr>
              <a:t>을 해당 인터페이스의 </a:t>
            </a:r>
            <a:r>
              <a:rPr lang="ko-KR" altLang="en-US" sz="2000" dirty="0" err="1">
                <a:solidFill>
                  <a:schemeClr val="accent6"/>
                </a:solidFill>
              </a:rPr>
              <a:t>인바운드</a:t>
            </a:r>
            <a:r>
              <a:rPr lang="ko-KR" altLang="en-US" sz="2000" dirty="0">
                <a:solidFill>
                  <a:schemeClr val="accent6"/>
                </a:solidFill>
              </a:rPr>
              <a:t> 또는 </a:t>
            </a:r>
            <a:r>
              <a:rPr lang="ko-KR" altLang="en-US" sz="2000" dirty="0" err="1">
                <a:solidFill>
                  <a:schemeClr val="accent6"/>
                </a:solidFill>
              </a:rPr>
              <a:t>아웃바운드에</a:t>
            </a:r>
            <a:r>
              <a:rPr lang="ko-KR" altLang="en-US" sz="2000" dirty="0">
                <a:solidFill>
                  <a:schemeClr val="accent6"/>
                </a:solidFill>
              </a:rPr>
              <a:t> 적용하는 설정</a:t>
            </a:r>
          </a:p>
          <a:p>
            <a:endParaRPr lang="ko-KR" altLang="en-US" sz="2400" dirty="0">
              <a:ln>
                <a:solidFill>
                  <a:schemeClr val="bg1"/>
                </a:solidFill>
              </a:ln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647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4BB5C-E809-D50B-CA45-99BB8AE9E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476B37-A59B-9AF7-1832-6E38F4E9E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</a:t>
            </a:r>
            <a:r>
              <a:rPr lang="ko-KR" altLang="en-US" dirty="0"/>
              <a:t>표준 </a:t>
            </a:r>
            <a:r>
              <a:rPr lang="en-US" altLang="ko-KR" dirty="0"/>
              <a:t>ACL(standard ACL)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BBC4036-E5EA-950E-E3EC-C14E982FEF3F}"/>
              </a:ext>
            </a:extLst>
          </p:cNvPr>
          <p:cNvSpPr/>
          <p:nvPr/>
        </p:nvSpPr>
        <p:spPr>
          <a:xfrm>
            <a:off x="398440" y="1464467"/>
            <a:ext cx="11395119" cy="526738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2400" dirty="0">
              <a:ln>
                <a:solidFill>
                  <a:schemeClr val="bg1"/>
                </a:solidFill>
              </a:ln>
              <a:solidFill>
                <a:schemeClr val="accent5"/>
              </a:solidFill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D47388CC-4E59-60AC-FE0F-73F294158C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7108" y="2678620"/>
            <a:ext cx="2077880" cy="1527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93EA9BEB-4908-1326-DDB4-A77B68F0AD92}"/>
              </a:ext>
            </a:extLst>
          </p:cNvPr>
          <p:cNvSpPr/>
          <p:nvPr/>
        </p:nvSpPr>
        <p:spPr>
          <a:xfrm>
            <a:off x="2283782" y="3047574"/>
            <a:ext cx="2733472" cy="1050588"/>
          </a:xfrm>
          <a:prstGeom prst="right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Inbound ACL</a:t>
            </a:r>
            <a:endParaRPr lang="ko-KR" altLang="en-US" sz="2800" b="1" dirty="0"/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2235185D-E974-6CD4-AD88-CBD456FDAAFE}"/>
              </a:ext>
            </a:extLst>
          </p:cNvPr>
          <p:cNvSpPr/>
          <p:nvPr/>
        </p:nvSpPr>
        <p:spPr>
          <a:xfrm>
            <a:off x="7264152" y="2925979"/>
            <a:ext cx="2934900" cy="1252606"/>
          </a:xfrm>
          <a:prstGeom prst="right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Outbound ACL</a:t>
            </a:r>
            <a:endParaRPr lang="ko-KR" altLang="en-US" sz="2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BEF94E-ECE4-FF6A-9C8A-4BED731AF05D}"/>
              </a:ext>
            </a:extLst>
          </p:cNvPr>
          <p:cNvSpPr txBox="1"/>
          <p:nvPr/>
        </p:nvSpPr>
        <p:spPr>
          <a:xfrm>
            <a:off x="1328855" y="4137233"/>
            <a:ext cx="41974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bg1"/>
                </a:solidFill>
              </a:rPr>
              <a:t>해당 포트로 들어오는 패킷이 라우터의 메모리나 다른 포트로 전달되기 전에 필터링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4C0718-D284-0C32-AB60-165359C2EECC}"/>
              </a:ext>
            </a:extLst>
          </p:cNvPr>
          <p:cNvSpPr txBox="1"/>
          <p:nvPr/>
        </p:nvSpPr>
        <p:spPr>
          <a:xfrm>
            <a:off x="6863888" y="4113212"/>
            <a:ext cx="43148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bg1"/>
                </a:solidFill>
              </a:rPr>
              <a:t>라우터가 처리</a:t>
            </a:r>
            <a:r>
              <a:rPr lang="en-US" altLang="ko-KR" sz="2400" dirty="0">
                <a:solidFill>
                  <a:schemeClr val="bg1"/>
                </a:solidFill>
              </a:rPr>
              <a:t>(Routing)</a:t>
            </a:r>
            <a:r>
              <a:rPr lang="ko-KR" altLang="en-US" sz="2400" dirty="0">
                <a:solidFill>
                  <a:schemeClr val="bg1"/>
                </a:solidFill>
              </a:rPr>
              <a:t>를 마친 패킷이 해당 포트를 떠나기 직전에 필터링</a:t>
            </a:r>
          </a:p>
        </p:txBody>
      </p:sp>
    </p:spTree>
    <p:extLst>
      <p:ext uri="{BB962C8B-B14F-4D97-AF65-F5344CB8AC3E}">
        <p14:creationId xmlns:p14="http://schemas.microsoft.com/office/powerpoint/2010/main" val="591558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3D5E3-7DA0-8268-8550-B6184C33C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F67F4B-BB54-C31E-E913-377C012B0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</a:t>
            </a:r>
            <a:r>
              <a:rPr lang="ko-KR" altLang="en-US" dirty="0"/>
              <a:t>표준 </a:t>
            </a:r>
            <a:r>
              <a:rPr lang="en-US" altLang="ko-KR" dirty="0"/>
              <a:t>ACL(standard ACL)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2305F15-AA9E-673F-30D0-E3BF3D768959}"/>
              </a:ext>
            </a:extLst>
          </p:cNvPr>
          <p:cNvSpPr/>
          <p:nvPr/>
        </p:nvSpPr>
        <p:spPr>
          <a:xfrm>
            <a:off x="590955" y="1617392"/>
            <a:ext cx="11010089" cy="507263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b="1" dirty="0"/>
              <a:t>3</a:t>
            </a:r>
            <a:r>
              <a:rPr lang="ko-KR" altLang="en-US" sz="2800" b="1" dirty="0"/>
              <a:t>단계 </a:t>
            </a:r>
            <a:r>
              <a:rPr lang="en-US" altLang="ko-KR" sz="2800" b="1" dirty="0"/>
              <a:t>: </a:t>
            </a:r>
            <a:r>
              <a:rPr lang="ko-KR" altLang="en-US" sz="2800" b="1" dirty="0"/>
              <a:t>설정된 </a:t>
            </a:r>
            <a:r>
              <a:rPr lang="en-US" altLang="ko-KR" sz="2800" b="1" dirty="0"/>
              <a:t>ACL </a:t>
            </a:r>
            <a:r>
              <a:rPr lang="ko-KR" altLang="en-US" sz="2800" b="1" dirty="0"/>
              <a:t>확인</a:t>
            </a:r>
            <a:endParaRPr lang="en-US" altLang="ko-KR" sz="2800" b="1" dirty="0"/>
          </a:p>
          <a:p>
            <a:r>
              <a:rPr lang="en-US" altLang="ko-KR" sz="2400" dirty="0"/>
              <a:t>show </a:t>
            </a:r>
            <a:r>
              <a:rPr lang="en-US" altLang="ko-KR" sz="2400" dirty="0" err="1"/>
              <a:t>ip</a:t>
            </a:r>
            <a:r>
              <a:rPr lang="en-US" altLang="ko-KR" sz="2400" dirty="0"/>
              <a:t> access-lists</a:t>
            </a:r>
          </a:p>
          <a:p>
            <a:endParaRPr lang="en-US" altLang="ko-KR" sz="2400" dirty="0"/>
          </a:p>
          <a:p>
            <a:r>
              <a:rPr lang="ko-KR" altLang="en-US" sz="2800" b="1" dirty="0"/>
              <a:t>번외</a:t>
            </a:r>
            <a:r>
              <a:rPr lang="en-US" altLang="ko-KR" sz="2800" b="1" dirty="0"/>
              <a:t>: </a:t>
            </a:r>
            <a:r>
              <a:rPr lang="ko-KR" altLang="en-US" sz="2800" b="1" dirty="0"/>
              <a:t>삭제</a:t>
            </a:r>
            <a:endParaRPr lang="ko-KR" altLang="en-US" sz="2800" b="1" dirty="0">
              <a:effectLst/>
            </a:endParaRPr>
          </a:p>
          <a:p>
            <a:pPr fontAlgn="base"/>
            <a:r>
              <a:rPr lang="ko-KR" altLang="en-US" dirty="0"/>
              <a:t>삭제는 설정했던 </a:t>
            </a:r>
            <a:r>
              <a:rPr lang="en-US" altLang="ko-KR" dirty="0"/>
              <a:t>access-list </a:t>
            </a:r>
            <a:r>
              <a:rPr lang="ko-KR" altLang="en-US" dirty="0"/>
              <a:t>명령 앞에 </a:t>
            </a:r>
            <a:r>
              <a:rPr lang="en-US" altLang="ko-KR" dirty="0"/>
              <a:t>no</a:t>
            </a:r>
            <a:r>
              <a:rPr lang="ko-KR" altLang="en-US" dirty="0"/>
              <a:t>만 붙이면 된다</a:t>
            </a:r>
            <a:r>
              <a:rPr lang="en-US" altLang="ko-KR" dirty="0"/>
              <a:t>.</a:t>
            </a:r>
          </a:p>
          <a:p>
            <a:endParaRPr lang="ko-KR" altLang="en-US" sz="2400" dirty="0">
              <a:ln>
                <a:solidFill>
                  <a:schemeClr val="bg1"/>
                </a:solidFill>
              </a:ln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4843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6D264-1AE9-C679-739B-0F78E6056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4D7603-BCBE-5840-70F8-DA57F34F7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</a:t>
            </a:r>
            <a:r>
              <a:rPr lang="ko-KR" altLang="en-US" dirty="0"/>
              <a:t>표준 </a:t>
            </a:r>
            <a:r>
              <a:rPr lang="en-US" altLang="ko-KR" dirty="0"/>
              <a:t>ACL(standard ACL)</a:t>
            </a:r>
            <a:endParaRPr lang="ko-KR" altLang="en-US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B3422F1-D1D5-1CE5-B60B-144B46306B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4209960"/>
              </p:ext>
            </p:extLst>
          </p:nvPr>
        </p:nvGraphicFramePr>
        <p:xfrm>
          <a:off x="775607" y="1344590"/>
          <a:ext cx="10640786" cy="49297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65261">
                  <a:extLst>
                    <a:ext uri="{9D8B030D-6E8A-4147-A177-3AD203B41FA5}">
                      <a16:colId xmlns:a16="http://schemas.microsoft.com/office/drawing/2014/main" val="852762608"/>
                    </a:ext>
                  </a:extLst>
                </a:gridCol>
                <a:gridCol w="7875525">
                  <a:extLst>
                    <a:ext uri="{9D8B030D-6E8A-4147-A177-3AD203B41FA5}">
                      <a16:colId xmlns:a16="http://schemas.microsoft.com/office/drawing/2014/main" val="2469358845"/>
                    </a:ext>
                  </a:extLst>
                </a:gridCol>
              </a:tblGrid>
              <a:tr h="574658"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2400" dirty="0"/>
                        <a:t>원칙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2400" dirty="0"/>
                        <a:t>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9097373"/>
                  </a:ext>
                </a:extLst>
              </a:tr>
              <a:tr h="1333649"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2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인터페이스 하나에 정책은 </a:t>
                      </a:r>
                      <a:r>
                        <a:rPr lang="en-US" altLang="ko-KR" sz="2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2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개만 적용</a:t>
                      </a:r>
                      <a:endParaRPr lang="ko-KR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2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하나의 인터페이스와 방향</a:t>
                      </a:r>
                      <a:r>
                        <a:rPr lang="en-US" altLang="ko-KR" sz="2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(IN/OUT) </a:t>
                      </a:r>
                      <a:r>
                        <a:rPr lang="ko-KR" altLang="en-US" sz="2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조합에는 단 하나의 </a:t>
                      </a:r>
                      <a:r>
                        <a:rPr lang="en-US" altLang="ko-KR" sz="2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ACL </a:t>
                      </a:r>
                      <a:r>
                        <a:rPr lang="ko-KR" altLang="en-US" sz="2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정책만을 적용</a:t>
                      </a:r>
                      <a:endParaRPr lang="en-US" altLang="ko-KR" sz="24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just" latinLnBrk="1"/>
                      <a:endParaRPr lang="ko-KR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9165769"/>
                  </a:ext>
                </a:extLst>
              </a:tr>
              <a:tr h="1067603"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2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적용 대상 확장</a:t>
                      </a:r>
                      <a:endParaRPr lang="ko-KR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2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물리적 인터페이스</a:t>
                      </a:r>
                      <a:r>
                        <a:rPr lang="en-US" altLang="ko-KR" sz="2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2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포트</a:t>
                      </a:r>
                      <a:r>
                        <a:rPr lang="en-US" altLang="ko-KR" sz="2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2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외에도 가상 인터페이스</a:t>
                      </a:r>
                      <a:r>
                        <a:rPr lang="en-US" altLang="ko-KR" sz="2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2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포트</a:t>
                      </a:r>
                      <a:r>
                        <a:rPr lang="en-US" altLang="ko-KR" sz="2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2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에도 </a:t>
                      </a:r>
                      <a:r>
                        <a:rPr lang="en-US" altLang="ko-KR" sz="2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ACL </a:t>
                      </a:r>
                      <a:r>
                        <a:rPr lang="ko-KR" altLang="en-US" sz="2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지정이 가능</a:t>
                      </a:r>
                      <a:r>
                        <a:rPr lang="en-US" altLang="ko-KR" sz="2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5825625"/>
                  </a:ext>
                </a:extLst>
              </a:tr>
              <a:tr h="1953839"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2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정책 내 다중 </a:t>
                      </a:r>
                      <a:r>
                        <a:rPr lang="en-US" altLang="ko-KR" sz="2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Rule</a:t>
                      </a:r>
                      <a:endParaRPr lang="ko-KR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just" rtl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2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하나의 정책</a:t>
                      </a:r>
                      <a:r>
                        <a:rPr lang="en-US" altLang="ko-KR" sz="2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(ACL) </a:t>
                      </a:r>
                      <a:r>
                        <a:rPr lang="ko-KR" altLang="en-US" sz="2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안에는 여러 개의 세부 규칙</a:t>
                      </a:r>
                      <a:r>
                        <a:rPr lang="en-US" altLang="ko-KR" sz="2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(Rule)</a:t>
                      </a:r>
                      <a:r>
                        <a:rPr lang="ko-KR" altLang="en-US" sz="2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을 순서대로 나열하여 지정할 수 있다</a:t>
                      </a:r>
                      <a:r>
                        <a:rPr lang="en-US" altLang="ko-KR" sz="2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2400" b="0" dirty="0">
                        <a:effectLst/>
                      </a:endParaRPr>
                    </a:p>
                    <a:p>
                      <a:pPr marL="342900" indent="-342900" algn="just" rtl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2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이때 규칙</a:t>
                      </a:r>
                      <a:r>
                        <a:rPr lang="en-US" altLang="ko-KR" sz="2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(Rule)</a:t>
                      </a:r>
                      <a:r>
                        <a:rPr lang="ko-KR" altLang="en-US" sz="2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 중첩되는 경우에는 규모가 작은 규칙을 먼저 적용해야 한다</a:t>
                      </a:r>
                      <a:endParaRPr lang="ko-KR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05801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75691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E7FEA-9B31-7B37-8768-91D3D3BCA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011540-F251-486B-8E4D-63588BEC9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</a:t>
            </a:r>
            <a:r>
              <a:rPr lang="ko-KR" altLang="en-US" dirty="0"/>
              <a:t>표준 </a:t>
            </a:r>
            <a:r>
              <a:rPr lang="en-US" altLang="ko-KR" dirty="0"/>
              <a:t>ACL(standard ACL)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4E57F8-1D83-7826-CCF7-DD59473384F2}"/>
              </a:ext>
            </a:extLst>
          </p:cNvPr>
          <p:cNvSpPr txBox="1"/>
          <p:nvPr/>
        </p:nvSpPr>
        <p:spPr>
          <a:xfrm>
            <a:off x="3047189" y="3244334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>
                <a:effectLst/>
              </a:rPr>
              <a:t> </a:t>
            </a:r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035E4B63-8821-ABFC-F9AD-E482997AEE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0664246"/>
              </p:ext>
            </p:extLst>
          </p:nvPr>
        </p:nvGraphicFramePr>
        <p:xfrm>
          <a:off x="775607" y="1344590"/>
          <a:ext cx="10640786" cy="49297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65261">
                  <a:extLst>
                    <a:ext uri="{9D8B030D-6E8A-4147-A177-3AD203B41FA5}">
                      <a16:colId xmlns:a16="http://schemas.microsoft.com/office/drawing/2014/main" val="852762608"/>
                    </a:ext>
                  </a:extLst>
                </a:gridCol>
                <a:gridCol w="7875525">
                  <a:extLst>
                    <a:ext uri="{9D8B030D-6E8A-4147-A177-3AD203B41FA5}">
                      <a16:colId xmlns:a16="http://schemas.microsoft.com/office/drawing/2014/main" val="2469358845"/>
                    </a:ext>
                  </a:extLst>
                </a:gridCol>
              </a:tblGrid>
              <a:tr h="574658"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2400"/>
                        <a:t>원칙</a:t>
                      </a:r>
                      <a:endParaRPr lang="ko-KR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2400"/>
                        <a:t>설명</a:t>
                      </a:r>
                      <a:endParaRPr lang="ko-KR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9097373"/>
                  </a:ext>
                </a:extLst>
              </a:tr>
              <a:tr h="1333649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24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Top Down</a:t>
                      </a:r>
                    </a:p>
                    <a:p>
                      <a:pPr algn="just" latinLnBrk="1"/>
                      <a:r>
                        <a:rPr lang="en-US" altLang="ko-KR" sz="24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24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위에서 아래로</a:t>
                      </a:r>
                      <a:r>
                        <a:rPr lang="en-US" altLang="ko-KR" sz="24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2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ACL </a:t>
                      </a:r>
                      <a:r>
                        <a:rPr lang="ko-KR" altLang="en-US" sz="2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규칙을 위에서부터 아래로 패킷 검사</a:t>
                      </a:r>
                      <a:endParaRPr lang="ko-KR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9165769"/>
                  </a:ext>
                </a:extLst>
              </a:tr>
              <a:tr h="1067603">
                <a:tc>
                  <a:txBody>
                    <a:bodyPr/>
                    <a:lstStyle/>
                    <a:p>
                      <a:pPr rtl="0"/>
                      <a:r>
                        <a:rPr lang="en-US" altLang="ko-KR" sz="2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First Matching</a:t>
                      </a:r>
                      <a:endParaRPr lang="en-US" altLang="ko-KR" sz="2400" b="0" dirty="0">
                        <a:effectLst/>
                      </a:endParaRPr>
                    </a:p>
                    <a:p>
                      <a:pPr rtl="0"/>
                      <a:r>
                        <a:rPr lang="en-US" altLang="ko-KR" sz="2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2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최초 일치</a:t>
                      </a:r>
                      <a:r>
                        <a:rPr lang="en-US" altLang="ko-KR" sz="2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2400" b="0" dirty="0"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ko-KR" altLang="en-US" sz="2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패킷이 특정 규칙</a:t>
                      </a:r>
                      <a:r>
                        <a:rPr lang="en-US" altLang="ko-KR" sz="2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(Rule)</a:t>
                      </a:r>
                      <a:r>
                        <a:rPr lang="ko-KR" altLang="en-US" sz="2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과 최초로 일치하는 순간</a:t>
                      </a:r>
                      <a:r>
                        <a:rPr lang="en-US" altLang="ko-KR" sz="2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2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나머지 아래 규칙들은 전부 무시</a:t>
                      </a:r>
                      <a:endParaRPr lang="ko-KR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5825625"/>
                  </a:ext>
                </a:extLst>
              </a:tr>
              <a:tr h="1953839">
                <a:tc>
                  <a:txBody>
                    <a:bodyPr/>
                    <a:lstStyle/>
                    <a:p>
                      <a:pPr rtl="0"/>
                      <a:r>
                        <a:rPr lang="en-US" altLang="ko-KR" sz="2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Deny(Default)</a:t>
                      </a:r>
                      <a:endParaRPr lang="ko-KR" altLang="en-US" sz="2400" b="0" dirty="0">
                        <a:effectLst/>
                      </a:endParaRPr>
                    </a:p>
                    <a:p>
                      <a:pPr rtl="0"/>
                      <a:r>
                        <a:rPr lang="en-US" altLang="ko-KR" sz="2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2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거부가 기본값</a:t>
                      </a:r>
                      <a:r>
                        <a:rPr lang="en-US" altLang="ko-KR" sz="2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2400" b="0" dirty="0">
                        <a:effectLst/>
                      </a:endParaRPr>
                    </a:p>
                    <a:p>
                      <a:br>
                        <a:rPr lang="ko-KR" altLang="en-US" sz="2400" dirty="0"/>
                      </a:br>
                      <a:endParaRPr lang="ko-KR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just" rtl="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2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ACL </a:t>
                      </a:r>
                      <a:r>
                        <a:rPr lang="ko-KR" altLang="en-US" sz="2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목록의 맨 마지막 줄에는 모든 트래픽을 거부하는 규칙이 명시적 또는 암묵적으로 존재</a:t>
                      </a:r>
                      <a:endParaRPr lang="en-US" altLang="ko-KR" sz="24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indent="-342900" algn="just" rtl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2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그렇기 때문에 </a:t>
                      </a:r>
                      <a:r>
                        <a:rPr lang="en-US" altLang="ko-KR" sz="2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Access list</a:t>
                      </a:r>
                      <a:r>
                        <a:rPr lang="ko-KR" altLang="en-US" sz="2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를 설정하자마자 전부 </a:t>
                      </a:r>
                      <a:r>
                        <a:rPr lang="en-US" altLang="ko-KR" sz="2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deny</a:t>
                      </a:r>
                      <a:r>
                        <a:rPr lang="ko-KR" altLang="en-US" sz="2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 되기 때문에 </a:t>
                      </a:r>
                      <a:r>
                        <a:rPr lang="en-US" altLang="ko-KR" sz="2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permit</a:t>
                      </a:r>
                      <a:r>
                        <a:rPr lang="ko-KR" altLang="en-US" sz="2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을 해주어야 사용이 가능</a:t>
                      </a:r>
                      <a:endParaRPr lang="ko-KR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05801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44670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B1FD5-36D9-9E0A-DE48-7244D2C12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4BD833-3019-266F-5E4D-6F8560046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named</a:t>
            </a:r>
            <a:r>
              <a:rPr lang="ko-KR" altLang="en-US" dirty="0"/>
              <a:t> </a:t>
            </a:r>
            <a:r>
              <a:rPr lang="en-US" altLang="ko-KR" dirty="0"/>
              <a:t>ACL</a:t>
            </a:r>
            <a:r>
              <a:rPr lang="ko-KR" altLang="en-US" b="1" dirty="0">
                <a:effectLst/>
              </a:rPr>
              <a:t> </a:t>
            </a:r>
            <a:r>
              <a:rPr lang="en-US" altLang="ko-KR" dirty="0">
                <a:effectLst/>
              </a:rPr>
              <a:t>(</a:t>
            </a:r>
            <a:r>
              <a:rPr lang="ko-KR" altLang="en-US" dirty="0">
                <a:effectLst/>
              </a:rPr>
              <a:t>이름 기반 </a:t>
            </a:r>
            <a:r>
              <a:rPr lang="en-US" altLang="ko-KR" dirty="0">
                <a:effectLst/>
              </a:rPr>
              <a:t>ACL)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13CA34-4EB9-03C4-3B13-F071EC8413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54447" cy="4351338"/>
          </a:xfrm>
        </p:spPr>
        <p:txBody>
          <a:bodyPr>
            <a:normAutofit lnSpcReduction="10000"/>
          </a:bodyPr>
          <a:lstStyle/>
          <a:p>
            <a:r>
              <a:rPr lang="ko-KR" altLang="en-US" dirty="0"/>
              <a:t> </a:t>
            </a:r>
            <a:r>
              <a:rPr lang="en-US" altLang="ko-KR" dirty="0"/>
              <a:t>access-list</a:t>
            </a:r>
            <a:r>
              <a:rPr lang="ko-KR" altLang="en-US" dirty="0"/>
              <a:t>명을 숫자가 아닌 이름으로 쓰는 것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b="0" dirty="0">
                <a:effectLst/>
              </a:rPr>
              <a:t>   </a:t>
            </a:r>
            <a:r>
              <a:rPr lang="en-US" altLang="ko-KR" b="0" dirty="0">
                <a:effectLst/>
              </a:rPr>
              <a:t>ex) </a:t>
            </a:r>
            <a:r>
              <a:rPr lang="en-US" altLang="ko-KR" b="0" dirty="0" err="1">
                <a:effectLst/>
              </a:rPr>
              <a:t>ip</a:t>
            </a:r>
            <a:r>
              <a:rPr lang="en-US" altLang="ko-KR" b="0" dirty="0">
                <a:effectLst/>
              </a:rPr>
              <a:t> access-list standard </a:t>
            </a:r>
            <a:r>
              <a:rPr lang="en-US" altLang="ko-KR" b="0" dirty="0" err="1">
                <a:solidFill>
                  <a:srgbClr val="FF0000"/>
                </a:solidFill>
                <a:effectLst/>
              </a:rPr>
              <a:t>Block_HTTP</a:t>
            </a:r>
            <a:endParaRPr lang="en-US" altLang="ko-KR" b="0" dirty="0">
              <a:solidFill>
                <a:srgbClr val="FF0000"/>
              </a:solidFill>
              <a:effectLst/>
            </a:endParaRPr>
          </a:p>
          <a:p>
            <a:pPr marL="0" indent="0">
              <a:buNone/>
            </a:pPr>
            <a:endParaRPr lang="ko-KR" altLang="en-US" b="0" dirty="0">
              <a:effectLst/>
            </a:endParaRPr>
          </a:p>
          <a:p>
            <a:r>
              <a:rPr lang="ko-KR" altLang="en-US" dirty="0"/>
              <a:t>사용 이유</a:t>
            </a:r>
            <a:endParaRPr lang="ko-KR" altLang="en-US" b="0" dirty="0">
              <a:effectLst/>
            </a:endParaRPr>
          </a:p>
          <a:p>
            <a:pPr marL="514350" indent="-514350" fontAlgn="base">
              <a:buFont typeface="+mj-lt"/>
              <a:buAutoNum type="arabicPeriod"/>
            </a:pPr>
            <a:r>
              <a:rPr lang="ko-KR" altLang="en-US" dirty="0"/>
              <a:t>기억하기 쉽다</a:t>
            </a:r>
            <a:r>
              <a:rPr lang="en-US" altLang="ko-KR" dirty="0"/>
              <a:t>.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altLang="ko-KR" dirty="0"/>
              <a:t>Named</a:t>
            </a:r>
            <a:r>
              <a:rPr lang="ko-KR" altLang="en-US" dirty="0"/>
              <a:t> </a:t>
            </a:r>
            <a:r>
              <a:rPr lang="en-US" altLang="ko-KR" dirty="0"/>
              <a:t>ACL</a:t>
            </a:r>
            <a:r>
              <a:rPr lang="ko-KR" altLang="en-US" dirty="0"/>
              <a:t>은 중간 삽입 수정이 가능하다</a:t>
            </a:r>
            <a:r>
              <a:rPr lang="en-US" altLang="ko-KR" dirty="0"/>
              <a:t>.</a:t>
            </a:r>
          </a:p>
          <a:p>
            <a:pPr marL="514350" indent="-514350" fontAlgn="base">
              <a:buFont typeface="+mj-lt"/>
              <a:buAutoNum type="arabicPeriod"/>
            </a:pPr>
            <a:endParaRPr lang="en-US" altLang="ko-KR" dirty="0"/>
          </a:p>
          <a:p>
            <a:pPr fontAlgn="base"/>
            <a:r>
              <a:rPr lang="en-US" altLang="ko-KR" dirty="0"/>
              <a:t>named</a:t>
            </a:r>
            <a:r>
              <a:rPr lang="ko-KR" altLang="en-US" dirty="0"/>
              <a:t>로 설정할 때는 표준인지 확장인지 명시해줘야 한다</a:t>
            </a:r>
            <a:r>
              <a:rPr lang="en-US" altLang="ko-KR" dirty="0"/>
              <a:t>.</a:t>
            </a:r>
            <a:br>
              <a:rPr lang="ko-KR" altLang="en-US" dirty="0"/>
            </a:br>
            <a:endParaRPr lang="en-US" altLang="ko-KR" dirty="0"/>
          </a:p>
          <a:p>
            <a:pPr marL="0" indent="0" fontAlgn="base">
              <a:buNone/>
            </a:pPr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3450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CC1F8-8F14-B06B-5F08-B0BBFD2CC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FC5186-482C-C934-F6BA-4A05CC3AD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named</a:t>
            </a:r>
            <a:r>
              <a:rPr lang="ko-KR" altLang="en-US" dirty="0"/>
              <a:t> </a:t>
            </a:r>
            <a:r>
              <a:rPr lang="en-US" altLang="ko-KR" dirty="0"/>
              <a:t>ACL</a:t>
            </a:r>
            <a:r>
              <a:rPr lang="ko-KR" altLang="en-US" b="1" dirty="0">
                <a:effectLst/>
              </a:rPr>
              <a:t> </a:t>
            </a:r>
            <a:r>
              <a:rPr lang="en-US" altLang="ko-KR" dirty="0">
                <a:effectLst/>
              </a:rPr>
              <a:t>(</a:t>
            </a:r>
            <a:r>
              <a:rPr lang="ko-KR" altLang="en-US" dirty="0">
                <a:effectLst/>
              </a:rPr>
              <a:t>이름 기반 </a:t>
            </a:r>
            <a:r>
              <a:rPr lang="en-US" altLang="ko-KR" dirty="0">
                <a:effectLst/>
              </a:rPr>
              <a:t>ACL)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7242C4-0BC5-9A55-E64B-B0AEDA939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54447" cy="4351338"/>
          </a:xfrm>
        </p:spPr>
        <p:txBody>
          <a:bodyPr/>
          <a:lstStyle/>
          <a:p>
            <a:r>
              <a:rPr lang="ko-KR" altLang="en-US" dirty="0"/>
              <a:t> </a:t>
            </a:r>
            <a:r>
              <a:rPr lang="en-US" altLang="ko-KR" dirty="0"/>
              <a:t>named </a:t>
            </a:r>
            <a:r>
              <a:rPr lang="ko-KR" altLang="en-US" dirty="0"/>
              <a:t>표준 </a:t>
            </a:r>
            <a:r>
              <a:rPr lang="en-US" altLang="ko-KR" dirty="0"/>
              <a:t>ACL</a:t>
            </a:r>
            <a:endParaRPr lang="ko-KR" altLang="en-US" b="0" dirty="0">
              <a:effectLst/>
            </a:endParaRPr>
          </a:p>
          <a:p>
            <a:pPr marL="0" indent="0">
              <a:buNone/>
            </a:pPr>
            <a:r>
              <a:rPr lang="ko-KR" altLang="en-US" dirty="0"/>
              <a:t>   표준 </a:t>
            </a:r>
            <a:r>
              <a:rPr lang="en-US" altLang="ko-KR" dirty="0"/>
              <a:t>ACL </a:t>
            </a:r>
            <a:r>
              <a:rPr lang="ko-KR" altLang="en-US" dirty="0"/>
              <a:t>과 동일하지만 표준 </a:t>
            </a:r>
            <a:r>
              <a:rPr lang="en-US" altLang="ko-KR" dirty="0"/>
              <a:t>ACL</a:t>
            </a:r>
            <a:r>
              <a:rPr lang="ko-KR" altLang="en-US" dirty="0"/>
              <a:t>에서 쓰였던 번호 대신 문자로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</a:t>
            </a:r>
            <a:r>
              <a:rPr lang="ko-KR" altLang="en-US" dirty="0"/>
              <a:t>정의</a:t>
            </a:r>
            <a:endParaRPr lang="en-US" altLang="ko-KR" dirty="0"/>
          </a:p>
          <a:p>
            <a:pPr marL="0" indent="0">
              <a:buNone/>
            </a:pPr>
            <a:endParaRPr lang="ko-KR" altLang="en-US" b="0" dirty="0">
              <a:effectLst/>
            </a:endParaRPr>
          </a:p>
          <a:p>
            <a:r>
              <a:rPr lang="en-US" altLang="ko-KR" dirty="0"/>
              <a:t>named</a:t>
            </a:r>
            <a:r>
              <a:rPr lang="ko-KR" altLang="en-US" dirty="0"/>
              <a:t>로 설정할 때는 표준인지 확장인지 명시해줘야 한다</a:t>
            </a:r>
            <a:r>
              <a:rPr lang="en-US" altLang="ko-KR" dirty="0"/>
              <a:t>.</a:t>
            </a:r>
            <a:br>
              <a:rPr lang="ko-KR" altLang="en-US" dirty="0"/>
            </a:b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5C86829-74E1-ECC0-A46E-909C4BA0087D}"/>
              </a:ext>
            </a:extLst>
          </p:cNvPr>
          <p:cNvSpPr/>
          <p:nvPr/>
        </p:nvSpPr>
        <p:spPr>
          <a:xfrm>
            <a:off x="506186" y="1567543"/>
            <a:ext cx="11186460" cy="492533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4000" b="1" dirty="0"/>
              <a:t>명령어</a:t>
            </a:r>
            <a:endParaRPr lang="en-US" altLang="ko-KR" sz="4000" b="1" dirty="0"/>
          </a:p>
          <a:p>
            <a:r>
              <a:rPr lang="en-US" altLang="ko-KR" sz="2800" dirty="0" err="1"/>
              <a:t>ip</a:t>
            </a:r>
            <a:r>
              <a:rPr lang="en-US" altLang="ko-KR" sz="2800" dirty="0"/>
              <a:t> access-list </a:t>
            </a:r>
            <a:r>
              <a:rPr lang="en-US" altLang="ko-KR" sz="2800" dirty="0">
                <a:solidFill>
                  <a:schemeClr val="accent4"/>
                </a:solidFill>
              </a:rPr>
              <a:t>[standard | extended]  </a:t>
            </a:r>
            <a:r>
              <a:rPr lang="en-US" altLang="ko-KR" sz="2800" dirty="0"/>
              <a:t>[</a:t>
            </a:r>
            <a:r>
              <a:rPr lang="en-US" altLang="ko-KR" sz="2800" dirty="0" err="1"/>
              <a:t>acl</a:t>
            </a:r>
            <a:r>
              <a:rPr lang="ko-KR" altLang="en-US" sz="2800" dirty="0"/>
              <a:t>이름</a:t>
            </a:r>
            <a:r>
              <a:rPr lang="en-US" altLang="ko-KR" sz="2800" dirty="0"/>
              <a:t>]</a:t>
            </a:r>
          </a:p>
          <a:p>
            <a:r>
              <a:rPr lang="en-US" altLang="ko-KR" sz="2800" dirty="0">
                <a:solidFill>
                  <a:schemeClr val="accent5"/>
                </a:solidFill>
              </a:rPr>
              <a:t>[permit | deny]</a:t>
            </a:r>
            <a:r>
              <a:rPr lang="en-US" altLang="ko-KR" sz="2800" dirty="0">
                <a:solidFill>
                  <a:schemeClr val="accent6"/>
                </a:solidFill>
              </a:rPr>
              <a:t> [IP </a:t>
            </a:r>
            <a:r>
              <a:rPr lang="ko-KR" altLang="en-US" sz="2800" dirty="0">
                <a:solidFill>
                  <a:schemeClr val="accent6"/>
                </a:solidFill>
              </a:rPr>
              <a:t>주소</a:t>
            </a:r>
            <a:r>
              <a:rPr lang="en-US" altLang="ko-KR" sz="2800" dirty="0">
                <a:solidFill>
                  <a:schemeClr val="accent6"/>
                </a:solidFill>
              </a:rPr>
              <a:t>]</a:t>
            </a:r>
            <a:r>
              <a:rPr lang="en-US" altLang="ko-KR" sz="2800" dirty="0"/>
              <a:t> </a:t>
            </a:r>
            <a:r>
              <a:rPr lang="en-US" altLang="ko-KR" sz="2800" dirty="0">
                <a:solidFill>
                  <a:srgbClr val="FF0000"/>
                </a:solidFill>
              </a:rPr>
              <a:t>[</a:t>
            </a:r>
            <a:r>
              <a:rPr lang="ko-KR" altLang="en-US" sz="2800" dirty="0">
                <a:solidFill>
                  <a:srgbClr val="FF0000"/>
                </a:solidFill>
              </a:rPr>
              <a:t>와일드카드 마스크</a:t>
            </a:r>
            <a:r>
              <a:rPr lang="en-US" altLang="ko-KR" sz="2800" dirty="0">
                <a:solidFill>
                  <a:srgbClr val="FF0000"/>
                </a:solidFill>
              </a:rPr>
              <a:t>]</a:t>
            </a:r>
          </a:p>
          <a:p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1330520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293FA2-92E9-1393-E770-4F92E9699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106" y="83023"/>
            <a:ext cx="10515600" cy="1325563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표준</a:t>
            </a:r>
            <a:r>
              <a:rPr lang="en-US" altLang="ko-KR" dirty="0"/>
              <a:t>,named</a:t>
            </a:r>
            <a:r>
              <a:rPr lang="ko-KR" altLang="en-US" dirty="0"/>
              <a:t> </a:t>
            </a:r>
            <a:r>
              <a:rPr lang="en-US" altLang="ko-KR" dirty="0"/>
              <a:t>ACL </a:t>
            </a:r>
            <a:r>
              <a:rPr lang="ko-KR" altLang="en-US" dirty="0"/>
              <a:t>실습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32789F73-5AF2-EDD8-0104-DC66A38A9B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73668" y="1095952"/>
            <a:ext cx="5908476" cy="567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2225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B3288-5E1F-EEA2-C6CA-C8C6FEC3C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153949-D8A9-4D7B-9F74-C9895AB71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106" y="83023"/>
            <a:ext cx="10515600" cy="1325563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표준</a:t>
            </a:r>
            <a:r>
              <a:rPr lang="en-US" altLang="ko-KR" dirty="0"/>
              <a:t>,named</a:t>
            </a:r>
            <a:r>
              <a:rPr lang="ko-KR" altLang="en-US" dirty="0"/>
              <a:t> </a:t>
            </a:r>
            <a:r>
              <a:rPr lang="en-US" altLang="ko-KR" dirty="0"/>
              <a:t>ACL </a:t>
            </a:r>
            <a:r>
              <a:rPr lang="ko-KR" altLang="en-US" dirty="0"/>
              <a:t>실습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54BA7A63-89EA-E583-E79E-F8369FF20F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73668" y="1095952"/>
            <a:ext cx="5908476" cy="5679025"/>
          </a:xfrm>
          <a:prstGeom prst="rect">
            <a:avLst/>
          </a:prstGeom>
        </p:spPr>
      </p:pic>
      <p:sp>
        <p:nvSpPr>
          <p:cNvPr id="3" name="타원 2">
            <a:extLst>
              <a:ext uri="{FF2B5EF4-FFF2-40B4-BE49-F238E27FC236}">
                <a16:creationId xmlns:a16="http://schemas.microsoft.com/office/drawing/2014/main" id="{42E9CD4F-5CD7-4F88-8257-98E71419D437}"/>
              </a:ext>
            </a:extLst>
          </p:cNvPr>
          <p:cNvSpPr/>
          <p:nvPr/>
        </p:nvSpPr>
        <p:spPr>
          <a:xfrm>
            <a:off x="2791838" y="5607658"/>
            <a:ext cx="1653702" cy="1167319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9562B692-5E23-A73F-E949-0A1D54D4F50D}"/>
              </a:ext>
            </a:extLst>
          </p:cNvPr>
          <p:cNvCxnSpPr>
            <a:cxnSpLocks/>
          </p:cNvCxnSpPr>
          <p:nvPr/>
        </p:nvCxnSpPr>
        <p:spPr>
          <a:xfrm flipV="1">
            <a:off x="4027251" y="1896894"/>
            <a:ext cx="1060314" cy="371076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곱하기 기호 8">
            <a:extLst>
              <a:ext uri="{FF2B5EF4-FFF2-40B4-BE49-F238E27FC236}">
                <a16:creationId xmlns:a16="http://schemas.microsoft.com/office/drawing/2014/main" id="{B78E5608-9A14-D6F4-E713-CF29DC70EB23}"/>
              </a:ext>
            </a:extLst>
          </p:cNvPr>
          <p:cNvSpPr/>
          <p:nvPr/>
        </p:nvSpPr>
        <p:spPr>
          <a:xfrm>
            <a:off x="4255850" y="3167653"/>
            <a:ext cx="603116" cy="924128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92815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EC6E8-6338-E52B-2F71-4152C3207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DA8087-3E40-4D29-8E49-1644AF77F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106" y="83023"/>
            <a:ext cx="10515600" cy="1325563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표준</a:t>
            </a:r>
            <a:r>
              <a:rPr lang="en-US" altLang="ko-KR" dirty="0"/>
              <a:t>,named</a:t>
            </a:r>
            <a:r>
              <a:rPr lang="ko-KR" altLang="en-US" dirty="0"/>
              <a:t> </a:t>
            </a:r>
            <a:r>
              <a:rPr lang="en-US" altLang="ko-KR" dirty="0"/>
              <a:t>ACL </a:t>
            </a:r>
            <a:r>
              <a:rPr lang="ko-KR" altLang="en-US" dirty="0"/>
              <a:t>실습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E1297BDC-9C6A-FE7C-5081-53C3EADEB4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73668" y="1095952"/>
            <a:ext cx="5908476" cy="5679025"/>
          </a:xfrm>
          <a:prstGeom prst="rect">
            <a:avLst/>
          </a:prstGeom>
        </p:spPr>
      </p:pic>
      <p:sp>
        <p:nvSpPr>
          <p:cNvPr id="3" name="타원 2">
            <a:extLst>
              <a:ext uri="{FF2B5EF4-FFF2-40B4-BE49-F238E27FC236}">
                <a16:creationId xmlns:a16="http://schemas.microsoft.com/office/drawing/2014/main" id="{CC9078D2-C4DD-DD63-9012-595C7ECD008A}"/>
              </a:ext>
            </a:extLst>
          </p:cNvPr>
          <p:cNvSpPr/>
          <p:nvPr/>
        </p:nvSpPr>
        <p:spPr>
          <a:xfrm>
            <a:off x="2702666" y="5520733"/>
            <a:ext cx="4312599" cy="1325563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곱하기 기호 8">
            <a:extLst>
              <a:ext uri="{FF2B5EF4-FFF2-40B4-BE49-F238E27FC236}">
                <a16:creationId xmlns:a16="http://schemas.microsoft.com/office/drawing/2014/main" id="{4FD6E66E-010D-AC79-F9AD-00E6243ED7F2}"/>
              </a:ext>
            </a:extLst>
          </p:cNvPr>
          <p:cNvSpPr/>
          <p:nvPr/>
        </p:nvSpPr>
        <p:spPr>
          <a:xfrm>
            <a:off x="5613868" y="3473400"/>
            <a:ext cx="603116" cy="924128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연결선: 꺾임 5">
            <a:extLst>
              <a:ext uri="{FF2B5EF4-FFF2-40B4-BE49-F238E27FC236}">
                <a16:creationId xmlns:a16="http://schemas.microsoft.com/office/drawing/2014/main" id="{DBAD5FCF-BB13-35C7-21DE-52ED2BB2BBFC}"/>
              </a:ext>
            </a:extLst>
          </p:cNvPr>
          <p:cNvCxnSpPr>
            <a:cxnSpLocks/>
            <a:stCxn id="3" idx="0"/>
          </p:cNvCxnSpPr>
          <p:nvPr/>
        </p:nvCxnSpPr>
        <p:spPr>
          <a:xfrm rot="5400000" flipH="1" flipV="1">
            <a:off x="5735572" y="3058859"/>
            <a:ext cx="1585269" cy="3338480"/>
          </a:xfrm>
          <a:prstGeom prst="bentConnector2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66929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36BCE-327F-9523-4D18-CBE5FF7D8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67690F-7E69-AB34-BB4E-983F999F5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확장</a:t>
            </a:r>
            <a:r>
              <a:rPr lang="en-US" altLang="ko-KR" dirty="0"/>
              <a:t> ACL (extended ACL)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E91A64-72E9-99B0-4BBA-94F50991A4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 sz="3200" dirty="0"/>
              <a:t>등장 배경</a:t>
            </a:r>
            <a:r>
              <a:rPr lang="en-US" altLang="ko-KR" sz="3200" dirty="0"/>
              <a:t>: </a:t>
            </a:r>
            <a:r>
              <a:rPr lang="ko-KR" altLang="en-US" sz="3200" dirty="0"/>
              <a:t>표준 </a:t>
            </a:r>
            <a:r>
              <a:rPr lang="en-US" altLang="ko-KR" sz="3200" dirty="0"/>
              <a:t>ACL</a:t>
            </a:r>
            <a:r>
              <a:rPr lang="ko-KR" altLang="en-US" sz="3200" dirty="0"/>
              <a:t>의 한계</a:t>
            </a:r>
            <a:br>
              <a:rPr lang="ko-KR" altLang="en-US" sz="3200" dirty="0"/>
            </a:br>
            <a:endParaRPr lang="en-US" altLang="ko-KR" sz="3200" dirty="0"/>
          </a:p>
          <a:p>
            <a:r>
              <a:rPr lang="ko-KR" altLang="en-US" sz="3200" dirty="0"/>
              <a:t>표준 </a:t>
            </a:r>
            <a:r>
              <a:rPr lang="en-US" altLang="ko-KR" sz="3200" dirty="0"/>
              <a:t>ACL</a:t>
            </a:r>
            <a:r>
              <a:rPr lang="ko-KR" altLang="en-US" sz="3200" dirty="0"/>
              <a:t>과의 차이점</a:t>
            </a:r>
          </a:p>
          <a:p>
            <a:pPr marL="0" indent="0">
              <a:buNone/>
            </a:pPr>
            <a:r>
              <a:rPr lang="ko-KR" altLang="en-US" sz="3200" dirty="0"/>
              <a:t>  기준</a:t>
            </a:r>
            <a:r>
              <a:rPr lang="en-US" altLang="ko-KR" sz="3200" dirty="0"/>
              <a:t>: </a:t>
            </a:r>
            <a:r>
              <a:rPr lang="ko-KR" altLang="en-US" sz="3200" dirty="0"/>
              <a:t>출발지 </a:t>
            </a:r>
            <a:r>
              <a:rPr lang="en-US" altLang="ko-KR" sz="3200" dirty="0"/>
              <a:t>+ </a:t>
            </a:r>
            <a:r>
              <a:rPr lang="ko-KR" altLang="en-US" sz="3200" dirty="0"/>
              <a:t>목적지 </a:t>
            </a:r>
            <a:r>
              <a:rPr lang="en-US" altLang="ko-KR" sz="3200" dirty="0"/>
              <a:t>IP, </a:t>
            </a:r>
            <a:r>
              <a:rPr lang="ko-KR" altLang="en-US" sz="3200" dirty="0"/>
              <a:t>프로토콜</a:t>
            </a:r>
            <a:r>
              <a:rPr lang="en-US" altLang="ko-KR" sz="3200" dirty="0"/>
              <a:t>, </a:t>
            </a:r>
            <a:r>
              <a:rPr lang="ko-KR" altLang="en-US" sz="3200" dirty="0"/>
              <a:t>서비스명</a:t>
            </a:r>
            <a:r>
              <a:rPr lang="en-US" altLang="ko-KR" sz="3200" dirty="0"/>
              <a:t>(</a:t>
            </a:r>
            <a:r>
              <a:rPr lang="ko-KR" altLang="en-US" sz="3200" dirty="0"/>
              <a:t>포트 번호</a:t>
            </a:r>
            <a:r>
              <a:rPr lang="en-US" altLang="ko-KR" sz="3200" dirty="0"/>
              <a:t>)</a:t>
            </a:r>
            <a:endParaRPr lang="ko-KR" altLang="en-US" sz="3200" dirty="0"/>
          </a:p>
          <a:p>
            <a:pPr marL="0" indent="0">
              <a:buNone/>
            </a:pPr>
            <a:r>
              <a:rPr lang="ko-KR" altLang="en-US" sz="3200" dirty="0"/>
              <a:t>  번호</a:t>
            </a:r>
            <a:r>
              <a:rPr lang="en-US" altLang="ko-KR" sz="3200" dirty="0"/>
              <a:t>: 100 ~ 199 &amp; 2000 ~ 2699</a:t>
            </a:r>
          </a:p>
          <a:p>
            <a:pPr marL="0" indent="0">
              <a:buNone/>
            </a:pPr>
            <a:r>
              <a:rPr lang="ko-KR" altLang="en-US" sz="3200" dirty="0"/>
              <a:t>  위치</a:t>
            </a:r>
            <a:r>
              <a:rPr lang="en-US" altLang="ko-KR" sz="3200" dirty="0"/>
              <a:t>: </a:t>
            </a:r>
            <a:r>
              <a:rPr lang="ko-KR" altLang="en-US" sz="3200" dirty="0"/>
              <a:t>출발지 근처 </a:t>
            </a:r>
            <a:r>
              <a:rPr lang="en-US" altLang="ko-KR" sz="3200" dirty="0"/>
              <a:t>(</a:t>
            </a:r>
            <a:r>
              <a:rPr lang="ko-KR" altLang="en-US" sz="3200" dirty="0"/>
              <a:t>권장</a:t>
            </a:r>
            <a:r>
              <a:rPr lang="en-US" altLang="ko-KR" sz="3200" dirty="0"/>
              <a:t>)</a:t>
            </a:r>
          </a:p>
          <a:p>
            <a:endParaRPr lang="en-US" altLang="ko-KR" sz="3200" dirty="0"/>
          </a:p>
          <a:p>
            <a:r>
              <a:rPr lang="ko-KR" altLang="en-US" sz="3200" dirty="0"/>
              <a:t>사용 목적</a:t>
            </a:r>
            <a:r>
              <a:rPr lang="en-US" altLang="ko-KR" sz="3200" dirty="0"/>
              <a:t>: </a:t>
            </a:r>
            <a:r>
              <a:rPr lang="ko-KR" altLang="en-US" sz="3200" dirty="0"/>
              <a:t>라우터에서 보안제공</a:t>
            </a:r>
            <a:r>
              <a:rPr lang="en-US" altLang="ko-KR" sz="3200" dirty="0"/>
              <a:t>, </a:t>
            </a:r>
            <a:r>
              <a:rPr lang="ko-KR" altLang="en-US" sz="3200" dirty="0"/>
              <a:t>네트워크의 트래픽 제어</a:t>
            </a:r>
            <a:br>
              <a:rPr lang="ko-KR" altLang="en-US" sz="3200" dirty="0"/>
            </a:b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8481673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CF1BA-2BDB-8129-05FF-C5D776305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A68CBB-902E-700B-DE51-8DFC94201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확장</a:t>
            </a:r>
            <a:r>
              <a:rPr lang="en-US" altLang="ko-KR" dirty="0"/>
              <a:t> ACL (extended ACL)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769390-491D-8C1A-060F-63E436AA75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567543"/>
            <a:ext cx="10782300" cy="4609420"/>
          </a:xfrm>
        </p:spPr>
        <p:txBody>
          <a:bodyPr>
            <a:normAutofit fontScale="92500" lnSpcReduction="20000"/>
          </a:bodyPr>
          <a:lstStyle/>
          <a:p>
            <a:r>
              <a:rPr lang="en-US" altLang="ko-KR" sz="3000" dirty="0"/>
              <a:t>1</a:t>
            </a:r>
            <a:r>
              <a:rPr lang="ko-KR" altLang="en-US" sz="3000" dirty="0"/>
              <a:t>단계</a:t>
            </a:r>
            <a:r>
              <a:rPr lang="en-US" altLang="ko-KR" sz="3000" dirty="0"/>
              <a:t>: ACL </a:t>
            </a:r>
            <a:r>
              <a:rPr lang="ko-KR" altLang="en-US" sz="3000" dirty="0"/>
              <a:t>생성 </a:t>
            </a:r>
            <a:r>
              <a:rPr lang="en-US" altLang="ko-KR" sz="3000" dirty="0"/>
              <a:t>(</a:t>
            </a:r>
            <a:r>
              <a:rPr lang="ko-KR" altLang="en-US" sz="3000" dirty="0"/>
              <a:t>규칙 정의</a:t>
            </a:r>
            <a:r>
              <a:rPr lang="en-US" altLang="ko-KR" sz="3000" dirty="0"/>
              <a:t>)</a:t>
            </a:r>
          </a:p>
          <a:p>
            <a:pPr marL="0" indent="0">
              <a:buNone/>
            </a:pPr>
            <a:r>
              <a:rPr lang="en-US" altLang="ko-KR" sz="3000" dirty="0"/>
              <a:t>access-list </a:t>
            </a:r>
            <a:r>
              <a:rPr lang="ko-KR" altLang="en-US" sz="3000" dirty="0"/>
              <a:t>번호 </a:t>
            </a:r>
            <a:r>
              <a:rPr lang="en-US" altLang="ko-KR" sz="3000" dirty="0"/>
              <a:t>[deny/permit/remark] protocol </a:t>
            </a:r>
            <a:r>
              <a:rPr lang="ko-KR" altLang="en-US" sz="3000" dirty="0"/>
              <a:t>출발</a:t>
            </a:r>
            <a:r>
              <a:rPr lang="en-US" altLang="ko-KR" sz="3000" dirty="0" err="1"/>
              <a:t>ip</a:t>
            </a:r>
            <a:endParaRPr lang="en-US" altLang="ko-KR" sz="3000" dirty="0"/>
          </a:p>
          <a:p>
            <a:pPr marL="0" indent="0">
              <a:buNone/>
            </a:pPr>
            <a:r>
              <a:rPr lang="ko-KR" altLang="en-US" sz="3000" dirty="0"/>
              <a:t>출발</a:t>
            </a:r>
            <a:r>
              <a:rPr lang="en-US" altLang="ko-KR" sz="3000" dirty="0" err="1"/>
              <a:t>wildmask</a:t>
            </a:r>
            <a:r>
              <a:rPr lang="en-US" altLang="ko-KR" sz="3000" dirty="0"/>
              <a:t> </a:t>
            </a:r>
            <a:r>
              <a:rPr lang="ko-KR" altLang="en-US" sz="3000" dirty="0"/>
              <a:t>목적</a:t>
            </a:r>
            <a:r>
              <a:rPr lang="en-US" altLang="ko-KR" sz="3000" dirty="0" err="1"/>
              <a:t>ip</a:t>
            </a:r>
            <a:r>
              <a:rPr lang="en-US" altLang="ko-KR" sz="3000" dirty="0"/>
              <a:t> </a:t>
            </a:r>
            <a:r>
              <a:rPr lang="ko-KR" altLang="en-US" sz="3000" dirty="0"/>
              <a:t>목적</a:t>
            </a:r>
            <a:r>
              <a:rPr lang="en-US" altLang="ko-KR" sz="3000" dirty="0" err="1"/>
              <a:t>wildmask</a:t>
            </a:r>
            <a:r>
              <a:rPr lang="en-US" altLang="ko-KR" sz="3000" dirty="0"/>
              <a:t> [</a:t>
            </a:r>
            <a:r>
              <a:rPr lang="ko-KR" altLang="en-US" sz="3000" dirty="0"/>
              <a:t>옵션</a:t>
            </a:r>
            <a:r>
              <a:rPr lang="en-US" altLang="ko-KR" sz="3000" dirty="0"/>
              <a:t>: </a:t>
            </a:r>
            <a:r>
              <a:rPr lang="ko-KR" altLang="en-US" sz="3000" dirty="0"/>
              <a:t>서비스</a:t>
            </a:r>
            <a:r>
              <a:rPr lang="en-US" altLang="ko-KR" sz="3000" dirty="0"/>
              <a:t>/</a:t>
            </a:r>
            <a:r>
              <a:rPr lang="ko-KR" altLang="en-US" sz="3000" dirty="0"/>
              <a:t>포트</a:t>
            </a:r>
            <a:r>
              <a:rPr lang="en-US" altLang="ko-KR" sz="3000" dirty="0"/>
              <a:t>]</a:t>
            </a:r>
            <a:endParaRPr lang="ko-KR" altLang="en-US" sz="3000" b="0" dirty="0">
              <a:effectLst/>
            </a:endParaRPr>
          </a:p>
          <a:p>
            <a:pPr marL="0" indent="0">
              <a:buNone/>
            </a:pPr>
            <a:endParaRPr lang="en-US" altLang="ko-KR" sz="3000" dirty="0"/>
          </a:p>
          <a:p>
            <a:r>
              <a:rPr lang="en-US" altLang="ko-KR" sz="3000" dirty="0"/>
              <a:t>2</a:t>
            </a:r>
            <a:r>
              <a:rPr lang="ko-KR" altLang="en-US" sz="3000" dirty="0"/>
              <a:t>단계</a:t>
            </a:r>
            <a:r>
              <a:rPr lang="en-US" altLang="ko-KR" sz="3000" dirty="0"/>
              <a:t>: ACL </a:t>
            </a:r>
            <a:r>
              <a:rPr lang="ko-KR" altLang="en-US" sz="3000" dirty="0"/>
              <a:t>적용 </a:t>
            </a:r>
            <a:r>
              <a:rPr lang="en-US" altLang="ko-KR" sz="3000" dirty="0"/>
              <a:t>(</a:t>
            </a:r>
            <a:r>
              <a:rPr lang="ko-KR" altLang="en-US" sz="3000" dirty="0"/>
              <a:t>인터페이스</a:t>
            </a:r>
            <a:r>
              <a:rPr lang="en-US" altLang="ko-KR" sz="3000" dirty="0"/>
              <a:t>) </a:t>
            </a:r>
          </a:p>
          <a:p>
            <a:pPr marL="0" indent="0">
              <a:buNone/>
            </a:pPr>
            <a:r>
              <a:rPr lang="en-US" altLang="ko-KR" sz="3000" dirty="0"/>
              <a:t>  interface</a:t>
            </a:r>
            <a:r>
              <a:rPr lang="ko-KR" altLang="en-US" sz="3000" dirty="0"/>
              <a:t> </a:t>
            </a:r>
            <a:r>
              <a:rPr lang="en-US" altLang="ko-KR" sz="3000" dirty="0"/>
              <a:t>[</a:t>
            </a:r>
            <a:r>
              <a:rPr lang="ko-KR" altLang="en-US" sz="3000" dirty="0"/>
              <a:t>인터페이스 </a:t>
            </a:r>
            <a:r>
              <a:rPr lang="en-US" altLang="ko-KR" sz="3000" dirty="0"/>
              <a:t>] </a:t>
            </a:r>
          </a:p>
          <a:p>
            <a:pPr marL="0" indent="0">
              <a:buNone/>
            </a:pPr>
            <a:r>
              <a:rPr lang="en-US" altLang="ko-KR" sz="3000" dirty="0"/>
              <a:t>  </a:t>
            </a:r>
            <a:r>
              <a:rPr lang="en-US" altLang="ko-KR" sz="3000" dirty="0" err="1"/>
              <a:t>ip</a:t>
            </a:r>
            <a:r>
              <a:rPr lang="en-US" altLang="ko-KR" sz="3000" dirty="0"/>
              <a:t> access-group [</a:t>
            </a:r>
            <a:r>
              <a:rPr lang="ko-KR" altLang="en-US" sz="3000" dirty="0"/>
              <a:t>번호</a:t>
            </a:r>
            <a:r>
              <a:rPr lang="en-US" altLang="ko-KR" sz="3000" dirty="0"/>
              <a:t>] [in</a:t>
            </a:r>
            <a:r>
              <a:rPr lang="ko-KR" altLang="en-US" sz="3000" dirty="0"/>
              <a:t> </a:t>
            </a:r>
            <a:r>
              <a:rPr lang="en-US" altLang="ko-KR" sz="3000" dirty="0"/>
              <a:t>| out]</a:t>
            </a:r>
          </a:p>
          <a:p>
            <a:endParaRPr lang="en-US" altLang="ko-KR" sz="3000" dirty="0"/>
          </a:p>
          <a:p>
            <a:r>
              <a:rPr lang="en-US" altLang="ko-KR" sz="3000" dirty="0"/>
              <a:t>3</a:t>
            </a:r>
            <a:r>
              <a:rPr lang="ko-KR" altLang="en-US" sz="3000" dirty="0"/>
              <a:t>단계 </a:t>
            </a:r>
            <a:r>
              <a:rPr lang="en-US" altLang="ko-KR" sz="3000" dirty="0"/>
              <a:t>: </a:t>
            </a:r>
            <a:r>
              <a:rPr lang="ko-KR" altLang="en-US" sz="3000" dirty="0"/>
              <a:t>설정된 </a:t>
            </a:r>
            <a:r>
              <a:rPr lang="en-US" altLang="ko-KR" sz="3000" dirty="0"/>
              <a:t>ACL </a:t>
            </a:r>
            <a:r>
              <a:rPr lang="ko-KR" altLang="en-US" sz="3000" dirty="0"/>
              <a:t>확인 </a:t>
            </a:r>
            <a:endParaRPr lang="en-US" altLang="ko-KR" sz="3000" dirty="0"/>
          </a:p>
          <a:p>
            <a:pPr marL="0" indent="0">
              <a:buNone/>
            </a:pPr>
            <a:r>
              <a:rPr lang="en-US" altLang="ko-KR" sz="3000" dirty="0"/>
              <a:t>  show </a:t>
            </a:r>
            <a:r>
              <a:rPr lang="en-US" altLang="ko-KR" sz="3000" dirty="0" err="1"/>
              <a:t>ip</a:t>
            </a:r>
            <a:r>
              <a:rPr lang="en-US" altLang="ko-KR" sz="3000" dirty="0"/>
              <a:t> access-lists</a:t>
            </a:r>
            <a:endParaRPr lang="ko-KR" altLang="en-US" sz="3000" dirty="0"/>
          </a:p>
          <a:p>
            <a:endParaRPr lang="en-US" altLang="ko-KR" sz="3200" dirty="0"/>
          </a:p>
          <a:p>
            <a:pPr marL="0" indent="0">
              <a:buNone/>
            </a:pP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1492481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85BCB-4442-F45C-BB0E-EDF784175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ECF14C-FAEC-3378-2C9E-57125ACE9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확장</a:t>
            </a:r>
            <a:r>
              <a:rPr lang="en-US" altLang="ko-KR" dirty="0"/>
              <a:t> ACL (extended ACL)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B78603-6D86-0F25-E669-8917FAE385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567543"/>
            <a:ext cx="10782300" cy="4609420"/>
          </a:xfrm>
        </p:spPr>
        <p:txBody>
          <a:bodyPr>
            <a:normAutofit fontScale="92500" lnSpcReduction="20000"/>
          </a:bodyPr>
          <a:lstStyle/>
          <a:p>
            <a:r>
              <a:rPr lang="en-US" altLang="ko-KR" sz="3000" dirty="0"/>
              <a:t>1</a:t>
            </a:r>
            <a:r>
              <a:rPr lang="ko-KR" altLang="en-US" sz="3000" dirty="0"/>
              <a:t>단계</a:t>
            </a:r>
            <a:r>
              <a:rPr lang="en-US" altLang="ko-KR" sz="3000" dirty="0"/>
              <a:t>: ACL </a:t>
            </a:r>
            <a:r>
              <a:rPr lang="ko-KR" altLang="en-US" sz="3000" dirty="0"/>
              <a:t>생성 </a:t>
            </a:r>
            <a:r>
              <a:rPr lang="en-US" altLang="ko-KR" sz="3000" dirty="0"/>
              <a:t>(</a:t>
            </a:r>
            <a:r>
              <a:rPr lang="ko-KR" altLang="en-US" sz="3000" dirty="0"/>
              <a:t>규칙 정의</a:t>
            </a:r>
            <a:r>
              <a:rPr lang="en-US" altLang="ko-KR" sz="3000" dirty="0"/>
              <a:t>)</a:t>
            </a:r>
          </a:p>
          <a:p>
            <a:pPr marL="0" indent="0">
              <a:buNone/>
            </a:pPr>
            <a:r>
              <a:rPr lang="en-US" altLang="ko-KR" sz="3000" dirty="0"/>
              <a:t>access-list </a:t>
            </a:r>
            <a:r>
              <a:rPr lang="ko-KR" altLang="en-US" sz="3000" dirty="0"/>
              <a:t>번호 </a:t>
            </a:r>
            <a:r>
              <a:rPr lang="en-US" altLang="ko-KR" sz="3000" dirty="0"/>
              <a:t>[deny/dynamic/permit/remark] protocol </a:t>
            </a:r>
            <a:r>
              <a:rPr lang="ko-KR" altLang="en-US" sz="3000" dirty="0"/>
              <a:t>출발</a:t>
            </a:r>
            <a:r>
              <a:rPr lang="en-US" altLang="ko-KR" sz="3000" dirty="0" err="1"/>
              <a:t>ip</a:t>
            </a:r>
            <a:endParaRPr lang="en-US" altLang="ko-KR" sz="3000" dirty="0"/>
          </a:p>
          <a:p>
            <a:pPr marL="0" indent="0">
              <a:buNone/>
            </a:pPr>
            <a:r>
              <a:rPr lang="ko-KR" altLang="en-US" sz="3000" dirty="0"/>
              <a:t>출발</a:t>
            </a:r>
            <a:r>
              <a:rPr lang="en-US" altLang="ko-KR" sz="3000" dirty="0" err="1"/>
              <a:t>wildmask</a:t>
            </a:r>
            <a:r>
              <a:rPr lang="en-US" altLang="ko-KR" sz="3000" dirty="0"/>
              <a:t> </a:t>
            </a:r>
            <a:r>
              <a:rPr lang="ko-KR" altLang="en-US" sz="3000" dirty="0"/>
              <a:t>목적</a:t>
            </a:r>
            <a:r>
              <a:rPr lang="en-US" altLang="ko-KR" sz="3000" dirty="0" err="1"/>
              <a:t>ip</a:t>
            </a:r>
            <a:r>
              <a:rPr lang="en-US" altLang="ko-KR" sz="3000" dirty="0"/>
              <a:t> </a:t>
            </a:r>
            <a:r>
              <a:rPr lang="ko-KR" altLang="en-US" sz="3000" dirty="0"/>
              <a:t>목적</a:t>
            </a:r>
            <a:r>
              <a:rPr lang="en-US" altLang="ko-KR" sz="3000" dirty="0" err="1"/>
              <a:t>wildmask</a:t>
            </a:r>
            <a:r>
              <a:rPr lang="en-US" altLang="ko-KR" sz="3000" dirty="0"/>
              <a:t> eq </a:t>
            </a:r>
            <a:r>
              <a:rPr lang="ko-KR" altLang="en-US" sz="3000" dirty="0"/>
              <a:t>서비스</a:t>
            </a:r>
            <a:r>
              <a:rPr lang="en-US" altLang="ko-KR" sz="3000" dirty="0"/>
              <a:t>/</a:t>
            </a:r>
            <a:r>
              <a:rPr lang="ko-KR" altLang="en-US" sz="3000" dirty="0"/>
              <a:t>포트</a:t>
            </a:r>
            <a:endParaRPr lang="ko-KR" altLang="en-US" sz="3000" b="0" dirty="0">
              <a:effectLst/>
            </a:endParaRPr>
          </a:p>
          <a:p>
            <a:pPr marL="0" indent="0">
              <a:buNone/>
            </a:pPr>
            <a:endParaRPr lang="en-US" altLang="ko-KR" sz="3000" dirty="0"/>
          </a:p>
          <a:p>
            <a:r>
              <a:rPr lang="en-US" altLang="ko-KR" sz="3000" dirty="0"/>
              <a:t>2</a:t>
            </a:r>
            <a:r>
              <a:rPr lang="ko-KR" altLang="en-US" sz="3000" dirty="0"/>
              <a:t>단계</a:t>
            </a:r>
            <a:r>
              <a:rPr lang="en-US" altLang="ko-KR" sz="3000" dirty="0"/>
              <a:t>: ACL </a:t>
            </a:r>
            <a:r>
              <a:rPr lang="ko-KR" altLang="en-US" sz="3000" dirty="0"/>
              <a:t>적용 </a:t>
            </a:r>
            <a:r>
              <a:rPr lang="en-US" altLang="ko-KR" sz="3000" dirty="0"/>
              <a:t>(</a:t>
            </a:r>
            <a:r>
              <a:rPr lang="ko-KR" altLang="en-US" sz="3000" dirty="0"/>
              <a:t>인터페이스</a:t>
            </a:r>
            <a:r>
              <a:rPr lang="en-US" altLang="ko-KR" sz="3000" dirty="0"/>
              <a:t>) </a:t>
            </a:r>
          </a:p>
          <a:p>
            <a:pPr marL="0" indent="0">
              <a:buNone/>
            </a:pPr>
            <a:r>
              <a:rPr lang="en-US" altLang="ko-KR" sz="3000" dirty="0"/>
              <a:t>  interface</a:t>
            </a:r>
            <a:r>
              <a:rPr lang="ko-KR" altLang="en-US" sz="3000" dirty="0"/>
              <a:t> </a:t>
            </a:r>
            <a:r>
              <a:rPr lang="en-US" altLang="ko-KR" sz="3000" dirty="0"/>
              <a:t>[</a:t>
            </a:r>
            <a:r>
              <a:rPr lang="ko-KR" altLang="en-US" sz="3000" dirty="0"/>
              <a:t>인터페이스 </a:t>
            </a:r>
            <a:r>
              <a:rPr lang="en-US" altLang="ko-KR" sz="3000" dirty="0"/>
              <a:t>] </a:t>
            </a:r>
          </a:p>
          <a:p>
            <a:pPr marL="0" indent="0">
              <a:buNone/>
            </a:pPr>
            <a:r>
              <a:rPr lang="en-US" altLang="ko-KR" sz="3000" dirty="0"/>
              <a:t>  </a:t>
            </a:r>
            <a:r>
              <a:rPr lang="en-US" altLang="ko-KR" sz="3000" dirty="0" err="1"/>
              <a:t>ip</a:t>
            </a:r>
            <a:r>
              <a:rPr lang="en-US" altLang="ko-KR" sz="3000" dirty="0"/>
              <a:t> access-group [</a:t>
            </a:r>
            <a:r>
              <a:rPr lang="ko-KR" altLang="en-US" sz="3000" dirty="0"/>
              <a:t>번호</a:t>
            </a:r>
            <a:r>
              <a:rPr lang="en-US" altLang="ko-KR" sz="3000" dirty="0"/>
              <a:t>] [in</a:t>
            </a:r>
            <a:r>
              <a:rPr lang="ko-KR" altLang="en-US" sz="3000" dirty="0"/>
              <a:t> </a:t>
            </a:r>
            <a:r>
              <a:rPr lang="en-US" altLang="ko-KR" sz="3000" dirty="0"/>
              <a:t>| out]</a:t>
            </a:r>
          </a:p>
          <a:p>
            <a:endParaRPr lang="en-US" altLang="ko-KR" sz="3000" dirty="0"/>
          </a:p>
          <a:p>
            <a:r>
              <a:rPr lang="en-US" altLang="ko-KR" sz="3000" dirty="0"/>
              <a:t>3</a:t>
            </a:r>
            <a:r>
              <a:rPr lang="ko-KR" altLang="en-US" sz="3000" dirty="0"/>
              <a:t>단계 </a:t>
            </a:r>
            <a:r>
              <a:rPr lang="en-US" altLang="ko-KR" sz="3000" dirty="0"/>
              <a:t>: </a:t>
            </a:r>
            <a:r>
              <a:rPr lang="ko-KR" altLang="en-US" sz="3000" dirty="0"/>
              <a:t>설정된 </a:t>
            </a:r>
            <a:r>
              <a:rPr lang="en-US" altLang="ko-KR" sz="3000" dirty="0"/>
              <a:t>ACL </a:t>
            </a:r>
            <a:r>
              <a:rPr lang="ko-KR" altLang="en-US" sz="3000" dirty="0"/>
              <a:t>확인 </a:t>
            </a:r>
            <a:endParaRPr lang="en-US" altLang="ko-KR" sz="3000" dirty="0"/>
          </a:p>
          <a:p>
            <a:pPr marL="0" indent="0">
              <a:buNone/>
            </a:pPr>
            <a:r>
              <a:rPr lang="en-US" altLang="ko-KR" sz="3000" dirty="0"/>
              <a:t>  show </a:t>
            </a:r>
            <a:r>
              <a:rPr lang="en-US" altLang="ko-KR" sz="3000" dirty="0" err="1"/>
              <a:t>ip</a:t>
            </a:r>
            <a:r>
              <a:rPr lang="en-US" altLang="ko-KR" sz="3000" dirty="0"/>
              <a:t> access-lists</a:t>
            </a:r>
            <a:endParaRPr lang="ko-KR" altLang="en-US" sz="3000" dirty="0"/>
          </a:p>
          <a:p>
            <a:endParaRPr lang="en-US" altLang="ko-KR" sz="3200" dirty="0"/>
          </a:p>
          <a:p>
            <a:pPr marL="0" indent="0">
              <a:buNone/>
            </a:pPr>
            <a:endParaRPr lang="ko-KR" altLang="en-US" sz="32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08847DA-241C-31E4-3C00-136922FCE58E}"/>
              </a:ext>
            </a:extLst>
          </p:cNvPr>
          <p:cNvSpPr/>
          <p:nvPr/>
        </p:nvSpPr>
        <p:spPr>
          <a:xfrm>
            <a:off x="280852" y="1373188"/>
            <a:ext cx="11544300" cy="512127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921A93-3780-7B39-F02D-802E9C968B9F}"/>
              </a:ext>
            </a:extLst>
          </p:cNvPr>
          <p:cNvSpPr txBox="1"/>
          <p:nvPr/>
        </p:nvSpPr>
        <p:spPr>
          <a:xfrm>
            <a:off x="8222834" y="3369047"/>
            <a:ext cx="19304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500" dirty="0">
                <a:solidFill>
                  <a:schemeClr val="accent5"/>
                </a:solidFill>
              </a:rPr>
              <a:t>protocol</a:t>
            </a:r>
            <a:endParaRPr lang="ko-KR" altLang="en-US" sz="35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DA8263-9F20-6647-1BFD-BB64E77D2923}"/>
              </a:ext>
            </a:extLst>
          </p:cNvPr>
          <p:cNvSpPr txBox="1"/>
          <p:nvPr/>
        </p:nvSpPr>
        <p:spPr>
          <a:xfrm>
            <a:off x="545012" y="3940501"/>
            <a:ext cx="4494347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500" dirty="0">
                <a:solidFill>
                  <a:schemeClr val="accent6"/>
                </a:solidFill>
              </a:rPr>
              <a:t>출발</a:t>
            </a:r>
            <a:r>
              <a:rPr lang="en-US" altLang="ko-KR" sz="3500" dirty="0" err="1">
                <a:solidFill>
                  <a:schemeClr val="accent6"/>
                </a:solidFill>
              </a:rPr>
              <a:t>ip</a:t>
            </a:r>
            <a:r>
              <a:rPr lang="en-US" altLang="ko-KR" sz="3500" dirty="0">
                <a:solidFill>
                  <a:schemeClr val="accent6"/>
                </a:solidFill>
              </a:rPr>
              <a:t> </a:t>
            </a:r>
            <a:r>
              <a:rPr lang="ko-KR" altLang="en-US" sz="3500" dirty="0">
                <a:solidFill>
                  <a:schemeClr val="accent6"/>
                </a:solidFill>
              </a:rPr>
              <a:t>출발</a:t>
            </a:r>
            <a:r>
              <a:rPr lang="en-US" altLang="ko-KR" sz="3500" dirty="0" err="1">
                <a:solidFill>
                  <a:schemeClr val="accent6"/>
                </a:solidFill>
              </a:rPr>
              <a:t>wildmask</a:t>
            </a:r>
            <a:endParaRPr lang="ko-KR" altLang="en-US" sz="35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F507D2-1BA8-816B-6FD5-D6CEEE148ECA}"/>
              </a:ext>
            </a:extLst>
          </p:cNvPr>
          <p:cNvSpPr txBox="1"/>
          <p:nvPr/>
        </p:nvSpPr>
        <p:spPr>
          <a:xfrm>
            <a:off x="4856480" y="3999989"/>
            <a:ext cx="4494347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500" dirty="0">
                <a:solidFill>
                  <a:srgbClr val="FF0000"/>
                </a:solidFill>
              </a:rPr>
              <a:t>목적</a:t>
            </a:r>
            <a:r>
              <a:rPr lang="en-US" altLang="ko-KR" sz="3500" dirty="0" err="1">
                <a:solidFill>
                  <a:srgbClr val="FF0000"/>
                </a:solidFill>
              </a:rPr>
              <a:t>ip</a:t>
            </a:r>
            <a:r>
              <a:rPr lang="en-US" altLang="ko-KR" sz="3500" dirty="0">
                <a:solidFill>
                  <a:srgbClr val="FF0000"/>
                </a:solidFill>
              </a:rPr>
              <a:t> </a:t>
            </a:r>
            <a:r>
              <a:rPr lang="ko-KR" altLang="en-US" sz="3500" dirty="0">
                <a:solidFill>
                  <a:srgbClr val="FF0000"/>
                </a:solidFill>
              </a:rPr>
              <a:t>목적</a:t>
            </a:r>
            <a:r>
              <a:rPr lang="en-US" altLang="ko-KR" sz="3500" dirty="0" err="1">
                <a:solidFill>
                  <a:srgbClr val="FF0000"/>
                </a:solidFill>
              </a:rPr>
              <a:t>wildmask</a:t>
            </a:r>
            <a:endParaRPr lang="ko-KR" altLang="en-US" sz="35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AE9AA0-343D-3FA4-0DB9-9AC87F30D8D3}"/>
              </a:ext>
            </a:extLst>
          </p:cNvPr>
          <p:cNvSpPr txBox="1"/>
          <p:nvPr/>
        </p:nvSpPr>
        <p:spPr>
          <a:xfrm>
            <a:off x="545012" y="4526730"/>
            <a:ext cx="404368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500" dirty="0">
                <a:solidFill>
                  <a:srgbClr val="FFFF00"/>
                </a:solidFill>
              </a:rPr>
              <a:t>[</a:t>
            </a:r>
            <a:r>
              <a:rPr lang="ko-KR" altLang="en-US" sz="3500" dirty="0">
                <a:solidFill>
                  <a:srgbClr val="FFFF00"/>
                </a:solidFill>
              </a:rPr>
              <a:t>옵션</a:t>
            </a:r>
            <a:r>
              <a:rPr lang="en-US" altLang="ko-KR" sz="3500" dirty="0">
                <a:solidFill>
                  <a:srgbClr val="FFFF00"/>
                </a:solidFill>
              </a:rPr>
              <a:t>: </a:t>
            </a:r>
            <a:r>
              <a:rPr lang="ko-KR" altLang="en-US" sz="3500" dirty="0">
                <a:solidFill>
                  <a:srgbClr val="FFFF00"/>
                </a:solidFill>
              </a:rPr>
              <a:t>서비스</a:t>
            </a:r>
            <a:r>
              <a:rPr lang="en-US" altLang="ko-KR" sz="3500" dirty="0">
                <a:solidFill>
                  <a:srgbClr val="FFFF00"/>
                </a:solidFill>
              </a:rPr>
              <a:t>/</a:t>
            </a:r>
            <a:r>
              <a:rPr lang="ko-KR" altLang="en-US" sz="3500" dirty="0">
                <a:solidFill>
                  <a:srgbClr val="FFFF00"/>
                </a:solidFill>
              </a:rPr>
              <a:t>포트</a:t>
            </a:r>
            <a:r>
              <a:rPr lang="en-US" altLang="ko-KR" sz="3500" dirty="0">
                <a:solidFill>
                  <a:srgbClr val="FFFF00"/>
                </a:solidFill>
              </a:rPr>
              <a:t>]</a:t>
            </a:r>
            <a:endParaRPr lang="ko-KR" altLang="en-US" sz="35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3BB9C7-E3E3-E995-3794-DA957A028AF1}"/>
              </a:ext>
            </a:extLst>
          </p:cNvPr>
          <p:cNvSpPr txBox="1"/>
          <p:nvPr/>
        </p:nvSpPr>
        <p:spPr>
          <a:xfrm>
            <a:off x="3754975" y="3429000"/>
            <a:ext cx="4454305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500" dirty="0">
                <a:solidFill>
                  <a:schemeClr val="accent4"/>
                </a:solidFill>
              </a:rPr>
              <a:t>[deny/permit/remark]</a:t>
            </a:r>
            <a:endParaRPr lang="ko-KR" altLang="en-US" sz="35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88D463-DFAF-1533-8BF7-84DCD9D1152F}"/>
              </a:ext>
            </a:extLst>
          </p:cNvPr>
          <p:cNvSpPr txBox="1"/>
          <p:nvPr/>
        </p:nvSpPr>
        <p:spPr>
          <a:xfrm>
            <a:off x="545012" y="2888896"/>
            <a:ext cx="5815148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500" b="1" dirty="0">
                <a:solidFill>
                  <a:schemeClr val="bg1"/>
                </a:solidFill>
              </a:rPr>
              <a:t>1</a:t>
            </a:r>
            <a:r>
              <a:rPr lang="ko-KR" altLang="en-US" sz="3500" b="1" dirty="0">
                <a:solidFill>
                  <a:schemeClr val="bg1"/>
                </a:solidFill>
              </a:rPr>
              <a:t>단계</a:t>
            </a:r>
            <a:r>
              <a:rPr lang="en-US" altLang="ko-KR" sz="3500" b="1" dirty="0">
                <a:solidFill>
                  <a:schemeClr val="bg1"/>
                </a:solidFill>
              </a:rPr>
              <a:t>: ACL </a:t>
            </a:r>
            <a:r>
              <a:rPr lang="ko-KR" altLang="en-US" sz="3500" b="1" dirty="0">
                <a:solidFill>
                  <a:schemeClr val="bg1"/>
                </a:solidFill>
              </a:rPr>
              <a:t>생성 </a:t>
            </a:r>
            <a:r>
              <a:rPr lang="en-US" altLang="ko-KR" sz="3500" b="1" dirty="0">
                <a:solidFill>
                  <a:schemeClr val="bg1"/>
                </a:solidFill>
              </a:rPr>
              <a:t>(</a:t>
            </a:r>
            <a:r>
              <a:rPr lang="ko-KR" altLang="en-US" sz="3500" b="1" dirty="0">
                <a:solidFill>
                  <a:schemeClr val="bg1"/>
                </a:solidFill>
              </a:rPr>
              <a:t>규칙 정의</a:t>
            </a:r>
            <a:r>
              <a:rPr lang="en-US" altLang="ko-KR" sz="3500" b="1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761957-F25F-AADC-431B-E069C9271C4C}"/>
              </a:ext>
            </a:extLst>
          </p:cNvPr>
          <p:cNvSpPr txBox="1"/>
          <p:nvPr/>
        </p:nvSpPr>
        <p:spPr>
          <a:xfrm>
            <a:off x="545012" y="3429000"/>
            <a:ext cx="3441933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500" dirty="0">
                <a:solidFill>
                  <a:schemeClr val="bg1"/>
                </a:solidFill>
              </a:rPr>
              <a:t>access-list </a:t>
            </a:r>
            <a:r>
              <a:rPr lang="ko-KR" altLang="en-US" sz="3500" dirty="0">
                <a:solidFill>
                  <a:schemeClr val="bg1"/>
                </a:solidFill>
              </a:rPr>
              <a:t>번호</a:t>
            </a:r>
          </a:p>
        </p:txBody>
      </p:sp>
    </p:spTree>
    <p:extLst>
      <p:ext uri="{BB962C8B-B14F-4D97-AF65-F5344CB8AC3E}">
        <p14:creationId xmlns:p14="http://schemas.microsoft.com/office/powerpoint/2010/main" val="13464773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CDCD3-DAC1-DC64-75D4-E2214CE85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A458AE-B982-ABD2-A6C1-C4550555A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확장</a:t>
            </a:r>
            <a:r>
              <a:rPr lang="en-US" altLang="ko-KR" dirty="0"/>
              <a:t> ACL (extended ACL)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EBB0A0-ACE8-E5F1-867D-B1AD4F58FB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567543"/>
            <a:ext cx="10782300" cy="4609420"/>
          </a:xfrm>
        </p:spPr>
        <p:txBody>
          <a:bodyPr>
            <a:normAutofit fontScale="92500" lnSpcReduction="20000"/>
          </a:bodyPr>
          <a:lstStyle/>
          <a:p>
            <a:r>
              <a:rPr lang="en-US" altLang="ko-KR" sz="3000" dirty="0"/>
              <a:t>1</a:t>
            </a:r>
            <a:r>
              <a:rPr lang="ko-KR" altLang="en-US" sz="3000" dirty="0"/>
              <a:t>단계</a:t>
            </a:r>
            <a:r>
              <a:rPr lang="en-US" altLang="ko-KR" sz="3000" dirty="0"/>
              <a:t>: ACL </a:t>
            </a:r>
            <a:r>
              <a:rPr lang="ko-KR" altLang="en-US" sz="3000" dirty="0"/>
              <a:t>생성 </a:t>
            </a:r>
            <a:r>
              <a:rPr lang="en-US" altLang="ko-KR" sz="3000" dirty="0"/>
              <a:t>(</a:t>
            </a:r>
            <a:r>
              <a:rPr lang="ko-KR" altLang="en-US" sz="3000" dirty="0"/>
              <a:t>규칙 정의</a:t>
            </a:r>
            <a:r>
              <a:rPr lang="en-US" altLang="ko-KR" sz="3000" dirty="0"/>
              <a:t>)</a:t>
            </a:r>
          </a:p>
          <a:p>
            <a:pPr marL="0" indent="0">
              <a:buNone/>
            </a:pPr>
            <a:r>
              <a:rPr lang="en-US" altLang="ko-KR" sz="3000" dirty="0"/>
              <a:t>access-list </a:t>
            </a:r>
            <a:r>
              <a:rPr lang="ko-KR" altLang="en-US" sz="3000" dirty="0"/>
              <a:t>번호 </a:t>
            </a:r>
            <a:r>
              <a:rPr lang="en-US" altLang="ko-KR" sz="3000" dirty="0"/>
              <a:t>[deny/dynamic/permit/remark] protocol </a:t>
            </a:r>
            <a:r>
              <a:rPr lang="ko-KR" altLang="en-US" sz="3000" dirty="0"/>
              <a:t>출발</a:t>
            </a:r>
            <a:r>
              <a:rPr lang="en-US" altLang="ko-KR" sz="3000" dirty="0" err="1"/>
              <a:t>ip</a:t>
            </a:r>
            <a:endParaRPr lang="en-US" altLang="ko-KR" sz="3000" dirty="0"/>
          </a:p>
          <a:p>
            <a:pPr marL="0" indent="0">
              <a:buNone/>
            </a:pPr>
            <a:r>
              <a:rPr lang="ko-KR" altLang="en-US" sz="3000" dirty="0"/>
              <a:t>출발</a:t>
            </a:r>
            <a:r>
              <a:rPr lang="en-US" altLang="ko-KR" sz="3000" dirty="0" err="1"/>
              <a:t>wildmask</a:t>
            </a:r>
            <a:r>
              <a:rPr lang="en-US" altLang="ko-KR" sz="3000" dirty="0"/>
              <a:t> </a:t>
            </a:r>
            <a:r>
              <a:rPr lang="ko-KR" altLang="en-US" sz="3000" dirty="0"/>
              <a:t>목적</a:t>
            </a:r>
            <a:r>
              <a:rPr lang="en-US" altLang="ko-KR" sz="3000" dirty="0" err="1"/>
              <a:t>ip</a:t>
            </a:r>
            <a:r>
              <a:rPr lang="en-US" altLang="ko-KR" sz="3000" dirty="0"/>
              <a:t> </a:t>
            </a:r>
            <a:r>
              <a:rPr lang="ko-KR" altLang="en-US" sz="3000" dirty="0"/>
              <a:t>목적</a:t>
            </a:r>
            <a:r>
              <a:rPr lang="en-US" altLang="ko-KR" sz="3000" dirty="0" err="1"/>
              <a:t>wildmask</a:t>
            </a:r>
            <a:r>
              <a:rPr lang="en-US" altLang="ko-KR" sz="3000" dirty="0"/>
              <a:t> eq </a:t>
            </a:r>
            <a:r>
              <a:rPr lang="ko-KR" altLang="en-US" sz="3000" dirty="0"/>
              <a:t>서비스</a:t>
            </a:r>
            <a:r>
              <a:rPr lang="en-US" altLang="ko-KR" sz="3000" dirty="0"/>
              <a:t>/</a:t>
            </a:r>
            <a:r>
              <a:rPr lang="ko-KR" altLang="en-US" sz="3000" dirty="0"/>
              <a:t>포트</a:t>
            </a:r>
            <a:endParaRPr lang="ko-KR" altLang="en-US" sz="3000" b="0" dirty="0">
              <a:effectLst/>
            </a:endParaRPr>
          </a:p>
          <a:p>
            <a:pPr marL="0" indent="0">
              <a:buNone/>
            </a:pPr>
            <a:endParaRPr lang="en-US" altLang="ko-KR" sz="3000" dirty="0"/>
          </a:p>
          <a:p>
            <a:r>
              <a:rPr lang="en-US" altLang="ko-KR" sz="3000" dirty="0"/>
              <a:t>2</a:t>
            </a:r>
            <a:r>
              <a:rPr lang="ko-KR" altLang="en-US" sz="3000" dirty="0"/>
              <a:t>단계</a:t>
            </a:r>
            <a:r>
              <a:rPr lang="en-US" altLang="ko-KR" sz="3000" dirty="0"/>
              <a:t>: ACL </a:t>
            </a:r>
            <a:r>
              <a:rPr lang="ko-KR" altLang="en-US" sz="3000" dirty="0"/>
              <a:t>적용 </a:t>
            </a:r>
            <a:r>
              <a:rPr lang="en-US" altLang="ko-KR" sz="3000" dirty="0"/>
              <a:t>(</a:t>
            </a:r>
            <a:r>
              <a:rPr lang="ko-KR" altLang="en-US" sz="3000" dirty="0"/>
              <a:t>인터페이스</a:t>
            </a:r>
            <a:r>
              <a:rPr lang="en-US" altLang="ko-KR" sz="3000" dirty="0"/>
              <a:t>) </a:t>
            </a:r>
          </a:p>
          <a:p>
            <a:pPr marL="0" indent="0">
              <a:buNone/>
            </a:pPr>
            <a:r>
              <a:rPr lang="en-US" altLang="ko-KR" sz="3000" dirty="0"/>
              <a:t>  interface</a:t>
            </a:r>
            <a:r>
              <a:rPr lang="ko-KR" altLang="en-US" sz="3000" dirty="0"/>
              <a:t> </a:t>
            </a:r>
            <a:r>
              <a:rPr lang="en-US" altLang="ko-KR" sz="3000" dirty="0"/>
              <a:t>[</a:t>
            </a:r>
            <a:r>
              <a:rPr lang="ko-KR" altLang="en-US" sz="3000" dirty="0"/>
              <a:t>인터페이스 </a:t>
            </a:r>
            <a:r>
              <a:rPr lang="en-US" altLang="ko-KR" sz="3000" dirty="0"/>
              <a:t>] </a:t>
            </a:r>
          </a:p>
          <a:p>
            <a:pPr marL="0" indent="0">
              <a:buNone/>
            </a:pPr>
            <a:r>
              <a:rPr lang="en-US" altLang="ko-KR" sz="3000" dirty="0"/>
              <a:t>  </a:t>
            </a:r>
            <a:r>
              <a:rPr lang="en-US" altLang="ko-KR" sz="3000" dirty="0" err="1"/>
              <a:t>ip</a:t>
            </a:r>
            <a:r>
              <a:rPr lang="en-US" altLang="ko-KR" sz="3000" dirty="0"/>
              <a:t> access-group [</a:t>
            </a:r>
            <a:r>
              <a:rPr lang="ko-KR" altLang="en-US" sz="3000" dirty="0"/>
              <a:t>번호</a:t>
            </a:r>
            <a:r>
              <a:rPr lang="en-US" altLang="ko-KR" sz="3000" dirty="0"/>
              <a:t>] [in</a:t>
            </a:r>
            <a:r>
              <a:rPr lang="ko-KR" altLang="en-US" sz="3000" dirty="0"/>
              <a:t> </a:t>
            </a:r>
            <a:r>
              <a:rPr lang="en-US" altLang="ko-KR" sz="3000" dirty="0"/>
              <a:t>| out]</a:t>
            </a:r>
          </a:p>
          <a:p>
            <a:endParaRPr lang="en-US" altLang="ko-KR" sz="3000" dirty="0"/>
          </a:p>
          <a:p>
            <a:r>
              <a:rPr lang="en-US" altLang="ko-KR" sz="3000" dirty="0"/>
              <a:t>3</a:t>
            </a:r>
            <a:r>
              <a:rPr lang="ko-KR" altLang="en-US" sz="3000" dirty="0"/>
              <a:t>단계 </a:t>
            </a:r>
            <a:r>
              <a:rPr lang="en-US" altLang="ko-KR" sz="3000" dirty="0"/>
              <a:t>: </a:t>
            </a:r>
            <a:r>
              <a:rPr lang="ko-KR" altLang="en-US" sz="3000" dirty="0"/>
              <a:t>설정된 </a:t>
            </a:r>
            <a:r>
              <a:rPr lang="en-US" altLang="ko-KR" sz="3000" dirty="0"/>
              <a:t>ACL </a:t>
            </a:r>
            <a:r>
              <a:rPr lang="ko-KR" altLang="en-US" sz="3000" dirty="0"/>
              <a:t>확인 </a:t>
            </a:r>
            <a:endParaRPr lang="en-US" altLang="ko-KR" sz="3000" dirty="0"/>
          </a:p>
          <a:p>
            <a:pPr marL="0" indent="0">
              <a:buNone/>
            </a:pPr>
            <a:r>
              <a:rPr lang="en-US" altLang="ko-KR" sz="3000" dirty="0"/>
              <a:t>  show </a:t>
            </a:r>
            <a:r>
              <a:rPr lang="en-US" altLang="ko-KR" sz="3000" dirty="0" err="1"/>
              <a:t>ip</a:t>
            </a:r>
            <a:r>
              <a:rPr lang="en-US" altLang="ko-KR" sz="3000" dirty="0"/>
              <a:t> access-lists</a:t>
            </a:r>
            <a:endParaRPr lang="ko-KR" altLang="en-US" sz="3000" dirty="0"/>
          </a:p>
          <a:p>
            <a:endParaRPr lang="en-US" altLang="ko-KR" sz="3200" dirty="0"/>
          </a:p>
          <a:p>
            <a:pPr marL="0" indent="0">
              <a:buNone/>
            </a:pPr>
            <a:endParaRPr lang="ko-KR" altLang="en-US" sz="32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6E08C23-F7A0-5EC5-155C-967C9DCCC4DC}"/>
              </a:ext>
            </a:extLst>
          </p:cNvPr>
          <p:cNvSpPr/>
          <p:nvPr/>
        </p:nvSpPr>
        <p:spPr>
          <a:xfrm>
            <a:off x="280852" y="1373188"/>
            <a:ext cx="11544300" cy="512127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1A6EA7-BA0B-421E-1567-961A6E4971FD}"/>
              </a:ext>
            </a:extLst>
          </p:cNvPr>
          <p:cNvSpPr txBox="1"/>
          <p:nvPr/>
        </p:nvSpPr>
        <p:spPr>
          <a:xfrm>
            <a:off x="8209280" y="3369047"/>
            <a:ext cx="19304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500" dirty="0">
                <a:solidFill>
                  <a:schemeClr val="accent5"/>
                </a:solidFill>
              </a:rPr>
              <a:t>protocol</a:t>
            </a:r>
            <a:endParaRPr lang="ko-KR" altLang="en-US" sz="35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7DEC62-9A55-2451-18E5-8636CC68A857}"/>
              </a:ext>
            </a:extLst>
          </p:cNvPr>
          <p:cNvSpPr txBox="1"/>
          <p:nvPr/>
        </p:nvSpPr>
        <p:spPr>
          <a:xfrm>
            <a:off x="545012" y="3940501"/>
            <a:ext cx="4494347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500" dirty="0">
                <a:solidFill>
                  <a:schemeClr val="accent6"/>
                </a:solidFill>
              </a:rPr>
              <a:t>출발</a:t>
            </a:r>
            <a:r>
              <a:rPr lang="en-US" altLang="ko-KR" sz="3500" dirty="0" err="1">
                <a:solidFill>
                  <a:schemeClr val="accent6"/>
                </a:solidFill>
              </a:rPr>
              <a:t>ip</a:t>
            </a:r>
            <a:r>
              <a:rPr lang="en-US" altLang="ko-KR" sz="3500" dirty="0">
                <a:solidFill>
                  <a:schemeClr val="accent6"/>
                </a:solidFill>
              </a:rPr>
              <a:t> </a:t>
            </a:r>
            <a:r>
              <a:rPr lang="ko-KR" altLang="en-US" sz="3500" dirty="0">
                <a:solidFill>
                  <a:schemeClr val="accent6"/>
                </a:solidFill>
              </a:rPr>
              <a:t>출발</a:t>
            </a:r>
            <a:r>
              <a:rPr lang="en-US" altLang="ko-KR" sz="3500" dirty="0" err="1">
                <a:solidFill>
                  <a:schemeClr val="accent6"/>
                </a:solidFill>
              </a:rPr>
              <a:t>wildmask</a:t>
            </a:r>
            <a:endParaRPr lang="ko-KR" altLang="en-US" sz="35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4A4852-767D-EBC1-81FB-E961E9B6488C}"/>
              </a:ext>
            </a:extLst>
          </p:cNvPr>
          <p:cNvSpPr txBox="1"/>
          <p:nvPr/>
        </p:nvSpPr>
        <p:spPr>
          <a:xfrm>
            <a:off x="4856480" y="3999989"/>
            <a:ext cx="4494347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500" dirty="0">
                <a:solidFill>
                  <a:srgbClr val="FF0000"/>
                </a:solidFill>
              </a:rPr>
              <a:t>목적</a:t>
            </a:r>
            <a:r>
              <a:rPr lang="en-US" altLang="ko-KR" sz="3500" dirty="0" err="1">
                <a:solidFill>
                  <a:srgbClr val="FF0000"/>
                </a:solidFill>
              </a:rPr>
              <a:t>ip</a:t>
            </a:r>
            <a:r>
              <a:rPr lang="en-US" altLang="ko-KR" sz="3500" dirty="0">
                <a:solidFill>
                  <a:srgbClr val="FF0000"/>
                </a:solidFill>
              </a:rPr>
              <a:t> </a:t>
            </a:r>
            <a:r>
              <a:rPr lang="ko-KR" altLang="en-US" sz="3500" dirty="0">
                <a:solidFill>
                  <a:srgbClr val="FF0000"/>
                </a:solidFill>
              </a:rPr>
              <a:t>목적</a:t>
            </a:r>
            <a:r>
              <a:rPr lang="en-US" altLang="ko-KR" sz="3500" dirty="0" err="1">
                <a:solidFill>
                  <a:srgbClr val="FF0000"/>
                </a:solidFill>
              </a:rPr>
              <a:t>wildmask</a:t>
            </a:r>
            <a:endParaRPr lang="ko-KR" altLang="en-US" sz="35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1976F6-6C65-192B-6043-4C06BB459E94}"/>
              </a:ext>
            </a:extLst>
          </p:cNvPr>
          <p:cNvSpPr txBox="1"/>
          <p:nvPr/>
        </p:nvSpPr>
        <p:spPr>
          <a:xfrm>
            <a:off x="545012" y="4526730"/>
            <a:ext cx="404368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500" dirty="0">
                <a:solidFill>
                  <a:srgbClr val="FFFF00"/>
                </a:solidFill>
              </a:rPr>
              <a:t>[</a:t>
            </a:r>
            <a:r>
              <a:rPr lang="ko-KR" altLang="en-US" sz="3500" dirty="0">
                <a:solidFill>
                  <a:srgbClr val="FFFF00"/>
                </a:solidFill>
              </a:rPr>
              <a:t>옵션</a:t>
            </a:r>
            <a:r>
              <a:rPr lang="en-US" altLang="ko-KR" sz="3500" dirty="0">
                <a:solidFill>
                  <a:srgbClr val="FFFF00"/>
                </a:solidFill>
              </a:rPr>
              <a:t>: </a:t>
            </a:r>
            <a:r>
              <a:rPr lang="ko-KR" altLang="en-US" sz="3500" dirty="0">
                <a:solidFill>
                  <a:srgbClr val="FFFF00"/>
                </a:solidFill>
              </a:rPr>
              <a:t>서비스</a:t>
            </a:r>
            <a:r>
              <a:rPr lang="en-US" altLang="ko-KR" sz="3500" dirty="0">
                <a:solidFill>
                  <a:srgbClr val="FFFF00"/>
                </a:solidFill>
              </a:rPr>
              <a:t>/</a:t>
            </a:r>
            <a:r>
              <a:rPr lang="ko-KR" altLang="en-US" sz="3500" dirty="0">
                <a:solidFill>
                  <a:srgbClr val="FFFF00"/>
                </a:solidFill>
              </a:rPr>
              <a:t>포트</a:t>
            </a:r>
            <a:r>
              <a:rPr lang="en-US" altLang="ko-KR" sz="3500" dirty="0">
                <a:solidFill>
                  <a:srgbClr val="FFFF00"/>
                </a:solidFill>
              </a:rPr>
              <a:t>]</a:t>
            </a:r>
            <a:endParaRPr lang="ko-KR" altLang="en-US" sz="35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2C7BB0-B811-54A3-20EB-92644F8C1879}"/>
              </a:ext>
            </a:extLst>
          </p:cNvPr>
          <p:cNvSpPr txBox="1"/>
          <p:nvPr/>
        </p:nvSpPr>
        <p:spPr>
          <a:xfrm>
            <a:off x="3754975" y="3429000"/>
            <a:ext cx="4454305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500" dirty="0">
                <a:solidFill>
                  <a:schemeClr val="accent4"/>
                </a:solidFill>
              </a:rPr>
              <a:t>[deny/permit/remark]</a:t>
            </a:r>
            <a:endParaRPr lang="ko-KR" altLang="en-US" sz="35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507D2E-EBBE-431C-F4D3-37E233D3BD62}"/>
              </a:ext>
            </a:extLst>
          </p:cNvPr>
          <p:cNvSpPr txBox="1"/>
          <p:nvPr/>
        </p:nvSpPr>
        <p:spPr>
          <a:xfrm>
            <a:off x="545012" y="2888896"/>
            <a:ext cx="5815148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500" b="1" dirty="0">
                <a:solidFill>
                  <a:schemeClr val="bg1"/>
                </a:solidFill>
              </a:rPr>
              <a:t>1</a:t>
            </a:r>
            <a:r>
              <a:rPr lang="ko-KR" altLang="en-US" sz="3500" b="1" dirty="0">
                <a:solidFill>
                  <a:schemeClr val="bg1"/>
                </a:solidFill>
              </a:rPr>
              <a:t>단계</a:t>
            </a:r>
            <a:r>
              <a:rPr lang="en-US" altLang="ko-KR" sz="3500" b="1" dirty="0">
                <a:solidFill>
                  <a:schemeClr val="bg1"/>
                </a:solidFill>
              </a:rPr>
              <a:t>: ACL </a:t>
            </a:r>
            <a:r>
              <a:rPr lang="ko-KR" altLang="en-US" sz="3500" b="1" dirty="0">
                <a:solidFill>
                  <a:schemeClr val="bg1"/>
                </a:solidFill>
              </a:rPr>
              <a:t>생성 </a:t>
            </a:r>
            <a:r>
              <a:rPr lang="en-US" altLang="ko-KR" sz="3500" b="1" dirty="0">
                <a:solidFill>
                  <a:schemeClr val="bg1"/>
                </a:solidFill>
              </a:rPr>
              <a:t>(</a:t>
            </a:r>
            <a:r>
              <a:rPr lang="ko-KR" altLang="en-US" sz="3500" b="1" dirty="0">
                <a:solidFill>
                  <a:schemeClr val="bg1"/>
                </a:solidFill>
              </a:rPr>
              <a:t>규칙 정의</a:t>
            </a:r>
            <a:r>
              <a:rPr lang="en-US" altLang="ko-KR" sz="3500" b="1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984F63-1BC7-D076-58B1-36338E4A4A03}"/>
              </a:ext>
            </a:extLst>
          </p:cNvPr>
          <p:cNvSpPr txBox="1"/>
          <p:nvPr/>
        </p:nvSpPr>
        <p:spPr>
          <a:xfrm>
            <a:off x="545012" y="3429000"/>
            <a:ext cx="3441933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500" dirty="0">
                <a:solidFill>
                  <a:schemeClr val="bg1"/>
                </a:solidFill>
              </a:rPr>
              <a:t>access-list </a:t>
            </a:r>
            <a:r>
              <a:rPr lang="ko-KR" altLang="en-US" sz="3500" dirty="0">
                <a:solidFill>
                  <a:schemeClr val="bg1"/>
                </a:solidFill>
              </a:rPr>
              <a:t>번호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B3F2CD-A2BE-CC6D-77DE-5A047BEFAC65}"/>
              </a:ext>
            </a:extLst>
          </p:cNvPr>
          <p:cNvSpPr txBox="1"/>
          <p:nvPr/>
        </p:nvSpPr>
        <p:spPr>
          <a:xfrm>
            <a:off x="738480" y="4086053"/>
            <a:ext cx="10073640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500" dirty="0">
                <a:solidFill>
                  <a:schemeClr val="accent4"/>
                </a:solidFill>
              </a:rPr>
              <a:t>이 규칙과 일치하는 트래픽을 차단</a:t>
            </a:r>
            <a:r>
              <a:rPr lang="en-US" altLang="ko-KR" sz="3500" dirty="0">
                <a:solidFill>
                  <a:schemeClr val="accent4"/>
                </a:solidFill>
              </a:rPr>
              <a:t>(</a:t>
            </a:r>
            <a:r>
              <a:rPr lang="ko-KR" altLang="en-US" sz="3500" dirty="0">
                <a:solidFill>
                  <a:schemeClr val="accent4"/>
                </a:solidFill>
              </a:rPr>
              <a:t>거부</a:t>
            </a:r>
            <a:r>
              <a:rPr lang="en-US" altLang="ko-KR" sz="3500" dirty="0">
                <a:solidFill>
                  <a:schemeClr val="accent4"/>
                </a:solidFill>
              </a:rPr>
              <a:t>)</a:t>
            </a:r>
            <a:r>
              <a:rPr lang="ko-KR" altLang="en-US" sz="3500" dirty="0">
                <a:solidFill>
                  <a:schemeClr val="accent4"/>
                </a:solidFill>
              </a:rPr>
              <a:t> </a:t>
            </a:r>
            <a:r>
              <a:rPr lang="en-US" altLang="ko-KR" sz="3500" dirty="0">
                <a:solidFill>
                  <a:schemeClr val="accent4"/>
                </a:solidFill>
              </a:rPr>
              <a:t>/</a:t>
            </a:r>
            <a:r>
              <a:rPr lang="ko-KR" altLang="en-US" sz="3500" dirty="0">
                <a:solidFill>
                  <a:schemeClr val="accent4"/>
                </a:solidFill>
              </a:rPr>
              <a:t>이 규칙과 일치하는 트래픽을 허용</a:t>
            </a:r>
            <a:r>
              <a:rPr lang="en-US" altLang="ko-KR" sz="3500" dirty="0">
                <a:solidFill>
                  <a:schemeClr val="accent4"/>
                </a:solidFill>
              </a:rPr>
              <a:t>(</a:t>
            </a:r>
            <a:r>
              <a:rPr lang="ko-KR" altLang="en-US" sz="3500" dirty="0">
                <a:solidFill>
                  <a:schemeClr val="accent4"/>
                </a:solidFill>
              </a:rPr>
              <a:t>통과</a:t>
            </a:r>
            <a:r>
              <a:rPr lang="en-US" altLang="ko-KR" sz="3500" dirty="0">
                <a:solidFill>
                  <a:schemeClr val="accent4"/>
                </a:solidFill>
              </a:rPr>
              <a:t>)/</a:t>
            </a:r>
            <a:r>
              <a:rPr lang="ko-KR" altLang="en-US" sz="3500" dirty="0">
                <a:solidFill>
                  <a:schemeClr val="accent4"/>
                </a:solidFill>
              </a:rPr>
              <a:t>설명 문구</a:t>
            </a:r>
            <a:r>
              <a:rPr lang="en-US" altLang="ko-KR" sz="3500" dirty="0">
                <a:solidFill>
                  <a:schemeClr val="accent4"/>
                </a:solidFill>
              </a:rPr>
              <a:t>(</a:t>
            </a:r>
            <a:r>
              <a:rPr lang="ko-KR" altLang="en-US" sz="3500" dirty="0">
                <a:solidFill>
                  <a:schemeClr val="accent4"/>
                </a:solidFill>
              </a:rPr>
              <a:t>주석</a:t>
            </a:r>
            <a:r>
              <a:rPr lang="en-US" altLang="ko-KR" sz="3500" dirty="0">
                <a:solidFill>
                  <a:schemeClr val="accent4"/>
                </a:solidFill>
              </a:rPr>
              <a:t>)</a:t>
            </a:r>
            <a:r>
              <a:rPr lang="ko-KR" altLang="en-US" sz="3500" dirty="0">
                <a:solidFill>
                  <a:schemeClr val="accent4"/>
                </a:solidFill>
              </a:rPr>
              <a:t>를 삽입하여 </a:t>
            </a:r>
            <a:r>
              <a:rPr lang="en-US" altLang="ko-KR" sz="3500" dirty="0">
                <a:solidFill>
                  <a:schemeClr val="accent4"/>
                </a:solidFill>
              </a:rPr>
              <a:t>ACL </a:t>
            </a:r>
            <a:r>
              <a:rPr lang="ko-KR" altLang="en-US" sz="3500" dirty="0">
                <a:solidFill>
                  <a:schemeClr val="accent4"/>
                </a:solidFill>
              </a:rPr>
              <a:t>규칙 목록의 가독성을 높인다</a:t>
            </a:r>
            <a:r>
              <a:rPr lang="en-US" altLang="ko-KR" sz="3500" dirty="0">
                <a:solidFill>
                  <a:schemeClr val="accent4"/>
                </a:solidFill>
              </a:rPr>
              <a:t>.</a:t>
            </a:r>
            <a:endParaRPr lang="ko-KR" altLang="en-US" sz="35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22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10" grpId="0"/>
      <p:bldP spid="11" grpId="0"/>
      <p:bldP spid="1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EA788-1F44-95F9-4DAB-95943154A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1E100A-D8A1-5107-7F70-C35CE55E3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확장</a:t>
            </a:r>
            <a:r>
              <a:rPr lang="en-US" altLang="ko-KR" dirty="0"/>
              <a:t> ACL (extended ACL)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DA0366-ED1B-9726-CA90-102C542018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567543"/>
            <a:ext cx="10782300" cy="4609420"/>
          </a:xfrm>
        </p:spPr>
        <p:txBody>
          <a:bodyPr>
            <a:normAutofit fontScale="92500" lnSpcReduction="20000"/>
          </a:bodyPr>
          <a:lstStyle/>
          <a:p>
            <a:r>
              <a:rPr lang="en-US" altLang="ko-KR" sz="3000" dirty="0"/>
              <a:t>1</a:t>
            </a:r>
            <a:r>
              <a:rPr lang="ko-KR" altLang="en-US" sz="3000" dirty="0"/>
              <a:t>단계</a:t>
            </a:r>
            <a:r>
              <a:rPr lang="en-US" altLang="ko-KR" sz="3000" dirty="0"/>
              <a:t>: ACL </a:t>
            </a:r>
            <a:r>
              <a:rPr lang="ko-KR" altLang="en-US" sz="3000" dirty="0"/>
              <a:t>생성 </a:t>
            </a:r>
            <a:r>
              <a:rPr lang="en-US" altLang="ko-KR" sz="3000" dirty="0"/>
              <a:t>(</a:t>
            </a:r>
            <a:r>
              <a:rPr lang="ko-KR" altLang="en-US" sz="3000" dirty="0"/>
              <a:t>규칙 정의</a:t>
            </a:r>
            <a:r>
              <a:rPr lang="en-US" altLang="ko-KR" sz="3000" dirty="0"/>
              <a:t>)</a:t>
            </a:r>
          </a:p>
          <a:p>
            <a:pPr marL="0" indent="0">
              <a:buNone/>
            </a:pPr>
            <a:r>
              <a:rPr lang="en-US" altLang="ko-KR" sz="3000" dirty="0"/>
              <a:t>access-list </a:t>
            </a:r>
            <a:r>
              <a:rPr lang="ko-KR" altLang="en-US" sz="3000" dirty="0"/>
              <a:t>번호 </a:t>
            </a:r>
            <a:r>
              <a:rPr lang="en-US" altLang="ko-KR" sz="3000" dirty="0"/>
              <a:t>[deny/dynamic/permit/remark] protocol </a:t>
            </a:r>
            <a:r>
              <a:rPr lang="ko-KR" altLang="en-US" sz="3000" dirty="0"/>
              <a:t>출발</a:t>
            </a:r>
            <a:r>
              <a:rPr lang="en-US" altLang="ko-KR" sz="3000" dirty="0" err="1"/>
              <a:t>ip</a:t>
            </a:r>
            <a:endParaRPr lang="en-US" altLang="ko-KR" sz="3000" dirty="0"/>
          </a:p>
          <a:p>
            <a:pPr marL="0" indent="0">
              <a:buNone/>
            </a:pPr>
            <a:r>
              <a:rPr lang="ko-KR" altLang="en-US" sz="3000" dirty="0"/>
              <a:t>출발</a:t>
            </a:r>
            <a:r>
              <a:rPr lang="en-US" altLang="ko-KR" sz="3000" dirty="0" err="1"/>
              <a:t>wildmask</a:t>
            </a:r>
            <a:r>
              <a:rPr lang="en-US" altLang="ko-KR" sz="3000" dirty="0"/>
              <a:t> </a:t>
            </a:r>
            <a:r>
              <a:rPr lang="ko-KR" altLang="en-US" sz="3000" dirty="0"/>
              <a:t>목적</a:t>
            </a:r>
            <a:r>
              <a:rPr lang="en-US" altLang="ko-KR" sz="3000" dirty="0" err="1"/>
              <a:t>ip</a:t>
            </a:r>
            <a:r>
              <a:rPr lang="en-US" altLang="ko-KR" sz="3000" dirty="0"/>
              <a:t> </a:t>
            </a:r>
            <a:r>
              <a:rPr lang="ko-KR" altLang="en-US" sz="3000" dirty="0"/>
              <a:t>목적</a:t>
            </a:r>
            <a:r>
              <a:rPr lang="en-US" altLang="ko-KR" sz="3000" dirty="0" err="1"/>
              <a:t>wildmask</a:t>
            </a:r>
            <a:r>
              <a:rPr lang="en-US" altLang="ko-KR" sz="3000" dirty="0"/>
              <a:t> eq </a:t>
            </a:r>
            <a:r>
              <a:rPr lang="ko-KR" altLang="en-US" sz="3000" dirty="0"/>
              <a:t>서비스</a:t>
            </a:r>
            <a:r>
              <a:rPr lang="en-US" altLang="ko-KR" sz="3000" dirty="0"/>
              <a:t>/</a:t>
            </a:r>
            <a:r>
              <a:rPr lang="ko-KR" altLang="en-US" sz="3000" dirty="0"/>
              <a:t>포트</a:t>
            </a:r>
            <a:endParaRPr lang="ko-KR" altLang="en-US" sz="3000" b="0" dirty="0">
              <a:effectLst/>
            </a:endParaRPr>
          </a:p>
          <a:p>
            <a:pPr marL="0" indent="0">
              <a:buNone/>
            </a:pPr>
            <a:endParaRPr lang="en-US" altLang="ko-KR" sz="3000" dirty="0"/>
          </a:p>
          <a:p>
            <a:r>
              <a:rPr lang="en-US" altLang="ko-KR" sz="3000" dirty="0"/>
              <a:t>2</a:t>
            </a:r>
            <a:r>
              <a:rPr lang="ko-KR" altLang="en-US" sz="3000" dirty="0"/>
              <a:t>단계</a:t>
            </a:r>
            <a:r>
              <a:rPr lang="en-US" altLang="ko-KR" sz="3000" dirty="0"/>
              <a:t>: ACL </a:t>
            </a:r>
            <a:r>
              <a:rPr lang="ko-KR" altLang="en-US" sz="3000" dirty="0"/>
              <a:t>적용 </a:t>
            </a:r>
            <a:r>
              <a:rPr lang="en-US" altLang="ko-KR" sz="3000" dirty="0"/>
              <a:t>(</a:t>
            </a:r>
            <a:r>
              <a:rPr lang="ko-KR" altLang="en-US" sz="3000" dirty="0"/>
              <a:t>인터페이스</a:t>
            </a:r>
            <a:r>
              <a:rPr lang="en-US" altLang="ko-KR" sz="3000" dirty="0"/>
              <a:t>) </a:t>
            </a:r>
          </a:p>
          <a:p>
            <a:pPr marL="0" indent="0">
              <a:buNone/>
            </a:pPr>
            <a:r>
              <a:rPr lang="en-US" altLang="ko-KR" sz="3000" dirty="0"/>
              <a:t>  interface</a:t>
            </a:r>
            <a:r>
              <a:rPr lang="ko-KR" altLang="en-US" sz="3000" dirty="0"/>
              <a:t> </a:t>
            </a:r>
            <a:r>
              <a:rPr lang="en-US" altLang="ko-KR" sz="3000" dirty="0"/>
              <a:t>[</a:t>
            </a:r>
            <a:r>
              <a:rPr lang="ko-KR" altLang="en-US" sz="3000" dirty="0"/>
              <a:t>인터페이스 </a:t>
            </a:r>
            <a:r>
              <a:rPr lang="en-US" altLang="ko-KR" sz="3000" dirty="0"/>
              <a:t>] </a:t>
            </a:r>
          </a:p>
          <a:p>
            <a:pPr marL="0" indent="0">
              <a:buNone/>
            </a:pPr>
            <a:r>
              <a:rPr lang="en-US" altLang="ko-KR" sz="3000" dirty="0"/>
              <a:t>  </a:t>
            </a:r>
            <a:r>
              <a:rPr lang="en-US" altLang="ko-KR" sz="3000" dirty="0" err="1"/>
              <a:t>ip</a:t>
            </a:r>
            <a:r>
              <a:rPr lang="en-US" altLang="ko-KR" sz="3000" dirty="0"/>
              <a:t> access-group [</a:t>
            </a:r>
            <a:r>
              <a:rPr lang="ko-KR" altLang="en-US" sz="3000" dirty="0"/>
              <a:t>번호</a:t>
            </a:r>
            <a:r>
              <a:rPr lang="en-US" altLang="ko-KR" sz="3000" dirty="0"/>
              <a:t>] [in</a:t>
            </a:r>
            <a:r>
              <a:rPr lang="ko-KR" altLang="en-US" sz="3000" dirty="0"/>
              <a:t> </a:t>
            </a:r>
            <a:r>
              <a:rPr lang="en-US" altLang="ko-KR" sz="3000" dirty="0"/>
              <a:t>| out]</a:t>
            </a:r>
          </a:p>
          <a:p>
            <a:endParaRPr lang="en-US" altLang="ko-KR" sz="3000" dirty="0"/>
          </a:p>
          <a:p>
            <a:r>
              <a:rPr lang="en-US" altLang="ko-KR" sz="3000" dirty="0"/>
              <a:t>3</a:t>
            </a:r>
            <a:r>
              <a:rPr lang="ko-KR" altLang="en-US" sz="3000" dirty="0"/>
              <a:t>단계 </a:t>
            </a:r>
            <a:r>
              <a:rPr lang="en-US" altLang="ko-KR" sz="3000" dirty="0"/>
              <a:t>: </a:t>
            </a:r>
            <a:r>
              <a:rPr lang="ko-KR" altLang="en-US" sz="3000" dirty="0"/>
              <a:t>설정된 </a:t>
            </a:r>
            <a:r>
              <a:rPr lang="en-US" altLang="ko-KR" sz="3000" dirty="0"/>
              <a:t>ACL </a:t>
            </a:r>
            <a:r>
              <a:rPr lang="ko-KR" altLang="en-US" sz="3000" dirty="0"/>
              <a:t>확인 </a:t>
            </a:r>
            <a:endParaRPr lang="en-US" altLang="ko-KR" sz="3000" dirty="0"/>
          </a:p>
          <a:p>
            <a:pPr marL="0" indent="0">
              <a:buNone/>
            </a:pPr>
            <a:r>
              <a:rPr lang="en-US" altLang="ko-KR" sz="3000" dirty="0"/>
              <a:t>  show </a:t>
            </a:r>
            <a:r>
              <a:rPr lang="en-US" altLang="ko-KR" sz="3000" dirty="0" err="1"/>
              <a:t>ip</a:t>
            </a:r>
            <a:r>
              <a:rPr lang="en-US" altLang="ko-KR" sz="3000" dirty="0"/>
              <a:t> access-lists</a:t>
            </a:r>
            <a:endParaRPr lang="ko-KR" altLang="en-US" sz="3000" dirty="0"/>
          </a:p>
          <a:p>
            <a:endParaRPr lang="en-US" altLang="ko-KR" sz="3200" dirty="0"/>
          </a:p>
          <a:p>
            <a:pPr marL="0" indent="0">
              <a:buNone/>
            </a:pPr>
            <a:endParaRPr lang="ko-KR" altLang="en-US" sz="32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F6D0FF5-FFC5-C326-FEA6-F77C55ACD1AA}"/>
              </a:ext>
            </a:extLst>
          </p:cNvPr>
          <p:cNvSpPr/>
          <p:nvPr/>
        </p:nvSpPr>
        <p:spPr>
          <a:xfrm>
            <a:off x="280852" y="1373188"/>
            <a:ext cx="11544300" cy="512127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F4783F-AD6F-5E80-B71C-8763E99A8B24}"/>
              </a:ext>
            </a:extLst>
          </p:cNvPr>
          <p:cNvSpPr txBox="1"/>
          <p:nvPr/>
        </p:nvSpPr>
        <p:spPr>
          <a:xfrm>
            <a:off x="8222834" y="3369047"/>
            <a:ext cx="19304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500" dirty="0">
                <a:solidFill>
                  <a:schemeClr val="accent5"/>
                </a:solidFill>
              </a:rPr>
              <a:t>protocol</a:t>
            </a:r>
            <a:endParaRPr lang="ko-KR" altLang="en-US" sz="35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F951A7-9974-395A-7BA1-996A06F7110A}"/>
              </a:ext>
            </a:extLst>
          </p:cNvPr>
          <p:cNvSpPr txBox="1"/>
          <p:nvPr/>
        </p:nvSpPr>
        <p:spPr>
          <a:xfrm>
            <a:off x="545012" y="3940501"/>
            <a:ext cx="4494347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500" dirty="0">
                <a:solidFill>
                  <a:schemeClr val="accent6"/>
                </a:solidFill>
              </a:rPr>
              <a:t>출발</a:t>
            </a:r>
            <a:r>
              <a:rPr lang="en-US" altLang="ko-KR" sz="3500" dirty="0" err="1">
                <a:solidFill>
                  <a:schemeClr val="accent6"/>
                </a:solidFill>
              </a:rPr>
              <a:t>ip</a:t>
            </a:r>
            <a:r>
              <a:rPr lang="en-US" altLang="ko-KR" sz="3500" dirty="0">
                <a:solidFill>
                  <a:schemeClr val="accent6"/>
                </a:solidFill>
              </a:rPr>
              <a:t> </a:t>
            </a:r>
            <a:r>
              <a:rPr lang="ko-KR" altLang="en-US" sz="3500" dirty="0">
                <a:solidFill>
                  <a:schemeClr val="accent6"/>
                </a:solidFill>
              </a:rPr>
              <a:t>출발</a:t>
            </a:r>
            <a:r>
              <a:rPr lang="en-US" altLang="ko-KR" sz="3500" dirty="0" err="1">
                <a:solidFill>
                  <a:schemeClr val="accent6"/>
                </a:solidFill>
              </a:rPr>
              <a:t>wildmask</a:t>
            </a:r>
            <a:endParaRPr lang="ko-KR" altLang="en-US" sz="35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38E421-DE2C-A36A-902D-9D309F432DDD}"/>
              </a:ext>
            </a:extLst>
          </p:cNvPr>
          <p:cNvSpPr txBox="1"/>
          <p:nvPr/>
        </p:nvSpPr>
        <p:spPr>
          <a:xfrm>
            <a:off x="4856480" y="3999989"/>
            <a:ext cx="4494347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500" dirty="0">
                <a:solidFill>
                  <a:srgbClr val="FF0000"/>
                </a:solidFill>
              </a:rPr>
              <a:t>목적</a:t>
            </a:r>
            <a:r>
              <a:rPr lang="en-US" altLang="ko-KR" sz="3500" dirty="0" err="1">
                <a:solidFill>
                  <a:srgbClr val="FF0000"/>
                </a:solidFill>
              </a:rPr>
              <a:t>ip</a:t>
            </a:r>
            <a:r>
              <a:rPr lang="en-US" altLang="ko-KR" sz="3500" dirty="0">
                <a:solidFill>
                  <a:srgbClr val="FF0000"/>
                </a:solidFill>
              </a:rPr>
              <a:t> </a:t>
            </a:r>
            <a:r>
              <a:rPr lang="ko-KR" altLang="en-US" sz="3500" dirty="0">
                <a:solidFill>
                  <a:srgbClr val="FF0000"/>
                </a:solidFill>
              </a:rPr>
              <a:t>목적</a:t>
            </a:r>
            <a:r>
              <a:rPr lang="en-US" altLang="ko-KR" sz="3500" dirty="0" err="1">
                <a:solidFill>
                  <a:srgbClr val="FF0000"/>
                </a:solidFill>
              </a:rPr>
              <a:t>wildmask</a:t>
            </a:r>
            <a:endParaRPr lang="ko-KR" altLang="en-US" sz="35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72DB7B-7BAF-015E-71A6-3FED80AE07BE}"/>
              </a:ext>
            </a:extLst>
          </p:cNvPr>
          <p:cNvSpPr txBox="1"/>
          <p:nvPr/>
        </p:nvSpPr>
        <p:spPr>
          <a:xfrm>
            <a:off x="545012" y="4526730"/>
            <a:ext cx="404368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500" dirty="0">
                <a:solidFill>
                  <a:srgbClr val="FFFF00"/>
                </a:solidFill>
              </a:rPr>
              <a:t>[</a:t>
            </a:r>
            <a:r>
              <a:rPr lang="ko-KR" altLang="en-US" sz="3500" dirty="0">
                <a:solidFill>
                  <a:srgbClr val="FFFF00"/>
                </a:solidFill>
              </a:rPr>
              <a:t>옵션</a:t>
            </a:r>
            <a:r>
              <a:rPr lang="en-US" altLang="ko-KR" sz="3500" dirty="0">
                <a:solidFill>
                  <a:srgbClr val="FFFF00"/>
                </a:solidFill>
              </a:rPr>
              <a:t>: </a:t>
            </a:r>
            <a:r>
              <a:rPr lang="ko-KR" altLang="en-US" sz="3500" dirty="0">
                <a:solidFill>
                  <a:srgbClr val="FFFF00"/>
                </a:solidFill>
              </a:rPr>
              <a:t>서비스</a:t>
            </a:r>
            <a:r>
              <a:rPr lang="en-US" altLang="ko-KR" sz="3500" dirty="0">
                <a:solidFill>
                  <a:srgbClr val="FFFF00"/>
                </a:solidFill>
              </a:rPr>
              <a:t>/</a:t>
            </a:r>
            <a:r>
              <a:rPr lang="ko-KR" altLang="en-US" sz="3500" dirty="0">
                <a:solidFill>
                  <a:srgbClr val="FFFF00"/>
                </a:solidFill>
              </a:rPr>
              <a:t>포트</a:t>
            </a:r>
            <a:r>
              <a:rPr lang="en-US" altLang="ko-KR" sz="3500" dirty="0">
                <a:solidFill>
                  <a:srgbClr val="FFFF00"/>
                </a:solidFill>
              </a:rPr>
              <a:t>]</a:t>
            </a:r>
            <a:endParaRPr lang="ko-KR" altLang="en-US" sz="35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44B635-241E-2E81-EEA1-DBDA2F69588E}"/>
              </a:ext>
            </a:extLst>
          </p:cNvPr>
          <p:cNvSpPr txBox="1"/>
          <p:nvPr/>
        </p:nvSpPr>
        <p:spPr>
          <a:xfrm>
            <a:off x="3754975" y="3429000"/>
            <a:ext cx="4454305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500" dirty="0">
                <a:solidFill>
                  <a:schemeClr val="accent4"/>
                </a:solidFill>
              </a:rPr>
              <a:t>[deny/permit/remark]</a:t>
            </a:r>
            <a:endParaRPr lang="ko-KR" altLang="en-US" sz="35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9703D6-543A-F453-D224-548CC70ED9CF}"/>
              </a:ext>
            </a:extLst>
          </p:cNvPr>
          <p:cNvSpPr txBox="1"/>
          <p:nvPr/>
        </p:nvSpPr>
        <p:spPr>
          <a:xfrm>
            <a:off x="545012" y="2888896"/>
            <a:ext cx="5815148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500" b="1" dirty="0">
                <a:solidFill>
                  <a:schemeClr val="bg1"/>
                </a:solidFill>
              </a:rPr>
              <a:t>1</a:t>
            </a:r>
            <a:r>
              <a:rPr lang="ko-KR" altLang="en-US" sz="3500" b="1" dirty="0">
                <a:solidFill>
                  <a:schemeClr val="bg1"/>
                </a:solidFill>
              </a:rPr>
              <a:t>단계</a:t>
            </a:r>
            <a:r>
              <a:rPr lang="en-US" altLang="ko-KR" sz="3500" b="1" dirty="0">
                <a:solidFill>
                  <a:schemeClr val="bg1"/>
                </a:solidFill>
              </a:rPr>
              <a:t>: ACL </a:t>
            </a:r>
            <a:r>
              <a:rPr lang="ko-KR" altLang="en-US" sz="3500" b="1" dirty="0">
                <a:solidFill>
                  <a:schemeClr val="bg1"/>
                </a:solidFill>
              </a:rPr>
              <a:t>생성 </a:t>
            </a:r>
            <a:r>
              <a:rPr lang="en-US" altLang="ko-KR" sz="3500" b="1" dirty="0">
                <a:solidFill>
                  <a:schemeClr val="bg1"/>
                </a:solidFill>
              </a:rPr>
              <a:t>(</a:t>
            </a:r>
            <a:r>
              <a:rPr lang="ko-KR" altLang="en-US" sz="3500" b="1" dirty="0">
                <a:solidFill>
                  <a:schemeClr val="bg1"/>
                </a:solidFill>
              </a:rPr>
              <a:t>규칙 정의</a:t>
            </a:r>
            <a:r>
              <a:rPr lang="en-US" altLang="ko-KR" sz="3500" b="1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5F4D3D-AA24-5456-B73C-A1A4A887DE28}"/>
              </a:ext>
            </a:extLst>
          </p:cNvPr>
          <p:cNvSpPr txBox="1"/>
          <p:nvPr/>
        </p:nvSpPr>
        <p:spPr>
          <a:xfrm>
            <a:off x="545012" y="3429000"/>
            <a:ext cx="3441933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500" dirty="0">
                <a:solidFill>
                  <a:schemeClr val="bg1"/>
                </a:solidFill>
              </a:rPr>
              <a:t>access-list </a:t>
            </a:r>
            <a:r>
              <a:rPr lang="ko-KR" altLang="en-US" sz="3500" dirty="0">
                <a:solidFill>
                  <a:schemeClr val="bg1"/>
                </a:solidFill>
              </a:rPr>
              <a:t>번호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9B20A52-D694-6083-FE2B-B938C67831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112" y="2399661"/>
            <a:ext cx="8709767" cy="3712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A150C3F-930F-43F8-7371-76F962A5AACF}"/>
              </a:ext>
            </a:extLst>
          </p:cNvPr>
          <p:cNvCxnSpPr/>
          <p:nvPr/>
        </p:nvCxnSpPr>
        <p:spPr>
          <a:xfrm>
            <a:off x="838200" y="3934803"/>
            <a:ext cx="762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17E27B87-E728-AFDD-FF4E-09C6817DD4FC}"/>
              </a:ext>
            </a:extLst>
          </p:cNvPr>
          <p:cNvCxnSpPr/>
          <p:nvPr/>
        </p:nvCxnSpPr>
        <p:spPr>
          <a:xfrm>
            <a:off x="838200" y="5766452"/>
            <a:ext cx="762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35E7EC19-A5E8-9FF6-FD4B-2A583F8709A1}"/>
              </a:ext>
            </a:extLst>
          </p:cNvPr>
          <p:cNvCxnSpPr/>
          <p:nvPr/>
        </p:nvCxnSpPr>
        <p:spPr>
          <a:xfrm>
            <a:off x="838200" y="6068484"/>
            <a:ext cx="762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CD4B9BCD-028C-7976-53F6-F3285D6A2A6D}"/>
              </a:ext>
            </a:extLst>
          </p:cNvPr>
          <p:cNvCxnSpPr/>
          <p:nvPr/>
        </p:nvCxnSpPr>
        <p:spPr>
          <a:xfrm>
            <a:off x="838200" y="4337702"/>
            <a:ext cx="762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4604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328 -0.05023 L -0.6224 -0.27153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1784" y="-1106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C74CC-95C4-93E3-C0A9-421D88489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5B69D6-8992-5E61-FE9F-EA8BAC567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확장</a:t>
            </a:r>
            <a:r>
              <a:rPr lang="en-US" altLang="ko-KR" dirty="0"/>
              <a:t> ACL (extended ACL)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255496-D509-8AB0-B467-FD52837FF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567543"/>
            <a:ext cx="10782300" cy="4609420"/>
          </a:xfrm>
        </p:spPr>
        <p:txBody>
          <a:bodyPr>
            <a:normAutofit fontScale="92500" lnSpcReduction="20000"/>
          </a:bodyPr>
          <a:lstStyle/>
          <a:p>
            <a:r>
              <a:rPr lang="en-US" altLang="ko-KR" sz="3000" dirty="0"/>
              <a:t>1</a:t>
            </a:r>
            <a:r>
              <a:rPr lang="ko-KR" altLang="en-US" sz="3000" dirty="0"/>
              <a:t>단계</a:t>
            </a:r>
            <a:r>
              <a:rPr lang="en-US" altLang="ko-KR" sz="3000" dirty="0"/>
              <a:t>: ACL </a:t>
            </a:r>
            <a:r>
              <a:rPr lang="ko-KR" altLang="en-US" sz="3000" dirty="0"/>
              <a:t>생성 </a:t>
            </a:r>
            <a:r>
              <a:rPr lang="en-US" altLang="ko-KR" sz="3000" dirty="0"/>
              <a:t>(</a:t>
            </a:r>
            <a:r>
              <a:rPr lang="ko-KR" altLang="en-US" sz="3000" dirty="0"/>
              <a:t>규칙 정의</a:t>
            </a:r>
            <a:r>
              <a:rPr lang="en-US" altLang="ko-KR" sz="3000" dirty="0"/>
              <a:t>)</a:t>
            </a:r>
          </a:p>
          <a:p>
            <a:pPr marL="0" indent="0">
              <a:buNone/>
            </a:pPr>
            <a:r>
              <a:rPr lang="en-US" altLang="ko-KR" sz="3000" dirty="0"/>
              <a:t>access-list </a:t>
            </a:r>
            <a:r>
              <a:rPr lang="ko-KR" altLang="en-US" sz="3000" dirty="0"/>
              <a:t>번호 </a:t>
            </a:r>
            <a:r>
              <a:rPr lang="en-US" altLang="ko-KR" sz="3000" dirty="0"/>
              <a:t>[deny/dynamic/permit/remark] protocol </a:t>
            </a:r>
            <a:r>
              <a:rPr lang="ko-KR" altLang="en-US" sz="3000" dirty="0"/>
              <a:t>출발</a:t>
            </a:r>
            <a:r>
              <a:rPr lang="en-US" altLang="ko-KR" sz="3000" dirty="0" err="1"/>
              <a:t>ip</a:t>
            </a:r>
            <a:endParaRPr lang="en-US" altLang="ko-KR" sz="3000" dirty="0"/>
          </a:p>
          <a:p>
            <a:pPr marL="0" indent="0">
              <a:buNone/>
            </a:pPr>
            <a:r>
              <a:rPr lang="ko-KR" altLang="en-US" sz="3000" dirty="0"/>
              <a:t>출발</a:t>
            </a:r>
            <a:r>
              <a:rPr lang="en-US" altLang="ko-KR" sz="3000" dirty="0" err="1"/>
              <a:t>wildmask</a:t>
            </a:r>
            <a:r>
              <a:rPr lang="en-US" altLang="ko-KR" sz="3000" dirty="0"/>
              <a:t> </a:t>
            </a:r>
            <a:r>
              <a:rPr lang="ko-KR" altLang="en-US" sz="3000" dirty="0"/>
              <a:t>목적</a:t>
            </a:r>
            <a:r>
              <a:rPr lang="en-US" altLang="ko-KR" sz="3000" dirty="0" err="1"/>
              <a:t>ip</a:t>
            </a:r>
            <a:r>
              <a:rPr lang="en-US" altLang="ko-KR" sz="3000" dirty="0"/>
              <a:t> </a:t>
            </a:r>
            <a:r>
              <a:rPr lang="ko-KR" altLang="en-US" sz="3000" dirty="0"/>
              <a:t>목적</a:t>
            </a:r>
            <a:r>
              <a:rPr lang="en-US" altLang="ko-KR" sz="3000" dirty="0" err="1"/>
              <a:t>wildmask</a:t>
            </a:r>
            <a:r>
              <a:rPr lang="en-US" altLang="ko-KR" sz="3000" dirty="0"/>
              <a:t> eq </a:t>
            </a:r>
            <a:r>
              <a:rPr lang="ko-KR" altLang="en-US" sz="3000" dirty="0"/>
              <a:t>서비스</a:t>
            </a:r>
            <a:r>
              <a:rPr lang="en-US" altLang="ko-KR" sz="3000" dirty="0"/>
              <a:t>/</a:t>
            </a:r>
            <a:r>
              <a:rPr lang="ko-KR" altLang="en-US" sz="3000" dirty="0"/>
              <a:t>포트</a:t>
            </a:r>
            <a:endParaRPr lang="ko-KR" altLang="en-US" sz="3000" b="0" dirty="0">
              <a:effectLst/>
            </a:endParaRPr>
          </a:p>
          <a:p>
            <a:pPr marL="0" indent="0">
              <a:buNone/>
            </a:pPr>
            <a:endParaRPr lang="en-US" altLang="ko-KR" sz="3000" dirty="0"/>
          </a:p>
          <a:p>
            <a:r>
              <a:rPr lang="en-US" altLang="ko-KR" sz="3000" dirty="0"/>
              <a:t>2</a:t>
            </a:r>
            <a:r>
              <a:rPr lang="ko-KR" altLang="en-US" sz="3000" dirty="0"/>
              <a:t>단계</a:t>
            </a:r>
            <a:r>
              <a:rPr lang="en-US" altLang="ko-KR" sz="3000" dirty="0"/>
              <a:t>: ACL </a:t>
            </a:r>
            <a:r>
              <a:rPr lang="ko-KR" altLang="en-US" sz="3000" dirty="0"/>
              <a:t>적용 </a:t>
            </a:r>
            <a:r>
              <a:rPr lang="en-US" altLang="ko-KR" sz="3000" dirty="0"/>
              <a:t>(</a:t>
            </a:r>
            <a:r>
              <a:rPr lang="ko-KR" altLang="en-US" sz="3000" dirty="0"/>
              <a:t>인터페이스</a:t>
            </a:r>
            <a:r>
              <a:rPr lang="en-US" altLang="ko-KR" sz="3000" dirty="0"/>
              <a:t>) </a:t>
            </a:r>
          </a:p>
          <a:p>
            <a:pPr marL="0" indent="0">
              <a:buNone/>
            </a:pPr>
            <a:r>
              <a:rPr lang="en-US" altLang="ko-KR" sz="3000" dirty="0"/>
              <a:t>  interface</a:t>
            </a:r>
            <a:r>
              <a:rPr lang="ko-KR" altLang="en-US" sz="3000" dirty="0"/>
              <a:t> </a:t>
            </a:r>
            <a:r>
              <a:rPr lang="en-US" altLang="ko-KR" sz="3000" dirty="0"/>
              <a:t>[</a:t>
            </a:r>
            <a:r>
              <a:rPr lang="ko-KR" altLang="en-US" sz="3000" dirty="0"/>
              <a:t>인터페이스 </a:t>
            </a:r>
            <a:r>
              <a:rPr lang="en-US" altLang="ko-KR" sz="3000" dirty="0"/>
              <a:t>] </a:t>
            </a:r>
          </a:p>
          <a:p>
            <a:pPr marL="0" indent="0">
              <a:buNone/>
            </a:pPr>
            <a:r>
              <a:rPr lang="en-US" altLang="ko-KR" sz="3000" dirty="0"/>
              <a:t>  </a:t>
            </a:r>
            <a:r>
              <a:rPr lang="en-US" altLang="ko-KR" sz="3000" dirty="0" err="1"/>
              <a:t>ip</a:t>
            </a:r>
            <a:r>
              <a:rPr lang="en-US" altLang="ko-KR" sz="3000" dirty="0"/>
              <a:t> access-group [</a:t>
            </a:r>
            <a:r>
              <a:rPr lang="ko-KR" altLang="en-US" sz="3000" dirty="0"/>
              <a:t>번호</a:t>
            </a:r>
            <a:r>
              <a:rPr lang="en-US" altLang="ko-KR" sz="3000" dirty="0"/>
              <a:t>] [in</a:t>
            </a:r>
            <a:r>
              <a:rPr lang="ko-KR" altLang="en-US" sz="3000" dirty="0"/>
              <a:t> </a:t>
            </a:r>
            <a:r>
              <a:rPr lang="en-US" altLang="ko-KR" sz="3000" dirty="0"/>
              <a:t>| out]</a:t>
            </a:r>
          </a:p>
          <a:p>
            <a:endParaRPr lang="en-US" altLang="ko-KR" sz="3000" dirty="0"/>
          </a:p>
          <a:p>
            <a:r>
              <a:rPr lang="en-US" altLang="ko-KR" sz="3000" dirty="0"/>
              <a:t>3</a:t>
            </a:r>
            <a:r>
              <a:rPr lang="ko-KR" altLang="en-US" sz="3000" dirty="0"/>
              <a:t>단계 </a:t>
            </a:r>
            <a:r>
              <a:rPr lang="en-US" altLang="ko-KR" sz="3000" dirty="0"/>
              <a:t>: </a:t>
            </a:r>
            <a:r>
              <a:rPr lang="ko-KR" altLang="en-US" sz="3000" dirty="0"/>
              <a:t>설정된 </a:t>
            </a:r>
            <a:r>
              <a:rPr lang="en-US" altLang="ko-KR" sz="3000" dirty="0"/>
              <a:t>ACL </a:t>
            </a:r>
            <a:r>
              <a:rPr lang="ko-KR" altLang="en-US" sz="3000" dirty="0"/>
              <a:t>확인 </a:t>
            </a:r>
            <a:endParaRPr lang="en-US" altLang="ko-KR" sz="3000" dirty="0"/>
          </a:p>
          <a:p>
            <a:pPr marL="0" indent="0">
              <a:buNone/>
            </a:pPr>
            <a:r>
              <a:rPr lang="en-US" altLang="ko-KR" sz="3000" dirty="0"/>
              <a:t>  show </a:t>
            </a:r>
            <a:r>
              <a:rPr lang="en-US" altLang="ko-KR" sz="3000" dirty="0" err="1"/>
              <a:t>ip</a:t>
            </a:r>
            <a:r>
              <a:rPr lang="en-US" altLang="ko-KR" sz="3000" dirty="0"/>
              <a:t> access-lists</a:t>
            </a:r>
            <a:endParaRPr lang="ko-KR" altLang="en-US" sz="3000" dirty="0"/>
          </a:p>
          <a:p>
            <a:endParaRPr lang="en-US" altLang="ko-KR" sz="3200" dirty="0"/>
          </a:p>
          <a:p>
            <a:pPr marL="0" indent="0">
              <a:buNone/>
            </a:pPr>
            <a:endParaRPr lang="ko-KR" altLang="en-US" sz="32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4001B99-F2DF-CA99-88CA-72177D22E9BC}"/>
              </a:ext>
            </a:extLst>
          </p:cNvPr>
          <p:cNvSpPr/>
          <p:nvPr/>
        </p:nvSpPr>
        <p:spPr>
          <a:xfrm>
            <a:off x="323850" y="1371600"/>
            <a:ext cx="11544300" cy="512127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F53230-FFE1-0876-36C3-39D50D047825}"/>
              </a:ext>
            </a:extLst>
          </p:cNvPr>
          <p:cNvSpPr txBox="1"/>
          <p:nvPr/>
        </p:nvSpPr>
        <p:spPr>
          <a:xfrm>
            <a:off x="8222834" y="3369047"/>
            <a:ext cx="19304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500" dirty="0">
                <a:solidFill>
                  <a:schemeClr val="accent5"/>
                </a:solidFill>
              </a:rPr>
              <a:t>protocol</a:t>
            </a:r>
            <a:endParaRPr lang="ko-KR" altLang="en-US" sz="35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EB3B6D-09DA-638E-5078-5B988C98A560}"/>
              </a:ext>
            </a:extLst>
          </p:cNvPr>
          <p:cNvSpPr txBox="1"/>
          <p:nvPr/>
        </p:nvSpPr>
        <p:spPr>
          <a:xfrm>
            <a:off x="545012" y="3940501"/>
            <a:ext cx="4494347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500" dirty="0">
                <a:solidFill>
                  <a:schemeClr val="accent6"/>
                </a:solidFill>
              </a:rPr>
              <a:t>출발</a:t>
            </a:r>
            <a:r>
              <a:rPr lang="en-US" altLang="ko-KR" sz="3500" dirty="0" err="1">
                <a:solidFill>
                  <a:schemeClr val="accent6"/>
                </a:solidFill>
              </a:rPr>
              <a:t>ip</a:t>
            </a:r>
            <a:r>
              <a:rPr lang="en-US" altLang="ko-KR" sz="3500" dirty="0">
                <a:solidFill>
                  <a:schemeClr val="accent6"/>
                </a:solidFill>
              </a:rPr>
              <a:t> </a:t>
            </a:r>
            <a:r>
              <a:rPr lang="ko-KR" altLang="en-US" sz="3500" dirty="0">
                <a:solidFill>
                  <a:schemeClr val="accent6"/>
                </a:solidFill>
              </a:rPr>
              <a:t>출발</a:t>
            </a:r>
            <a:r>
              <a:rPr lang="en-US" altLang="ko-KR" sz="3500" dirty="0" err="1">
                <a:solidFill>
                  <a:schemeClr val="accent6"/>
                </a:solidFill>
              </a:rPr>
              <a:t>wildmask</a:t>
            </a:r>
            <a:endParaRPr lang="ko-KR" altLang="en-US" sz="35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927386-9E9D-DEF7-AFCD-6490C900B616}"/>
              </a:ext>
            </a:extLst>
          </p:cNvPr>
          <p:cNvSpPr txBox="1"/>
          <p:nvPr/>
        </p:nvSpPr>
        <p:spPr>
          <a:xfrm>
            <a:off x="4856480" y="3999989"/>
            <a:ext cx="4494347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500" dirty="0">
                <a:solidFill>
                  <a:srgbClr val="FF0000"/>
                </a:solidFill>
              </a:rPr>
              <a:t>목적</a:t>
            </a:r>
            <a:r>
              <a:rPr lang="en-US" altLang="ko-KR" sz="3500" dirty="0" err="1">
                <a:solidFill>
                  <a:srgbClr val="FF0000"/>
                </a:solidFill>
              </a:rPr>
              <a:t>ip</a:t>
            </a:r>
            <a:r>
              <a:rPr lang="en-US" altLang="ko-KR" sz="3500" dirty="0">
                <a:solidFill>
                  <a:srgbClr val="FF0000"/>
                </a:solidFill>
              </a:rPr>
              <a:t> </a:t>
            </a:r>
            <a:r>
              <a:rPr lang="ko-KR" altLang="en-US" sz="3500" dirty="0">
                <a:solidFill>
                  <a:srgbClr val="FF0000"/>
                </a:solidFill>
              </a:rPr>
              <a:t>목적</a:t>
            </a:r>
            <a:r>
              <a:rPr lang="en-US" altLang="ko-KR" sz="3500" dirty="0" err="1">
                <a:solidFill>
                  <a:srgbClr val="FF0000"/>
                </a:solidFill>
              </a:rPr>
              <a:t>wildmask</a:t>
            </a:r>
            <a:endParaRPr lang="ko-KR" altLang="en-US" sz="35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F97B66-48A2-C453-A27A-419E8892766C}"/>
              </a:ext>
            </a:extLst>
          </p:cNvPr>
          <p:cNvSpPr txBox="1"/>
          <p:nvPr/>
        </p:nvSpPr>
        <p:spPr>
          <a:xfrm>
            <a:off x="545012" y="4526730"/>
            <a:ext cx="404368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500" dirty="0">
                <a:solidFill>
                  <a:srgbClr val="FFFF00"/>
                </a:solidFill>
              </a:rPr>
              <a:t>[</a:t>
            </a:r>
            <a:r>
              <a:rPr lang="ko-KR" altLang="en-US" sz="3500" dirty="0">
                <a:solidFill>
                  <a:srgbClr val="FFFF00"/>
                </a:solidFill>
              </a:rPr>
              <a:t>옵션</a:t>
            </a:r>
            <a:r>
              <a:rPr lang="en-US" altLang="ko-KR" sz="3500" dirty="0">
                <a:solidFill>
                  <a:srgbClr val="FFFF00"/>
                </a:solidFill>
              </a:rPr>
              <a:t>: </a:t>
            </a:r>
            <a:r>
              <a:rPr lang="ko-KR" altLang="en-US" sz="3500" dirty="0">
                <a:solidFill>
                  <a:srgbClr val="FFFF00"/>
                </a:solidFill>
              </a:rPr>
              <a:t>서비스</a:t>
            </a:r>
            <a:r>
              <a:rPr lang="en-US" altLang="ko-KR" sz="3500" dirty="0">
                <a:solidFill>
                  <a:srgbClr val="FFFF00"/>
                </a:solidFill>
              </a:rPr>
              <a:t>/</a:t>
            </a:r>
            <a:r>
              <a:rPr lang="ko-KR" altLang="en-US" sz="3500" dirty="0">
                <a:solidFill>
                  <a:srgbClr val="FFFF00"/>
                </a:solidFill>
              </a:rPr>
              <a:t>포트</a:t>
            </a:r>
            <a:r>
              <a:rPr lang="en-US" altLang="ko-KR" sz="3500" dirty="0">
                <a:solidFill>
                  <a:srgbClr val="FFFF00"/>
                </a:solidFill>
              </a:rPr>
              <a:t>]</a:t>
            </a:r>
            <a:endParaRPr lang="ko-KR" altLang="en-US" sz="35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B5880A-7A2F-B6D1-6685-127F924180DA}"/>
              </a:ext>
            </a:extLst>
          </p:cNvPr>
          <p:cNvSpPr txBox="1"/>
          <p:nvPr/>
        </p:nvSpPr>
        <p:spPr>
          <a:xfrm>
            <a:off x="3754975" y="3429000"/>
            <a:ext cx="4454305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500" dirty="0">
                <a:solidFill>
                  <a:schemeClr val="accent4"/>
                </a:solidFill>
              </a:rPr>
              <a:t>[deny/permit/remark]</a:t>
            </a:r>
            <a:endParaRPr lang="ko-KR" altLang="en-US" sz="35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EB4E67-B6CD-EFA3-DD23-8A75A1CECDD8}"/>
              </a:ext>
            </a:extLst>
          </p:cNvPr>
          <p:cNvSpPr txBox="1"/>
          <p:nvPr/>
        </p:nvSpPr>
        <p:spPr>
          <a:xfrm>
            <a:off x="545012" y="2888896"/>
            <a:ext cx="5815148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500" b="1" dirty="0">
                <a:solidFill>
                  <a:schemeClr val="bg1"/>
                </a:solidFill>
              </a:rPr>
              <a:t>1</a:t>
            </a:r>
            <a:r>
              <a:rPr lang="ko-KR" altLang="en-US" sz="3500" b="1" dirty="0">
                <a:solidFill>
                  <a:schemeClr val="bg1"/>
                </a:solidFill>
              </a:rPr>
              <a:t>단계</a:t>
            </a:r>
            <a:r>
              <a:rPr lang="en-US" altLang="ko-KR" sz="3500" b="1" dirty="0">
                <a:solidFill>
                  <a:schemeClr val="bg1"/>
                </a:solidFill>
              </a:rPr>
              <a:t>: ACL </a:t>
            </a:r>
            <a:r>
              <a:rPr lang="ko-KR" altLang="en-US" sz="3500" b="1" dirty="0">
                <a:solidFill>
                  <a:schemeClr val="bg1"/>
                </a:solidFill>
              </a:rPr>
              <a:t>생성 </a:t>
            </a:r>
            <a:r>
              <a:rPr lang="en-US" altLang="ko-KR" sz="3500" b="1" dirty="0">
                <a:solidFill>
                  <a:schemeClr val="bg1"/>
                </a:solidFill>
              </a:rPr>
              <a:t>(</a:t>
            </a:r>
            <a:r>
              <a:rPr lang="ko-KR" altLang="en-US" sz="3500" b="1" dirty="0">
                <a:solidFill>
                  <a:schemeClr val="bg1"/>
                </a:solidFill>
              </a:rPr>
              <a:t>규칙 정의</a:t>
            </a:r>
            <a:r>
              <a:rPr lang="en-US" altLang="ko-KR" sz="3500" b="1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D8315E-E25F-E370-405F-10504E693768}"/>
              </a:ext>
            </a:extLst>
          </p:cNvPr>
          <p:cNvSpPr txBox="1"/>
          <p:nvPr/>
        </p:nvSpPr>
        <p:spPr>
          <a:xfrm>
            <a:off x="545012" y="3429000"/>
            <a:ext cx="3441933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500" dirty="0">
                <a:solidFill>
                  <a:schemeClr val="bg1"/>
                </a:solidFill>
              </a:rPr>
              <a:t>access-list </a:t>
            </a:r>
            <a:r>
              <a:rPr lang="ko-KR" altLang="en-US" sz="3500" dirty="0">
                <a:solidFill>
                  <a:schemeClr val="bg1"/>
                </a:solidFill>
              </a:rPr>
              <a:t>번호</a:t>
            </a:r>
          </a:p>
        </p:txBody>
      </p:sp>
    </p:spTree>
    <p:extLst>
      <p:ext uri="{BB962C8B-B14F-4D97-AF65-F5344CB8AC3E}">
        <p14:creationId xmlns:p14="http://schemas.microsoft.com/office/powerpoint/2010/main" val="40778200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9D8B0-A456-4C6D-2AA9-826A04643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DD850A-EACB-F9BB-A3EC-A1265018B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확장</a:t>
            </a:r>
            <a:r>
              <a:rPr lang="en-US" altLang="ko-KR" dirty="0"/>
              <a:t> ACL (extended ACL)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4A887C-6BB9-A29B-BE01-27CA2A4B4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567543"/>
            <a:ext cx="10782300" cy="4609420"/>
          </a:xfrm>
        </p:spPr>
        <p:txBody>
          <a:bodyPr>
            <a:normAutofit fontScale="92500" lnSpcReduction="20000"/>
          </a:bodyPr>
          <a:lstStyle/>
          <a:p>
            <a:r>
              <a:rPr lang="en-US" altLang="ko-KR" sz="3000" dirty="0"/>
              <a:t>1</a:t>
            </a:r>
            <a:r>
              <a:rPr lang="ko-KR" altLang="en-US" sz="3000" dirty="0"/>
              <a:t>단계</a:t>
            </a:r>
            <a:r>
              <a:rPr lang="en-US" altLang="ko-KR" sz="3000" dirty="0"/>
              <a:t>: ACL </a:t>
            </a:r>
            <a:r>
              <a:rPr lang="ko-KR" altLang="en-US" sz="3000" dirty="0"/>
              <a:t>생성 </a:t>
            </a:r>
            <a:r>
              <a:rPr lang="en-US" altLang="ko-KR" sz="3000" dirty="0"/>
              <a:t>(</a:t>
            </a:r>
            <a:r>
              <a:rPr lang="ko-KR" altLang="en-US" sz="3000" dirty="0"/>
              <a:t>규칙 정의</a:t>
            </a:r>
            <a:r>
              <a:rPr lang="en-US" altLang="ko-KR" sz="3000" dirty="0"/>
              <a:t>)</a:t>
            </a:r>
          </a:p>
          <a:p>
            <a:pPr marL="0" indent="0">
              <a:buNone/>
            </a:pPr>
            <a:r>
              <a:rPr lang="en-US" altLang="ko-KR" sz="3000" dirty="0"/>
              <a:t>access-list </a:t>
            </a:r>
            <a:r>
              <a:rPr lang="ko-KR" altLang="en-US" sz="3000" dirty="0"/>
              <a:t>번호 </a:t>
            </a:r>
            <a:r>
              <a:rPr lang="en-US" altLang="ko-KR" sz="3000" dirty="0"/>
              <a:t>[deny/dynamic/permit/remark] protocol </a:t>
            </a:r>
            <a:r>
              <a:rPr lang="ko-KR" altLang="en-US" sz="3000" dirty="0"/>
              <a:t>출발</a:t>
            </a:r>
            <a:r>
              <a:rPr lang="en-US" altLang="ko-KR" sz="3000" dirty="0" err="1"/>
              <a:t>ip</a:t>
            </a:r>
            <a:endParaRPr lang="en-US" altLang="ko-KR" sz="3000" dirty="0"/>
          </a:p>
          <a:p>
            <a:pPr marL="0" indent="0">
              <a:buNone/>
            </a:pPr>
            <a:r>
              <a:rPr lang="ko-KR" altLang="en-US" sz="3000" dirty="0"/>
              <a:t>출발</a:t>
            </a:r>
            <a:r>
              <a:rPr lang="en-US" altLang="ko-KR" sz="3000" dirty="0" err="1"/>
              <a:t>wildmask</a:t>
            </a:r>
            <a:r>
              <a:rPr lang="en-US" altLang="ko-KR" sz="3000" dirty="0"/>
              <a:t> </a:t>
            </a:r>
            <a:r>
              <a:rPr lang="ko-KR" altLang="en-US" sz="3000" dirty="0"/>
              <a:t>목적</a:t>
            </a:r>
            <a:r>
              <a:rPr lang="en-US" altLang="ko-KR" sz="3000" dirty="0" err="1"/>
              <a:t>ip</a:t>
            </a:r>
            <a:r>
              <a:rPr lang="en-US" altLang="ko-KR" sz="3000" dirty="0"/>
              <a:t> </a:t>
            </a:r>
            <a:r>
              <a:rPr lang="ko-KR" altLang="en-US" sz="3000" dirty="0"/>
              <a:t>목적</a:t>
            </a:r>
            <a:r>
              <a:rPr lang="en-US" altLang="ko-KR" sz="3000" dirty="0" err="1"/>
              <a:t>wildmask</a:t>
            </a:r>
            <a:r>
              <a:rPr lang="en-US" altLang="ko-KR" sz="3000" dirty="0"/>
              <a:t> eq </a:t>
            </a:r>
            <a:r>
              <a:rPr lang="ko-KR" altLang="en-US" sz="3000" dirty="0"/>
              <a:t>서비스</a:t>
            </a:r>
            <a:r>
              <a:rPr lang="en-US" altLang="ko-KR" sz="3000" dirty="0"/>
              <a:t>/</a:t>
            </a:r>
            <a:r>
              <a:rPr lang="ko-KR" altLang="en-US" sz="3000" dirty="0"/>
              <a:t>포트</a:t>
            </a:r>
            <a:endParaRPr lang="ko-KR" altLang="en-US" sz="3000" b="0" dirty="0">
              <a:effectLst/>
            </a:endParaRPr>
          </a:p>
          <a:p>
            <a:pPr marL="0" indent="0">
              <a:buNone/>
            </a:pPr>
            <a:endParaRPr lang="en-US" altLang="ko-KR" sz="3000" dirty="0"/>
          </a:p>
          <a:p>
            <a:r>
              <a:rPr lang="en-US" altLang="ko-KR" sz="3000" dirty="0"/>
              <a:t>2</a:t>
            </a:r>
            <a:r>
              <a:rPr lang="ko-KR" altLang="en-US" sz="3000" dirty="0"/>
              <a:t>단계</a:t>
            </a:r>
            <a:r>
              <a:rPr lang="en-US" altLang="ko-KR" sz="3000" dirty="0"/>
              <a:t>: ACL </a:t>
            </a:r>
            <a:r>
              <a:rPr lang="ko-KR" altLang="en-US" sz="3000" dirty="0"/>
              <a:t>적용 </a:t>
            </a:r>
            <a:r>
              <a:rPr lang="en-US" altLang="ko-KR" sz="3000" dirty="0"/>
              <a:t>(</a:t>
            </a:r>
            <a:r>
              <a:rPr lang="ko-KR" altLang="en-US" sz="3000" dirty="0"/>
              <a:t>인터페이스</a:t>
            </a:r>
            <a:r>
              <a:rPr lang="en-US" altLang="ko-KR" sz="3000" dirty="0"/>
              <a:t>) </a:t>
            </a:r>
          </a:p>
          <a:p>
            <a:pPr marL="0" indent="0">
              <a:buNone/>
            </a:pPr>
            <a:r>
              <a:rPr lang="en-US" altLang="ko-KR" sz="3000" dirty="0"/>
              <a:t>  interface</a:t>
            </a:r>
            <a:r>
              <a:rPr lang="ko-KR" altLang="en-US" sz="3000" dirty="0"/>
              <a:t> </a:t>
            </a:r>
            <a:r>
              <a:rPr lang="en-US" altLang="ko-KR" sz="3000" dirty="0"/>
              <a:t>[</a:t>
            </a:r>
            <a:r>
              <a:rPr lang="ko-KR" altLang="en-US" sz="3000" dirty="0"/>
              <a:t>인터페이스 </a:t>
            </a:r>
            <a:r>
              <a:rPr lang="en-US" altLang="ko-KR" sz="3000" dirty="0"/>
              <a:t>] </a:t>
            </a:r>
          </a:p>
          <a:p>
            <a:pPr marL="0" indent="0">
              <a:buNone/>
            </a:pPr>
            <a:r>
              <a:rPr lang="en-US" altLang="ko-KR" sz="3000" dirty="0"/>
              <a:t>  </a:t>
            </a:r>
            <a:r>
              <a:rPr lang="en-US" altLang="ko-KR" sz="3000" dirty="0" err="1"/>
              <a:t>ip</a:t>
            </a:r>
            <a:r>
              <a:rPr lang="en-US" altLang="ko-KR" sz="3000" dirty="0"/>
              <a:t> access-group [</a:t>
            </a:r>
            <a:r>
              <a:rPr lang="ko-KR" altLang="en-US" sz="3000" dirty="0"/>
              <a:t>번호</a:t>
            </a:r>
            <a:r>
              <a:rPr lang="en-US" altLang="ko-KR" sz="3000" dirty="0"/>
              <a:t>] [in</a:t>
            </a:r>
            <a:r>
              <a:rPr lang="ko-KR" altLang="en-US" sz="3000" dirty="0"/>
              <a:t> </a:t>
            </a:r>
            <a:r>
              <a:rPr lang="en-US" altLang="ko-KR" sz="3000" dirty="0"/>
              <a:t>| out]</a:t>
            </a:r>
          </a:p>
          <a:p>
            <a:endParaRPr lang="en-US" altLang="ko-KR" sz="3000" dirty="0"/>
          </a:p>
          <a:p>
            <a:r>
              <a:rPr lang="en-US" altLang="ko-KR" sz="3000" dirty="0"/>
              <a:t>3</a:t>
            </a:r>
            <a:r>
              <a:rPr lang="ko-KR" altLang="en-US" sz="3000" dirty="0"/>
              <a:t>단계 </a:t>
            </a:r>
            <a:r>
              <a:rPr lang="en-US" altLang="ko-KR" sz="3000" dirty="0"/>
              <a:t>: </a:t>
            </a:r>
            <a:r>
              <a:rPr lang="ko-KR" altLang="en-US" sz="3000" dirty="0"/>
              <a:t>설정된 </a:t>
            </a:r>
            <a:r>
              <a:rPr lang="en-US" altLang="ko-KR" sz="3000" dirty="0"/>
              <a:t>ACL </a:t>
            </a:r>
            <a:r>
              <a:rPr lang="ko-KR" altLang="en-US" sz="3000" dirty="0"/>
              <a:t>확인 </a:t>
            </a:r>
            <a:endParaRPr lang="en-US" altLang="ko-KR" sz="3000" dirty="0"/>
          </a:p>
          <a:p>
            <a:pPr marL="0" indent="0">
              <a:buNone/>
            </a:pPr>
            <a:r>
              <a:rPr lang="en-US" altLang="ko-KR" sz="3000" dirty="0"/>
              <a:t>  show </a:t>
            </a:r>
            <a:r>
              <a:rPr lang="en-US" altLang="ko-KR" sz="3000" dirty="0" err="1"/>
              <a:t>ip</a:t>
            </a:r>
            <a:r>
              <a:rPr lang="en-US" altLang="ko-KR" sz="3000" dirty="0"/>
              <a:t> access-lists</a:t>
            </a:r>
            <a:endParaRPr lang="ko-KR" altLang="en-US" sz="3000" dirty="0"/>
          </a:p>
          <a:p>
            <a:endParaRPr lang="en-US" altLang="ko-KR" sz="3200" dirty="0"/>
          </a:p>
          <a:p>
            <a:pPr marL="0" indent="0">
              <a:buNone/>
            </a:pPr>
            <a:endParaRPr lang="ko-KR" altLang="en-US" sz="32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7762090-200A-92A7-541D-EC525F7A3231}"/>
              </a:ext>
            </a:extLst>
          </p:cNvPr>
          <p:cNvSpPr/>
          <p:nvPr/>
        </p:nvSpPr>
        <p:spPr>
          <a:xfrm>
            <a:off x="323850" y="1371600"/>
            <a:ext cx="11544300" cy="512127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203F17-E1E4-C6AC-A870-782558A2E681}"/>
              </a:ext>
            </a:extLst>
          </p:cNvPr>
          <p:cNvSpPr txBox="1"/>
          <p:nvPr/>
        </p:nvSpPr>
        <p:spPr>
          <a:xfrm>
            <a:off x="8222834" y="3369047"/>
            <a:ext cx="19304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500" dirty="0">
                <a:solidFill>
                  <a:schemeClr val="accent5"/>
                </a:solidFill>
              </a:rPr>
              <a:t>protocol</a:t>
            </a:r>
            <a:endParaRPr lang="ko-KR" altLang="en-US" sz="35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A7B77B-DB4A-B103-94E7-7DE033E0D18E}"/>
              </a:ext>
            </a:extLst>
          </p:cNvPr>
          <p:cNvSpPr txBox="1"/>
          <p:nvPr/>
        </p:nvSpPr>
        <p:spPr>
          <a:xfrm>
            <a:off x="545012" y="3940501"/>
            <a:ext cx="4494347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500" dirty="0">
                <a:solidFill>
                  <a:schemeClr val="accent6"/>
                </a:solidFill>
              </a:rPr>
              <a:t>출발</a:t>
            </a:r>
            <a:r>
              <a:rPr lang="en-US" altLang="ko-KR" sz="3500" dirty="0" err="1">
                <a:solidFill>
                  <a:schemeClr val="accent6"/>
                </a:solidFill>
              </a:rPr>
              <a:t>ip</a:t>
            </a:r>
            <a:r>
              <a:rPr lang="en-US" altLang="ko-KR" sz="3500" dirty="0">
                <a:solidFill>
                  <a:schemeClr val="accent6"/>
                </a:solidFill>
              </a:rPr>
              <a:t> </a:t>
            </a:r>
            <a:r>
              <a:rPr lang="ko-KR" altLang="en-US" sz="3500" dirty="0">
                <a:solidFill>
                  <a:schemeClr val="accent6"/>
                </a:solidFill>
              </a:rPr>
              <a:t>출발</a:t>
            </a:r>
            <a:r>
              <a:rPr lang="en-US" altLang="ko-KR" sz="3500" dirty="0" err="1">
                <a:solidFill>
                  <a:schemeClr val="accent6"/>
                </a:solidFill>
              </a:rPr>
              <a:t>wildmask</a:t>
            </a:r>
            <a:endParaRPr lang="ko-KR" altLang="en-US" sz="35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35100A-57B5-F839-712F-37A5F14ED61D}"/>
              </a:ext>
            </a:extLst>
          </p:cNvPr>
          <p:cNvSpPr txBox="1"/>
          <p:nvPr/>
        </p:nvSpPr>
        <p:spPr>
          <a:xfrm>
            <a:off x="4856480" y="3999989"/>
            <a:ext cx="4494347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500" dirty="0">
                <a:solidFill>
                  <a:srgbClr val="FF0000"/>
                </a:solidFill>
              </a:rPr>
              <a:t>목적</a:t>
            </a:r>
            <a:r>
              <a:rPr lang="en-US" altLang="ko-KR" sz="3500" dirty="0" err="1">
                <a:solidFill>
                  <a:srgbClr val="FF0000"/>
                </a:solidFill>
              </a:rPr>
              <a:t>ip</a:t>
            </a:r>
            <a:r>
              <a:rPr lang="en-US" altLang="ko-KR" sz="3500" dirty="0">
                <a:solidFill>
                  <a:srgbClr val="FF0000"/>
                </a:solidFill>
              </a:rPr>
              <a:t> </a:t>
            </a:r>
            <a:r>
              <a:rPr lang="ko-KR" altLang="en-US" sz="3500" dirty="0">
                <a:solidFill>
                  <a:srgbClr val="FF0000"/>
                </a:solidFill>
              </a:rPr>
              <a:t>목적</a:t>
            </a:r>
            <a:r>
              <a:rPr lang="en-US" altLang="ko-KR" sz="3500" dirty="0" err="1">
                <a:solidFill>
                  <a:srgbClr val="FF0000"/>
                </a:solidFill>
              </a:rPr>
              <a:t>wildmask</a:t>
            </a:r>
            <a:endParaRPr lang="ko-KR" altLang="en-US" sz="35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CC966B-1B7B-837C-6D2C-512E29C11158}"/>
              </a:ext>
            </a:extLst>
          </p:cNvPr>
          <p:cNvSpPr txBox="1"/>
          <p:nvPr/>
        </p:nvSpPr>
        <p:spPr>
          <a:xfrm>
            <a:off x="545012" y="4526730"/>
            <a:ext cx="404368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500" dirty="0">
                <a:solidFill>
                  <a:srgbClr val="FFFF00"/>
                </a:solidFill>
              </a:rPr>
              <a:t>[</a:t>
            </a:r>
            <a:r>
              <a:rPr lang="ko-KR" altLang="en-US" sz="3500" dirty="0">
                <a:solidFill>
                  <a:srgbClr val="FFFF00"/>
                </a:solidFill>
              </a:rPr>
              <a:t>옵션</a:t>
            </a:r>
            <a:r>
              <a:rPr lang="en-US" altLang="ko-KR" sz="3500" dirty="0">
                <a:solidFill>
                  <a:srgbClr val="FFFF00"/>
                </a:solidFill>
              </a:rPr>
              <a:t>: </a:t>
            </a:r>
            <a:r>
              <a:rPr lang="ko-KR" altLang="en-US" sz="3500" dirty="0">
                <a:solidFill>
                  <a:srgbClr val="FFFF00"/>
                </a:solidFill>
              </a:rPr>
              <a:t>서비스</a:t>
            </a:r>
            <a:r>
              <a:rPr lang="en-US" altLang="ko-KR" sz="3500" dirty="0">
                <a:solidFill>
                  <a:srgbClr val="FFFF00"/>
                </a:solidFill>
              </a:rPr>
              <a:t>/</a:t>
            </a:r>
            <a:r>
              <a:rPr lang="ko-KR" altLang="en-US" sz="3500" dirty="0">
                <a:solidFill>
                  <a:srgbClr val="FFFF00"/>
                </a:solidFill>
              </a:rPr>
              <a:t>포트</a:t>
            </a:r>
            <a:r>
              <a:rPr lang="en-US" altLang="ko-KR" sz="3500" dirty="0">
                <a:solidFill>
                  <a:srgbClr val="FFFF00"/>
                </a:solidFill>
              </a:rPr>
              <a:t>]</a:t>
            </a:r>
            <a:endParaRPr lang="ko-KR" altLang="en-US" sz="35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365AE6-B46F-1051-73FE-F6912790CC87}"/>
              </a:ext>
            </a:extLst>
          </p:cNvPr>
          <p:cNvSpPr txBox="1"/>
          <p:nvPr/>
        </p:nvSpPr>
        <p:spPr>
          <a:xfrm>
            <a:off x="3754975" y="3429000"/>
            <a:ext cx="4454305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500" dirty="0">
                <a:solidFill>
                  <a:schemeClr val="accent4"/>
                </a:solidFill>
              </a:rPr>
              <a:t>[deny/permit/remark]</a:t>
            </a:r>
            <a:endParaRPr lang="ko-KR" altLang="en-US" sz="35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F46FBD-0CCA-A773-4520-8A45D06B014A}"/>
              </a:ext>
            </a:extLst>
          </p:cNvPr>
          <p:cNvSpPr txBox="1"/>
          <p:nvPr/>
        </p:nvSpPr>
        <p:spPr>
          <a:xfrm>
            <a:off x="545012" y="2888896"/>
            <a:ext cx="5815148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500" b="1" dirty="0">
                <a:solidFill>
                  <a:schemeClr val="bg1"/>
                </a:solidFill>
              </a:rPr>
              <a:t>1</a:t>
            </a:r>
            <a:r>
              <a:rPr lang="ko-KR" altLang="en-US" sz="3500" b="1" dirty="0">
                <a:solidFill>
                  <a:schemeClr val="bg1"/>
                </a:solidFill>
              </a:rPr>
              <a:t>단계</a:t>
            </a:r>
            <a:r>
              <a:rPr lang="en-US" altLang="ko-KR" sz="3500" b="1" dirty="0">
                <a:solidFill>
                  <a:schemeClr val="bg1"/>
                </a:solidFill>
              </a:rPr>
              <a:t>: ACL </a:t>
            </a:r>
            <a:r>
              <a:rPr lang="ko-KR" altLang="en-US" sz="3500" b="1" dirty="0">
                <a:solidFill>
                  <a:schemeClr val="bg1"/>
                </a:solidFill>
              </a:rPr>
              <a:t>생성 </a:t>
            </a:r>
            <a:r>
              <a:rPr lang="en-US" altLang="ko-KR" sz="3500" b="1" dirty="0">
                <a:solidFill>
                  <a:schemeClr val="bg1"/>
                </a:solidFill>
              </a:rPr>
              <a:t>(</a:t>
            </a:r>
            <a:r>
              <a:rPr lang="ko-KR" altLang="en-US" sz="3500" b="1" dirty="0">
                <a:solidFill>
                  <a:schemeClr val="bg1"/>
                </a:solidFill>
              </a:rPr>
              <a:t>규칙 정의</a:t>
            </a:r>
            <a:r>
              <a:rPr lang="en-US" altLang="ko-KR" sz="3500" b="1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566A14-7FC6-4D6A-A065-575A3159AF08}"/>
              </a:ext>
            </a:extLst>
          </p:cNvPr>
          <p:cNvSpPr txBox="1"/>
          <p:nvPr/>
        </p:nvSpPr>
        <p:spPr>
          <a:xfrm>
            <a:off x="545012" y="3429000"/>
            <a:ext cx="3441933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500" dirty="0">
                <a:solidFill>
                  <a:schemeClr val="bg1"/>
                </a:solidFill>
              </a:rPr>
              <a:t>access-list </a:t>
            </a:r>
            <a:r>
              <a:rPr lang="ko-KR" altLang="en-US" sz="3500" dirty="0">
                <a:solidFill>
                  <a:schemeClr val="bg1"/>
                </a:solidFill>
              </a:rPr>
              <a:t>번호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9D43454A-A6CA-BF30-51E0-942B7B8EAA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121" y="3082903"/>
            <a:ext cx="7901184" cy="2346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7610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1.48148E-6 L -0.01302 -0.34306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1" y="-171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E34F1-5278-94E9-BD4C-9455CEC8A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51EE3C-C7C4-0950-E6F2-75AD5BC3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확장</a:t>
            </a:r>
            <a:r>
              <a:rPr lang="en-US" altLang="ko-KR" dirty="0"/>
              <a:t> ACL (extended ACL)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BDCA51-9E59-3D8D-ACAF-E7DE410C43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567543"/>
            <a:ext cx="10782300" cy="4609420"/>
          </a:xfrm>
        </p:spPr>
        <p:txBody>
          <a:bodyPr>
            <a:normAutofit fontScale="92500" lnSpcReduction="20000"/>
          </a:bodyPr>
          <a:lstStyle/>
          <a:p>
            <a:r>
              <a:rPr lang="en-US" altLang="ko-KR" sz="3000" dirty="0"/>
              <a:t>1</a:t>
            </a:r>
            <a:r>
              <a:rPr lang="ko-KR" altLang="en-US" sz="3000" dirty="0"/>
              <a:t>단계</a:t>
            </a:r>
            <a:r>
              <a:rPr lang="en-US" altLang="ko-KR" sz="3000" dirty="0"/>
              <a:t>: ACL </a:t>
            </a:r>
            <a:r>
              <a:rPr lang="ko-KR" altLang="en-US" sz="3000" dirty="0"/>
              <a:t>생성 </a:t>
            </a:r>
            <a:r>
              <a:rPr lang="en-US" altLang="ko-KR" sz="3000" dirty="0"/>
              <a:t>(</a:t>
            </a:r>
            <a:r>
              <a:rPr lang="ko-KR" altLang="en-US" sz="3000" dirty="0"/>
              <a:t>규칙 정의</a:t>
            </a:r>
            <a:r>
              <a:rPr lang="en-US" altLang="ko-KR" sz="3000" dirty="0"/>
              <a:t>)</a:t>
            </a:r>
          </a:p>
          <a:p>
            <a:pPr marL="0" indent="0">
              <a:buNone/>
            </a:pPr>
            <a:r>
              <a:rPr lang="en-US" altLang="ko-KR" sz="3000" dirty="0"/>
              <a:t>access-list </a:t>
            </a:r>
            <a:r>
              <a:rPr lang="ko-KR" altLang="en-US" sz="3000" dirty="0"/>
              <a:t>번호 </a:t>
            </a:r>
            <a:r>
              <a:rPr lang="en-US" altLang="ko-KR" sz="3000" dirty="0"/>
              <a:t>[deny/dynamic/permit/remark] protocol </a:t>
            </a:r>
            <a:r>
              <a:rPr lang="ko-KR" altLang="en-US" sz="3000" dirty="0"/>
              <a:t>출발</a:t>
            </a:r>
            <a:r>
              <a:rPr lang="en-US" altLang="ko-KR" sz="3000" dirty="0" err="1"/>
              <a:t>ip</a:t>
            </a:r>
            <a:endParaRPr lang="en-US" altLang="ko-KR" sz="3000" dirty="0"/>
          </a:p>
          <a:p>
            <a:pPr marL="0" indent="0">
              <a:buNone/>
            </a:pPr>
            <a:r>
              <a:rPr lang="ko-KR" altLang="en-US" sz="3000" dirty="0"/>
              <a:t>출발</a:t>
            </a:r>
            <a:r>
              <a:rPr lang="en-US" altLang="ko-KR" sz="3000" dirty="0" err="1"/>
              <a:t>wildmask</a:t>
            </a:r>
            <a:r>
              <a:rPr lang="en-US" altLang="ko-KR" sz="3000" dirty="0"/>
              <a:t> </a:t>
            </a:r>
            <a:r>
              <a:rPr lang="ko-KR" altLang="en-US" sz="3000" dirty="0"/>
              <a:t>목적</a:t>
            </a:r>
            <a:r>
              <a:rPr lang="en-US" altLang="ko-KR" sz="3000" dirty="0" err="1"/>
              <a:t>ip</a:t>
            </a:r>
            <a:r>
              <a:rPr lang="en-US" altLang="ko-KR" sz="3000" dirty="0"/>
              <a:t> </a:t>
            </a:r>
            <a:r>
              <a:rPr lang="ko-KR" altLang="en-US" sz="3000" dirty="0"/>
              <a:t>목적</a:t>
            </a:r>
            <a:r>
              <a:rPr lang="en-US" altLang="ko-KR" sz="3000" dirty="0" err="1"/>
              <a:t>wildmask</a:t>
            </a:r>
            <a:r>
              <a:rPr lang="en-US" altLang="ko-KR" sz="3000" dirty="0"/>
              <a:t> eq </a:t>
            </a:r>
            <a:r>
              <a:rPr lang="ko-KR" altLang="en-US" sz="3000" dirty="0"/>
              <a:t>서비스</a:t>
            </a:r>
            <a:r>
              <a:rPr lang="en-US" altLang="ko-KR" sz="3000" dirty="0"/>
              <a:t>/</a:t>
            </a:r>
            <a:r>
              <a:rPr lang="ko-KR" altLang="en-US" sz="3000" dirty="0"/>
              <a:t>포트</a:t>
            </a:r>
            <a:endParaRPr lang="ko-KR" altLang="en-US" sz="3000" b="0" dirty="0">
              <a:effectLst/>
            </a:endParaRPr>
          </a:p>
          <a:p>
            <a:pPr marL="0" indent="0">
              <a:buNone/>
            </a:pPr>
            <a:endParaRPr lang="en-US" altLang="ko-KR" sz="3000" dirty="0"/>
          </a:p>
          <a:p>
            <a:r>
              <a:rPr lang="en-US" altLang="ko-KR" sz="3000" dirty="0"/>
              <a:t>2</a:t>
            </a:r>
            <a:r>
              <a:rPr lang="ko-KR" altLang="en-US" sz="3000" dirty="0"/>
              <a:t>단계</a:t>
            </a:r>
            <a:r>
              <a:rPr lang="en-US" altLang="ko-KR" sz="3000" dirty="0"/>
              <a:t>: ACL </a:t>
            </a:r>
            <a:r>
              <a:rPr lang="ko-KR" altLang="en-US" sz="3000" dirty="0"/>
              <a:t>적용 </a:t>
            </a:r>
            <a:r>
              <a:rPr lang="en-US" altLang="ko-KR" sz="3000" dirty="0"/>
              <a:t>(</a:t>
            </a:r>
            <a:r>
              <a:rPr lang="ko-KR" altLang="en-US" sz="3000" dirty="0"/>
              <a:t>인터페이스</a:t>
            </a:r>
            <a:r>
              <a:rPr lang="en-US" altLang="ko-KR" sz="3000" dirty="0"/>
              <a:t>) </a:t>
            </a:r>
          </a:p>
          <a:p>
            <a:pPr marL="0" indent="0">
              <a:buNone/>
            </a:pPr>
            <a:r>
              <a:rPr lang="en-US" altLang="ko-KR" sz="3000" dirty="0"/>
              <a:t>  interface</a:t>
            </a:r>
            <a:r>
              <a:rPr lang="ko-KR" altLang="en-US" sz="3000" dirty="0"/>
              <a:t> </a:t>
            </a:r>
            <a:r>
              <a:rPr lang="en-US" altLang="ko-KR" sz="3000" dirty="0"/>
              <a:t>[</a:t>
            </a:r>
            <a:r>
              <a:rPr lang="ko-KR" altLang="en-US" sz="3000" dirty="0"/>
              <a:t>인터페이스 </a:t>
            </a:r>
            <a:r>
              <a:rPr lang="en-US" altLang="ko-KR" sz="3000" dirty="0"/>
              <a:t>] </a:t>
            </a:r>
          </a:p>
          <a:p>
            <a:pPr marL="0" indent="0">
              <a:buNone/>
            </a:pPr>
            <a:r>
              <a:rPr lang="en-US" altLang="ko-KR" sz="3000" dirty="0"/>
              <a:t>  </a:t>
            </a:r>
            <a:r>
              <a:rPr lang="en-US" altLang="ko-KR" sz="3000" dirty="0" err="1"/>
              <a:t>ip</a:t>
            </a:r>
            <a:r>
              <a:rPr lang="en-US" altLang="ko-KR" sz="3000" dirty="0"/>
              <a:t> access-group [</a:t>
            </a:r>
            <a:r>
              <a:rPr lang="ko-KR" altLang="en-US" sz="3000" dirty="0"/>
              <a:t>번호</a:t>
            </a:r>
            <a:r>
              <a:rPr lang="en-US" altLang="ko-KR" sz="3000" dirty="0"/>
              <a:t>] [in</a:t>
            </a:r>
            <a:r>
              <a:rPr lang="ko-KR" altLang="en-US" sz="3000" dirty="0"/>
              <a:t> </a:t>
            </a:r>
            <a:r>
              <a:rPr lang="en-US" altLang="ko-KR" sz="3000" dirty="0"/>
              <a:t>| out]</a:t>
            </a:r>
          </a:p>
          <a:p>
            <a:endParaRPr lang="en-US" altLang="ko-KR" sz="3000" dirty="0"/>
          </a:p>
          <a:p>
            <a:r>
              <a:rPr lang="en-US" altLang="ko-KR" sz="3000" dirty="0"/>
              <a:t>3</a:t>
            </a:r>
            <a:r>
              <a:rPr lang="ko-KR" altLang="en-US" sz="3000" dirty="0"/>
              <a:t>단계 </a:t>
            </a:r>
            <a:r>
              <a:rPr lang="en-US" altLang="ko-KR" sz="3000" dirty="0"/>
              <a:t>: </a:t>
            </a:r>
            <a:r>
              <a:rPr lang="ko-KR" altLang="en-US" sz="3000" dirty="0"/>
              <a:t>설정된 </a:t>
            </a:r>
            <a:r>
              <a:rPr lang="en-US" altLang="ko-KR" sz="3000" dirty="0"/>
              <a:t>ACL </a:t>
            </a:r>
            <a:r>
              <a:rPr lang="ko-KR" altLang="en-US" sz="3000" dirty="0"/>
              <a:t>확인 </a:t>
            </a:r>
            <a:endParaRPr lang="en-US" altLang="ko-KR" sz="3000" dirty="0"/>
          </a:p>
          <a:p>
            <a:pPr marL="0" indent="0">
              <a:buNone/>
            </a:pPr>
            <a:r>
              <a:rPr lang="en-US" altLang="ko-KR" sz="3000" dirty="0"/>
              <a:t>  show </a:t>
            </a:r>
            <a:r>
              <a:rPr lang="en-US" altLang="ko-KR" sz="3000" dirty="0" err="1"/>
              <a:t>ip</a:t>
            </a:r>
            <a:r>
              <a:rPr lang="en-US" altLang="ko-KR" sz="3000" dirty="0"/>
              <a:t> access-lists</a:t>
            </a:r>
            <a:endParaRPr lang="ko-KR" altLang="en-US" sz="3000" dirty="0"/>
          </a:p>
          <a:p>
            <a:endParaRPr lang="en-US" altLang="ko-KR" sz="3200" dirty="0"/>
          </a:p>
          <a:p>
            <a:pPr marL="0" indent="0">
              <a:buNone/>
            </a:pPr>
            <a:endParaRPr lang="ko-KR" altLang="en-US" sz="32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5D7B996-0E4D-A64F-E5A0-2CDD028AB8BB}"/>
              </a:ext>
            </a:extLst>
          </p:cNvPr>
          <p:cNvSpPr/>
          <p:nvPr/>
        </p:nvSpPr>
        <p:spPr>
          <a:xfrm>
            <a:off x="323850" y="1371600"/>
            <a:ext cx="11544300" cy="512127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6F46A4-4E94-B06E-B976-7B1D27F3B276}"/>
              </a:ext>
            </a:extLst>
          </p:cNvPr>
          <p:cNvSpPr txBox="1"/>
          <p:nvPr/>
        </p:nvSpPr>
        <p:spPr>
          <a:xfrm>
            <a:off x="323850" y="1691888"/>
            <a:ext cx="821055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500" dirty="0">
                <a:solidFill>
                  <a:schemeClr val="accent5"/>
                </a:solidFill>
              </a:rPr>
              <a:t>Protocol</a:t>
            </a:r>
            <a:r>
              <a:rPr lang="en-US" altLang="ko-KR" sz="3500" dirty="0"/>
              <a:t>,</a:t>
            </a:r>
            <a:r>
              <a:rPr lang="ko-KR" altLang="en-US" sz="3500" dirty="0"/>
              <a:t> </a:t>
            </a:r>
            <a:r>
              <a:rPr lang="en-US" altLang="ko-KR" sz="3500" dirty="0">
                <a:solidFill>
                  <a:srgbClr val="FFFF00"/>
                </a:solidFill>
              </a:rPr>
              <a:t>[</a:t>
            </a:r>
            <a:r>
              <a:rPr lang="ko-KR" altLang="en-US" sz="3500" dirty="0">
                <a:solidFill>
                  <a:srgbClr val="FFFF00"/>
                </a:solidFill>
              </a:rPr>
              <a:t>옵션</a:t>
            </a:r>
            <a:r>
              <a:rPr lang="en-US" altLang="ko-KR" sz="3500" dirty="0">
                <a:solidFill>
                  <a:srgbClr val="FFFF00"/>
                </a:solidFill>
              </a:rPr>
              <a:t>: </a:t>
            </a:r>
            <a:r>
              <a:rPr lang="ko-KR" altLang="en-US" sz="3500" dirty="0">
                <a:solidFill>
                  <a:srgbClr val="FFFF00"/>
                </a:solidFill>
              </a:rPr>
              <a:t>서비스</a:t>
            </a:r>
            <a:r>
              <a:rPr lang="en-US" altLang="ko-KR" sz="3500" dirty="0">
                <a:solidFill>
                  <a:srgbClr val="FFFF00"/>
                </a:solidFill>
              </a:rPr>
              <a:t>/</a:t>
            </a:r>
            <a:r>
              <a:rPr lang="ko-KR" altLang="en-US" sz="3500" dirty="0">
                <a:solidFill>
                  <a:srgbClr val="FFFF00"/>
                </a:solidFill>
              </a:rPr>
              <a:t>포트</a:t>
            </a:r>
            <a:r>
              <a:rPr lang="en-US" altLang="ko-KR" sz="3500" dirty="0">
                <a:solidFill>
                  <a:srgbClr val="FFFF00"/>
                </a:solidFill>
              </a:rPr>
              <a:t>]</a:t>
            </a:r>
            <a:endParaRPr lang="ko-KR" altLang="en-US" sz="3500" dirty="0"/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80757473-67B6-06DC-16C8-3E4A309F03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7135041"/>
              </p:ext>
            </p:extLst>
          </p:nvPr>
        </p:nvGraphicFramePr>
        <p:xfrm>
          <a:off x="571500" y="2447175"/>
          <a:ext cx="11048999" cy="3729788"/>
        </p:xfrm>
        <a:graphic>
          <a:graphicData uri="http://schemas.openxmlformats.org/drawingml/2006/table">
            <a:tbl>
              <a:tblPr/>
              <a:tblGrid>
                <a:gridCol w="1468919">
                  <a:extLst>
                    <a:ext uri="{9D8B030D-6E8A-4147-A177-3AD203B41FA5}">
                      <a16:colId xmlns:a16="http://schemas.microsoft.com/office/drawing/2014/main" val="1033653865"/>
                    </a:ext>
                  </a:extLst>
                </a:gridCol>
                <a:gridCol w="3595800">
                  <a:extLst>
                    <a:ext uri="{9D8B030D-6E8A-4147-A177-3AD203B41FA5}">
                      <a16:colId xmlns:a16="http://schemas.microsoft.com/office/drawing/2014/main" val="3893396249"/>
                    </a:ext>
                  </a:extLst>
                </a:gridCol>
                <a:gridCol w="5984280">
                  <a:extLst>
                    <a:ext uri="{9D8B030D-6E8A-4147-A177-3AD203B41FA5}">
                      <a16:colId xmlns:a16="http://schemas.microsoft.com/office/drawing/2014/main" val="2680771794"/>
                    </a:ext>
                  </a:extLst>
                </a:gridCol>
              </a:tblGrid>
              <a:tr h="62711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프로토콜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2000" b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주요 서비스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2000" b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주요 </a:t>
                      </a:r>
                      <a:r>
                        <a:rPr lang="en-US" sz="2000" b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ACL </a:t>
                      </a:r>
                      <a:r>
                        <a:rPr lang="ko-KR" altLang="en-US" sz="2000" b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옵션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1553122"/>
                  </a:ext>
                </a:extLst>
              </a:tr>
              <a:tr h="73286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TCP</a:t>
                      </a:r>
                      <a:endParaRPr lang="en-US" sz="2000" b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HTTP, FTP, SMTP, Telnet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• eq, 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gt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, 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lt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, range (</a:t>
                      </a:r>
                      <a:r>
                        <a:rPr lang="ko-KR" altLang="en-US" sz="20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포트 지정</a:t>
                      </a:r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) 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4527623"/>
                  </a:ext>
                </a:extLst>
              </a:tr>
              <a:tr h="6345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UDP</a:t>
                      </a:r>
                      <a:endParaRPr lang="en-US" sz="2000" b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DNS, DHCP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• eq, gt, lt, range (</a:t>
                      </a:r>
                      <a:r>
                        <a:rPr lang="ko-KR" altLang="en-US" sz="2000" b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포트 지정</a:t>
                      </a:r>
                      <a:r>
                        <a:rPr lang="en-US" altLang="ko-KR" sz="2000" b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)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431741"/>
                  </a:ext>
                </a:extLst>
              </a:tr>
              <a:tr h="11036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ICMP</a:t>
                      </a:r>
                      <a:endParaRPr lang="en-US" sz="2000" b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ping, 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tracert</a:t>
                      </a:r>
                      <a:endParaRPr lang="en-US" sz="20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• echo (Ping </a:t>
                      </a:r>
                      <a:r>
                        <a:rPr lang="ko-KR" altLang="en-US" sz="20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요청</a:t>
                      </a:r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) </a:t>
                      </a: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• echo-reply (Ping </a:t>
                      </a:r>
                      <a:r>
                        <a:rPr lang="ko-KR" altLang="en-US" sz="20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응답</a:t>
                      </a:r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)</a:t>
                      </a: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• unreachable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667153"/>
                  </a:ext>
                </a:extLst>
              </a:tr>
              <a:tr h="63153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IP</a:t>
                      </a:r>
                      <a:endParaRPr lang="en-US" sz="2000" b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2000" b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모든 </a:t>
                      </a: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IP </a:t>
                      </a:r>
                      <a:r>
                        <a:rPr lang="ko-KR" altLang="en-US" sz="2000" b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트래픽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(</a:t>
                      </a:r>
                      <a:r>
                        <a:rPr lang="ko-KR" altLang="en-US" sz="20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해당 없음</a:t>
                      </a:r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)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70486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83322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476CD-D631-EF29-D729-25AD485C7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E0CFCB-3CCF-07B4-13A0-11AA91BCD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확장</a:t>
            </a:r>
            <a:r>
              <a:rPr lang="en-US" altLang="ko-KR" dirty="0"/>
              <a:t> ACL (extended ACL)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CD705C-F7FD-29BB-024F-992216FE1D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567543"/>
            <a:ext cx="10782300" cy="4609420"/>
          </a:xfrm>
        </p:spPr>
        <p:txBody>
          <a:bodyPr>
            <a:normAutofit fontScale="92500" lnSpcReduction="20000"/>
          </a:bodyPr>
          <a:lstStyle/>
          <a:p>
            <a:r>
              <a:rPr lang="en-US" altLang="ko-KR" sz="3000" dirty="0"/>
              <a:t>1</a:t>
            </a:r>
            <a:r>
              <a:rPr lang="ko-KR" altLang="en-US" sz="3000" dirty="0"/>
              <a:t>단계</a:t>
            </a:r>
            <a:r>
              <a:rPr lang="en-US" altLang="ko-KR" sz="3000" dirty="0"/>
              <a:t>: ACL </a:t>
            </a:r>
            <a:r>
              <a:rPr lang="ko-KR" altLang="en-US" sz="3000" dirty="0"/>
              <a:t>생성 </a:t>
            </a:r>
            <a:r>
              <a:rPr lang="en-US" altLang="ko-KR" sz="3000" dirty="0"/>
              <a:t>(</a:t>
            </a:r>
            <a:r>
              <a:rPr lang="ko-KR" altLang="en-US" sz="3000" dirty="0"/>
              <a:t>규칙 정의</a:t>
            </a:r>
            <a:r>
              <a:rPr lang="en-US" altLang="ko-KR" sz="3000" dirty="0"/>
              <a:t>)</a:t>
            </a:r>
          </a:p>
          <a:p>
            <a:pPr marL="0" indent="0">
              <a:buNone/>
            </a:pPr>
            <a:r>
              <a:rPr lang="en-US" altLang="ko-KR" sz="3000" dirty="0"/>
              <a:t>access-list </a:t>
            </a:r>
            <a:r>
              <a:rPr lang="ko-KR" altLang="en-US" sz="3000" dirty="0"/>
              <a:t>번호 </a:t>
            </a:r>
            <a:r>
              <a:rPr lang="en-US" altLang="ko-KR" sz="3000" dirty="0"/>
              <a:t>[deny/dynamic/permit/remark] protocol </a:t>
            </a:r>
            <a:r>
              <a:rPr lang="ko-KR" altLang="en-US" sz="3000" dirty="0"/>
              <a:t>출발</a:t>
            </a:r>
            <a:r>
              <a:rPr lang="en-US" altLang="ko-KR" sz="3000" dirty="0" err="1"/>
              <a:t>ip</a:t>
            </a:r>
            <a:endParaRPr lang="en-US" altLang="ko-KR" sz="3000" dirty="0"/>
          </a:p>
          <a:p>
            <a:pPr marL="0" indent="0">
              <a:buNone/>
            </a:pPr>
            <a:r>
              <a:rPr lang="ko-KR" altLang="en-US" sz="3000" dirty="0"/>
              <a:t>출발</a:t>
            </a:r>
            <a:r>
              <a:rPr lang="en-US" altLang="ko-KR" sz="3000" dirty="0" err="1"/>
              <a:t>wildmask</a:t>
            </a:r>
            <a:r>
              <a:rPr lang="en-US" altLang="ko-KR" sz="3000" dirty="0"/>
              <a:t> </a:t>
            </a:r>
            <a:r>
              <a:rPr lang="ko-KR" altLang="en-US" sz="3000" dirty="0"/>
              <a:t>목적</a:t>
            </a:r>
            <a:r>
              <a:rPr lang="en-US" altLang="ko-KR" sz="3000" dirty="0" err="1"/>
              <a:t>ip</a:t>
            </a:r>
            <a:r>
              <a:rPr lang="en-US" altLang="ko-KR" sz="3000" dirty="0"/>
              <a:t> </a:t>
            </a:r>
            <a:r>
              <a:rPr lang="ko-KR" altLang="en-US" sz="3000" dirty="0"/>
              <a:t>목적</a:t>
            </a:r>
            <a:r>
              <a:rPr lang="en-US" altLang="ko-KR" sz="3000" dirty="0" err="1"/>
              <a:t>wildmask</a:t>
            </a:r>
            <a:r>
              <a:rPr lang="en-US" altLang="ko-KR" sz="3000" dirty="0"/>
              <a:t> eq </a:t>
            </a:r>
            <a:r>
              <a:rPr lang="ko-KR" altLang="en-US" sz="3000" dirty="0"/>
              <a:t>서비스</a:t>
            </a:r>
            <a:r>
              <a:rPr lang="en-US" altLang="ko-KR" sz="3000" dirty="0"/>
              <a:t>/</a:t>
            </a:r>
            <a:r>
              <a:rPr lang="ko-KR" altLang="en-US" sz="3000" dirty="0"/>
              <a:t>포트</a:t>
            </a:r>
            <a:endParaRPr lang="ko-KR" altLang="en-US" sz="3000" b="0" dirty="0">
              <a:effectLst/>
            </a:endParaRPr>
          </a:p>
          <a:p>
            <a:pPr marL="0" indent="0">
              <a:buNone/>
            </a:pPr>
            <a:endParaRPr lang="en-US" altLang="ko-KR" sz="3000" dirty="0"/>
          </a:p>
          <a:p>
            <a:r>
              <a:rPr lang="en-US" altLang="ko-KR" sz="3000" dirty="0"/>
              <a:t>2</a:t>
            </a:r>
            <a:r>
              <a:rPr lang="ko-KR" altLang="en-US" sz="3000" dirty="0"/>
              <a:t>단계</a:t>
            </a:r>
            <a:r>
              <a:rPr lang="en-US" altLang="ko-KR" sz="3000" dirty="0"/>
              <a:t>: ACL </a:t>
            </a:r>
            <a:r>
              <a:rPr lang="ko-KR" altLang="en-US" sz="3000" dirty="0"/>
              <a:t>적용 </a:t>
            </a:r>
            <a:r>
              <a:rPr lang="en-US" altLang="ko-KR" sz="3000" dirty="0"/>
              <a:t>(</a:t>
            </a:r>
            <a:r>
              <a:rPr lang="ko-KR" altLang="en-US" sz="3000" dirty="0"/>
              <a:t>인터페이스</a:t>
            </a:r>
            <a:r>
              <a:rPr lang="en-US" altLang="ko-KR" sz="3000" dirty="0"/>
              <a:t>) </a:t>
            </a:r>
          </a:p>
          <a:p>
            <a:pPr marL="0" indent="0">
              <a:buNone/>
            </a:pPr>
            <a:r>
              <a:rPr lang="en-US" altLang="ko-KR" sz="3000" dirty="0"/>
              <a:t>  interface</a:t>
            </a:r>
            <a:r>
              <a:rPr lang="ko-KR" altLang="en-US" sz="3000" dirty="0"/>
              <a:t> </a:t>
            </a:r>
            <a:r>
              <a:rPr lang="en-US" altLang="ko-KR" sz="3000" dirty="0"/>
              <a:t>[</a:t>
            </a:r>
            <a:r>
              <a:rPr lang="ko-KR" altLang="en-US" sz="3000" dirty="0"/>
              <a:t>인터페이스 </a:t>
            </a:r>
            <a:r>
              <a:rPr lang="en-US" altLang="ko-KR" sz="3000" dirty="0"/>
              <a:t>] </a:t>
            </a:r>
          </a:p>
          <a:p>
            <a:pPr marL="0" indent="0">
              <a:buNone/>
            </a:pPr>
            <a:r>
              <a:rPr lang="en-US" altLang="ko-KR" sz="3000" dirty="0"/>
              <a:t>  </a:t>
            </a:r>
            <a:r>
              <a:rPr lang="en-US" altLang="ko-KR" sz="3000" dirty="0" err="1"/>
              <a:t>ip</a:t>
            </a:r>
            <a:r>
              <a:rPr lang="en-US" altLang="ko-KR" sz="3000" dirty="0"/>
              <a:t> access-group [</a:t>
            </a:r>
            <a:r>
              <a:rPr lang="ko-KR" altLang="en-US" sz="3000" dirty="0"/>
              <a:t>번호</a:t>
            </a:r>
            <a:r>
              <a:rPr lang="en-US" altLang="ko-KR" sz="3000" dirty="0"/>
              <a:t>] [in</a:t>
            </a:r>
            <a:r>
              <a:rPr lang="ko-KR" altLang="en-US" sz="3000" dirty="0"/>
              <a:t> </a:t>
            </a:r>
            <a:r>
              <a:rPr lang="en-US" altLang="ko-KR" sz="3000" dirty="0"/>
              <a:t>| out]</a:t>
            </a:r>
          </a:p>
          <a:p>
            <a:endParaRPr lang="en-US" altLang="ko-KR" sz="3000" dirty="0"/>
          </a:p>
          <a:p>
            <a:r>
              <a:rPr lang="en-US" altLang="ko-KR" sz="3000" dirty="0"/>
              <a:t>3</a:t>
            </a:r>
            <a:r>
              <a:rPr lang="ko-KR" altLang="en-US" sz="3000" dirty="0"/>
              <a:t>단계 </a:t>
            </a:r>
            <a:r>
              <a:rPr lang="en-US" altLang="ko-KR" sz="3000" dirty="0"/>
              <a:t>: </a:t>
            </a:r>
            <a:r>
              <a:rPr lang="ko-KR" altLang="en-US" sz="3000" dirty="0"/>
              <a:t>설정된 </a:t>
            </a:r>
            <a:r>
              <a:rPr lang="en-US" altLang="ko-KR" sz="3000" dirty="0"/>
              <a:t>ACL </a:t>
            </a:r>
            <a:r>
              <a:rPr lang="ko-KR" altLang="en-US" sz="3000" dirty="0"/>
              <a:t>확인 </a:t>
            </a:r>
            <a:endParaRPr lang="en-US" altLang="ko-KR" sz="3000" dirty="0"/>
          </a:p>
          <a:p>
            <a:pPr marL="0" indent="0">
              <a:buNone/>
            </a:pPr>
            <a:r>
              <a:rPr lang="en-US" altLang="ko-KR" sz="3000" dirty="0"/>
              <a:t>  show </a:t>
            </a:r>
            <a:r>
              <a:rPr lang="en-US" altLang="ko-KR" sz="3000" dirty="0" err="1"/>
              <a:t>ip</a:t>
            </a:r>
            <a:r>
              <a:rPr lang="en-US" altLang="ko-KR" sz="3000" dirty="0"/>
              <a:t> access-lists</a:t>
            </a:r>
            <a:endParaRPr lang="ko-KR" altLang="en-US" sz="3000" dirty="0"/>
          </a:p>
          <a:p>
            <a:endParaRPr lang="en-US" altLang="ko-KR" sz="3200" dirty="0"/>
          </a:p>
          <a:p>
            <a:pPr marL="0" indent="0">
              <a:buNone/>
            </a:pPr>
            <a:endParaRPr lang="ko-KR" altLang="en-US" sz="32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E91935B-FF4D-23CD-40FB-A09D11000955}"/>
              </a:ext>
            </a:extLst>
          </p:cNvPr>
          <p:cNvSpPr/>
          <p:nvPr/>
        </p:nvSpPr>
        <p:spPr>
          <a:xfrm>
            <a:off x="323850" y="1371600"/>
            <a:ext cx="11544300" cy="512127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7A3C67-6813-8DBD-F576-E0DB4C2D87F3}"/>
              </a:ext>
            </a:extLst>
          </p:cNvPr>
          <p:cNvSpPr txBox="1"/>
          <p:nvPr/>
        </p:nvSpPr>
        <p:spPr>
          <a:xfrm>
            <a:off x="571500" y="3067735"/>
            <a:ext cx="1129665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500" dirty="0" err="1">
                <a:solidFill>
                  <a:schemeClr val="bg1"/>
                </a:solidFill>
              </a:rPr>
              <a:t>access-list</a:t>
            </a:r>
            <a:r>
              <a:rPr lang="ko-KR" altLang="en-US" sz="3500" dirty="0">
                <a:solidFill>
                  <a:schemeClr val="bg1"/>
                </a:solidFill>
              </a:rPr>
              <a:t> 102 </a:t>
            </a:r>
            <a:r>
              <a:rPr lang="ko-KR" altLang="en-US" sz="3500" dirty="0" err="1">
                <a:solidFill>
                  <a:schemeClr val="bg1"/>
                </a:solidFill>
              </a:rPr>
              <a:t>deny</a:t>
            </a:r>
            <a:r>
              <a:rPr lang="ko-KR" altLang="en-US" sz="3500" dirty="0">
                <a:solidFill>
                  <a:schemeClr val="bg1"/>
                </a:solidFill>
              </a:rPr>
              <a:t> </a:t>
            </a:r>
            <a:r>
              <a:rPr lang="ko-KR" altLang="en-US" sz="3500" dirty="0" err="1">
                <a:solidFill>
                  <a:schemeClr val="bg1"/>
                </a:solidFill>
              </a:rPr>
              <a:t>tcp</a:t>
            </a:r>
            <a:r>
              <a:rPr lang="ko-KR" altLang="en-US" sz="3500" dirty="0">
                <a:solidFill>
                  <a:schemeClr val="bg1"/>
                </a:solidFill>
              </a:rPr>
              <a:t> 192.168.0.</a:t>
            </a:r>
            <a:r>
              <a:rPr lang="en-US" altLang="ko-KR" sz="3500" dirty="0">
                <a:solidFill>
                  <a:schemeClr val="bg1"/>
                </a:solidFill>
              </a:rPr>
              <a:t>0</a:t>
            </a:r>
            <a:r>
              <a:rPr lang="ko-KR" altLang="en-US" sz="3500" dirty="0">
                <a:solidFill>
                  <a:schemeClr val="bg1"/>
                </a:solidFill>
              </a:rPr>
              <a:t> 0.0.255.255 </a:t>
            </a:r>
            <a:r>
              <a:rPr lang="ko-KR" altLang="en-US" sz="3500" dirty="0" err="1">
                <a:solidFill>
                  <a:schemeClr val="bg1"/>
                </a:solidFill>
              </a:rPr>
              <a:t>host</a:t>
            </a:r>
            <a:r>
              <a:rPr lang="ko-KR" altLang="en-US" sz="3500" dirty="0">
                <a:solidFill>
                  <a:schemeClr val="bg1"/>
                </a:solidFill>
              </a:rPr>
              <a:t> 172.16.20.100 </a:t>
            </a:r>
            <a:r>
              <a:rPr lang="ko-KR" altLang="en-US" sz="3500" dirty="0" err="1">
                <a:solidFill>
                  <a:schemeClr val="bg1"/>
                </a:solidFill>
              </a:rPr>
              <a:t>eq</a:t>
            </a:r>
            <a:r>
              <a:rPr lang="ko-KR" altLang="en-US" sz="3500" dirty="0">
                <a:solidFill>
                  <a:schemeClr val="bg1"/>
                </a:solidFill>
              </a:rPr>
              <a:t> </a:t>
            </a:r>
            <a:r>
              <a:rPr lang="ko-KR" altLang="en-US" sz="3500" dirty="0" err="1">
                <a:solidFill>
                  <a:schemeClr val="bg1"/>
                </a:solidFill>
              </a:rPr>
              <a:t>ftp</a:t>
            </a:r>
            <a:r>
              <a:rPr lang="ko-KR" altLang="en-US" sz="3500" dirty="0">
                <a:solidFill>
                  <a:schemeClr val="bg1"/>
                </a:solidFill>
              </a:rPr>
              <a:t>(21)</a:t>
            </a:r>
            <a:endParaRPr lang="en-US" altLang="ko-KR" sz="3500" dirty="0">
              <a:solidFill>
                <a:schemeClr val="bg1"/>
              </a:solidFill>
            </a:endParaRPr>
          </a:p>
          <a:p>
            <a:endParaRPr lang="en-US" altLang="ko-KR" sz="3500" dirty="0">
              <a:solidFill>
                <a:schemeClr val="bg1"/>
              </a:solidFill>
            </a:endParaRPr>
          </a:p>
          <a:p>
            <a:r>
              <a:rPr lang="en-US" altLang="ko-KR" sz="3500" dirty="0">
                <a:solidFill>
                  <a:schemeClr val="bg1"/>
                </a:solidFill>
              </a:rPr>
              <a:t>access-list 102 permit </a:t>
            </a:r>
            <a:r>
              <a:rPr lang="en-US" altLang="ko-KR" sz="3500" dirty="0" err="1">
                <a:solidFill>
                  <a:schemeClr val="bg1"/>
                </a:solidFill>
              </a:rPr>
              <a:t>ip</a:t>
            </a:r>
            <a:r>
              <a:rPr lang="en-US" altLang="ko-KR" sz="3500" dirty="0">
                <a:solidFill>
                  <a:schemeClr val="bg1"/>
                </a:solidFill>
              </a:rPr>
              <a:t> any </a:t>
            </a:r>
            <a:r>
              <a:rPr lang="en-US" altLang="ko-KR" sz="3500" dirty="0" err="1">
                <a:solidFill>
                  <a:schemeClr val="bg1"/>
                </a:solidFill>
              </a:rPr>
              <a:t>any</a:t>
            </a:r>
            <a:endParaRPr lang="ko-KR" altLang="en-US" sz="35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85F0BC-D33F-BFF0-089E-489924CA6071}"/>
              </a:ext>
            </a:extLst>
          </p:cNvPr>
          <p:cNvSpPr txBox="1"/>
          <p:nvPr/>
        </p:nvSpPr>
        <p:spPr>
          <a:xfrm>
            <a:off x="571500" y="2339921"/>
            <a:ext cx="56959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>
                <a:solidFill>
                  <a:schemeClr val="bg1"/>
                </a:solidFill>
              </a:rPr>
              <a:t>예시 문장</a:t>
            </a:r>
          </a:p>
        </p:txBody>
      </p:sp>
    </p:spTree>
    <p:extLst>
      <p:ext uri="{BB962C8B-B14F-4D97-AF65-F5344CB8AC3E}">
        <p14:creationId xmlns:p14="http://schemas.microsoft.com/office/powerpoint/2010/main" val="15001763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C5B38-13D7-9497-0855-3C1D60444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DC2D06-5048-3010-0F05-29524CE5A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-35997"/>
            <a:ext cx="10515600" cy="1325563"/>
          </a:xfrm>
        </p:spPr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확장</a:t>
            </a:r>
            <a:r>
              <a:rPr lang="en-US" altLang="ko-KR" dirty="0"/>
              <a:t>,named</a:t>
            </a:r>
            <a:r>
              <a:rPr lang="ko-KR" altLang="en-US" dirty="0"/>
              <a:t> </a:t>
            </a:r>
            <a:r>
              <a:rPr lang="en-US" altLang="ko-KR" dirty="0"/>
              <a:t>ACL </a:t>
            </a:r>
            <a:r>
              <a:rPr lang="ko-KR" altLang="en-US" dirty="0"/>
              <a:t>실습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DCBA986-4A91-579B-6617-12F51FB4E1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566"/>
          <a:stretch>
            <a:fillRect/>
          </a:stretch>
        </p:blipFill>
        <p:spPr>
          <a:xfrm>
            <a:off x="2775698" y="976084"/>
            <a:ext cx="6640603" cy="588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2997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15D88-4310-3320-A616-497315685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511F7844-8CD8-17C0-D7C2-5EC0E3B1FB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566"/>
          <a:stretch>
            <a:fillRect/>
          </a:stretch>
        </p:blipFill>
        <p:spPr>
          <a:xfrm>
            <a:off x="2897255" y="1036320"/>
            <a:ext cx="6640603" cy="582168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EB5BA65-FF97-E610-EC1E-0A4421B71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-35997"/>
            <a:ext cx="10515600" cy="1325563"/>
          </a:xfrm>
        </p:spPr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확장</a:t>
            </a:r>
            <a:r>
              <a:rPr lang="en-US" altLang="ko-KR" dirty="0"/>
              <a:t>,named</a:t>
            </a:r>
            <a:r>
              <a:rPr lang="ko-KR" altLang="en-US" dirty="0"/>
              <a:t> </a:t>
            </a:r>
            <a:r>
              <a:rPr lang="en-US" altLang="ko-KR" dirty="0"/>
              <a:t>ACL </a:t>
            </a:r>
            <a:r>
              <a:rPr lang="ko-KR" altLang="en-US" dirty="0"/>
              <a:t>실습</a:t>
            </a: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5855A4FC-22DB-726C-D593-5071B5DC340A}"/>
              </a:ext>
            </a:extLst>
          </p:cNvPr>
          <p:cNvSpPr/>
          <p:nvPr/>
        </p:nvSpPr>
        <p:spPr>
          <a:xfrm>
            <a:off x="4987469" y="5635994"/>
            <a:ext cx="1451429" cy="118291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연결선: 구부러짐 11">
            <a:extLst>
              <a:ext uri="{FF2B5EF4-FFF2-40B4-BE49-F238E27FC236}">
                <a16:creationId xmlns:a16="http://schemas.microsoft.com/office/drawing/2014/main" id="{0402367D-7880-7CA5-0065-741058A6BC22}"/>
              </a:ext>
            </a:extLst>
          </p:cNvPr>
          <p:cNvCxnSpPr>
            <a:cxnSpLocks/>
          </p:cNvCxnSpPr>
          <p:nvPr/>
        </p:nvCxnSpPr>
        <p:spPr>
          <a:xfrm rot="16200000" flipV="1">
            <a:off x="3744687" y="3650345"/>
            <a:ext cx="3722916" cy="326566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연결선: 구부러짐 14">
            <a:extLst>
              <a:ext uri="{FF2B5EF4-FFF2-40B4-BE49-F238E27FC236}">
                <a16:creationId xmlns:a16="http://schemas.microsoft.com/office/drawing/2014/main" id="{D12E0C05-367B-2F4A-DA58-006EA54624C3}"/>
              </a:ext>
            </a:extLst>
          </p:cNvPr>
          <p:cNvCxnSpPr>
            <a:cxnSpLocks/>
          </p:cNvCxnSpPr>
          <p:nvPr/>
        </p:nvCxnSpPr>
        <p:spPr>
          <a:xfrm rot="16200000" flipV="1">
            <a:off x="2937444" y="2859426"/>
            <a:ext cx="3722916" cy="1908404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곱하기 기호 23">
            <a:extLst>
              <a:ext uri="{FF2B5EF4-FFF2-40B4-BE49-F238E27FC236}">
                <a16:creationId xmlns:a16="http://schemas.microsoft.com/office/drawing/2014/main" id="{2275A5C4-045E-F203-CD95-CC14868464B2}"/>
              </a:ext>
            </a:extLst>
          </p:cNvPr>
          <p:cNvSpPr/>
          <p:nvPr/>
        </p:nvSpPr>
        <p:spPr>
          <a:xfrm>
            <a:off x="5166313" y="2596744"/>
            <a:ext cx="603116" cy="924128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2" name="잉크 21">
                <a:extLst>
                  <a:ext uri="{FF2B5EF4-FFF2-40B4-BE49-F238E27FC236}">
                    <a16:creationId xmlns:a16="http://schemas.microsoft.com/office/drawing/2014/main" id="{9F18C33F-8465-4F46-2699-8D0A637F4940}"/>
                  </a:ext>
                </a:extLst>
              </p14:cNvPr>
              <p14:cNvContentPartPr/>
              <p14:nvPr/>
            </p14:nvContentPartPr>
            <p14:xfrm>
              <a:off x="5529160" y="3149109"/>
              <a:ext cx="360" cy="360"/>
            </p14:xfrm>
          </p:contentPart>
        </mc:Choice>
        <mc:Fallback xmlns="">
          <p:pic>
            <p:nvPicPr>
              <p:cNvPr id="22" name="잉크 21">
                <a:extLst>
                  <a:ext uri="{FF2B5EF4-FFF2-40B4-BE49-F238E27FC236}">
                    <a16:creationId xmlns:a16="http://schemas.microsoft.com/office/drawing/2014/main" id="{9F18C33F-8465-4F46-2699-8D0A637F494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23040" y="3142989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3" name="잉크 22">
                <a:extLst>
                  <a:ext uri="{FF2B5EF4-FFF2-40B4-BE49-F238E27FC236}">
                    <a16:creationId xmlns:a16="http://schemas.microsoft.com/office/drawing/2014/main" id="{4EF16EDA-61AF-8DDA-258D-1986A90E797C}"/>
                  </a:ext>
                </a:extLst>
              </p14:cNvPr>
              <p14:cNvContentPartPr/>
              <p14:nvPr/>
            </p14:nvContentPartPr>
            <p14:xfrm>
              <a:off x="5544280" y="3076749"/>
              <a:ext cx="360" cy="360"/>
            </p14:xfrm>
          </p:contentPart>
        </mc:Choice>
        <mc:Fallback xmlns="">
          <p:pic>
            <p:nvPicPr>
              <p:cNvPr id="23" name="잉크 22">
                <a:extLst>
                  <a:ext uri="{FF2B5EF4-FFF2-40B4-BE49-F238E27FC236}">
                    <a16:creationId xmlns:a16="http://schemas.microsoft.com/office/drawing/2014/main" id="{4EF16EDA-61AF-8DDA-258D-1986A90E797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38160" y="3070629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570891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5B5C7-C553-7D1F-299A-B1DBE8103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D61070-A49B-CC9F-6417-BAF51B93D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600" y="118382"/>
            <a:ext cx="10515600" cy="1325563"/>
          </a:xfrm>
        </p:spPr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확장</a:t>
            </a:r>
            <a:r>
              <a:rPr lang="en-US" altLang="ko-KR" dirty="0"/>
              <a:t>,named</a:t>
            </a:r>
            <a:r>
              <a:rPr lang="ko-KR" altLang="en-US" dirty="0"/>
              <a:t> </a:t>
            </a:r>
            <a:r>
              <a:rPr lang="en-US" altLang="ko-KR" dirty="0"/>
              <a:t>ACL </a:t>
            </a:r>
            <a:r>
              <a:rPr lang="ko-KR" altLang="en-US" dirty="0"/>
              <a:t>실습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EEE8924-B250-D2B7-23F1-DEFA21F83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239" y="1030565"/>
            <a:ext cx="8811797" cy="6052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5630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57A5D6EE-FE5B-F0D1-EE9B-9F9606F88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0253" y="902373"/>
            <a:ext cx="8771494" cy="602472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7FFB9AE8-8770-7D78-0C66-4C8EE80C6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600" y="118382"/>
            <a:ext cx="10515600" cy="1325563"/>
          </a:xfrm>
        </p:spPr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확장</a:t>
            </a:r>
            <a:r>
              <a:rPr lang="en-US" altLang="ko-KR" dirty="0"/>
              <a:t>,named</a:t>
            </a:r>
            <a:r>
              <a:rPr lang="ko-KR" altLang="en-US" dirty="0"/>
              <a:t> </a:t>
            </a:r>
            <a:r>
              <a:rPr lang="en-US" altLang="ko-KR" dirty="0"/>
              <a:t>ACL </a:t>
            </a:r>
            <a:r>
              <a:rPr lang="ko-KR" altLang="en-US" dirty="0"/>
              <a:t>실습</a:t>
            </a: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78A17BA7-BDFF-1574-8855-CC98D3D09DDF}"/>
              </a:ext>
            </a:extLst>
          </p:cNvPr>
          <p:cNvSpPr/>
          <p:nvPr/>
        </p:nvSpPr>
        <p:spPr>
          <a:xfrm>
            <a:off x="3976913" y="5601444"/>
            <a:ext cx="2264229" cy="108601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곱하기 기호 37">
            <a:extLst>
              <a:ext uri="{FF2B5EF4-FFF2-40B4-BE49-F238E27FC236}">
                <a16:creationId xmlns:a16="http://schemas.microsoft.com/office/drawing/2014/main" id="{DD9AAE03-3AF8-EDF1-F383-6DBD25A06AF5}"/>
              </a:ext>
            </a:extLst>
          </p:cNvPr>
          <p:cNvSpPr/>
          <p:nvPr/>
        </p:nvSpPr>
        <p:spPr>
          <a:xfrm>
            <a:off x="3015574" y="4136960"/>
            <a:ext cx="603116" cy="924128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8" name="잉크 17">
                <a:extLst>
                  <a:ext uri="{FF2B5EF4-FFF2-40B4-BE49-F238E27FC236}">
                    <a16:creationId xmlns:a16="http://schemas.microsoft.com/office/drawing/2014/main" id="{47FD0617-40DA-E64B-25C5-F1FC5D95F916}"/>
                  </a:ext>
                </a:extLst>
              </p14:cNvPr>
              <p14:cNvContentPartPr/>
              <p14:nvPr/>
            </p14:nvContentPartPr>
            <p14:xfrm>
              <a:off x="2333252" y="3685948"/>
              <a:ext cx="2978280" cy="1926360"/>
            </p14:xfrm>
          </p:contentPart>
        </mc:Choice>
        <mc:Fallback>
          <p:pic>
            <p:nvPicPr>
              <p:cNvPr id="18" name="잉크 17">
                <a:extLst>
                  <a:ext uri="{FF2B5EF4-FFF2-40B4-BE49-F238E27FC236}">
                    <a16:creationId xmlns:a16="http://schemas.microsoft.com/office/drawing/2014/main" id="{47FD0617-40DA-E64B-25C5-F1FC5D95F91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27132" y="3679828"/>
                <a:ext cx="2990520" cy="193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2" name="잉크 21">
                <a:extLst>
                  <a:ext uri="{FF2B5EF4-FFF2-40B4-BE49-F238E27FC236}">
                    <a16:creationId xmlns:a16="http://schemas.microsoft.com/office/drawing/2014/main" id="{E2323A04-8319-1EF8-B444-3431A163846F}"/>
                  </a:ext>
                </a:extLst>
              </p14:cNvPr>
              <p14:cNvContentPartPr/>
              <p14:nvPr/>
            </p14:nvContentPartPr>
            <p14:xfrm>
              <a:off x="2246852" y="5301628"/>
              <a:ext cx="285480" cy="302760"/>
            </p14:xfrm>
          </p:contentPart>
        </mc:Choice>
        <mc:Fallback>
          <p:pic>
            <p:nvPicPr>
              <p:cNvPr id="22" name="잉크 21">
                <a:extLst>
                  <a:ext uri="{FF2B5EF4-FFF2-40B4-BE49-F238E27FC236}">
                    <a16:creationId xmlns:a16="http://schemas.microsoft.com/office/drawing/2014/main" id="{E2323A04-8319-1EF8-B444-3431A163846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40732" y="5295508"/>
                <a:ext cx="297720" cy="315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그룹 28">
            <a:extLst>
              <a:ext uri="{FF2B5EF4-FFF2-40B4-BE49-F238E27FC236}">
                <a16:creationId xmlns:a16="http://schemas.microsoft.com/office/drawing/2014/main" id="{ADBAE2B5-C98C-064E-5BA5-958EE412B62C}"/>
              </a:ext>
            </a:extLst>
          </p:cNvPr>
          <p:cNvGrpSpPr/>
          <p:nvPr/>
        </p:nvGrpSpPr>
        <p:grpSpPr>
          <a:xfrm>
            <a:off x="3297332" y="3879268"/>
            <a:ext cx="1869480" cy="1792080"/>
            <a:chOff x="3297332" y="3879268"/>
            <a:chExt cx="1869480" cy="179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E25FD2EE-B8FE-6CB0-598C-DCDF4C7E3495}"/>
                    </a:ext>
                  </a:extLst>
                </p14:cNvPr>
                <p14:cNvContentPartPr/>
                <p14:nvPr/>
              </p14:nvContentPartPr>
              <p14:xfrm>
                <a:off x="3297332" y="3879268"/>
                <a:ext cx="1869480" cy="178812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E25FD2EE-B8FE-6CB0-598C-DCDF4C7E349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291212" y="3873148"/>
                  <a:ext cx="1881720" cy="180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97DC24D2-F510-8994-318D-087B0CF6F26F}"/>
                    </a:ext>
                  </a:extLst>
                </p14:cNvPr>
                <p14:cNvContentPartPr/>
                <p14:nvPr/>
              </p14:nvContentPartPr>
              <p14:xfrm>
                <a:off x="3317132" y="5508988"/>
                <a:ext cx="234000" cy="16236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97DC24D2-F510-8994-318D-087B0CF6F26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311012" y="5502868"/>
                  <a:ext cx="246240" cy="174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157057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1373</TotalTime>
  <Words>1728</Words>
  <Application>Microsoft Office PowerPoint</Application>
  <PresentationFormat>와이드스크린</PresentationFormat>
  <Paragraphs>268</Paragraphs>
  <Slides>29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2" baseType="lpstr">
      <vt:lpstr>맑은 고딕</vt:lpstr>
      <vt:lpstr>Arial</vt:lpstr>
      <vt:lpstr>Office 테마</vt:lpstr>
      <vt:lpstr>ACL (Access control list)</vt:lpstr>
      <vt:lpstr>목차 </vt:lpstr>
      <vt:lpstr>0. ACL이란??</vt:lpstr>
      <vt:lpstr>1.표준 ACL(standard ACL)</vt:lpstr>
      <vt:lpstr>1.표준 ACL(standard ACL)</vt:lpstr>
      <vt:lpstr>1.표준 ACL(standard ACL)</vt:lpstr>
      <vt:lpstr>1.표준 ACL(standard ACL)</vt:lpstr>
      <vt:lpstr>1.표준 ACL(standard ACL)</vt:lpstr>
      <vt:lpstr>1.표준 ACL(standard ACL)</vt:lpstr>
      <vt:lpstr>1.표준 ACL(standard ACL)</vt:lpstr>
      <vt:lpstr>1.표준 ACL(standard ACL)</vt:lpstr>
      <vt:lpstr>1. named ACL (이름 기반 ACL)</vt:lpstr>
      <vt:lpstr>1. named ACL (이름 기반 ACL)</vt:lpstr>
      <vt:lpstr>2. 표준,named ACL 실습</vt:lpstr>
      <vt:lpstr>2. 표준,named ACL 실습(1)</vt:lpstr>
      <vt:lpstr>2. 표준,named ACL 실습(2)</vt:lpstr>
      <vt:lpstr>3. 확장 ACL (extended ACL)</vt:lpstr>
      <vt:lpstr>3. 확장 ACL (extended ACL)</vt:lpstr>
      <vt:lpstr>3. 확장 ACL (extended ACL)</vt:lpstr>
      <vt:lpstr>3. 확장 ACL (extended ACL)</vt:lpstr>
      <vt:lpstr>3. 확장 ACL (extended ACL)</vt:lpstr>
      <vt:lpstr>3. 확장 ACL (extended ACL)</vt:lpstr>
      <vt:lpstr>3. 확장 ACL (extended ACL)</vt:lpstr>
      <vt:lpstr>3. 확장 ACL (extended ACL)</vt:lpstr>
      <vt:lpstr>3. 확장 ACL (extended ACL)</vt:lpstr>
      <vt:lpstr>4. 확장,named ACL 실습</vt:lpstr>
      <vt:lpstr>4. 확장,named ACL 실습</vt:lpstr>
      <vt:lpstr>4. 확장,named ACL 실습</vt:lpstr>
      <vt:lpstr>4. 확장,named ACL 실습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TJ</dc:creator>
  <cp:lastModifiedBy>TJ</cp:lastModifiedBy>
  <cp:revision>33</cp:revision>
  <dcterms:created xsi:type="dcterms:W3CDTF">2025-11-17T15:23:36Z</dcterms:created>
  <dcterms:modified xsi:type="dcterms:W3CDTF">2025-11-18T16:26:42Z</dcterms:modified>
</cp:coreProperties>
</file>