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7" r:id="rId9"/>
    <p:sldId id="268" r:id="rId10"/>
    <p:sldId id="262" r:id="rId11"/>
    <p:sldId id="263" r:id="rId12"/>
    <p:sldId id="264" r:id="rId13"/>
    <p:sldId id="266" r:id="rId14"/>
    <p:sldId id="269" r:id="rId15"/>
    <p:sldId id="265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80BEB39F-07EE-41CC-8910-8705E509BC1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w="sm" len="sm"/>
              <a:tailEnd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56" y="96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 lvl="0"/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255fe3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9a255fe3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091BA59-C3D6-3B7E-D753-EEB78448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a255fe33e_0_29:notes">
            <a:extLst>
              <a:ext uri="{FF2B5EF4-FFF2-40B4-BE49-F238E27FC236}">
                <a16:creationId xmlns:a16="http://schemas.microsoft.com/office/drawing/2014/main" id="{0AE457A4-F315-E801-800D-FC0BCC66E4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9a255fe33e_0_29:notes">
            <a:extLst>
              <a:ext uri="{FF2B5EF4-FFF2-40B4-BE49-F238E27FC236}">
                <a16:creationId xmlns:a16="http://schemas.microsoft.com/office/drawing/2014/main" id="{34C6F4EC-966C-C849-89AD-DD59240FBD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5480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ECAAA191-66D8-0165-E163-4D670B5D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>
            <a:extLst>
              <a:ext uri="{FF2B5EF4-FFF2-40B4-BE49-F238E27FC236}">
                <a16:creationId xmlns:a16="http://schemas.microsoft.com/office/drawing/2014/main" id="{AF34F78F-68FA-053E-78FB-C570AB908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:notes">
            <a:extLst>
              <a:ext uri="{FF2B5EF4-FFF2-40B4-BE49-F238E27FC236}">
                <a16:creationId xmlns:a16="http://schemas.microsoft.com/office/drawing/2014/main" id="{B9FF98F3-9DD4-DCF9-2FC0-8AD745A7D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681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a255fe33e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9a255fe33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a255fe33e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9a255fe33e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66178339-AD99-D4E3-1670-5052A4ED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>
            <a:extLst>
              <a:ext uri="{FF2B5EF4-FFF2-40B4-BE49-F238E27FC236}">
                <a16:creationId xmlns:a16="http://schemas.microsoft.com/office/drawing/2014/main" id="{1713F31E-1634-6D1A-F7B5-44B0653939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>
            <a:extLst>
              <a:ext uri="{FF2B5EF4-FFF2-40B4-BE49-F238E27FC236}">
                <a16:creationId xmlns:a16="http://schemas.microsoft.com/office/drawing/2014/main" id="{ADAE2548-D268-3A9B-CB2F-A330128532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1922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3AEEF062-1710-21F7-0850-C69836279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>
            <a:extLst>
              <a:ext uri="{FF2B5EF4-FFF2-40B4-BE49-F238E27FC236}">
                <a16:creationId xmlns:a16="http://schemas.microsoft.com/office/drawing/2014/main" id="{F05A7418-45A1-D804-ABD8-FA3E03F8D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:notes">
            <a:extLst>
              <a:ext uri="{FF2B5EF4-FFF2-40B4-BE49-F238E27FC236}">
                <a16:creationId xmlns:a16="http://schemas.microsoft.com/office/drawing/2014/main" id="{0AE2FBA6-DCA4-6EC3-D1F4-18AC78730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2029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1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Relationship Id="rId8" Type="http://schemas.openxmlformats.org/officeDocument/2006/relationships/image" Target="../media/image1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11.png"  /><Relationship Id="rId4" Type="http://schemas.openxmlformats.org/officeDocument/2006/relationships/image" Target="../media/image7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.png"  /><Relationship Id="rId4" Type="http://schemas.openxmlformats.org/officeDocument/2006/relationships/image" Target="../media/image14.png"  /><Relationship Id="rId5" Type="http://schemas.openxmlformats.org/officeDocument/2006/relationships/image" Target="../media/image16.png"  /><Relationship Id="rId6" Type="http://schemas.openxmlformats.org/officeDocument/2006/relationships/image" Target="../media/image9.png"  /><Relationship Id="rId7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00" y="2597709"/>
            <a:ext cx="11601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Prefix-List 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326284"/>
            <a:ext cx="11049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/>
              <a:t>킹왕짱 네트워크팀</a:t>
            </a:r>
            <a:endParaRPr sz="3500"/>
          </a:p>
        </p:txBody>
      </p:sp>
      <p:sp>
        <p:nvSpPr>
          <p:cNvPr id="2" name="하트 1">
            <a:extLst>
              <a:ext uri="{FF2B5EF4-FFF2-40B4-BE49-F238E27FC236}">
                <a16:creationId xmlns:a16="http://schemas.microsoft.com/office/drawing/2014/main" id="{50B3EC01-7C56-CE30-4220-5771E53DD03B}"/>
              </a:ext>
            </a:extLst>
          </p:cNvPr>
          <p:cNvSpPr/>
          <p:nvPr/>
        </p:nvSpPr>
        <p:spPr>
          <a:xfrm>
            <a:off x="3180945" y="4413930"/>
            <a:ext cx="739302" cy="729574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하트 2">
            <a:extLst>
              <a:ext uri="{FF2B5EF4-FFF2-40B4-BE49-F238E27FC236}">
                <a16:creationId xmlns:a16="http://schemas.microsoft.com/office/drawing/2014/main" id="{236DBBC2-B6B7-19EF-7627-404EAB5161E7}"/>
              </a:ext>
            </a:extLst>
          </p:cNvPr>
          <p:cNvSpPr/>
          <p:nvPr/>
        </p:nvSpPr>
        <p:spPr>
          <a:xfrm>
            <a:off x="8352817" y="4413930"/>
            <a:ext cx="739302" cy="729574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9750"/>
            <a:ext cx="53340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09750"/>
            <a:ext cx="5334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14400" y="2152650"/>
            <a:ext cx="488061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정의 및 특징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14400" y="2762250"/>
            <a:ext cx="4648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일정 범위의 네트워크 주소(Prefix)만을 설정하는 데 최적화된 경로 필터링 도구.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3562350"/>
            <a:ext cx="4648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Access-List보다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유연하고 직관적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이며, 주로 라우팅 프로토콜(BGP, RIP 등)의 경로 정보를 제어할 때 사용</a:t>
            </a: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됨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29400" y="2152650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vs Access-List</a:t>
            </a:r>
            <a:endParaRPr/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6629400" y="2743200"/>
          <a:ext cx="4648225" cy="3009900"/>
        </p:xfrm>
        <a:graphic>
          <a:graphicData uri="http://schemas.openxmlformats.org/drawingml/2006/table">
            <a:tbl>
              <a:tblPr firstRow="1" bandRow="1">
                <a:noFill/>
                <a:tableStyleId>{80BEB39F-07EE-41CC-8910-8705E509BC1E}</a:tableStyleId>
              </a:tblPr>
              <a:tblGrid>
                <a:gridCol w="9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구분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Access-List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Prefix-List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검사 기준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IP 주소의 </a:t>
                      </a: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비트 패턴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IP 주소 + </a:t>
                      </a: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마스크 길이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용도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패킷 필터링 (보안)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경로 필터링 (라우팅)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유연성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높음 (ge, le 옵션)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2288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22098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6629400" y="3328987"/>
            <a:ext cx="97899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7608391" y="3328987"/>
            <a:ext cx="17630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9371409" y="3328987"/>
            <a:ext cx="19061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629400" y="4233862"/>
            <a:ext cx="97899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608391" y="4233862"/>
            <a:ext cx="17630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9371409" y="4233862"/>
            <a:ext cx="19061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629400" y="5138737"/>
            <a:ext cx="97899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608391" y="5138737"/>
            <a:ext cx="17630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9371409" y="5138737"/>
            <a:ext cx="19061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629400" y="5738812"/>
            <a:ext cx="978991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608391" y="5738812"/>
            <a:ext cx="1763017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9371409" y="5738812"/>
            <a:ext cx="190619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굴림체" panose="020B0609000101010101" pitchFamily="49" charset="-127"/>
                <a:ea typeface="굴림체" panose="020B0609000101010101" pitchFamily="49" charset="-127"/>
                <a:cs typeface="Poppins"/>
                <a:sym typeface="Poppins"/>
              </a:rPr>
              <a:t>Prefix-List 란?</a:t>
            </a:r>
            <a:endParaRPr b="1" dirty="0"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10047"/>
            <a:ext cx="5238750" cy="447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29989"/>
            <a:ext cx="5457324" cy="120372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1810047"/>
            <a:ext cx="550068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기본 구조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3553122"/>
            <a:ext cx="5238750" cy="73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예시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ip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prefix-list FILTER_IN permit 10.0.0.0/8  le 32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715125" y="2143422"/>
            <a:ext cx="48006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옵션 상세 설명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9624" y="2581572"/>
            <a:ext cx="152805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ip prefix-list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2381250" y="2581572"/>
            <a:ext cx="575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[이름]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038475" y="2581572"/>
            <a:ext cx="3274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seq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457575" y="2581572"/>
            <a:ext cx="5755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b="0" i="0" u="none" strike="noStrike" cap="none" dirty="0" err="1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번호</a:t>
            </a:r>
            <a:r>
              <a:rPr lang="en-US" b="0" i="0" u="none" strike="noStrike" cap="none" dirty="0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4114800" y="2581572"/>
            <a:ext cx="141890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[permit|deny]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09625" y="2838747"/>
            <a:ext cx="139905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[네트워크/길이]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2257425" y="2838747"/>
            <a:ext cx="72433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[ge 값]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3057525" y="2838747"/>
            <a:ext cx="72433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[le 값]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7477125" y="2714922"/>
            <a:ext cx="3810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seq [번호]</a:t>
            </a:r>
            <a:r>
              <a:rPr lang="en-US" sz="165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처리 순서 (생략 가능하나 권장)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477125" y="3240583"/>
            <a:ext cx="3810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permit / deny</a:t>
            </a:r>
            <a:r>
              <a:rPr lang="en-US" sz="165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정책 허용 또는 차단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477125" y="3766244"/>
            <a:ext cx="381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ge (Greater or Equal)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지정 값보다 크거나 같은 길이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7477125" y="4627066"/>
            <a:ext cx="381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le (Less or Equal)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지정 값보다 작거나 같은 길이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765875" y="5487863"/>
            <a:ext cx="3810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조건:</a:t>
            </a:r>
            <a:r>
              <a:rPr lang="en-US" sz="1350" b="0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 길이 &lt; ge &lt;= le &lt;= 32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77125" y="555456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571500" y="5715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명령어 문법 (Syntax)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6125" y="275302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6125" y="327868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6125" y="380434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96125" y="466516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96125" y="552598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4D36E2-90B2-E45B-463D-C45D653623BE}"/>
              </a:ext>
            </a:extLst>
          </p:cNvPr>
          <p:cNvSpPr txBox="1"/>
          <p:nvPr/>
        </p:nvSpPr>
        <p:spPr>
          <a:xfrm>
            <a:off x="2843224" y="4366472"/>
            <a:ext cx="2919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rgbClr val="C00000"/>
                </a:solidFill>
              </a:rPr>
              <a:t> [</a:t>
            </a:r>
            <a:r>
              <a:rPr lang="ko-KR" altLang="en-US" sz="1800" b="1" dirty="0">
                <a:solidFill>
                  <a:srgbClr val="C00000"/>
                </a:solidFill>
              </a:rPr>
              <a:t>조건 </a:t>
            </a:r>
            <a:r>
              <a:rPr lang="en-US" altLang="ko-KR" sz="1800" b="1" dirty="0">
                <a:solidFill>
                  <a:srgbClr val="C00000"/>
                </a:solidFill>
              </a:rPr>
              <a:t>1 : </a:t>
            </a:r>
            <a:r>
              <a:rPr lang="ko-KR" altLang="en-US" sz="1800" b="1" dirty="0">
                <a:solidFill>
                  <a:srgbClr val="C00000"/>
                </a:solidFill>
              </a:rPr>
              <a:t>패턴</a:t>
            </a:r>
            <a:r>
              <a:rPr lang="en-US" altLang="ko-KR" sz="1800" b="1" dirty="0">
                <a:solidFill>
                  <a:srgbClr val="C00000"/>
                </a:solidFill>
              </a:rPr>
              <a:t>]</a:t>
            </a:r>
          </a:p>
          <a:p>
            <a:pPr algn="ctr"/>
            <a:r>
              <a:rPr lang="en-US" altLang="ko-KR" sz="1800" b="1" dirty="0">
                <a:solidFill>
                  <a:srgbClr val="C00000"/>
                </a:solidFill>
              </a:rPr>
              <a:t> “10.x.x.x</a:t>
            </a:r>
            <a:r>
              <a:rPr lang="ko-KR" altLang="en-US" sz="1800" b="1" dirty="0">
                <a:solidFill>
                  <a:srgbClr val="C00000"/>
                </a:solidFill>
              </a:rPr>
              <a:t>로 시작하는</a:t>
            </a:r>
            <a:r>
              <a:rPr lang="en-US" altLang="ko-KR" sz="1800" b="1" dirty="0">
                <a:solidFill>
                  <a:srgbClr val="C00000"/>
                </a:solidFill>
              </a:rPr>
              <a:t> IP”</a:t>
            </a:r>
            <a:endParaRPr lang="ko-KR" altLang="en-US" sz="1800" b="1" dirty="0">
              <a:solidFill>
                <a:srgbClr val="C00000"/>
              </a:solidFill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3DCA431-EDA3-3640-08B7-CBAEAD83F02E}"/>
              </a:ext>
            </a:extLst>
          </p:cNvPr>
          <p:cNvCxnSpPr>
            <a:cxnSpLocks/>
          </p:cNvCxnSpPr>
          <p:nvPr/>
        </p:nvCxnSpPr>
        <p:spPr>
          <a:xfrm flipH="1">
            <a:off x="3781861" y="4289990"/>
            <a:ext cx="104239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712E235-63AB-3AB9-CDF2-DFB2EAFACE8C}"/>
              </a:ext>
            </a:extLst>
          </p:cNvPr>
          <p:cNvCxnSpPr/>
          <p:nvPr/>
        </p:nvCxnSpPr>
        <p:spPr>
          <a:xfrm>
            <a:off x="4936547" y="4289990"/>
            <a:ext cx="709452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AC4DCF-2C4D-9F13-501E-0CFE4907A074}"/>
              </a:ext>
            </a:extLst>
          </p:cNvPr>
          <p:cNvSpPr txBox="1"/>
          <p:nvPr/>
        </p:nvSpPr>
        <p:spPr>
          <a:xfrm>
            <a:off x="2956750" y="5089284"/>
            <a:ext cx="3283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b="1" dirty="0">
                <a:solidFill>
                  <a:schemeClr val="bg2"/>
                </a:solidFill>
              </a:rPr>
              <a:t>[</a:t>
            </a:r>
            <a:r>
              <a:rPr lang="ko-KR" altLang="en-US" sz="1800" b="1" dirty="0">
                <a:solidFill>
                  <a:schemeClr val="bg2"/>
                </a:solidFill>
              </a:rPr>
              <a:t>조건 </a:t>
            </a:r>
            <a:r>
              <a:rPr lang="en-US" altLang="ko-KR" sz="1800" b="1" dirty="0">
                <a:solidFill>
                  <a:schemeClr val="bg2"/>
                </a:solidFill>
              </a:rPr>
              <a:t>2 : </a:t>
            </a:r>
            <a:r>
              <a:rPr lang="ko-KR" altLang="en-US" sz="1800" b="1" dirty="0">
                <a:solidFill>
                  <a:schemeClr val="bg2"/>
                </a:solidFill>
              </a:rPr>
              <a:t>길이</a:t>
            </a:r>
            <a:r>
              <a:rPr lang="en-US" altLang="ko-KR" sz="1800" b="1" dirty="0">
                <a:solidFill>
                  <a:schemeClr val="bg2"/>
                </a:solidFill>
              </a:rPr>
              <a:t>]</a:t>
            </a:r>
          </a:p>
          <a:p>
            <a:pPr algn="ctr"/>
            <a:r>
              <a:rPr lang="en-US" altLang="ko-KR" sz="1800" b="1" dirty="0">
                <a:solidFill>
                  <a:schemeClr val="bg2"/>
                </a:solidFill>
              </a:rPr>
              <a:t>“</a:t>
            </a:r>
            <a:r>
              <a:rPr lang="ko-KR" altLang="en-US" sz="1800" b="1" dirty="0" err="1">
                <a:solidFill>
                  <a:schemeClr val="bg2"/>
                </a:solidFill>
              </a:rPr>
              <a:t>서브넷</a:t>
            </a:r>
            <a:r>
              <a:rPr lang="ko-KR" altLang="en-US" sz="1800" b="1" dirty="0">
                <a:solidFill>
                  <a:schemeClr val="bg2"/>
                </a:solidFill>
              </a:rPr>
              <a:t> 마스크 </a:t>
            </a:r>
            <a:r>
              <a:rPr lang="en-US" altLang="ko-KR" sz="1800" b="1" dirty="0">
                <a:solidFill>
                  <a:schemeClr val="bg2"/>
                </a:solidFill>
              </a:rPr>
              <a:t>/8 ~ /32 </a:t>
            </a:r>
            <a:r>
              <a:rPr lang="ko-KR" altLang="en-US" sz="1800" b="1" dirty="0">
                <a:solidFill>
                  <a:schemeClr val="bg2"/>
                </a:solidFill>
              </a:rPr>
              <a:t>사이</a:t>
            </a:r>
            <a:r>
              <a:rPr lang="en-US" altLang="ko-KR" sz="1800" b="1" dirty="0">
                <a:solidFill>
                  <a:schemeClr val="bg2"/>
                </a:solidFill>
              </a:rPr>
              <a:t>”</a:t>
            </a:r>
            <a:endParaRPr lang="ko-KR" altLang="en-US" sz="1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/>
        </p:nvSpPr>
        <p:spPr>
          <a:xfrm>
            <a:off x="914400" y="2943225"/>
            <a:ext cx="524065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100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묵</a:t>
            </a:r>
            <a:r>
              <a:rPr lang="en-US" sz="2100" b="1" i="0" u="none" strike="noStrike" cap="none" dirty="0" err="1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시적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거부</a:t>
            </a:r>
            <a:r>
              <a:rPr lang="en-US" sz="2100" b="1" i="0" u="none" strike="noStrike" cap="none" dirty="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 (Implicit Deny)</a:t>
            </a:r>
            <a:endParaRPr dirty="0"/>
          </a:p>
        </p:txBody>
      </p:sp>
      <p:sp>
        <p:nvSpPr>
          <p:cNvPr id="154" name="Google Shape;154;p16"/>
          <p:cNvSpPr txBox="1"/>
          <p:nvPr/>
        </p:nvSpPr>
        <p:spPr>
          <a:xfrm>
            <a:off x="914400" y="355282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Access-List와 마찬가지로, 리스트의 끝에는 눈에 보이지 않는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"모두 차단(deny all)"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규칙이 존재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4352925"/>
            <a:ext cx="499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따라서, 특정 경로를 차단한 후에는 반드시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나머지 모든 경로를 허용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정책을 추가해야 </a:t>
            </a: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286500" y="4454872"/>
            <a:ext cx="49911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0.0.0.0/0은 '모든 IP'를, le 32는 '모든 서브넷 길이'를 의미합니다.</a:t>
            </a:r>
            <a:endParaRPr/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450249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571500" y="5715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핵심 규칙 &amp; 주의사항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21;p15" descr="image.png">
            <a:extLst>
              <a:ext uri="{FF2B5EF4-FFF2-40B4-BE49-F238E27FC236}">
                <a16:creationId xmlns:a16="http://schemas.microsoft.com/office/drawing/2014/main" id="{ED206795-B924-71D4-4854-01E409930EA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38850" y="3257775"/>
            <a:ext cx="523875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5;p15">
            <a:extLst>
              <a:ext uri="{FF2B5EF4-FFF2-40B4-BE49-F238E27FC236}">
                <a16:creationId xmlns:a16="http://schemas.microsoft.com/office/drawing/2014/main" id="{9B995AE4-DF0B-844C-F55F-E8A289BF18BB}"/>
              </a:ext>
            </a:extLst>
          </p:cNvPr>
          <p:cNvSpPr txBox="1"/>
          <p:nvPr/>
        </p:nvSpPr>
        <p:spPr>
          <a:xfrm>
            <a:off x="6276975" y="3486375"/>
            <a:ext cx="14668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ip prefix-list</a:t>
            </a:r>
            <a:endParaRPr/>
          </a:p>
        </p:txBody>
      </p:sp>
      <p:sp>
        <p:nvSpPr>
          <p:cNvPr id="4" name="Google Shape;126;p15">
            <a:extLst>
              <a:ext uri="{FF2B5EF4-FFF2-40B4-BE49-F238E27FC236}">
                <a16:creationId xmlns:a16="http://schemas.microsoft.com/office/drawing/2014/main" id="{D4F95C4A-EA09-4BE3-7610-23DC9F8F88A1}"/>
              </a:ext>
            </a:extLst>
          </p:cNvPr>
          <p:cNvSpPr txBox="1"/>
          <p:nvPr/>
        </p:nvSpPr>
        <p:spPr>
          <a:xfrm>
            <a:off x="7848600" y="3486375"/>
            <a:ext cx="5524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</a:t>
            </a:r>
            <a:r>
              <a:rPr lang="en-US" sz="1350" b="0" i="0" u="none" strike="noStrike" cap="none" dirty="0" err="1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이름</a:t>
            </a:r>
            <a:r>
              <a:rPr lang="en-US" sz="1350" b="0" i="0" u="none" strike="noStrike" cap="none" dirty="0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</a:t>
            </a:r>
            <a:endParaRPr dirty="0"/>
          </a:p>
        </p:txBody>
      </p:sp>
      <p:sp>
        <p:nvSpPr>
          <p:cNvPr id="5" name="Google Shape;127;p15">
            <a:extLst>
              <a:ext uri="{FF2B5EF4-FFF2-40B4-BE49-F238E27FC236}">
                <a16:creationId xmlns:a16="http://schemas.microsoft.com/office/drawing/2014/main" id="{4EB38C15-76AF-E228-4DA8-DEAD4851006D}"/>
              </a:ext>
            </a:extLst>
          </p:cNvPr>
          <p:cNvSpPr txBox="1"/>
          <p:nvPr/>
        </p:nvSpPr>
        <p:spPr>
          <a:xfrm>
            <a:off x="8505825" y="3486375"/>
            <a:ext cx="657428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F472B6"/>
                </a:solidFill>
                <a:latin typeface="JetBrains Mono"/>
                <a:cs typeface="JetBrains Mono"/>
                <a:sym typeface="JetBrains Mono"/>
              </a:rPr>
              <a:t>permit</a:t>
            </a:r>
            <a:endParaRPr dirty="0"/>
          </a:p>
        </p:txBody>
      </p:sp>
      <p:sp>
        <p:nvSpPr>
          <p:cNvPr id="6" name="Google Shape;128;p15">
            <a:extLst>
              <a:ext uri="{FF2B5EF4-FFF2-40B4-BE49-F238E27FC236}">
                <a16:creationId xmlns:a16="http://schemas.microsoft.com/office/drawing/2014/main" id="{AD0DA0F4-DE1E-1D3F-D392-65B96CA093F9}"/>
              </a:ext>
            </a:extLst>
          </p:cNvPr>
          <p:cNvSpPr txBox="1"/>
          <p:nvPr/>
        </p:nvSpPr>
        <p:spPr>
          <a:xfrm>
            <a:off x="9225267" y="3482195"/>
            <a:ext cx="1018972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FACC15"/>
                </a:solidFill>
                <a:latin typeface="JetBrains Mono"/>
                <a:cs typeface="JetBrains Mono"/>
                <a:sym typeface="JetBrains Mono"/>
              </a:rPr>
              <a:t>0.0.0.0/0</a:t>
            </a:r>
            <a:endParaRPr dirty="0"/>
          </a:p>
        </p:txBody>
      </p:sp>
      <p:sp>
        <p:nvSpPr>
          <p:cNvPr id="8" name="Google Shape;127;p15">
            <a:extLst>
              <a:ext uri="{FF2B5EF4-FFF2-40B4-BE49-F238E27FC236}">
                <a16:creationId xmlns:a16="http://schemas.microsoft.com/office/drawing/2014/main" id="{D566E5AC-5BEF-D84C-FBCE-43989D89579E}"/>
              </a:ext>
            </a:extLst>
          </p:cNvPr>
          <p:cNvSpPr txBox="1"/>
          <p:nvPr/>
        </p:nvSpPr>
        <p:spPr>
          <a:xfrm>
            <a:off x="10251737" y="3480179"/>
            <a:ext cx="27338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F472B6"/>
                </a:solidFill>
                <a:latin typeface="JetBrains Mono"/>
                <a:cs typeface="JetBrains Mono"/>
                <a:sym typeface="JetBrains Mono"/>
              </a:rPr>
              <a:t>le </a:t>
            </a:r>
            <a:endParaRPr dirty="0"/>
          </a:p>
        </p:txBody>
      </p:sp>
      <p:sp>
        <p:nvSpPr>
          <p:cNvPr id="9" name="Google Shape;126;p15">
            <a:extLst>
              <a:ext uri="{FF2B5EF4-FFF2-40B4-BE49-F238E27FC236}">
                <a16:creationId xmlns:a16="http://schemas.microsoft.com/office/drawing/2014/main" id="{71EBDA0A-CF9F-C7AB-BBE6-95B78A65EA57}"/>
              </a:ext>
            </a:extLst>
          </p:cNvPr>
          <p:cNvSpPr txBox="1"/>
          <p:nvPr/>
        </p:nvSpPr>
        <p:spPr>
          <a:xfrm>
            <a:off x="10544175" y="3470654"/>
            <a:ext cx="55245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FACC15"/>
                </a:solidFill>
                <a:latin typeface="JetBrains Mono"/>
                <a:cs typeface="JetBrains Mono"/>
                <a:sym typeface="JetBrains Mono"/>
              </a:rPr>
              <a:t>32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9750"/>
            <a:ext cx="11049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핵심 규칙</a:t>
            </a:r>
            <a:r>
              <a:rPr lang="en-US"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: 규칙의 적용</a:t>
            </a: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819000" y="2828712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Prefix-List를 생성하는 것은 단순히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"정의(Definition)"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만 한 상태</a:t>
            </a: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임.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19000" y="3747987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실제로 라우팅 테이블에 필터링을 수행하려면, 해당 리스트를 라우팅 프로토콜 안에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"적용(Application)"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해야 </a:t>
            </a: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726175" y="4828962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distribute-list</a:t>
            </a:r>
            <a:r>
              <a:rPr lang="en-US" sz="1500" b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를 사용해 적용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.</a:t>
            </a:r>
            <a:endParaRPr/>
          </a:p>
        </p:txBody>
      </p:sp>
      <p:pic>
        <p:nvPicPr>
          <p:cNvPr id="176" name="Google Shape;17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6715125" y="2424112"/>
            <a:ext cx="480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ACC15"/>
                </a:solidFill>
                <a:latin typeface="Poppins"/>
                <a:ea typeface="Poppins"/>
                <a:cs typeface="Poppins"/>
                <a:sym typeface="Poppins"/>
              </a:rPr>
              <a:t>적용 방법 (Application)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715125" y="3138487"/>
            <a:ext cx="4572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 1. 라우팅 프로토콜 진입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Router(config)# </a:t>
            </a:r>
            <a:r>
              <a:rPr lang="en-US" sz="1200" b="0" i="0" u="none" strike="noStrike" cap="non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router rip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1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! 2. 리스트 적용 (Distribute-list)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Router(config-router)# </a:t>
            </a:r>
            <a:r>
              <a:rPr lang="en-US" sz="1200" b="0" i="0" u="none" strike="noStrike" cap="non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distribute-list</a:t>
            </a:r>
            <a:r>
              <a:rPr lang="en-US" sz="120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 b="0" i="0" u="none" strike="noStrike" cap="none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prefix</a:t>
            </a:r>
            <a:r>
              <a:rPr lang="en-US" sz="1200" b="0" i="0" u="none" strike="noStrike" cap="none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[리스트이름] [in|out] [인터페이스]</a:t>
            </a:r>
            <a:b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715125" y="4795837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in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: 라우팅 정보를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받을 때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필터링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715125" y="5195887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Noto Sans KR"/>
                <a:ea typeface="Noto Sans KR"/>
                <a:cs typeface="Noto Sans KR"/>
                <a:sym typeface="Noto Sans KR"/>
              </a:rPr>
              <a:t>out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: 라우팅 정보를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보낼 때</a:t>
            </a:r>
            <a:r>
              <a:rPr lang="en-US" sz="150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필터링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431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571500" y="5715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실습 목표 및 토폴로지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8"/>
          <p:cNvPicPr preferRelativeResize="0"/>
          <p:nvPr/>
        </p:nvPicPr>
        <p:blipFill rotWithShape="1">
          <a:blip r:embed="rId4">
            <a:alphaModFix/>
          </a:blip>
          <a:srcRect l="3805" r="2006"/>
          <a:stretch/>
        </p:blipFill>
        <p:spPr>
          <a:xfrm>
            <a:off x="794086" y="2480319"/>
            <a:ext cx="10026314" cy="36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D0109C-E24F-DA89-6AC1-804625388A0D}"/>
              </a:ext>
            </a:extLst>
          </p:cNvPr>
          <p:cNvSpPr txBox="1"/>
          <p:nvPr/>
        </p:nvSpPr>
        <p:spPr>
          <a:xfrm>
            <a:off x="797094" y="1662362"/>
            <a:ext cx="1002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accent2"/>
                </a:solidFill>
              </a:rPr>
              <a:t>Distribute-list</a:t>
            </a:r>
            <a:r>
              <a:rPr lang="ko-KR" altLang="en-US" sz="2400" b="1" dirty="0">
                <a:solidFill>
                  <a:schemeClr val="accent2"/>
                </a:solidFill>
              </a:rPr>
              <a:t>를 이용해 대역 광고 </a:t>
            </a:r>
            <a:r>
              <a:rPr lang="en-US" altLang="ko-KR" sz="2400" b="1" dirty="0">
                <a:solidFill>
                  <a:schemeClr val="accent2"/>
                </a:solidFill>
              </a:rPr>
              <a:t>X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37A829F-DF39-FCB9-0D58-539286C7CFAC}"/>
              </a:ext>
            </a:extLst>
          </p:cNvPr>
          <p:cNvSpPr/>
          <p:nvPr/>
        </p:nvSpPr>
        <p:spPr>
          <a:xfrm>
            <a:off x="2756234" y="5117432"/>
            <a:ext cx="3625516" cy="119368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굽음 3">
            <a:extLst>
              <a:ext uri="{FF2B5EF4-FFF2-40B4-BE49-F238E27FC236}">
                <a16:creationId xmlns:a16="http://schemas.microsoft.com/office/drawing/2014/main" id="{C62ACF8C-796C-FB36-071F-AB491C6F18E9}"/>
              </a:ext>
            </a:extLst>
          </p:cNvPr>
          <p:cNvSpPr/>
          <p:nvPr/>
        </p:nvSpPr>
        <p:spPr>
          <a:xfrm>
            <a:off x="4299786" y="3429000"/>
            <a:ext cx="3592427" cy="1688432"/>
          </a:xfrm>
          <a:prstGeom prst="bentArrow">
            <a:avLst>
              <a:gd name="adj1" fmla="val 25000"/>
              <a:gd name="adj2" fmla="val 29276"/>
              <a:gd name="adj3" fmla="val 25000"/>
              <a:gd name="adj4" fmla="val 43750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곱하기 기호 4">
            <a:extLst>
              <a:ext uri="{FF2B5EF4-FFF2-40B4-BE49-F238E27FC236}">
                <a16:creationId xmlns:a16="http://schemas.microsoft.com/office/drawing/2014/main" id="{90DA2ECE-7FAC-B7F1-136D-ED5650C3EB5F}"/>
              </a:ext>
            </a:extLst>
          </p:cNvPr>
          <p:cNvSpPr/>
          <p:nvPr/>
        </p:nvSpPr>
        <p:spPr>
          <a:xfrm>
            <a:off x="4361197" y="3987717"/>
            <a:ext cx="368969" cy="588043"/>
          </a:xfrm>
          <a:prstGeom prst="mathMultiply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C8CA48A0-80DC-A7A6-E428-93B74AE5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>
            <a:extLst>
              <a:ext uri="{FF2B5EF4-FFF2-40B4-BE49-F238E27FC236}">
                <a16:creationId xmlns:a16="http://schemas.microsoft.com/office/drawing/2014/main" id="{69503236-E9A1-669C-4AD6-7C9253DC3D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431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A69BD5C0-4AD5-CC24-CFCE-08C21D7F6C56}"/>
              </a:ext>
            </a:extLst>
          </p:cNvPr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실습</a:t>
            </a:r>
            <a:r>
              <a:rPr lang="en-US"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명령어</a:t>
            </a:r>
            <a:endParaRPr/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8AC352FA-8E0D-1D51-E8E2-63D0D5410182}"/>
              </a:ext>
            </a:extLst>
          </p:cNvPr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A75779B1-4D43-470C-40FE-FF99422DD726}"/>
              </a:ext>
            </a:extLst>
          </p:cNvPr>
          <p:cNvSpPr txBox="1"/>
          <p:nvPr/>
        </p:nvSpPr>
        <p:spPr>
          <a:xfrm>
            <a:off x="5903175" y="1539375"/>
            <a:ext cx="6090600" cy="5122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ACL </a:t>
            </a:r>
            <a:r>
              <a:rPr lang="ko-KR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생성 후 </a:t>
            </a: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distribute-list</a:t>
            </a:r>
            <a:r>
              <a:rPr lang="ko-KR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로 적용</a:t>
            </a:r>
            <a:endParaRPr lang="en-US" altLang="ko-KR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access-list 10 deny 192.168.20.0 0.0.0.127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access-list 10 deny 192.168.30.0 0.0.0.63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access-list 10 permit any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router rip 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R1(config-router)# distribute-list 10 out Serial1/0</a:t>
            </a:r>
          </a:p>
          <a:p>
            <a:pPr>
              <a:buClr>
                <a:schemeClr val="dk1"/>
              </a:buClr>
              <a:buSzPts val="1100"/>
            </a:pPr>
            <a:endParaRPr lang="en-US" altLang="ko-KR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 ACL, </a:t>
            </a:r>
            <a:r>
              <a:rPr lang="ko-KR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적용</a:t>
            </a: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ko-KR" alt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삭제</a:t>
            </a:r>
            <a:endParaRPr lang="en-US" altLang="ko-KR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router rip 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R1(config-router)# no distribute-list 10 out Serial1/0 R1(config-router)# exit </a:t>
            </a:r>
          </a:p>
          <a:p>
            <a:pPr>
              <a:buClr>
                <a:schemeClr val="dk1"/>
              </a:buClr>
              <a:buSzPts val="1100"/>
            </a:pPr>
            <a:r>
              <a:rPr lang="en-US" altLang="ko-KR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no access-list 10</a:t>
            </a:r>
          </a:p>
          <a:p>
            <a:pPr>
              <a:buClr>
                <a:schemeClr val="dk1"/>
              </a:buClr>
              <a:buSzPts val="1100"/>
            </a:pPr>
            <a:endParaRPr lang="en-US" altLang="ko-KR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2"/>
              </a:solidFill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</p:txBody>
      </p:sp>
      <p:pic>
        <p:nvPicPr>
          <p:cNvPr id="209" name="Google Shape;209;p19">
            <a:extLst>
              <a:ext uri="{FF2B5EF4-FFF2-40B4-BE49-F238E27FC236}">
                <a16:creationId xmlns:a16="http://schemas.microsoft.com/office/drawing/2014/main" id="{99D304B1-90C4-2029-9F84-40FECC65B0B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25" y="1858825"/>
            <a:ext cx="5661701" cy="4640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571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>
          <a:extLst>
            <a:ext uri="{FF2B5EF4-FFF2-40B4-BE49-F238E27FC236}">
              <a16:creationId xmlns:a16="http://schemas.microsoft.com/office/drawing/2014/main" id="{33FD8791-7F4D-5A20-0F09-D91B19CB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>
            <a:extLst>
              <a:ext uri="{FF2B5EF4-FFF2-40B4-BE49-F238E27FC236}">
                <a16:creationId xmlns:a16="http://schemas.microsoft.com/office/drawing/2014/main" id="{FE0E4873-401F-8EBB-17CC-26A7B144D3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>
            <a:extLst>
              <a:ext uri="{FF2B5EF4-FFF2-40B4-BE49-F238E27FC236}">
                <a16:creationId xmlns:a16="http://schemas.microsoft.com/office/drawing/2014/main" id="{ACE0CF29-CB69-7AAC-8652-49564C4A2A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431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>
            <a:extLst>
              <a:ext uri="{FF2B5EF4-FFF2-40B4-BE49-F238E27FC236}">
                <a16:creationId xmlns:a16="http://schemas.microsoft.com/office/drawing/2014/main" id="{532102BD-7B32-C4AC-DDBB-C2672C979CBE}"/>
              </a:ext>
            </a:extLst>
          </p:cNvPr>
          <p:cNvSpPr txBox="1"/>
          <p:nvPr/>
        </p:nvSpPr>
        <p:spPr>
          <a:xfrm>
            <a:off x="571500" y="2143125"/>
            <a:ext cx="550068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목표 시나리오</a:t>
            </a:r>
            <a:endParaRPr/>
          </a:p>
        </p:txBody>
      </p:sp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2251EED5-FF72-5890-714B-7B9279955248}"/>
              </a:ext>
            </a:extLst>
          </p:cNvPr>
          <p:cNvSpPr txBox="1"/>
          <p:nvPr/>
        </p:nvSpPr>
        <p:spPr>
          <a:xfrm>
            <a:off x="552300" y="2637585"/>
            <a:ext cx="52389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R1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에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연결된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3개의 PC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중 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PC 2,3 </a:t>
            </a:r>
            <a:r>
              <a:rPr lang="en-US" sz="1800" b="1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(/25, /26)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대역</a:t>
            </a:r>
            <a:r>
              <a:rPr lang="en-US" sz="1800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1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R2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로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넘어가지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않도록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차단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800" dirty="0"/>
          </a:p>
        </p:txBody>
      </p:sp>
      <p:pic>
        <p:nvPicPr>
          <p:cNvPr id="189" name="Google Shape;189;p18" descr="image.png">
            <a:extLst>
              <a:ext uri="{FF2B5EF4-FFF2-40B4-BE49-F238E27FC236}">
                <a16:creationId xmlns:a16="http://schemas.microsoft.com/office/drawing/2014/main" id="{790ECC54-031A-5F38-91D8-CF275897CFB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193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>
            <a:extLst>
              <a:ext uri="{FF2B5EF4-FFF2-40B4-BE49-F238E27FC236}">
                <a16:creationId xmlns:a16="http://schemas.microsoft.com/office/drawing/2014/main" id="{825ED511-C71A-8B9B-DD85-903ECE02055B}"/>
              </a:ext>
            </a:extLst>
          </p:cNvPr>
          <p:cNvSpPr txBox="1"/>
          <p:nvPr/>
        </p:nvSpPr>
        <p:spPr>
          <a:xfrm>
            <a:off x="1333500" y="3648075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192.168.10.0/24 (허용)</a:t>
            </a:r>
            <a:endParaRPr/>
          </a:p>
        </p:txBody>
      </p:sp>
      <p:sp>
        <p:nvSpPr>
          <p:cNvPr id="191" name="Google Shape;191;p18">
            <a:extLst>
              <a:ext uri="{FF2B5EF4-FFF2-40B4-BE49-F238E27FC236}">
                <a16:creationId xmlns:a16="http://schemas.microsoft.com/office/drawing/2014/main" id="{2FDF56C8-DB27-97B7-1451-3815EC42EA43}"/>
              </a:ext>
            </a:extLst>
          </p:cNvPr>
          <p:cNvSpPr txBox="1"/>
          <p:nvPr/>
        </p:nvSpPr>
        <p:spPr>
          <a:xfrm>
            <a:off x="1333500" y="4699396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192.168.30.0/2</a:t>
            </a:r>
            <a:r>
              <a:rPr lang="en-US" sz="1650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r>
              <a:rPr lang="en-US" sz="1650" b="0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 (차단 대상)</a:t>
            </a:r>
            <a:endParaRPr/>
          </a:p>
        </p:txBody>
      </p:sp>
      <p:sp>
        <p:nvSpPr>
          <p:cNvPr id="192" name="Google Shape;192;p18">
            <a:extLst>
              <a:ext uri="{FF2B5EF4-FFF2-40B4-BE49-F238E27FC236}">
                <a16:creationId xmlns:a16="http://schemas.microsoft.com/office/drawing/2014/main" id="{4FF48AE8-541F-0010-1C09-CD0D8E04FF9A}"/>
              </a:ext>
            </a:extLst>
          </p:cNvPr>
          <p:cNvSpPr txBox="1"/>
          <p:nvPr/>
        </p:nvSpPr>
        <p:spPr>
          <a:xfrm>
            <a:off x="1333500" y="5225057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Protocol: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RIP v2</a:t>
            </a:r>
            <a:endParaRPr/>
          </a:p>
        </p:txBody>
      </p:sp>
      <p:sp>
        <p:nvSpPr>
          <p:cNvPr id="193" name="Google Shape;193;p18">
            <a:extLst>
              <a:ext uri="{FF2B5EF4-FFF2-40B4-BE49-F238E27FC236}">
                <a16:creationId xmlns:a16="http://schemas.microsoft.com/office/drawing/2014/main" id="{EA57153E-9BE8-656D-A61E-650878DF1833}"/>
              </a:ext>
            </a:extLst>
          </p:cNvPr>
          <p:cNvSpPr txBox="1"/>
          <p:nvPr/>
        </p:nvSpPr>
        <p:spPr>
          <a:xfrm>
            <a:off x="571500" y="571500"/>
            <a:ext cx="116014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실습 목표 및 토폴로지</a:t>
            </a:r>
            <a:endParaRPr/>
          </a:p>
        </p:txBody>
      </p:sp>
      <p:sp>
        <p:nvSpPr>
          <p:cNvPr id="194" name="Google Shape;194;p18">
            <a:extLst>
              <a:ext uri="{FF2B5EF4-FFF2-40B4-BE49-F238E27FC236}">
                <a16:creationId xmlns:a16="http://schemas.microsoft.com/office/drawing/2014/main" id="{9F3025D7-6FBD-560F-3CB3-DFEBBB421029}"/>
              </a:ext>
            </a:extLst>
          </p:cNvPr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 descr="image.png">
            <a:extLst>
              <a:ext uri="{FF2B5EF4-FFF2-40B4-BE49-F238E27FC236}">
                <a16:creationId xmlns:a16="http://schemas.microsoft.com/office/drawing/2014/main" id="{E6B14C23-AD83-947C-8AEE-09E093F9FCC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6861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>
            <a:extLst>
              <a:ext uri="{FF2B5EF4-FFF2-40B4-BE49-F238E27FC236}">
                <a16:creationId xmlns:a16="http://schemas.microsoft.com/office/drawing/2014/main" id="{E66B4893-FE1E-9D7D-3E4E-5E362690EE1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21183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>
            <a:extLst>
              <a:ext uri="{FF2B5EF4-FFF2-40B4-BE49-F238E27FC236}">
                <a16:creationId xmlns:a16="http://schemas.microsoft.com/office/drawing/2014/main" id="{C986F967-31A1-25EA-B06F-C9CAA8A294B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73749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>
            <a:extLst>
              <a:ext uri="{FF2B5EF4-FFF2-40B4-BE49-F238E27FC236}">
                <a16:creationId xmlns:a16="http://schemas.microsoft.com/office/drawing/2014/main" id="{B71365C6-D348-9D96-D1D3-BA00864F286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526315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>
            <a:extLst>
              <a:ext uri="{FF2B5EF4-FFF2-40B4-BE49-F238E27FC236}">
                <a16:creationId xmlns:a16="http://schemas.microsoft.com/office/drawing/2014/main" id="{699E9F07-BA3A-D9A6-242F-17B821E2EC6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3805" r="2006"/>
          <a:stretch/>
        </p:blipFill>
        <p:spPr>
          <a:xfrm>
            <a:off x="5593825" y="2332025"/>
            <a:ext cx="6493649" cy="3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>
            <a:extLst>
              <a:ext uri="{FF2B5EF4-FFF2-40B4-BE49-F238E27FC236}">
                <a16:creationId xmlns:a16="http://schemas.microsoft.com/office/drawing/2014/main" id="{6203F3A2-C73F-160E-9456-F0AD505D5757}"/>
              </a:ext>
            </a:extLst>
          </p:cNvPr>
          <p:cNvSpPr txBox="1"/>
          <p:nvPr/>
        </p:nvSpPr>
        <p:spPr>
          <a:xfrm>
            <a:off x="1333425" y="4214259"/>
            <a:ext cx="44769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192.168.</a:t>
            </a:r>
            <a:r>
              <a:rPr lang="en-US" sz="1650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20</a:t>
            </a:r>
            <a:r>
              <a:rPr lang="en-US" sz="1650" b="0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.0/2</a:t>
            </a:r>
            <a:r>
              <a:rPr lang="en-US" sz="1650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r>
              <a:rPr lang="en-US" sz="1650" b="0" i="0" u="none" strike="noStrike" cap="non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 (차단 대상)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8604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431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실습</a:t>
            </a:r>
            <a:r>
              <a:rPr lang="en-US"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명령어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5903175" y="1539375"/>
            <a:ext cx="6090600" cy="5122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int f0/0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lang="en-US" b="1" dirty="0" err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 address 192.168.10.1 255.255.255.0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no shutdown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int e2/0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lang="en-US" b="1" dirty="0" err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 address 192.168.20.1 255.255.255.128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no shutdown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int e2/1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lang="en-US" b="1" dirty="0" err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 address 192.168.30.1 255.255.255.192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no shutdown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! R2와 </a:t>
            </a:r>
            <a:r>
              <a:rPr lang="en-US" b="1" dirty="0" err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연결되는</a:t>
            </a: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b="1" dirty="0" err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구간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int s1/0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</a:t>
            </a:r>
            <a:r>
              <a:rPr lang="en-US" b="1" dirty="0" err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ip</a:t>
            </a: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 address 1.1.1.1 255.255.255.0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R1(config-if)# no shutdown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! RIP </a:t>
            </a:r>
            <a:r>
              <a:rPr lang="en-US" b="1" dirty="0" err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설정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 router rip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R1(config-router)# version 2</a:t>
            </a:r>
            <a:b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R1(config-router)# network 192.168.10.0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R1(config-router)# network 192.168.20.0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R1(config-router)# network 192.168.30.0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R1(config-router)# network 1.0.0.0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R1(config-router)# no auto-summary</a:t>
            </a: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9" name="Google Shape;2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25" y="1858825"/>
            <a:ext cx="5661701" cy="46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1431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실습</a:t>
            </a:r>
            <a:r>
              <a:rPr lang="en-US" sz="3600" b="1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명령어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571500" y="1390650"/>
            <a:ext cx="11049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13275" y="1539375"/>
            <a:ext cx="6383700" cy="5122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91424" tIns="91424" rIns="91424" bIns="91424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R2(config)# int f0/0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R2(config-if)# ip address 192.168.40.1 255.255.255.0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R2(config-if)# no shutdown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! R1과 연결되는 구간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R2(config)# int S1/0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R2(config-if)# ip address 1.1.1.2 255.255.255.0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R2(config-if)# no shutdown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! Prefix-list 작성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R2(config)# ip prefix-list BLOCK deny 192.168.0.0/16 ge 25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R2(config)# ip prefix-list BLOCK permit 0.0.0.0/0 le 32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! RIP 설정 및 적용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R2(config)# router rip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version 2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network 192.168.40.0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network 1.0.0.0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no auto-summary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! 들어오는 정보(in)에 대해 필터링 적용</a:t>
            </a:r>
            <a:endParaRPr lang="en-US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distribute-list </a:t>
            </a:r>
            <a:r>
              <a:rPr lang="en-US" altLang="ko-KR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prefix </a:t>
            </a:r>
            <a:r>
              <a:rPr lang="en-US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BLOCK in</a:t>
            </a:r>
            <a:r>
              <a:rPr lang="en-US" altLang="ko-KR" b="1">
                <a:solidFill>
                  <a:srgbClr val="eb5757"/>
                </a:solidFill>
                <a:latin typeface="Courier New"/>
                <a:ea typeface="Courier New"/>
                <a:cs typeface="Courier New"/>
                <a:sym typeface="Courier New"/>
              </a:rPr>
              <a:t> s1/0</a:t>
            </a:r>
            <a:endParaRPr lang="en-US" altLang="ko-KR" b="1">
              <a:solidFill>
                <a:srgbClr val="eb575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 rotWithShape="1">
          <a:blip r:embed="rId4">
            <a:alphaModFix/>
          </a:blip>
          <a:srcRect l="5098" r="2377"/>
          <a:stretch/>
        </p:blipFill>
        <p:spPr>
          <a:xfrm>
            <a:off x="154700" y="1858825"/>
            <a:ext cx="5476076" cy="46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762000" y="762000"/>
            <a:ext cx="4800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결과 확인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762000" y="1581150"/>
            <a:ext cx="4572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2352675"/>
            <a:ext cx="4572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R2의 라우팅 테이블을 확인하면, 필터링 정책이 정상적으로 동작했음.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62000" y="5438775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성공: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/25, /26</a:t>
            </a:r>
            <a:r>
              <a:rPr lang="en-US" sz="15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대역이 완벽하게 차단.</a:t>
            </a:r>
            <a:endParaRPr/>
          </a:p>
        </p:txBody>
      </p:sp>
      <p:pic>
        <p:nvPicPr>
          <p:cNvPr id="228" name="Google Shape;22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5054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508" y="3362900"/>
            <a:ext cx="10353300" cy="146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>
            <a:extLst>
              <a:ext uri="{FF2B5EF4-FFF2-40B4-BE49-F238E27FC236}">
                <a16:creationId xmlns:a16="http://schemas.microsoft.com/office/drawing/2014/main" id="{0EF95D1E-B3B8-A903-A872-2D96A5989116}"/>
              </a:ext>
            </a:extLst>
          </p:cNvPr>
          <p:cNvSpPr txBox="1"/>
          <p:nvPr/>
        </p:nvSpPr>
        <p:spPr>
          <a:xfrm>
            <a:off x="762000" y="762000"/>
            <a:ext cx="4800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dirty="0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연습 문제 </a:t>
            </a:r>
            <a:endParaRPr dirty="0"/>
          </a:p>
        </p:txBody>
      </p:sp>
      <p:sp>
        <p:nvSpPr>
          <p:cNvPr id="225" name="Google Shape;225;p21">
            <a:extLst>
              <a:ext uri="{FF2B5EF4-FFF2-40B4-BE49-F238E27FC236}">
                <a16:creationId xmlns:a16="http://schemas.microsoft.com/office/drawing/2014/main" id="{67BD3C1F-1D0C-EC5B-DA21-BFA8F6EF18C5}"/>
              </a:ext>
            </a:extLst>
          </p:cNvPr>
          <p:cNvSpPr/>
          <p:nvPr/>
        </p:nvSpPr>
        <p:spPr>
          <a:xfrm>
            <a:off x="766864" y="1382673"/>
            <a:ext cx="10658272" cy="5309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1502445"/>
            <a:ext cx="11284857" cy="964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  <a:defRPr/>
            </a:pPr>
            <a:r>
              <a:rPr lang="ko-KR" altLang="en-US" sz="2000" b="1"/>
              <a:t>우측에 </a:t>
            </a:r>
            <a:r>
              <a:rPr lang="en-US" altLang="ko-KR" sz="2000" b="1"/>
              <a:t>R3</a:t>
            </a:r>
            <a:r>
              <a:rPr lang="ko-KR" altLang="en-US" sz="2000" b="1"/>
              <a:t>를 추가 구성하고</a:t>
            </a:r>
            <a:r>
              <a:rPr lang="en-US" altLang="ko-KR" sz="2000" b="1"/>
              <a:t>, </a:t>
            </a:r>
            <a:r>
              <a:rPr lang="en-US" altLang="ko-KR" sz="2000" b="1">
                <a:solidFill>
                  <a:srgbClr val="ff0000"/>
                </a:solidFill>
              </a:rPr>
              <a:t>Prefix-List(Permit, le)</a:t>
            </a:r>
            <a:r>
              <a:rPr lang="ko-KR" altLang="en-US" sz="2000" b="1">
                <a:solidFill>
                  <a:srgbClr val="ff0000"/>
                </a:solidFill>
              </a:rPr>
              <a:t>를 활용하여 서브넷이 </a:t>
            </a:r>
            <a:r>
              <a:rPr lang="en-US" altLang="ko-KR" sz="2000" b="1">
                <a:solidFill>
                  <a:srgbClr val="ff0000"/>
                </a:solidFill>
              </a:rPr>
              <a:t>/17 </a:t>
            </a:r>
            <a:r>
              <a:rPr lang="ko-KR" altLang="en-US" sz="2000" b="1">
                <a:solidFill>
                  <a:srgbClr val="ff0000"/>
                </a:solidFill>
              </a:rPr>
              <a:t>로 쪼개진 대역만 차단</a:t>
            </a:r>
            <a:r>
              <a:rPr lang="ko-KR" altLang="en-US" sz="2000" b="1"/>
              <a:t>해보자</a:t>
            </a:r>
            <a:r>
              <a:rPr lang="en-US" altLang="ko-KR" sz="2000" b="1"/>
              <a:t>!!</a:t>
            </a:r>
            <a:r>
              <a:rPr lang="ko-KR" altLang="en-US" sz="2000" b="1"/>
              <a:t> </a:t>
            </a:r>
            <a:r>
              <a:rPr lang="en-US" altLang="ko-KR" sz="2000" b="1">
                <a:solidFill>
                  <a:srgbClr val="ff0000"/>
                </a:solidFill>
              </a:rPr>
              <a:t>(R3</a:t>
            </a:r>
            <a:r>
              <a:rPr lang="ko-KR" altLang="en-US" sz="2000" b="1">
                <a:solidFill>
                  <a:srgbClr val="ff0000"/>
                </a:solidFill>
              </a:rPr>
              <a:t>에서 </a:t>
            </a:r>
            <a:r>
              <a:rPr lang="en-US" altLang="ko-KR" sz="2000" b="1">
                <a:solidFill>
                  <a:srgbClr val="ff0000"/>
                </a:solidFill>
              </a:rPr>
              <a:t>out </a:t>
            </a:r>
            <a:r>
              <a:rPr lang="ko-KR" altLang="en-US" sz="2000" b="1">
                <a:solidFill>
                  <a:srgbClr val="ff0000"/>
                </a:solidFill>
              </a:rPr>
              <a:t>방향으로 적용</a:t>
            </a:r>
            <a:r>
              <a:rPr lang="en-US" altLang="ko-KR" sz="2000" b="1">
                <a:solidFill>
                  <a:srgbClr val="ff0000"/>
                </a:solidFill>
              </a:rPr>
              <a:t>!!)</a:t>
            </a:r>
            <a:endParaRPr lang="ko-KR" altLang="en-US" sz="2000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769844-D8A6-8697-E9B4-6ECA9C1820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6" r="6290"/>
          <a:stretch>
            <a:fillRect/>
          </a:stretch>
        </p:blipFill>
        <p:spPr>
          <a:xfrm>
            <a:off x="604736" y="2487330"/>
            <a:ext cx="10982528" cy="400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45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>
            <a:extLst>
              <a:ext uri="{FF2B5EF4-FFF2-40B4-BE49-F238E27FC236}">
                <a16:creationId xmlns:a16="http://schemas.microsoft.com/office/drawing/2014/main" id="{2881742B-28D9-56FD-353C-A3B9E4B537CE}"/>
              </a:ext>
            </a:extLst>
          </p:cNvPr>
          <p:cNvSpPr txBox="1"/>
          <p:nvPr/>
        </p:nvSpPr>
        <p:spPr>
          <a:xfrm>
            <a:off x="762000" y="538098"/>
            <a:ext cx="4800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 b="1" dirty="0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연습 문제 </a:t>
            </a:r>
            <a:endParaRPr dirty="0"/>
          </a:p>
        </p:txBody>
      </p:sp>
      <p:sp>
        <p:nvSpPr>
          <p:cNvPr id="225" name="Google Shape;225;p21">
            <a:extLst>
              <a:ext uri="{FF2B5EF4-FFF2-40B4-BE49-F238E27FC236}">
                <a16:creationId xmlns:a16="http://schemas.microsoft.com/office/drawing/2014/main" id="{AD78E282-0F40-C5BB-2F22-1B18DDCCE46D}"/>
              </a:ext>
            </a:extLst>
          </p:cNvPr>
          <p:cNvSpPr/>
          <p:nvPr/>
        </p:nvSpPr>
        <p:spPr>
          <a:xfrm>
            <a:off x="766864" y="1127232"/>
            <a:ext cx="10658272" cy="5309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17;p20"/>
          <p:cNvSpPr txBox="1"/>
          <p:nvPr/>
        </p:nvSpPr>
        <p:spPr>
          <a:xfrm>
            <a:off x="762000" y="1215465"/>
            <a:ext cx="8141367" cy="546718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R2(config)# interface Serial1/1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R2(config-if)# ip address 1.1.2.1 255.255.255.0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R2(config-if)# no shutdown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! 1. </a:t>
            </a:r>
            <a:r>
              <a:rPr lang="ko-KR" altLang="en-US" b="1">
                <a:solidFill>
                  <a:schemeClr val="accent2"/>
                </a:solidFill>
                <a:latin typeface="Courier New"/>
                <a:cs typeface="Courier New"/>
              </a:rPr>
              <a:t>인터페이스 </a:t>
            </a: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IP </a:t>
            </a:r>
            <a:r>
              <a:rPr lang="ko-KR" altLang="en-US" b="1">
                <a:solidFill>
                  <a:schemeClr val="accent2"/>
                </a:solidFill>
                <a:latin typeface="Courier New"/>
                <a:cs typeface="Courier New"/>
              </a:rPr>
              <a:t>설정 </a:t>
            </a:r>
            <a:endParaRPr lang="ko-KR" altLang="en-US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R3(config)# interface Serial1/0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ip address 1.1.2.2 255.255.255.0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no shutdown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R3(config)# interface FastEthernet0/0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ip address 172.16.0.1 255.255.0.0 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no shutdown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R3(config)# interface Ethernet2/0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ip address 172.17.0.1 255.255.128.0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no shutdown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R3(config)# interface Ethernet2/1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ip address 172.18.0.1 255.255.128.0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R3(config-if)# no shutdown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R2(config)# </a:t>
            </a: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router rip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</a:t>
            </a: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version 2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</a:t>
            </a: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network 1.0.0.0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</a:t>
            </a: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network 172.16.0.0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R2(config-router)# </a:t>
            </a: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no auto-summary 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ip prefix-list ONLY_16 seq 5 permit 172.0.0.0/8 le 16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router rip distribute-list prefix ONLY_16 out</a:t>
            </a:r>
            <a:r>
              <a:rPr lang="ko-KR" altLang="en-US" b="1">
                <a:solidFill>
                  <a:schemeClr val="accent2"/>
                </a:solidFill>
                <a:latin typeface="Courier New"/>
                <a:cs typeface="Courier New"/>
              </a:rPr>
              <a:t> </a:t>
            </a:r>
            <a:r>
              <a:rPr lang="en-US" altLang="ko-KR" b="1">
                <a:solidFill>
                  <a:schemeClr val="accent2"/>
                </a:solidFill>
                <a:latin typeface="Courier New"/>
                <a:cs typeface="Courier New"/>
              </a:rPr>
              <a:t>s1/0</a:t>
            </a: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lvl="0">
              <a:defRPr/>
            </a:pPr>
            <a:endParaRPr lang="en-US" altLang="ko-KR" b="1">
              <a:solidFill>
                <a:schemeClr val="accent2"/>
              </a:solidFill>
              <a:latin typeface="Courier New"/>
              <a:cs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b="1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071332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367475" y="2967307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557</ep:Words>
  <ep:PresentationFormat>와이드스크린</ep:PresentationFormat>
  <ep:Paragraphs>180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TJ</cp:lastModifiedBy>
  <dcterms:modified xsi:type="dcterms:W3CDTF">2025-12-03T03:29:59.235</dcterms:modified>
  <cp:revision>15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