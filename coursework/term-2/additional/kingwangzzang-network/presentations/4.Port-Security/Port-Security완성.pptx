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70" r:id="rId8"/>
    <p:sldId id="261" r:id="rId9"/>
    <p:sldId id="263" r:id="rId10"/>
    <p:sldId id="269" r:id="rId11"/>
    <p:sldId id="265" r:id="rId12"/>
    <p:sldId id="267" r:id="rId13"/>
    <p:sldId id="268" r:id="rId14"/>
  </p:sldIdLst>
  <p:sldSz cx="12192000" cy="6858000"/>
  <p:notesSz cx="6858000" cy="9144000"/>
  <p:embeddedFontLst>
    <p:embeddedFont>
      <p:font typeface="Noto Sans KR" panose="020B0200000000000000" pitchFamily="50" charset="-127"/>
      <p:regular r:id="rId16"/>
      <p:bold r:id="rId17"/>
    </p:embeddedFont>
    <p:embeddedFont>
      <p:font typeface="Roboto Mono" panose="00000009000000000000" pitchFamily="49" charset="0"/>
      <p:regular r:id="rId18"/>
      <p:bold r:id="rId19"/>
      <p:italic r:id="rId20"/>
      <p:boldItalic r:id="rId21"/>
    </p:embeddedFont>
    <p:embeddedFont>
      <p:font typeface="Roboto Mono Medium" panose="00000009000000000000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4A521D-46FF-4274-87E6-238D7C46D763}">
  <a:tblStyle styleId="{6C4A521D-46FF-4274-87E6-238D7C46D7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DABC93ED-2269-4A32-6807-C80E6348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>
            <a:extLst>
              <a:ext uri="{FF2B5EF4-FFF2-40B4-BE49-F238E27FC236}">
                <a16:creationId xmlns:a16="http://schemas.microsoft.com/office/drawing/2014/main" id="{689B6DEA-93D0-9A10-3F8A-FB9C75CF8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>
            <a:extLst>
              <a:ext uri="{FF2B5EF4-FFF2-40B4-BE49-F238E27FC236}">
                <a16:creationId xmlns:a16="http://schemas.microsoft.com/office/drawing/2014/main" id="{7924F43A-9121-BE77-D99E-BA14F7D1F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676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3F878B5-0D30-55E7-F742-AF9462A07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BDBDD39E-6EBF-B1AD-FC96-E8256045E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69CBC20-99A3-153C-5B95-DA0E1222F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3453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096625" y="6486525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CISCO_SEC_01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69502" y="2771775"/>
            <a:ext cx="6452994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Cisco Port Security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94626" y="4005876"/>
            <a:ext cx="604714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4800" dirty="0">
                <a:solidFill>
                  <a:srgbClr val="718096"/>
                </a:solidFill>
                <a:latin typeface="Noto Sans KR"/>
                <a:ea typeface="Noto Sans KR"/>
                <a:sym typeface="Noto Sans KR"/>
              </a:rPr>
              <a:t>💙</a:t>
            </a:r>
            <a:r>
              <a:rPr lang="ko-KR" altLang="en-US" sz="4800" dirty="0" err="1">
                <a:solidFill>
                  <a:srgbClr val="718096"/>
                </a:solidFill>
                <a:latin typeface="Noto Sans KR"/>
                <a:ea typeface="Noto Sans KR"/>
                <a:sym typeface="Noto Sans KR"/>
              </a:rPr>
              <a:t>킹왕짱</a:t>
            </a:r>
            <a:r>
              <a:rPr lang="ko-KR" altLang="en-US" sz="4800" dirty="0">
                <a:solidFill>
                  <a:srgbClr val="718096"/>
                </a:solidFill>
                <a:latin typeface="Noto Sans KR"/>
                <a:ea typeface="Noto Sans KR"/>
                <a:sym typeface="Noto Sans KR"/>
              </a:rPr>
              <a:t> 네트워크💙</a:t>
            </a:r>
            <a:endParaRPr sz="4800"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73650" y="1971675"/>
            <a:ext cx="444549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0028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Port Security란 무엇인가?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430000" y="6486525"/>
            <a:ext cx="4667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CONCEPT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26955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Port Security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는 스위치 포트에 연결할 수 있는 장치의 MAC 주소를 제한하여 무단 액세스를 방지하는 Layer 2 보안 기능입니다.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38957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제어: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허용된 MAC 주소만 통신 가능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434340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수량 제한: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포트당 연결 가능한 장치 수 제한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47910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위반 대응: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위반 시 포트 차단 또는 로그 생성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147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6245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8101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38A4B3-833D-82C8-33B8-905931873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512" y="2319336"/>
            <a:ext cx="5172075" cy="3314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2700"/>
            <a:ext cx="34861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52700"/>
            <a:ext cx="34861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52700"/>
            <a:ext cx="348615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왜 사용하는가? (주요 이점)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363325" y="6486525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BENEFITS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346710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무단 장치 차단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76300" y="38671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회사 네트워크에 개인 노트북, 무선 공유기(Rogue AP) 등을 무단으로 연결하는 것을 물리적 포트 단계에서 차단합니다.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8200" y="346710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MAC Flooding 방지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8200" y="3867150"/>
            <a:ext cx="2895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공격자가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수많은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가짜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MAC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주소를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생성하여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스위치의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MAC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테이블을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고갈시키는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공격을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효과적으로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방어합니다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8420100" y="346710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DHCP 고갈 방지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0100" y="38671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제한된 수의 MAC 주소만 허용함으로써, DHCP 서버의 IP 풀을 고갈시키려는 시도를 완화할 수 있습니다.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76550"/>
            <a:ext cx="42739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876550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876550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87984"/>
            <a:ext cx="3486150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87984"/>
            <a:ext cx="3486150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87984"/>
            <a:ext cx="3486150" cy="2558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MAC 주소 학습 방식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1563350" y="6486525"/>
            <a:ext cx="3333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MODES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3602384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Static (정적)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76300" y="4002434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관리자가 직접 MAC 주소를 입력합니다.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76300" y="4707284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특징: Running-config에 저장됨.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48200" y="3602384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Dynamic (동적)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648200" y="4002434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트래픽 발생 시 자동으로 학습합니다.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648200" y="4707284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특징: 재부팅 시 사라짐 (기본값).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20100" y="3602384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Sticky (고정)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420100" y="4002434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동적으로 학습하고 설정에 저장합니다.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420100" y="4707284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특징: </a:t>
            </a:r>
            <a:r>
              <a:rPr lang="en-US" sz="12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권장되는 방식</a:t>
            </a: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3011834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3011834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3011834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F84C53-3CDC-B01D-E742-33C674069F99}"/>
              </a:ext>
            </a:extLst>
          </p:cNvPr>
          <p:cNvSpPr txBox="1"/>
          <p:nvPr/>
        </p:nvSpPr>
        <p:spPr>
          <a:xfrm>
            <a:off x="599072" y="1701466"/>
            <a:ext cx="11029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#switchport port-security mac-address [</a:t>
            </a:r>
            <a:r>
              <a:rPr lang="ko-KR" altLang="en-US" sz="28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모드</a:t>
            </a:r>
            <a:r>
              <a:rPr lang="en-US" altLang="ko-KR" sz="28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위반 모드 (Violation Modes) 비교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11296650" y="6486525"/>
            <a:ext cx="600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VIOLATION</a:t>
            </a:r>
            <a:endParaRPr/>
          </a:p>
        </p:txBody>
      </p:sp>
      <p:graphicFrame>
        <p:nvGraphicFramePr>
          <p:cNvPr id="161" name="Google Shape;161;p17"/>
          <p:cNvGraphicFramePr/>
          <p:nvPr>
            <p:extLst>
              <p:ext uri="{D42A27DB-BD31-4B8C-83A1-F6EECF244321}">
                <p14:modId xmlns:p14="http://schemas.microsoft.com/office/powerpoint/2010/main" val="904475688"/>
              </p:ext>
            </p:extLst>
          </p:nvPr>
        </p:nvGraphicFramePr>
        <p:xfrm>
          <a:off x="581025" y="2260401"/>
          <a:ext cx="11020425" cy="2979200"/>
        </p:xfrm>
        <a:graphic>
          <a:graphicData uri="http://schemas.openxmlformats.org/drawingml/2006/table">
            <a:tbl>
              <a:tblPr firstRow="1" bandRow="1">
                <a:noFill/>
                <a:tableStyleId>{6C4A521D-46FF-4274-87E6-238D7C46D763}</a:tableStyleId>
              </a:tblPr>
              <a:tblGrid>
                <a:gridCol w="22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i="0" u="none" strike="noStrike" cap="none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       위반 프레임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          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로그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       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위반 카운트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i="0" u="none" strike="noStrike" cap="none" dirty="0">
                          <a:solidFill>
                            <a:srgbClr val="2D3748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  포트 상태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B05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Protect</a:t>
                      </a:r>
                      <a:endParaRPr dirty="0">
                        <a:solidFill>
                          <a:srgbClr val="00B05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 No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A556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     No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E3DE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Restrict</a:t>
                      </a:r>
                      <a:endParaRPr dirty="0">
                        <a:solidFill>
                          <a:srgbClr val="E3DE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Shutdown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71809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(Default)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" name="Google Shape;162;p17"/>
          <p:cNvSpPr txBox="1"/>
          <p:nvPr/>
        </p:nvSpPr>
        <p:spPr>
          <a:xfrm>
            <a:off x="581025" y="5430142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* </a:t>
            </a:r>
            <a:r>
              <a:rPr lang="en-US" sz="12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Shutdown</a:t>
            </a: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 모드가 기본값이므로, 위반 시 포트가 아예 꺼지는 것을 원치 않으면 </a:t>
            </a:r>
            <a:r>
              <a:rPr lang="en-US" sz="1200" b="0" i="0" u="none" strike="noStrike" cap="none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Restrict</a:t>
            </a:r>
            <a:r>
              <a:rPr lang="en-US" sz="12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를 사용하세요.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85787" y="2908101"/>
            <a:ext cx="2203995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789783" y="2908101"/>
            <a:ext cx="2480071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269855" y="2908101"/>
            <a:ext cx="2258020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527875" y="2908101"/>
            <a:ext cx="2384077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9911953" y="2908101"/>
            <a:ext cx="1694259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85787" y="3592859"/>
            <a:ext cx="2203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789783" y="3592859"/>
            <a:ext cx="24800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269855" y="3592859"/>
            <a:ext cx="22580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527875" y="3592859"/>
            <a:ext cx="23840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9911953" y="3592859"/>
            <a:ext cx="1694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85787" y="4263330"/>
            <a:ext cx="22039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789783" y="4263330"/>
            <a:ext cx="24800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269855" y="4263330"/>
            <a:ext cx="22580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527875" y="4263330"/>
            <a:ext cx="23840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9911953" y="4263330"/>
            <a:ext cx="1694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2975" y="3200995"/>
            <a:ext cx="53979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4654" y="3200995"/>
            <a:ext cx="40644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92974" y="3977195"/>
            <a:ext cx="53979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88102" y="3973860"/>
            <a:ext cx="45853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5112" y="3963541"/>
            <a:ext cx="45853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44655" y="3990592"/>
            <a:ext cx="40644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92973" y="4703758"/>
            <a:ext cx="53979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80983" y="4703758"/>
            <a:ext cx="45853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75112" y="4669861"/>
            <a:ext cx="458539" cy="28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37102" y="4713970"/>
            <a:ext cx="1021556" cy="289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A62B9F-C070-72D1-238E-6AE3DBC357C8}"/>
              </a:ext>
            </a:extLst>
          </p:cNvPr>
          <p:cNvSpPr txBox="1"/>
          <p:nvPr/>
        </p:nvSpPr>
        <p:spPr>
          <a:xfrm>
            <a:off x="526621" y="1595660"/>
            <a:ext cx="10767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# switchport port-security violation [</a:t>
            </a:r>
            <a:r>
              <a:rPr lang="ko-KR" altLang="en-US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모드</a:t>
            </a:r>
            <a:r>
              <a:rPr lang="en-US" altLang="ko-KR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14662"/>
            <a:ext cx="53721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014662"/>
            <a:ext cx="53721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4157662"/>
            <a:ext cx="47815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157662"/>
            <a:ext cx="47815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포트 복구 방법 (Err-Disabled)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1363325" y="6486525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RECOVERY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581025" y="2414587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Shutdown 모드에서 위반이 발생하면 포트는 err-disabled 상태가 됩니다.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76300" y="3309937"/>
            <a:ext cx="502062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수동 복구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76300" y="3709987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관리자가 직접 포트를 껐다 켜야 합니다.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534150" y="3309937"/>
            <a:ext cx="502062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복구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534150" y="3709987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시간 후 자동으로 복구되도록 설정합니다.</a:t>
            </a:r>
            <a:endParaRPr/>
          </a:p>
        </p:txBody>
      </p:sp>
      <p:pic>
        <p:nvPicPr>
          <p:cNvPr id="240" name="Google Shape;24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3348037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3348037"/>
            <a:ext cx="177849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7A9DD611-1B2F-F652-4941-ABA2D55A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>
            <a:extLst>
              <a:ext uri="{FF2B5EF4-FFF2-40B4-BE49-F238E27FC236}">
                <a16:creationId xmlns:a16="http://schemas.microsoft.com/office/drawing/2014/main" id="{67952C8D-9D5A-6C1D-6B3F-EFFD2B3B02AA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포트</a:t>
            </a:r>
            <a:r>
              <a:rPr lang="en-US" sz="315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3150" b="1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설명</a:t>
            </a:r>
            <a:endParaRPr dirty="0"/>
          </a:p>
        </p:txBody>
      </p:sp>
      <p:sp>
        <p:nvSpPr>
          <p:cNvPr id="233" name="Google Shape;233;p19">
            <a:extLst>
              <a:ext uri="{FF2B5EF4-FFF2-40B4-BE49-F238E27FC236}">
                <a16:creationId xmlns:a16="http://schemas.microsoft.com/office/drawing/2014/main" id="{58E6F363-DB48-4DDC-B6FB-3B8BE3460EA1}"/>
              </a:ext>
            </a:extLst>
          </p:cNvPr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>
            <a:extLst>
              <a:ext uri="{FF2B5EF4-FFF2-40B4-BE49-F238E27FC236}">
                <a16:creationId xmlns:a16="http://schemas.microsoft.com/office/drawing/2014/main" id="{0D6EF014-8E61-D9C5-0B88-FF5433FB07CE}"/>
              </a:ext>
            </a:extLst>
          </p:cNvPr>
          <p:cNvSpPr txBox="1"/>
          <p:nvPr/>
        </p:nvSpPr>
        <p:spPr>
          <a:xfrm>
            <a:off x="11363325" y="6486525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RECOVERY</a:t>
            </a:r>
            <a:endParaRPr/>
          </a:p>
        </p:txBody>
      </p:sp>
      <p:sp>
        <p:nvSpPr>
          <p:cNvPr id="237" name="Google Shape;237;p19">
            <a:extLst>
              <a:ext uri="{FF2B5EF4-FFF2-40B4-BE49-F238E27FC236}">
                <a16:creationId xmlns:a16="http://schemas.microsoft.com/office/drawing/2014/main" id="{FD189DEF-3320-0BCE-ACA2-10E4A33D7736}"/>
              </a:ext>
            </a:extLst>
          </p:cNvPr>
          <p:cNvSpPr txBox="1"/>
          <p:nvPr/>
        </p:nvSpPr>
        <p:spPr>
          <a:xfrm>
            <a:off x="3363344" y="3429000"/>
            <a:ext cx="570205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2400" dirty="0">
                <a:solidFill>
                  <a:srgbClr val="4A5568"/>
                </a:solidFill>
                <a:latin typeface="+mj-ea"/>
                <a:ea typeface="+mj-ea"/>
                <a:cs typeface="Noto Sans KR"/>
                <a:sym typeface="Noto Sans KR"/>
              </a:rPr>
              <a:t>설정된 포트 표시</a:t>
            </a:r>
            <a:endParaRPr lang="en-US" altLang="ko-KR" sz="2400" dirty="0">
              <a:solidFill>
                <a:srgbClr val="4A5568"/>
              </a:solidFill>
              <a:latin typeface="+mj-ea"/>
              <a:ea typeface="+mj-ea"/>
              <a:cs typeface="Noto Sans KR"/>
              <a:sym typeface="Noto Sans KR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2400" dirty="0"/>
              <a:t>최대 허용 보안 </a:t>
            </a:r>
            <a:r>
              <a:rPr lang="en-US" altLang="ko-KR" sz="2400" dirty="0"/>
              <a:t>MAC </a:t>
            </a:r>
            <a:r>
              <a:rPr lang="ko-KR" altLang="en-US" sz="2400" dirty="0"/>
              <a:t>주소 수량</a:t>
            </a:r>
            <a:endParaRPr lang="en-US" altLang="ko-KR" sz="2400" dirty="0"/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2400" dirty="0"/>
              <a:t>현재 동작하는 보안 </a:t>
            </a:r>
            <a:r>
              <a:rPr lang="en-US" altLang="ko-KR" sz="2400" dirty="0"/>
              <a:t>MAC </a:t>
            </a:r>
            <a:r>
              <a:rPr lang="ko-KR" altLang="en-US" sz="2400" dirty="0"/>
              <a:t>주소 수량</a:t>
            </a:r>
            <a:endParaRPr lang="en-US" altLang="ko-KR" sz="2400" dirty="0"/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2400" dirty="0"/>
              <a:t>포트 보안 침해 횟수</a:t>
            </a:r>
            <a:endParaRPr lang="en-US" altLang="ko-KR" sz="2400" dirty="0"/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2400" dirty="0"/>
              <a:t>포트 보안 침해 시 동작 방식</a:t>
            </a:r>
            <a:endParaRPr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87824D-A6BA-EC09-1D45-1A675EF5F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233" y="1384601"/>
            <a:ext cx="7115534" cy="1881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4A346-AE13-D034-1EFF-5684950F75C6}"/>
              </a:ext>
            </a:extLst>
          </p:cNvPr>
          <p:cNvSpPr txBox="1"/>
          <p:nvPr/>
        </p:nvSpPr>
        <p:spPr>
          <a:xfrm>
            <a:off x="2750760" y="2291543"/>
            <a:ext cx="34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solidFill>
                  <a:srgbClr val="FFFF00"/>
                </a:solidFill>
              </a:rPr>
              <a:t>1.</a:t>
            </a:r>
            <a:endParaRPr lang="ko-KR" altLang="en-US" sz="1800" b="1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59324-4A42-712D-7B6C-D808A121D967}"/>
              </a:ext>
            </a:extLst>
          </p:cNvPr>
          <p:cNvSpPr txBox="1"/>
          <p:nvPr/>
        </p:nvSpPr>
        <p:spPr>
          <a:xfrm>
            <a:off x="4511911" y="229994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FFFF00"/>
                </a:solidFill>
              </a:rPr>
              <a:t>2.</a:t>
            </a:r>
            <a:endParaRPr lang="ko-KR" altLang="en-US" sz="1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4BC61-A04F-9FBB-A1D5-DB651E7B9D74}"/>
              </a:ext>
            </a:extLst>
          </p:cNvPr>
          <p:cNvSpPr txBox="1"/>
          <p:nvPr/>
        </p:nvSpPr>
        <p:spPr>
          <a:xfrm>
            <a:off x="5716503" y="2291543"/>
            <a:ext cx="33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rgbClr val="FFFF00"/>
                </a:solidFill>
              </a:rPr>
              <a:t>3.</a:t>
            </a:r>
            <a:endParaRPr lang="ko-KR" altLang="en-US" sz="18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8AF78-A5BE-E402-5C5E-F4BF5072718E}"/>
              </a:ext>
            </a:extLst>
          </p:cNvPr>
          <p:cNvSpPr txBox="1"/>
          <p:nvPr/>
        </p:nvSpPr>
        <p:spPr>
          <a:xfrm>
            <a:off x="7536637" y="2299943"/>
            <a:ext cx="579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rgbClr val="FFFF00"/>
                </a:solidFill>
              </a:rPr>
              <a:t>4.</a:t>
            </a:r>
            <a:endParaRPr lang="ko-KR" altLang="en-US" sz="18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E778C1-E114-6229-6C85-5E68DE23EA55}"/>
              </a:ext>
            </a:extLst>
          </p:cNvPr>
          <p:cNvSpPr txBox="1"/>
          <p:nvPr/>
        </p:nvSpPr>
        <p:spPr>
          <a:xfrm>
            <a:off x="8495028" y="2299943"/>
            <a:ext cx="57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rgbClr val="FFFF00"/>
                </a:solidFill>
              </a:rPr>
              <a:t>5.</a:t>
            </a:r>
            <a:endParaRPr lang="ko-KR" alt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2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방법 (Configuration)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11496675" y="648652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CONFIG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67597" y="2052636"/>
            <a:ext cx="11295696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1단계: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인터페이스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Access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모드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필수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     # switchport mode (access/Trunk)</a:t>
            </a:r>
            <a:endParaRPr sz="2400" dirty="0"/>
          </a:p>
        </p:txBody>
      </p:sp>
      <p:sp>
        <p:nvSpPr>
          <p:cNvPr id="214" name="Google Shape;214;p18"/>
          <p:cNvSpPr txBox="1"/>
          <p:nvPr/>
        </p:nvSpPr>
        <p:spPr>
          <a:xfrm>
            <a:off x="667597" y="2686047"/>
            <a:ext cx="964429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2단계: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Port Security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활성화</a:t>
            </a:r>
            <a:r>
              <a:rPr lang="en-US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                  #switchport port-security</a:t>
            </a:r>
            <a:endParaRPr sz="2400" dirty="0"/>
          </a:p>
        </p:txBody>
      </p:sp>
      <p:sp>
        <p:nvSpPr>
          <p:cNvPr id="215" name="Google Shape;215;p18"/>
          <p:cNvSpPr txBox="1"/>
          <p:nvPr/>
        </p:nvSpPr>
        <p:spPr>
          <a:xfrm>
            <a:off x="667597" y="3419853"/>
            <a:ext cx="1168132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3단계: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최대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MAC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개수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옵션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      #switchport port-security maximum (3)</a:t>
            </a:r>
            <a:endParaRPr sz="2400" dirty="0"/>
          </a:p>
        </p:txBody>
      </p:sp>
      <p:sp>
        <p:nvSpPr>
          <p:cNvPr id="216" name="Google Shape;216;p18"/>
          <p:cNvSpPr txBox="1"/>
          <p:nvPr/>
        </p:nvSpPr>
        <p:spPr>
          <a:xfrm>
            <a:off x="671266" y="4228341"/>
            <a:ext cx="1149120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4단계: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위반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모드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옵션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          #switchport port-security violation (restrict)    </a:t>
            </a:r>
            <a:endParaRPr sz="2400" dirty="0"/>
          </a:p>
        </p:txBody>
      </p:sp>
      <p:sp>
        <p:nvSpPr>
          <p:cNvPr id="217" name="Google Shape;217;p18"/>
          <p:cNvSpPr txBox="1"/>
          <p:nvPr/>
        </p:nvSpPr>
        <p:spPr>
          <a:xfrm>
            <a:off x="667597" y="5009769"/>
            <a:ext cx="1129569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5단계: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Sticky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모드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활성화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권장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24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     #switchport port-security mac-address (sticky)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/>
      <p:bldP spid="214" grpId="0"/>
      <p:bldP spid="215" grpId="0"/>
      <p:bldP spid="216" grpId="0"/>
      <p:bldP spid="2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Lab 1: </a:t>
            </a:r>
            <a:r>
              <a:rPr lang="en-US" sz="3150" b="1" i="0" u="none" strike="noStrike" cap="none" dirty="0" err="1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기본</a:t>
            </a:r>
            <a:r>
              <a:rPr lang="en-US" sz="315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 static </a:t>
            </a:r>
            <a:endParaRPr dirty="0"/>
          </a:p>
        </p:txBody>
      </p:sp>
      <p:sp>
        <p:nvSpPr>
          <p:cNvPr id="250" name="Google Shape;250;p20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11496675" y="648652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LAB_01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81025" y="1974503"/>
            <a:ext cx="554069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시나리오</a:t>
            </a:r>
            <a:endParaRPr dirty="0"/>
          </a:p>
        </p:txBody>
      </p:sp>
      <p:sp>
        <p:nvSpPr>
          <p:cNvPr id="253" name="Google Shape;253;p20"/>
          <p:cNvSpPr txBox="1"/>
          <p:nvPr/>
        </p:nvSpPr>
        <p:spPr>
          <a:xfrm>
            <a:off x="581025" y="2464013"/>
            <a:ext cx="52768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G0/0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포트에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단 </a:t>
            </a:r>
            <a:r>
              <a:rPr lang="en-US" sz="1500" b="0" i="0" u="none" strike="noStrike" cap="none" dirty="0" err="1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하나의</a:t>
            </a:r>
            <a:r>
              <a:rPr 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PC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만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연결할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있도록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설정합니다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다른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PC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연결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시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포트를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static</a:t>
            </a:r>
            <a:r>
              <a:rPr lang="ko-KR" alt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설정하고 </a:t>
            </a:r>
            <a:endParaRPr lang="en-US" altLang="ko-KR" sz="1500" b="0" i="0" u="none" strike="noStrike" cap="none" dirty="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위반 설정은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Restrict </a:t>
            </a:r>
            <a:r>
              <a:rPr lang="ko-KR" alt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로 </a:t>
            </a:r>
            <a:r>
              <a:rPr lang="ko-KR" alt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설정합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니다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55" name="Google Shape;255;p20"/>
          <p:cNvSpPr txBox="1"/>
          <p:nvPr/>
        </p:nvSpPr>
        <p:spPr>
          <a:xfrm>
            <a:off x="6638925" y="445487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1 Port = 1 PC Only</a:t>
            </a:r>
            <a:endParaRPr dirty="0"/>
          </a:p>
        </p:txBody>
      </p:sp>
      <p:sp>
        <p:nvSpPr>
          <p:cNvPr id="256" name="Google Shape;256;p20"/>
          <p:cNvSpPr txBox="1"/>
          <p:nvPr/>
        </p:nvSpPr>
        <p:spPr>
          <a:xfrm>
            <a:off x="6638925" y="4759672"/>
            <a:ext cx="4667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3E3E"/>
                </a:solidFill>
                <a:latin typeface="Noto Sans KR"/>
                <a:ea typeface="Noto Sans KR"/>
                <a:cs typeface="Noto Sans KR"/>
                <a:sym typeface="Noto Sans KR"/>
              </a:rPr>
              <a:t>Any other MAC = Shutdown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5A87A-BAD6-4D1B-A0A2-C7D757A2BFB5}"/>
              </a:ext>
            </a:extLst>
          </p:cNvPr>
          <p:cNvSpPr txBox="1"/>
          <p:nvPr/>
        </p:nvSpPr>
        <p:spPr>
          <a:xfrm>
            <a:off x="478043" y="3998710"/>
            <a:ext cx="6160882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G0/1 </a:t>
            </a: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포트에 </a:t>
            </a:r>
            <a:r>
              <a:rPr lang="ko-KR" altLang="en-US" sz="1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단 하나의 </a:t>
            </a:r>
            <a:r>
              <a:rPr lang="en-US" altLang="ko-KR" sz="1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PC</a:t>
            </a: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만 연결할 수 있도록 설정합니다</a:t>
            </a:r>
            <a:r>
              <a:rPr lang="en-US" altLang="ko-KR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</a:t>
            </a:r>
            <a:r>
              <a:rPr lang="en-US" altLang="ko-KR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PC </a:t>
            </a: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연결 시 포트를 </a:t>
            </a:r>
            <a:r>
              <a:rPr lang="en-US" altLang="ko-KR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static</a:t>
            </a: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설정하고</a:t>
            </a:r>
            <a:endParaRPr lang="en-US" altLang="ko-KR" sz="1400" b="0" i="0" u="none" strike="noStrike" cap="none" dirty="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위반 설정은</a:t>
            </a: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즉시 차단</a:t>
            </a:r>
            <a:r>
              <a:rPr lang="en-US" altLang="ko-KR" sz="1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(Shutdown)</a:t>
            </a:r>
            <a:r>
              <a:rPr lang="ko-KR" altLang="en-US" sz="14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설정 </a:t>
            </a:r>
            <a:r>
              <a:rPr lang="ko-KR" altLang="en-US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</a:t>
            </a:r>
            <a:r>
              <a:rPr lang="en-US" altLang="ko-KR" sz="14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451EFB-9A16-1C71-5FE3-8341FF022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17" y="1829465"/>
            <a:ext cx="4360752" cy="385679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>
          <a:extLst>
            <a:ext uri="{FF2B5EF4-FFF2-40B4-BE49-F238E27FC236}">
              <a16:creationId xmlns:a16="http://schemas.microsoft.com/office/drawing/2014/main" id="{619E39F3-B3E2-9826-DA7B-E57C670C5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0" descr="image.png">
            <a:extLst>
              <a:ext uri="{FF2B5EF4-FFF2-40B4-BE49-F238E27FC236}">
                <a16:creationId xmlns:a16="http://schemas.microsoft.com/office/drawing/2014/main" id="{962D2D1D-17C4-39AA-34E2-13BA94AAC9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>
            <a:extLst>
              <a:ext uri="{FF2B5EF4-FFF2-40B4-BE49-F238E27FC236}">
                <a16:creationId xmlns:a16="http://schemas.microsoft.com/office/drawing/2014/main" id="{D24F220D-FA7B-5AA4-1144-B9C1837FFF4E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Lab 2: sticky </a:t>
            </a:r>
            <a:r>
              <a:rPr lang="ko-KR" altLang="en-US" sz="315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r>
              <a:rPr lang="en-US" sz="315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250" name="Google Shape;250;p20">
            <a:extLst>
              <a:ext uri="{FF2B5EF4-FFF2-40B4-BE49-F238E27FC236}">
                <a16:creationId xmlns:a16="http://schemas.microsoft.com/office/drawing/2014/main" id="{3A8710E9-205E-5559-7D58-AC059EF1ACEA}"/>
              </a:ext>
            </a:extLst>
          </p:cNvPr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>
            <a:extLst>
              <a:ext uri="{FF2B5EF4-FFF2-40B4-BE49-F238E27FC236}">
                <a16:creationId xmlns:a16="http://schemas.microsoft.com/office/drawing/2014/main" id="{1A6399BA-014A-F26E-F3DB-47C6DDFCD681}"/>
              </a:ext>
            </a:extLst>
          </p:cNvPr>
          <p:cNvSpPr txBox="1"/>
          <p:nvPr/>
        </p:nvSpPr>
        <p:spPr>
          <a:xfrm>
            <a:off x="11496675" y="648652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LAB_01</a:t>
            </a:r>
            <a:endParaRPr/>
          </a:p>
        </p:txBody>
      </p:sp>
      <p:sp>
        <p:nvSpPr>
          <p:cNvPr id="252" name="Google Shape;252;p20">
            <a:extLst>
              <a:ext uri="{FF2B5EF4-FFF2-40B4-BE49-F238E27FC236}">
                <a16:creationId xmlns:a16="http://schemas.microsoft.com/office/drawing/2014/main" id="{C196437A-3D5C-FD7F-9F0C-C137DD9C0B32}"/>
              </a:ext>
            </a:extLst>
          </p:cNvPr>
          <p:cNvSpPr txBox="1"/>
          <p:nvPr/>
        </p:nvSpPr>
        <p:spPr>
          <a:xfrm>
            <a:off x="581025" y="1981114"/>
            <a:ext cx="554069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시나리오</a:t>
            </a:r>
            <a:endParaRPr/>
          </a:p>
        </p:txBody>
      </p:sp>
      <p:sp>
        <p:nvSpPr>
          <p:cNvPr id="253" name="Google Shape;253;p20">
            <a:extLst>
              <a:ext uri="{FF2B5EF4-FFF2-40B4-BE49-F238E27FC236}">
                <a16:creationId xmlns:a16="http://schemas.microsoft.com/office/drawing/2014/main" id="{3E7B66F6-2A0D-A8F6-5B9D-BB65DFEE5364}"/>
              </a:ext>
            </a:extLst>
          </p:cNvPr>
          <p:cNvSpPr txBox="1"/>
          <p:nvPr/>
        </p:nvSpPr>
        <p:spPr>
          <a:xfrm>
            <a:off x="463330" y="3346876"/>
            <a:ext cx="52768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G0/2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포트에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PC3</a:t>
            </a:r>
            <a:r>
              <a:rPr lang="ko-KR" alt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개를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연결</a:t>
            </a:r>
            <a:r>
              <a:rPr lang="ko-KR" alt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하고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port-security</a:t>
            </a:r>
            <a:r>
              <a:rPr lang="ko-KR" alt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altLang="ko-KR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sticky</a:t>
            </a:r>
            <a:r>
              <a:rPr lang="ko-KR" alt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로 설정하고</a:t>
            </a:r>
            <a:r>
              <a:rPr lang="en-US" altLang="ko-KR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위반 모드는 </a:t>
            </a:r>
            <a:r>
              <a:rPr lang="en-US" altLang="ko-KR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shutdown</a:t>
            </a:r>
            <a:r>
              <a:rPr lang="ko-KR" altLang="en-US" sz="1500" dirty="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설정 하자</a:t>
            </a:r>
            <a:endParaRPr lang="en-US" sz="1500" b="0" i="0" u="none" strike="noStrike" cap="none" dirty="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5" name="Google Shape;255;p20">
            <a:extLst>
              <a:ext uri="{FF2B5EF4-FFF2-40B4-BE49-F238E27FC236}">
                <a16:creationId xmlns:a16="http://schemas.microsoft.com/office/drawing/2014/main" id="{5932A9DA-ED78-6DE0-B7D3-4246377422D9}"/>
              </a:ext>
            </a:extLst>
          </p:cNvPr>
          <p:cNvSpPr txBox="1"/>
          <p:nvPr/>
        </p:nvSpPr>
        <p:spPr>
          <a:xfrm>
            <a:off x="6638925" y="445487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83B0"/>
                </a:solidFill>
                <a:latin typeface="Noto Sans KR"/>
                <a:ea typeface="Noto Sans KR"/>
                <a:cs typeface="Noto Sans KR"/>
                <a:sym typeface="Noto Sans KR"/>
              </a:rPr>
              <a:t>1 Port = 1 PC Only</a:t>
            </a:r>
            <a:endParaRPr dirty="0"/>
          </a:p>
        </p:txBody>
      </p:sp>
      <p:sp>
        <p:nvSpPr>
          <p:cNvPr id="256" name="Google Shape;256;p20">
            <a:extLst>
              <a:ext uri="{FF2B5EF4-FFF2-40B4-BE49-F238E27FC236}">
                <a16:creationId xmlns:a16="http://schemas.microsoft.com/office/drawing/2014/main" id="{C1EB768A-4241-DB62-F05F-5FD068753FFF}"/>
              </a:ext>
            </a:extLst>
          </p:cNvPr>
          <p:cNvSpPr txBox="1"/>
          <p:nvPr/>
        </p:nvSpPr>
        <p:spPr>
          <a:xfrm>
            <a:off x="6638925" y="4759672"/>
            <a:ext cx="4667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3E3E"/>
                </a:solidFill>
                <a:latin typeface="Noto Sans KR"/>
                <a:ea typeface="Noto Sans KR"/>
                <a:cs typeface="Noto Sans KR"/>
                <a:sym typeface="Noto Sans KR"/>
              </a:rPr>
              <a:t>Any other MAC = Shutdown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E4E4C2-E92D-18FA-1D4D-5002E2924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474" y="1963368"/>
            <a:ext cx="6292501" cy="362556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7810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532" y="1456005"/>
            <a:ext cx="6694117" cy="470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32675" y="2709862"/>
            <a:ext cx="3778299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명령어 (Verification)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11496675" y="648652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VERIFY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855029" y="1616868"/>
            <a:ext cx="66941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상세</a:t>
            </a:r>
            <a:r>
              <a:rPr lang="en-US" sz="1800" b="1" i="0" u="none" strike="noStrike" cap="none" dirty="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상태</a:t>
            </a:r>
            <a:r>
              <a:rPr lang="en-US" sz="1800" b="1" i="0" u="none" strike="noStrike" cap="none" dirty="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 err="1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 dirty="0"/>
          </a:p>
        </p:txBody>
      </p:sp>
      <p:sp>
        <p:nvSpPr>
          <p:cNvPr id="295" name="Google Shape;295;p22"/>
          <p:cNvSpPr txBox="1"/>
          <p:nvPr/>
        </p:nvSpPr>
        <p:spPr>
          <a:xfrm>
            <a:off x="8127950" y="3005137"/>
            <a:ext cx="33471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명령어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55029" y="2065702"/>
            <a:ext cx="46585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53F8C"/>
                </a:solidFill>
                <a:latin typeface="Roboto Mono"/>
                <a:ea typeface="Roboto Mono"/>
                <a:cs typeface="Roboto Mono"/>
                <a:sym typeface="Roboto Mono"/>
              </a:rPr>
              <a:t>show port-security interface  g0/0</a:t>
            </a:r>
            <a:endParaRPr sz="1800" dirty="0"/>
          </a:p>
        </p:txBody>
      </p:sp>
      <p:sp>
        <p:nvSpPr>
          <p:cNvPr id="299" name="Google Shape;299;p22"/>
          <p:cNvSpPr txBox="1"/>
          <p:nvPr/>
        </p:nvSpPr>
        <p:spPr>
          <a:xfrm>
            <a:off x="8413700" y="3405187"/>
            <a:ext cx="2901999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show port-security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요약 정보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413700" y="4167187"/>
            <a:ext cx="2901999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show port-security address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학습된 MAC 주소 테이블</a:t>
            </a:r>
            <a:endParaRPr/>
          </a:p>
        </p:txBody>
      </p:sp>
      <p:pic>
        <p:nvPicPr>
          <p:cNvPr id="301" name="Google Shape;30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34242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41862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87F9D8-B195-67DE-D870-EAE8D4741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50" y="2553077"/>
            <a:ext cx="5724511" cy="32382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 txBox="1"/>
          <p:nvPr/>
        </p:nvSpPr>
        <p:spPr>
          <a:xfrm>
            <a:off x="11696700" y="6486525"/>
            <a:ext cx="200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END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305276" y="2274540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581025" y="33413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있으신가요?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581025" y="427851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 for listening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 txBox="1"/>
          <p:nvPr/>
        </p:nvSpPr>
        <p:spPr>
          <a:xfrm>
            <a:off x="0" y="1989947"/>
            <a:ext cx="12723787" cy="261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</a:t>
            </a:r>
            <a:r>
              <a:rPr lang="en-US" altLang="ko-KR" sz="16500" b="1" i="0" u="none" strike="noStrike" cap="none" dirty="0">
                <a:solidFill>
                  <a:srgbClr val="1A202C"/>
                </a:solidFill>
                <a:latin typeface="Noto Sans KR"/>
                <a:ea typeface="Noto Sans KR"/>
                <a:cs typeface="Noto Sans KR"/>
                <a:sym typeface="Noto Sans KR"/>
              </a:rPr>
              <a:t>^^</a:t>
            </a:r>
            <a:endParaRPr sz="16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556</Words>
  <Application>Microsoft Office PowerPoint</Application>
  <PresentationFormat>와이드스크린</PresentationFormat>
  <Paragraphs>98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Roboto Mono Medium</vt:lpstr>
      <vt:lpstr>Calibri</vt:lpstr>
      <vt:lpstr>Noto Sans KR</vt:lpstr>
      <vt:lpstr>Arial</vt:lpstr>
      <vt:lpstr>Roboto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6</cp:revision>
  <dcterms:modified xsi:type="dcterms:W3CDTF">2025-12-09T03:03:36Z</dcterms:modified>
</cp:coreProperties>
</file>