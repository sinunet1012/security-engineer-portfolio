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1" r:id="rId14"/>
    <p:sldId id="270" r:id="rId15"/>
  </p:sldIdLst>
  <p:sldSz cx="12192000" cy="6858000"/>
  <p:notesSz cx="7104063" cy="10234613"/>
  <p:embeddedFontLst>
    <p:embeddedFont>
      <p:font typeface="Inter" panose="020B0600000101010101" charset="0"/>
      <p:regular r:id="rId17"/>
      <p:bold r:id="rId18"/>
      <p:italic r:id="rId19"/>
      <p:boldItalic r:id="rId20"/>
    </p:embeddedFont>
    <p:embeddedFont>
      <p:font typeface="Inter ExtraBold" panose="020B0600000101010101" charset="0"/>
      <p:bold r:id="rId21"/>
      <p:boldItalic r:id="rId22"/>
    </p:embeddedFont>
    <p:embeddedFont>
      <p:font typeface="Inter Medium" panose="020B0600000101010101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D195DB-B966-4123-A935-B5AAD781BF9B}">
  <a:tblStyle styleId="{E7D195DB-B966-4123-A935-B5AAD781BF9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88" name="Google Shape;2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18" name="Google Shape;3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3F601872-39E0-81DA-FCE7-A6A06726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>
            <a:extLst>
              <a:ext uri="{FF2B5EF4-FFF2-40B4-BE49-F238E27FC236}">
                <a16:creationId xmlns:a16="http://schemas.microsoft.com/office/drawing/2014/main" id="{FC4E05B1-011E-57DA-BE5E-ECAC09504B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18" name="Google Shape;318;p14:notes">
            <a:extLst>
              <a:ext uri="{FF2B5EF4-FFF2-40B4-BE49-F238E27FC236}">
                <a16:creationId xmlns:a16="http://schemas.microsoft.com/office/drawing/2014/main" id="{9BB186C2-CB8F-A4E5-DA07-B1117A2F8B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4481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34" name="Google Shape;3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120647" y="5758774"/>
            <a:ext cx="449985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 err="1">
                <a:solidFill>
                  <a:srgbClr val="94A3B8"/>
                </a:solidFill>
                <a:latin typeface="Inter"/>
                <a:sym typeface="Inter"/>
              </a:rPr>
              <a:t>킹왕짱</a:t>
            </a:r>
            <a:r>
              <a:rPr lang="ko-KR" altLang="en-US" sz="3200" b="1" dirty="0">
                <a:solidFill>
                  <a:srgbClr val="94A3B8"/>
                </a:solidFill>
                <a:latin typeface="Inter"/>
                <a:sym typeface="Inter"/>
              </a:rPr>
              <a:t> 네트워크💙</a:t>
            </a:r>
            <a:endParaRPr sz="320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610411" y="2473122"/>
            <a:ext cx="80010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E3A8A"/>
                </a:solidFill>
                <a:latin typeface="Inter ExtraBold"/>
                <a:ea typeface="Inter ExtraBold"/>
                <a:sym typeface="Inter ExtraBold"/>
              </a:rPr>
              <a:t>FHRP </a:t>
            </a:r>
            <a:r>
              <a:rPr lang="en-US" sz="4800" dirty="0">
                <a:solidFill>
                  <a:srgbClr val="1E3A8A"/>
                </a:solidFill>
                <a:latin typeface="Inter ExtraBold"/>
                <a:ea typeface="Inter ExtraBold"/>
                <a:sym typeface="Inter ExtraBold"/>
              </a:rPr>
              <a:t>- VRRP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모든 것이 멈추는 순간: SPOF의 위험</a:t>
            </a:r>
            <a:endParaRPr b="1">
              <a:latin typeface="+mj-ea"/>
              <a:ea typeface="+mj-ea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49322" y="1509905"/>
            <a:ext cx="84071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단 </a:t>
            </a:r>
            <a:r>
              <a:rPr lang="en-US" sz="1404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하나의</a:t>
            </a:r>
            <a:r>
              <a:rPr lang="en-US" sz="1404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 </a:t>
            </a:r>
            <a:r>
              <a:rPr lang="en-US" sz="1404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게이트웨이</a:t>
            </a:r>
            <a:r>
              <a:rPr lang="en-US" sz="1404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 </a:t>
            </a:r>
            <a:r>
              <a:rPr lang="en-US" sz="1404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장애가</a:t>
            </a:r>
            <a:r>
              <a:rPr lang="en-US" sz="1800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  <a:t> </a:t>
            </a:r>
            <a:r>
              <a:rPr lang="en-US" sz="1404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전체</a:t>
            </a:r>
            <a:r>
              <a:rPr lang="en-US" sz="1404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 </a:t>
            </a:r>
            <a:r>
              <a:rPr lang="en-US" sz="1404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네트워크를</a:t>
            </a:r>
            <a:r>
              <a:rPr lang="en-US" sz="1404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 </a:t>
            </a:r>
            <a:r>
              <a:rPr lang="en-US" sz="1404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마비시킵니다</a:t>
            </a:r>
            <a:r>
              <a:rPr lang="en-US" sz="1404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02014" y="5037775"/>
            <a:ext cx="56089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Normal State: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PC는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기본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게이트웨이를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통해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외부와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통신합니다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282750" y="4786704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Failure State: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유일한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관문이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무너지면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내부의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수백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 대 </a:t>
            </a:r>
            <a:r>
              <a:rPr lang="en-US" sz="1500" b="0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단말기는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외부와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완벽히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단절됩니다</a:t>
            </a:r>
            <a:r>
              <a:rPr lang="en-US" sz="1500" b="0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917168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PC나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서버는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스스로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라우팅을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할 수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없습니다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이것이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단일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장애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지점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SPOF:Single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point of failure)의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치명적인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약점입니다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02B1147-CDF6-6940-440C-3A14B0A7F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04" y="1989287"/>
            <a:ext cx="4810125" cy="284610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9234F7B-EC90-6B38-3AC4-4E5D84D35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750" y="1918601"/>
            <a:ext cx="4810125" cy="28504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16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하나의 팀, 가상의 리더: 게이트웨이 이중화</a:t>
            </a:r>
            <a:endParaRPr b="1">
              <a:latin typeface="+mj-ea"/>
              <a:ea typeface="+mj-ea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16287"/>
            <a:ext cx="5238750" cy="2120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381750" y="2395537"/>
            <a:ext cx="55006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가상</a:t>
            </a:r>
            <a:r>
              <a:rPr lang="en-US" sz="1404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 </a:t>
            </a:r>
            <a:r>
              <a:rPr lang="en-US" sz="1404" b="0" i="0" u="none" strike="noStrike" cap="none" dirty="0" err="1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게이트웨이</a:t>
            </a:r>
            <a:r>
              <a:rPr lang="en-US" sz="1404" b="0" i="0" u="none" strike="noStrike" cap="none" dirty="0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(Virtual Gateway)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381750" y="2833687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두 대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이상의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물리적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장비를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하나의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논리적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'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가상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그룹'으로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묶어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장애에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자동으로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대응합니다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096125" y="3957637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가상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IP (VIP):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사용자는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실제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장비가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아닌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'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가상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IP'를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게이트웨이로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설정합니다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7096125" y="4757737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Active / Standby: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장애가 발생하면 예비 장비가 즉시 VIP의 역할을 이어받아 통신을 유지합니다.</a:t>
            </a:r>
            <a:endParaRPr>
              <a:latin typeface="+mn-ea"/>
              <a:ea typeface="+mn-ea"/>
            </a:endParaRPr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99573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795837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70745"/>
            <a:ext cx="349254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870745"/>
            <a:ext cx="349254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870745"/>
            <a:ext cx="3492549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오늘의 주인공: VRRP</a:t>
            </a:r>
            <a:endParaRPr b="1">
              <a:latin typeface="+mj-ea"/>
              <a:ea typeface="+mj-ea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185737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Virtual Router Redundancy Protocol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94225" y="3880395"/>
            <a:ext cx="30470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+mj-ea"/>
                <a:ea typeface="+mj-ea"/>
                <a:cs typeface="Inter ExtraBold"/>
                <a:sym typeface="Inter ExtraBold"/>
              </a:rPr>
              <a:t>국제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+mj-ea"/>
                <a:ea typeface="+mj-ea"/>
                <a:cs typeface="Inter ExtraBold"/>
                <a:sym typeface="Inter ExtraBold"/>
              </a:rPr>
              <a:t>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+mj-ea"/>
                <a:ea typeface="+mj-ea"/>
                <a:cs typeface="Inter ExtraBold"/>
                <a:sym typeface="Inter ExtraBold"/>
              </a:rPr>
              <a:t>표준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+mj-ea"/>
                <a:ea typeface="+mj-ea"/>
                <a:cs typeface="Inter ExtraBold"/>
                <a:sym typeface="Inter ExtraBold"/>
              </a:rPr>
              <a:t> (IETF)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866775" y="4375695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특정 제조사에 종속되지 않는 국제 표준 프로토콜로, Cisco, Juniper, Huawei 등 모든 벤더 장비 간에 완벽하게 호환됩니다.</a:t>
            </a:r>
            <a:endParaRPr>
              <a:latin typeface="+mn-ea"/>
              <a:ea typeface="+mn-ea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4572524" y="3880395"/>
            <a:ext cx="30470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+mj-ea"/>
                <a:ea typeface="+mj-ea"/>
                <a:cs typeface="Inter ExtraBold"/>
                <a:sym typeface="Inter ExtraBold"/>
              </a:rPr>
              <a:t>Master / Backup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4645074" y="4337595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명확한 역할 분담을 통해 리더(Master)와 예비 리더(Backup)가 효율적으로 동작합니다.</a:t>
            </a:r>
            <a:endParaRPr>
              <a:latin typeface="+mn-ea"/>
              <a:ea typeface="+mn-ea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8350824" y="3880395"/>
            <a:ext cx="30470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+mj-ea"/>
                <a:ea typeface="+mj-ea"/>
                <a:cs typeface="Inter ExtraBold"/>
                <a:sym typeface="Inter ExtraBold"/>
              </a:rPr>
              <a:t>빠른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+mj-ea"/>
                <a:ea typeface="+mj-ea"/>
                <a:cs typeface="Inter ExtraBold"/>
                <a:sym typeface="Inter ExtraBold"/>
              </a:rPr>
              <a:t>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+mj-ea"/>
                <a:ea typeface="+mj-ea"/>
                <a:cs typeface="Inter ExtraBold"/>
                <a:sym typeface="Inter ExtraBold"/>
              </a:rPr>
              <a:t>장애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+mj-ea"/>
                <a:ea typeface="+mj-ea"/>
                <a:cs typeface="Inter ExtraBold"/>
                <a:sym typeface="Inter ExtraBold"/>
              </a:rPr>
              <a:t>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+mj-ea"/>
                <a:ea typeface="+mj-ea"/>
                <a:cs typeface="Inter ExtraBold"/>
                <a:sym typeface="Inter ExtraBold"/>
              </a:rPr>
              <a:t>감지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8423374" y="4375695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기본 3초 이내에 장애를 감지하고 트래픽 경로를 절체하여 서비스 중단을 최소화합니다.</a:t>
            </a:r>
            <a:endParaRPr>
              <a:latin typeface="+mn-ea"/>
              <a:ea typeface="+mn-ea"/>
            </a:endParaRPr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4737" y="3195548"/>
            <a:ext cx="50607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1209" y="3199256"/>
            <a:ext cx="54101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96450" y="3204120"/>
            <a:ext cx="355699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66875"/>
            <a:ext cx="523875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66875"/>
            <a:ext cx="523875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00475"/>
            <a:ext cx="3492549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3800475"/>
            <a:ext cx="3492549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8099" y="3800475"/>
            <a:ext cx="3492549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510101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VRRP의 핵심 플레이어</a:t>
            </a:r>
            <a:endParaRPr b="1">
              <a:latin typeface="+mj-ea"/>
              <a:ea typeface="+mj-ea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904875" y="1962150"/>
            <a:ext cx="484060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Master (Active)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04875" y="2419350"/>
            <a:ext cx="4610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실제 패킷을 처리하는 활성 라우터. 주기적으로 자신의 생존 신호(Advertisement)를 그룹에 알립니다.</a:t>
            </a:r>
            <a:endParaRPr>
              <a:latin typeface="+mn-ea"/>
              <a:ea typeface="+mn-ea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715125" y="1962150"/>
            <a:ext cx="484060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Backup (Standby)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715125" y="2419350"/>
            <a:ext cx="4610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Master를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감시하며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대기하는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예비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라우터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 Master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장애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시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즉시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역할을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이어받습니다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 Slave</a:t>
            </a:r>
            <a:r>
              <a:rPr lang="ko-KR" alt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라고도 함</a:t>
            </a:r>
            <a:r>
              <a:rPr lang="en-US" altLang="ko-KR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794225" y="4810125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VIP (Virtual IP)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66775" y="5267325"/>
            <a:ext cx="290199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클라이언트들이 기본 게이트웨이로 사용하는 단일 가상 IP 주소.</a:t>
            </a:r>
            <a:endParaRPr>
              <a:latin typeface="+mn-ea"/>
              <a:ea typeface="+mn-ea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4572524" y="4810125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RIP (Real IP)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645074" y="5267325"/>
            <a:ext cx="290199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각 라우터의 물리 인터페이스에 설정된 실제 IP 주소.</a:t>
            </a:r>
            <a:endParaRPr>
              <a:latin typeface="+mn-ea"/>
              <a:ea typeface="+mn-ea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8350824" y="4810125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VMAC (Virtual MAC)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423374" y="5267325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0000.5E00.01xx</a:t>
            </a:r>
            <a:br>
              <a:rPr lang="en-US" sz="1800" b="0" i="0" u="none" strike="noStrike" cap="none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(xx는 VRRP 그룹 ID)</a:t>
            </a:r>
            <a:endParaRPr>
              <a:latin typeface="+mn-ea"/>
              <a:ea typeface="+mn-ea"/>
            </a:endParaRPr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39850" y="4133850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18150" y="4133850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96450" y="4133850"/>
            <a:ext cx="355699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18494"/>
            <a:ext cx="3429000" cy="2516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718494"/>
            <a:ext cx="3429000" cy="2516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718494"/>
            <a:ext cx="3429000" cy="251638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Master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선출의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 3가지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법칙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09600" y="5164026"/>
            <a:ext cx="33909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3473053" y="2832794"/>
            <a:ext cx="31789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4419600" y="5174375"/>
            <a:ext cx="33909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283053" y="2832794"/>
            <a:ext cx="31789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8229600" y="5164026"/>
            <a:ext cx="33909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11093053" y="2832794"/>
            <a:ext cx="31789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05815" y="3213794"/>
            <a:ext cx="296037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VIP = RIP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76300" y="3623369"/>
            <a:ext cx="28194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(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절대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규칙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가상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IP를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자신의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실제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IP와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동일하게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사용하는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경우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Priority가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255로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자동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설정되어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무조건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Master가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됩니다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4615815" y="3213794"/>
            <a:ext cx="29603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Priority 값</a:t>
            </a:r>
            <a:endParaRPr b="1">
              <a:latin typeface="+mn-ea"/>
              <a:ea typeface="+mn-ea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4634865" y="3661469"/>
            <a:ext cx="2960369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1-254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사이에서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수동으로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설정된</a:t>
            </a:r>
            <a:endParaRPr lang="en-US" sz="1350" b="0" i="0" u="none" strike="noStrike" cap="none" dirty="0">
              <a:solidFill>
                <a:srgbClr val="334155"/>
              </a:solidFill>
              <a:latin typeface="+mn-ea"/>
              <a:ea typeface="+mn-ea"/>
              <a:cs typeface="Inter"/>
              <a:sym typeface="Inter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우선순위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값.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숫자가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가장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높은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장비가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Master가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됩니다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 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기본값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: 100)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8425815" y="3213794"/>
            <a:ext cx="29603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IP 주소</a:t>
            </a:r>
            <a:endParaRPr b="1">
              <a:latin typeface="+mn-ea"/>
              <a:ea typeface="+mn-ea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8496300" y="3661469"/>
            <a:ext cx="2819400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Priority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값마저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동일할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경우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,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실제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IP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주소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(RIP)가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가장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높은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장비가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최종적으로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Master가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됩니다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716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71837"/>
            <a:ext cx="523875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평온한 일상: Master의 생존 신호</a:t>
            </a:r>
            <a:endParaRPr b="1">
              <a:latin typeface="+mj-ea"/>
              <a:ea typeface="+mj-ea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71500" y="1862137"/>
            <a:ext cx="55006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Advertisement (광고 패킷)</a:t>
            </a:r>
            <a:endParaRPr>
              <a:latin typeface="+mn-ea"/>
              <a:ea typeface="+mn-ea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571500" y="2300287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Master는 1초마다 '나는 살아있다'는 신호를 멀티캐스트로 전송하여 Backup을 안심시킵니다.</a:t>
            </a:r>
            <a:endParaRPr>
              <a:latin typeface="+mn-ea"/>
              <a:ea typeface="+mn-ea"/>
            </a:endParaRPr>
          </a:p>
        </p:txBody>
      </p:sp>
      <p:pic>
        <p:nvPicPr>
          <p:cNvPr id="196" name="Google Shape;19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503884"/>
            <a:ext cx="5238750" cy="294560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1476375" y="3614737"/>
            <a:ext cx="4143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Destination: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224.0.0.18 (Multicast)</a:t>
            </a:r>
            <a:endParaRPr>
              <a:latin typeface="+mn-ea"/>
              <a:ea typeface="+mn-ea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1476375" y="4110037"/>
            <a:ext cx="4143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Hello Timer: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1초 (전송 주기)</a:t>
            </a:r>
            <a:endParaRPr>
              <a:latin typeface="+mn-ea"/>
              <a:ea typeface="+mn-ea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1476375" y="4605337"/>
            <a:ext cx="4143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Dead Timer: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약 3초 (Hello를 3번 놓치면 장애로 간주)</a:t>
            </a:r>
            <a:endParaRPr>
              <a:latin typeface="+mn-ea"/>
              <a:ea typeface="+mn-ea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1476375" y="5405437"/>
            <a:ext cx="4143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Protocol: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IP Protocol 112</a:t>
            </a:r>
            <a:endParaRPr/>
          </a:p>
        </p:txBody>
      </p:sp>
      <p:pic>
        <p:nvPicPr>
          <p:cNvPr id="201" name="Google Shape;20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365283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414813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464343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5443537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3150"/>
            <a:ext cx="331470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8650" y="2343150"/>
            <a:ext cx="331470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05800" y="2343150"/>
            <a:ext cx="331470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8350" y="2552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552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72650" y="25527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장애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발생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! 3초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만에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이루어지는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자동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복구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71500" y="5495925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+mn-ea"/>
                <a:ea typeface="+mn-ea"/>
                <a:cs typeface="Inter"/>
                <a:sym typeface="Inter"/>
              </a:rPr>
              <a:t>"이제부터 VIP의 MAC 주소는 내 포트와 연결돼있다!"</a:t>
            </a:r>
            <a:endParaRPr>
              <a:latin typeface="+mn-ea"/>
              <a:ea typeface="+mn-ea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708660" y="3076575"/>
            <a:ext cx="304038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장애 감지</a:t>
            </a:r>
            <a:endParaRPr b="1">
              <a:latin typeface="+mn-ea"/>
              <a:ea typeface="+mn-ea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781050" y="3514725"/>
            <a:ext cx="2895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Backup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라우터가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3초간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Master의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Advertisement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수신에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실패합니다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575810" y="3076575"/>
            <a:ext cx="304038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역할 변경</a:t>
            </a:r>
            <a:endParaRPr b="1">
              <a:latin typeface="+mn-ea"/>
              <a:ea typeface="+mn-ea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648200" y="3514725"/>
            <a:ext cx="2895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Backup 라우터가 즉시 Master로 승격(Role Change)됩니다.</a:t>
            </a:r>
            <a:endParaRPr>
              <a:latin typeface="+mn-ea"/>
              <a:ea typeface="+mn-ea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8442960" y="3076575"/>
            <a:ext cx="304038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경로 갱신 (GARP)</a:t>
            </a:r>
            <a:endParaRPr b="1">
              <a:latin typeface="+mn-ea"/>
              <a:ea typeface="+mn-ea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8515350" y="3514725"/>
            <a:ext cx="2895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GARP를 전송하여 L2 스위치의 MAC 테이블을 갱신, 트래픽을 자신에게 유도합니다.</a:t>
            </a:r>
            <a:endParaRPr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716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22352"/>
            <a:ext cx="5238750" cy="171822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Preempt (선점): 왕의 귀환</a:t>
            </a:r>
            <a:endParaRPr b="1">
              <a:latin typeface="+mj-ea"/>
              <a:ea typeface="+mj-ea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71500" y="2412652"/>
            <a:ext cx="55006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최적의 경로를 되찾다</a:t>
            </a:r>
            <a:endParaRPr>
              <a:latin typeface="+mn-ea"/>
              <a:ea typeface="+mn-ea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2850802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원래의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고성능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Master가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복구되었을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때,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자동으로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Master 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자리를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되찾아와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네트워크를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최적의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상태로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복구합니다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800100" y="4012852"/>
            <a:ext cx="506063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Expert Tip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800100" y="4355752"/>
            <a:ext cx="48196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실무에서는 preempt delay 60 설정을 권장합니다. 장비가 완전히 안정화된 후 역할을 가져오도록 하여 패킷 유실을 방지하세요.</a:t>
            </a:r>
            <a:endParaRPr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16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Tracking (경로 감시): 블랙홀을 막아라</a:t>
            </a:r>
            <a:endParaRPr b="1">
              <a:latin typeface="+mj-ea"/>
              <a:ea typeface="+mj-ea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72133"/>
            <a:ext cx="5238750" cy="380910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6381750" y="2390775"/>
            <a:ext cx="55006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보이지 않는 위험, 논리적 장애</a:t>
            </a:r>
            <a:endParaRPr>
              <a:latin typeface="+mn-ea"/>
              <a:ea typeface="+mn-ea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6381750" y="2828925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라우터 자체는 정상이지만 외부 인터넷 회선(Uplink)이 끊기는 상황을 감지합니다.</a:t>
            </a:r>
            <a:endParaRPr>
              <a:latin typeface="+mn-ea"/>
              <a:ea typeface="+mn-ea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6381750" y="3800475"/>
            <a:ext cx="550068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3A8A"/>
                </a:solidFill>
                <a:latin typeface="+mn-ea"/>
                <a:ea typeface="+mn-ea"/>
                <a:cs typeface="Inter ExtraBold"/>
                <a:sym typeface="Inter ExtraBold"/>
              </a:rPr>
              <a:t>작동 원리:</a:t>
            </a:r>
            <a:endParaRPr>
              <a:latin typeface="+mn-ea"/>
              <a:ea typeface="+mn-ea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6600825" y="4171950"/>
            <a:ext cx="161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6762750" y="4171950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Uplink 장애 감지</a:t>
            </a:r>
            <a:endParaRPr>
              <a:latin typeface="+mn-ea"/>
              <a:ea typeface="+mn-ea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6600825" y="4476750"/>
            <a:ext cx="161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6762750" y="4476750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자신의 Priority 값을 자동으로 감소 (예: 150 → 90)</a:t>
            </a:r>
            <a:endParaRPr>
              <a:latin typeface="+mn-ea"/>
              <a:ea typeface="+mn-ea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6600825" y="4781550"/>
            <a:ext cx="161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762750" y="4781550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Backup(Priority 100)보다 낮아짐</a:t>
            </a:r>
            <a:endParaRPr>
              <a:latin typeface="+mn-ea"/>
              <a:ea typeface="+mn-ea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6600825" y="5086350"/>
            <a:ext cx="161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762750" y="5086350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Backup이 새로운 Master로 승격되어 통신 유지</a:t>
            </a:r>
            <a:endParaRPr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최종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비교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: VRRP vs. HSRP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4" name="Google Shape;294;p25"/>
          <p:cNvGraphicFramePr/>
          <p:nvPr>
            <p:extLst>
              <p:ext uri="{D42A27DB-BD31-4B8C-83A1-F6EECF244321}">
                <p14:modId xmlns:p14="http://schemas.microsoft.com/office/powerpoint/2010/main" val="655640225"/>
              </p:ext>
            </p:extLst>
          </p:nvPr>
        </p:nvGraphicFramePr>
        <p:xfrm>
          <a:off x="726535" y="1628313"/>
          <a:ext cx="10893965" cy="4893472"/>
        </p:xfrm>
        <a:graphic>
          <a:graphicData uri="http://schemas.openxmlformats.org/drawingml/2006/table">
            <a:tbl>
              <a:tblPr firstRow="1" bandRow="1">
                <a:noFill/>
                <a:tableStyleId>{E7D195DB-B966-4123-A935-B5AAD781BF9B}</a:tableStyleId>
              </a:tblPr>
              <a:tblGrid>
                <a:gridCol w="2723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5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5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68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항목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VRRP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HSRP (Cisco)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68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표준 여부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B82F6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IETF </a:t>
                      </a:r>
                      <a:r>
                        <a:rPr lang="en-US" sz="1500" b="1" i="0" u="none" strike="noStrike" cap="none" dirty="0" err="1">
                          <a:solidFill>
                            <a:srgbClr val="3B82F6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국제</a:t>
                      </a:r>
                      <a:r>
                        <a:rPr lang="en-US" sz="1500" b="1" i="0" u="none" strike="noStrike" cap="none" dirty="0">
                          <a:solidFill>
                            <a:srgbClr val="3B82F6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3B82F6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표준</a:t>
                      </a:r>
                      <a:r>
                        <a:rPr lang="en-US" sz="1500" b="1" i="0" u="none" strike="noStrike" cap="none" dirty="0">
                          <a:solidFill>
                            <a:srgbClr val="3B82F6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1500" b="1" i="0" u="none" strike="noStrike" cap="none" dirty="0" err="1">
                          <a:solidFill>
                            <a:srgbClr val="3B82F6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모든</a:t>
                      </a:r>
                      <a:r>
                        <a:rPr lang="en-US" sz="1500" b="1" i="0" u="none" strike="noStrike" cap="none" dirty="0">
                          <a:solidFill>
                            <a:srgbClr val="3B82F6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3B82F6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벤더</a:t>
                      </a:r>
                      <a:r>
                        <a:rPr lang="en-US" sz="1500" b="1" i="0" u="none" strike="noStrike" cap="none" dirty="0">
                          <a:solidFill>
                            <a:srgbClr val="3B82F6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3B82F6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호환</a:t>
                      </a:r>
                      <a:r>
                        <a:rPr lang="en-US" sz="1500" b="1" i="0" u="none" strike="noStrike" cap="none" dirty="0">
                          <a:solidFill>
                            <a:srgbClr val="3B82F6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)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Cisco </a:t>
                      </a: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전용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68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역할 명칭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Master / Backup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Active / Standby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68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가상 IP (VIP)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실제</a:t>
                      </a:r>
                      <a:r>
                        <a:rPr lang="en-US" sz="1500" b="1" i="0" u="none" strike="noStrike" cap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인터페이스</a:t>
                      </a:r>
                      <a:r>
                        <a:rPr lang="en-US" sz="1500" b="1" i="0" u="none" strike="noStrike" cap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 IP(RIP)와 </a:t>
                      </a:r>
                      <a:r>
                        <a:rPr lang="en-US" sz="1500" b="1" i="0" u="none" strike="noStrike" cap="none" dirty="0" err="1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동일</a:t>
                      </a:r>
                      <a:r>
                        <a:rPr lang="en-US" sz="1500" b="1" i="0" u="none" strike="noStrike" cap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가능</a:t>
                      </a:r>
                      <a:endParaRPr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실제 IP와 중복 불가 (별도 IP 필수)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68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가상 MAC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0000.5E00.01xx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0000.0C07.ACxx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68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멀티캐스트 IP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224.0.0.18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224.0.0.2 (v1) / 224.0.0.102 (v2)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68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기본 타이머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Hello: 1초 (더 빠름)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Hello: 3초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68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Preempt</a:t>
                      </a:r>
                      <a:endParaRPr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기본값</a:t>
                      </a:r>
                      <a:r>
                        <a:rPr lang="en-US" sz="1500" b="1" i="0" u="none" strike="noStrike" cap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 On</a:t>
                      </a:r>
                      <a:endParaRPr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기본값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+mn-ea"/>
                          <a:ea typeface="+mn-ea"/>
                          <a:cs typeface="Inter"/>
                          <a:sym typeface="Inter"/>
                        </a:rPr>
                        <a:t> Off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0" name="Google Shape;310;p25"/>
          <p:cNvSpPr/>
          <p:nvPr/>
        </p:nvSpPr>
        <p:spPr>
          <a:xfrm>
            <a:off x="581025" y="583406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57362"/>
            <a:ext cx="11049000" cy="44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VRRP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마스터를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위한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최종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체크리스트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 txBox="1"/>
          <p:nvPr/>
        </p:nvSpPr>
        <p:spPr>
          <a:xfrm>
            <a:off x="1295400" y="2300287"/>
            <a:ext cx="99345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SPOF는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가상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IP로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해결한다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VRRP는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여러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물리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게이트웨이를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하나의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가상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IP(VIP)로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묶어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단일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장애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지점을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제거하고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자동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복구를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제공합니다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1295400" y="3100387"/>
            <a:ext cx="99345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Master는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명확한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규칙으로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선출된다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VIP=RIP &gt; Priority &gt; IP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주소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순서의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절대적인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규칙에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따라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리더가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결정됩니다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1295400" y="3900487"/>
            <a:ext cx="9934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Preempt와 Tracking은 필수다</a:t>
            </a:r>
            <a:br>
              <a:rPr lang="en-US" sz="1800" b="0" i="0" u="none" strike="noStrike" cap="none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Preempt는 최적의 경로를 유지하고, Tracking은 보이지 않는 ‘블랙홀’ 장애를 방지합니다. 완벽한 무중단 자동화의 핵심입니다.</a:t>
            </a:r>
            <a:endParaRPr>
              <a:latin typeface="+mn-ea"/>
              <a:ea typeface="+mn-ea"/>
            </a:endParaRPr>
          </a:p>
        </p:txBody>
      </p:sp>
      <p:sp>
        <p:nvSpPr>
          <p:cNvPr id="327" name="Google Shape;327;p26"/>
          <p:cNvSpPr txBox="1"/>
          <p:nvPr/>
        </p:nvSpPr>
        <p:spPr>
          <a:xfrm>
            <a:off x="1295400" y="5005387"/>
            <a:ext cx="99345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표준의 힘을 활용하라</a:t>
            </a:r>
            <a:br>
              <a:rPr lang="en-US" sz="1800" b="0" i="0" u="none" strike="noStrike" cap="none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+mn-ea"/>
                <a:ea typeface="+mn-ea"/>
                <a:cs typeface="Inter"/>
                <a:sym typeface="Inter"/>
              </a:rPr>
              <a:t> VRRP는 IETF 표준으로서, 특정 벤더에 종속되지 않는 유연하고 확장 가능한 솔루션입니다.</a:t>
            </a:r>
            <a:endParaRPr>
              <a:latin typeface="+mn-ea"/>
              <a:ea typeface="+mn-ea"/>
            </a:endParaRPr>
          </a:p>
        </p:txBody>
      </p:sp>
      <p:pic>
        <p:nvPicPr>
          <p:cNvPr id="328" name="Google Shape;32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33838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313848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393858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5043487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9">
          <a:extLst>
            <a:ext uri="{FF2B5EF4-FFF2-40B4-BE49-F238E27FC236}">
              <a16:creationId xmlns:a16="http://schemas.microsoft.com/office/drawing/2014/main" id="{0CF2C3E2-9E7F-BFE4-809D-DB4C89292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">
            <a:extLst>
              <a:ext uri="{FF2B5EF4-FFF2-40B4-BE49-F238E27FC236}">
                <a16:creationId xmlns:a16="http://schemas.microsoft.com/office/drawing/2014/main" id="{88AA1E5C-E0A6-8E06-D557-66F0E1764864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1" i="0" u="none" strike="noStrike" cap="none" dirty="0">
                <a:solidFill>
                  <a:srgbClr val="1E3A8A"/>
                </a:solidFill>
                <a:latin typeface="+mj-ea"/>
                <a:ea typeface="+mj-ea"/>
                <a:cs typeface="Inter ExtraBold"/>
                <a:sym typeface="Inter ExtraBold"/>
              </a:rPr>
              <a:t>실습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323" name="Google Shape;323;p26">
            <a:extLst>
              <a:ext uri="{FF2B5EF4-FFF2-40B4-BE49-F238E27FC236}">
                <a16:creationId xmlns:a16="http://schemas.microsoft.com/office/drawing/2014/main" id="{B88E35AB-E8C3-40D6-7F24-B27480248979}"/>
              </a:ext>
            </a:extLst>
          </p:cNvPr>
          <p:cNvSpPr/>
          <p:nvPr/>
        </p:nvSpPr>
        <p:spPr>
          <a:xfrm>
            <a:off x="571500" y="1247775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A8AF92-8293-ACFA-C730-6C899C90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115" y="1477402"/>
            <a:ext cx="4587770" cy="513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97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7"/>
          <p:cNvSpPr txBox="1"/>
          <p:nvPr/>
        </p:nvSpPr>
        <p:spPr>
          <a:xfrm>
            <a:off x="295275" y="2552700"/>
            <a:ext cx="116014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000" b="1" dirty="0">
                <a:solidFill>
                  <a:srgbClr val="1E3A8A"/>
                </a:solidFill>
                <a:latin typeface="+mj-ea"/>
                <a:ea typeface="+mj-ea"/>
                <a:sym typeface="Inter ExtraBold"/>
              </a:rPr>
              <a:t>감사합니다</a:t>
            </a:r>
            <a:r>
              <a:rPr lang="en-US" altLang="ko-KR" sz="6000" b="1" dirty="0">
                <a:solidFill>
                  <a:srgbClr val="1E3A8A"/>
                </a:solidFill>
                <a:latin typeface="+mj-ea"/>
                <a:ea typeface="+mj-ea"/>
                <a:sym typeface="Inter ExtraBold"/>
              </a:rPr>
              <a:t>!!!</a:t>
            </a:r>
            <a:endParaRPr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3014</TotalTime>
  <Words>826</Words>
  <Application>Microsoft Office PowerPoint</Application>
  <PresentationFormat>와이드스크린</PresentationFormat>
  <Paragraphs>106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Inter ExtraBold</vt:lpstr>
      <vt:lpstr>Calibri</vt:lpstr>
      <vt:lpstr>Inter Medium</vt:lpstr>
      <vt:lpstr>Inter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TJ</dc:creator>
  <cp:lastModifiedBy>TJ</cp:lastModifiedBy>
  <cp:revision>15</cp:revision>
  <dcterms:modified xsi:type="dcterms:W3CDTF">2025-12-29T07:02:14Z</dcterms:modified>
</cp:coreProperties>
</file>