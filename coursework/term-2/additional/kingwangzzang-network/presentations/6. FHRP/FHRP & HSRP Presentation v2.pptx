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9" r:id="rId11"/>
    <p:sldId id="266" r:id="rId12"/>
    <p:sldId id="268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EF42ED8D-8DEA-E7A0-D94D-88229FBB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>
            <a:extLst>
              <a:ext uri="{FF2B5EF4-FFF2-40B4-BE49-F238E27FC236}">
                <a16:creationId xmlns:a16="http://schemas.microsoft.com/office/drawing/2014/main" id="{388011C1-61FF-549E-A80C-DA208A32E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>
            <a:extLst>
              <a:ext uri="{FF2B5EF4-FFF2-40B4-BE49-F238E27FC236}">
                <a16:creationId xmlns:a16="http://schemas.microsoft.com/office/drawing/2014/main" id="{513A4A7C-3A9E-E309-D3A2-A5FCF43E1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9218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7352E31-732C-161F-4D7B-540521BE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>
            <a:extLst>
              <a:ext uri="{FF2B5EF4-FFF2-40B4-BE49-F238E27FC236}">
                <a16:creationId xmlns:a16="http://schemas.microsoft.com/office/drawing/2014/main" id="{DC64D8C6-94D6-7D92-C075-1123B74A7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>
            <a:extLst>
              <a:ext uri="{FF2B5EF4-FFF2-40B4-BE49-F238E27FC236}">
                <a16:creationId xmlns:a16="http://schemas.microsoft.com/office/drawing/2014/main" id="{A9C74EE6-BFBD-C74E-23E2-A464DC2F5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092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96DF9B0-0FCD-FEFF-67FC-6DC8582AD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7A268D0-C4F5-B553-7C29-D03410C351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2DCBCF1-E01C-1CAC-A5BA-C171CED34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5396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87F19537-C813-6DD1-99F5-87A466F40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FD72E1D-AE26-F7F5-DF56-B404C79FE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26776C3-FAC7-D0F5-D575-412A34D05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924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401425" y="6515100"/>
            <a:ext cx="5048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0A0"/>
                </a:solidFill>
                <a:latin typeface="Arial"/>
                <a:ea typeface="Arial"/>
                <a:cs typeface="Arial"/>
                <a:sym typeface="Arial"/>
              </a:rPr>
              <a:t>01. Intro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8125" y="1375469"/>
            <a:ext cx="11715750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FHRP &amp; HSRP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2487959"/>
            <a:ext cx="112395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First Hop Redundancy Protocol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Hot Standby Router Protocol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76250" y="5177581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네트워크 가용성과 안정성을 위한 핵심 기술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4034581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821310"/>
            <a:ext cx="5429250" cy="194131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FHRP란 무엇인가?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068050" y="651510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0A0A0"/>
                </a:solidFill>
                <a:latin typeface="Arial"/>
                <a:ea typeface="Arial"/>
                <a:cs typeface="Arial"/>
                <a:sym typeface="Arial"/>
              </a:rPr>
              <a:t>02. FHRP 개요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6250" y="2369790"/>
            <a:ext cx="5429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First Hop Redundancy Protocol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6250" y="2925960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트래픽을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네트워크의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다른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장치로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전달하는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역할을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하는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게이트웨이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(첫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번째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홉)에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이중화를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제공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하는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프로토콜입니다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05775" y="2933700"/>
            <a:ext cx="17907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286500" y="4552950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Gateway Redundancy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4059435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핵심 목적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43091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장애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발생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시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자동으로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인계할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중복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장치를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구성하여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네트워크의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가용성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(Availability)과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안정성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(Stability)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을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보장합니다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07848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602259"/>
            <a:ext cx="3619500" cy="2444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602259"/>
            <a:ext cx="3619500" cy="2444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602259"/>
            <a:ext cx="3619500" cy="244405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FHRP의 종류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2840384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HSRP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3211859"/>
            <a:ext cx="3095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Hot Standby Router Protocol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72000" y="2840384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VRRP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572000" y="3211859"/>
            <a:ext cx="3095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Virtual Router Redundancy Protocol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82000" y="2840384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GLBP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82000" y="3211859"/>
            <a:ext cx="3095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Gateway Load Balancing Protocol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47750" y="355089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Cisco 독점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47750" y="396999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Active / Standby 구조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47750" y="438909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가장 널리 사용됨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285943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4857750" y="355089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표준 프로토콜 (비독점)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857750" y="396999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Master / Backup 구조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857750" y="438909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모든 벤더 호환 가능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82000" y="285943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8667750" y="355089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Cisco 독점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667750" y="396999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Active / Active 구조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667750" y="4389090"/>
            <a:ext cx="280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로드 밸런싱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지원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5794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9985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4176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0" y="35794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0" y="39985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0" y="44176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0" y="35794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0" y="39985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0" y="441766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FHRP 주요 기능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762000" y="2447925"/>
            <a:ext cx="1095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이중화 (Redundancy):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장애 발생 시 예비 장비가 즉시 역할을 인계하여 서비스 중단을 방지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3171825"/>
            <a:ext cx="1095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로드 밸런싱 (Load Balancing):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GLBP 등의 프로토콜을 통해 트래픽을 여러 라우터로 분산 처리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3895725"/>
            <a:ext cx="1095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프로토콜 수렴 (Convergence):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링크나 장비 장애 시 신속하게 안정적인 토폴로지로 복구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62000" y="4619625"/>
            <a:ext cx="1095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프로토콜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호환성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STP(Spanning Tree) 등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다른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L2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프로토콜과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문제없이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연동되도록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dirty="0"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76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200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924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46482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126134"/>
            <a:ext cx="5429250" cy="139630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HSRP (Hot Standby Router Protocol)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6572250" y="3364259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Track 기능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72250" y="3735734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인터페이스나 IP를 추적(Track)하여 장애 감지 시 </a:t>
            </a:r>
            <a:r>
              <a:rPr lang="en-US" sz="135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우선순위를 동적으로 낮춰</a:t>
            </a:r>
            <a:r>
              <a:rPr lang="en-US" sz="135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Standby가 Active가 되도록 유도하는 기능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1999" y="2905125"/>
            <a:ext cx="55173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네트워크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고가용성을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위해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라우터를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이중화하는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Cisco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독점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기술</a:t>
            </a:r>
            <a:endParaRPr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3324225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여러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대의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라우터를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하나의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가상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라우터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(Virtual Router)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처럼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동작하게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함</a:t>
            </a:r>
            <a:endParaRPr dirty="0"/>
          </a:p>
        </p:txBody>
      </p:sp>
      <p:sp>
        <p:nvSpPr>
          <p:cNvPr id="172" name="Google Shape;172;p17"/>
          <p:cNvSpPr txBox="1"/>
          <p:nvPr/>
        </p:nvSpPr>
        <p:spPr>
          <a:xfrm>
            <a:off x="762000" y="4048125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Active 라우터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가 트래픽 처리, Down 시 </a:t>
            </a: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Standby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가 승계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762000" y="4467225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Priority(우선순위)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가 높은 장비가 Active로 선출됨</a:t>
            </a:r>
            <a:endParaRPr/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2250" y="338330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2933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352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076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4958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409700"/>
            <a:ext cx="112395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009900"/>
            <a:ext cx="54292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009900"/>
            <a:ext cx="54292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Active vs Standby Router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762000" y="1647825"/>
            <a:ext cx="11251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선출 우선순위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62000" y="2019300"/>
            <a:ext cx="10715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1순위: </a:t>
            </a: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값이 높은 라우터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2순위: Priority가 같다면 </a:t>
            </a: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IP 주소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가 큰 라우터</a:t>
            </a:r>
            <a:endParaRPr/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16668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762000" y="3248025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Active Router 역할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572250" y="3248025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Standby Router 역할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047750" y="361950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ARP 요청에 가상 MAC으로 응답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047750" y="403860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실제 패킷 라우팅 및 전달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47750" y="445770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주기적으로 Hello 패킷 전송 (상태 알림)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858000" y="361950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Active의 Hello 패킷을 수신하여 상태 감시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858000" y="403860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평소에는 대기, 장애 발생 시 역할 승계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858000" y="4457700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Active 라우터 선출 후보</a:t>
            </a:r>
            <a:endParaRPr/>
          </a:p>
        </p:txBody>
      </p:sp>
      <p:pic>
        <p:nvPicPr>
          <p:cNvPr id="201" name="Google Shape;20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648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067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4862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0" y="3648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0" y="4067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0" y="44862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047875"/>
            <a:ext cx="361950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047875"/>
            <a:ext cx="361950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047875"/>
            <a:ext cx="361950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143375"/>
            <a:ext cx="36195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0" y="4143375"/>
            <a:ext cx="36195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HSRP 상태 변화 과정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762000" y="2286000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1. Initial / Learn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762000" y="2657475"/>
            <a:ext cx="3095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Initial: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HSRP 미동작 상태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Learn: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Hello 패킷 교환 진행 중, 가상 IP 미확인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572000" y="2286000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2. Listen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4572000" y="2657475"/>
            <a:ext cx="3095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Hello 패킷 완료. 가상 IP는 알지만 Active/Standby 미선출.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8382000" y="2286000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3. Speak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8382000" y="2657475"/>
            <a:ext cx="3095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주기적 Hello 전송 시작. Active/Standby 선출을 위해 비교 진행 중.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762000" y="4381500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4. Standby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762000" y="4752975"/>
            <a:ext cx="3095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Active 후보 상태. 주기적 Hello 전송. 그룹 내 1개만 존재.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4572000" y="4381500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5. Active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4572000" y="4752975"/>
            <a:ext cx="3095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가상 MAC으로 패킷 수신 및 라우팅 수행. 그룹 내 1개만 존재.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HSRP </a:t>
            </a:r>
            <a:r>
              <a:rPr lang="en-US" sz="3150" b="1" dirty="0">
                <a:solidFill>
                  <a:srgbClr val="003366"/>
                </a:solidFill>
              </a:rPr>
              <a:t>v1, v2 </a:t>
            </a:r>
            <a:r>
              <a:rPr lang="ko-KR" altLang="en-US" sz="3150" b="1" dirty="0">
                <a:solidFill>
                  <a:srgbClr val="003366"/>
                </a:solidFill>
              </a:rPr>
              <a:t>비교</a:t>
            </a:r>
            <a:endParaRPr dirty="0"/>
          </a:p>
        </p:txBody>
      </p:sp>
      <p:sp>
        <p:nvSpPr>
          <p:cNvPr id="236" name="Google Shape;236;p20"/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73886CE-AA7B-E720-C3F8-7BF97FAD6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371990"/>
              </p:ext>
            </p:extLst>
          </p:nvPr>
        </p:nvGraphicFramePr>
        <p:xfrm>
          <a:off x="476250" y="1958640"/>
          <a:ext cx="10849476" cy="3358311"/>
        </p:xfrm>
        <a:graphic>
          <a:graphicData uri="http://schemas.openxmlformats.org/drawingml/2006/table">
            <a:tbl>
              <a:tblPr/>
              <a:tblGrid>
                <a:gridCol w="3616492">
                  <a:extLst>
                    <a:ext uri="{9D8B030D-6E8A-4147-A177-3AD203B41FA5}">
                      <a16:colId xmlns:a16="http://schemas.microsoft.com/office/drawing/2014/main" val="1559850585"/>
                    </a:ext>
                  </a:extLst>
                </a:gridCol>
                <a:gridCol w="3616492">
                  <a:extLst>
                    <a:ext uri="{9D8B030D-6E8A-4147-A177-3AD203B41FA5}">
                      <a16:colId xmlns:a16="http://schemas.microsoft.com/office/drawing/2014/main" val="3924604089"/>
                    </a:ext>
                  </a:extLst>
                </a:gridCol>
                <a:gridCol w="3616492">
                  <a:extLst>
                    <a:ext uri="{9D8B030D-6E8A-4147-A177-3AD203B41FA5}">
                      <a16:colId xmlns:a16="http://schemas.microsoft.com/office/drawing/2014/main" val="3199843892"/>
                    </a:ext>
                  </a:extLst>
                </a:gridCol>
              </a:tblGrid>
              <a:tr h="369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특징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HSRP 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HSRP v2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40681"/>
                  </a:ext>
                </a:extLst>
              </a:tr>
              <a:tr h="627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지원 </a:t>
                      </a:r>
                      <a:r>
                        <a:rPr lang="en-US" b="1" dirty="0"/>
                        <a:t>IP </a:t>
                      </a:r>
                      <a:r>
                        <a:rPr lang="ko-KR" altLang="en-US" b="1" dirty="0"/>
                        <a:t>버전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IPv4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IPv4 (v2</a:t>
                      </a:r>
                      <a:r>
                        <a:rPr lang="ko-KR" altLang="en-US"/>
                        <a:t>는 </a:t>
                      </a:r>
                      <a:r>
                        <a:rPr lang="en-US" altLang="ko-KR"/>
                        <a:t>IPv6 </a:t>
                      </a:r>
                      <a:r>
                        <a:rPr lang="ko-KR" altLang="en-US"/>
                        <a:t>지원 아님</a:t>
                      </a:r>
                      <a:r>
                        <a:rPr lang="en-US" altLang="ko-KR"/>
                        <a:t>, HSRP for IPv6</a:t>
                      </a:r>
                      <a:r>
                        <a:rPr lang="ko-KR" altLang="en-US"/>
                        <a:t>는 별도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17596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그룹 번호 범위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 ~ 255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 ~ 4095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806769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가상 </a:t>
                      </a:r>
                      <a:r>
                        <a:rPr lang="en-US" altLang="ko-KR" b="1" dirty="0"/>
                        <a:t>MAC </a:t>
                      </a:r>
                      <a:r>
                        <a:rPr lang="ko-KR" altLang="en-US" b="1" dirty="0"/>
                        <a:t>주소 형식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0000.0c07.acXX (XX = </a:t>
                      </a:r>
                      <a:r>
                        <a:rPr lang="ko-KR" altLang="en-US" dirty="0"/>
                        <a:t>그룹 번호 </a:t>
                      </a:r>
                      <a:r>
                        <a:rPr lang="en-US" altLang="ko-KR" dirty="0"/>
                        <a:t>0~255)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0000.0c9f.fXXX (XXX = </a:t>
                      </a:r>
                      <a:r>
                        <a:rPr lang="ko-KR" altLang="en-US"/>
                        <a:t>그룹 번호 </a:t>
                      </a:r>
                      <a:r>
                        <a:rPr lang="en-US" altLang="ko-KR"/>
                        <a:t>0~4095)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801093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타이머 단위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초 단위 </a:t>
                      </a:r>
                      <a:r>
                        <a:rPr lang="en-US" altLang="ko-KR" dirty="0"/>
                        <a:t>(</a:t>
                      </a:r>
                      <a:r>
                        <a:rPr lang="en-US" dirty="0"/>
                        <a:t>default hello 3</a:t>
                      </a:r>
                      <a:r>
                        <a:rPr lang="ko-KR" altLang="en-US" dirty="0"/>
                        <a:t>초 </a:t>
                      </a:r>
                      <a:r>
                        <a:rPr lang="en-US" altLang="ko-KR" dirty="0"/>
                        <a:t>/ </a:t>
                      </a:r>
                      <a:r>
                        <a:rPr lang="en-US" dirty="0"/>
                        <a:t>hold 10</a:t>
                      </a:r>
                      <a:r>
                        <a:rPr lang="ko-KR" altLang="en-US" dirty="0"/>
                        <a:t>초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초 단위 </a:t>
                      </a:r>
                      <a:r>
                        <a:rPr lang="en-US" altLang="ko-KR" dirty="0"/>
                        <a:t>(</a:t>
                      </a:r>
                      <a:r>
                        <a:rPr lang="en-US" dirty="0"/>
                        <a:t>default hello 3</a:t>
                      </a:r>
                      <a:r>
                        <a:rPr lang="ko-KR" altLang="en-US" dirty="0"/>
                        <a:t>초 </a:t>
                      </a:r>
                      <a:r>
                        <a:rPr lang="en-US" altLang="ko-KR" dirty="0"/>
                        <a:t>/ </a:t>
                      </a:r>
                      <a:r>
                        <a:rPr lang="en-US" dirty="0"/>
                        <a:t>hold 10</a:t>
                      </a:r>
                      <a:r>
                        <a:rPr lang="ko-KR" altLang="en-US" dirty="0"/>
                        <a:t>초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808299"/>
                  </a:ext>
                </a:extLst>
              </a:tr>
              <a:tr h="627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동작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IPv4</a:t>
                      </a:r>
                      <a:r>
                        <a:rPr lang="ko-KR" altLang="en-US" dirty="0"/>
                        <a:t>만 지원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그룹 번호 제한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IPv4</a:t>
                      </a:r>
                      <a:r>
                        <a:rPr lang="ko-KR" altLang="en-US" dirty="0"/>
                        <a:t>만 지원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그룹 번호 확장</a:t>
                      </a:r>
                      <a:r>
                        <a:rPr lang="en-US" altLang="ko-KR" dirty="0"/>
                        <a:t>, MAC </a:t>
                      </a:r>
                      <a:r>
                        <a:rPr lang="ko-KR" altLang="en-US" dirty="0"/>
                        <a:t>주소 확장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15769"/>
                  </a:ext>
                </a:extLst>
              </a:tr>
              <a:tr h="627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주요 개선점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기본 </a:t>
                      </a:r>
                      <a:r>
                        <a:rPr lang="en-US" dirty="0"/>
                        <a:t>HSRP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그룹 번호 확장</a:t>
                      </a:r>
                      <a:r>
                        <a:rPr lang="en-US" altLang="ko-KR" dirty="0"/>
                        <a:t>, MAC </a:t>
                      </a:r>
                      <a:r>
                        <a:rPr lang="ko-KR" altLang="en-US" dirty="0"/>
                        <a:t>주소 충돌 최소화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대규모 네트워크 대응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48371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187781A-4E84-C252-D762-6A877D873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112921"/>
              </p:ext>
            </p:extLst>
          </p:nvPr>
        </p:nvGraphicFramePr>
        <p:xfrm>
          <a:off x="476249" y="1626774"/>
          <a:ext cx="10849476" cy="4293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492">
                  <a:extLst>
                    <a:ext uri="{9D8B030D-6E8A-4147-A177-3AD203B41FA5}">
                      <a16:colId xmlns:a16="http://schemas.microsoft.com/office/drawing/2014/main" val="3766063464"/>
                    </a:ext>
                  </a:extLst>
                </a:gridCol>
                <a:gridCol w="3616492">
                  <a:extLst>
                    <a:ext uri="{9D8B030D-6E8A-4147-A177-3AD203B41FA5}">
                      <a16:colId xmlns:a16="http://schemas.microsoft.com/office/drawing/2014/main" val="2424997888"/>
                    </a:ext>
                  </a:extLst>
                </a:gridCol>
                <a:gridCol w="3616492">
                  <a:extLst>
                    <a:ext uri="{9D8B030D-6E8A-4147-A177-3AD203B41FA5}">
                      <a16:colId xmlns:a16="http://schemas.microsoft.com/office/drawing/2014/main" val="922073206"/>
                    </a:ext>
                  </a:extLst>
                </a:gridCol>
              </a:tblGrid>
              <a:tr h="479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특징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HSRP 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HSRP v2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779631"/>
                  </a:ext>
                </a:extLst>
              </a:tr>
              <a:tr h="499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지원 </a:t>
                      </a:r>
                      <a:r>
                        <a:rPr lang="en-US" b="1" dirty="0"/>
                        <a:t>IP </a:t>
                      </a:r>
                      <a:r>
                        <a:rPr lang="ko-KR" altLang="en-US" b="1" dirty="0"/>
                        <a:t>버전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IPv4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IPv4 (v2</a:t>
                      </a:r>
                      <a:r>
                        <a:rPr lang="ko-KR" altLang="en-US"/>
                        <a:t>는 </a:t>
                      </a:r>
                      <a:r>
                        <a:rPr lang="en-US" altLang="ko-KR"/>
                        <a:t>IPv6 </a:t>
                      </a:r>
                      <a:r>
                        <a:rPr lang="ko-KR" altLang="en-US"/>
                        <a:t>지원 아님</a:t>
                      </a:r>
                      <a:r>
                        <a:rPr lang="en-US" altLang="ko-KR"/>
                        <a:t>, HSRP for IPv6</a:t>
                      </a:r>
                      <a:r>
                        <a:rPr lang="ko-KR" altLang="en-US"/>
                        <a:t>는 별도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565909"/>
                  </a:ext>
                </a:extLst>
              </a:tr>
              <a:tr h="479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그룹 번호 범위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 ~ 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 ~ 4095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992774"/>
                  </a:ext>
                </a:extLst>
              </a:tr>
              <a:tr h="479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가상 </a:t>
                      </a:r>
                      <a:r>
                        <a:rPr lang="en-US" altLang="ko-KR" b="1" dirty="0"/>
                        <a:t>MAC </a:t>
                      </a:r>
                      <a:r>
                        <a:rPr lang="ko-KR" altLang="en-US" b="1" dirty="0"/>
                        <a:t>주소 형식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0000.0c07.acXX (XX = </a:t>
                      </a:r>
                      <a:r>
                        <a:rPr lang="ko-KR" altLang="en-US" dirty="0"/>
                        <a:t>그룹 번호 </a:t>
                      </a:r>
                      <a:r>
                        <a:rPr lang="en-US" altLang="ko-KR" dirty="0"/>
                        <a:t>0~255)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0000.0c9f.fXXX (XXX = </a:t>
                      </a:r>
                      <a:r>
                        <a:rPr lang="ko-KR" altLang="en-US" dirty="0"/>
                        <a:t>그룹 번호 </a:t>
                      </a:r>
                      <a:r>
                        <a:rPr lang="en-US" altLang="ko-KR" dirty="0"/>
                        <a:t>0~4095)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499025"/>
                  </a:ext>
                </a:extLst>
              </a:tr>
              <a:tr h="584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타이머 단위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초 단위 </a:t>
                      </a:r>
                      <a:r>
                        <a:rPr lang="en-US" altLang="ko-KR" dirty="0"/>
                        <a:t>(</a:t>
                      </a:r>
                      <a:r>
                        <a:rPr lang="en-US" dirty="0"/>
                        <a:t>default hello 3</a:t>
                      </a:r>
                      <a:r>
                        <a:rPr lang="ko-KR" altLang="en-US" dirty="0"/>
                        <a:t>초 </a:t>
                      </a:r>
                      <a:r>
                        <a:rPr lang="en-US" altLang="ko-KR" dirty="0"/>
                        <a:t>/ </a:t>
                      </a:r>
                      <a:r>
                        <a:rPr lang="en-US" dirty="0"/>
                        <a:t>hold 10</a:t>
                      </a:r>
                      <a:r>
                        <a:rPr lang="ko-KR" altLang="en-US" dirty="0"/>
                        <a:t>초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초 단위 </a:t>
                      </a:r>
                      <a:r>
                        <a:rPr lang="en-US" altLang="ko-KR" dirty="0"/>
                        <a:t>(</a:t>
                      </a:r>
                      <a:r>
                        <a:rPr lang="en-US" dirty="0"/>
                        <a:t>default hello 3</a:t>
                      </a:r>
                      <a:r>
                        <a:rPr lang="ko-KR" altLang="en-US" dirty="0"/>
                        <a:t>초 </a:t>
                      </a:r>
                      <a:r>
                        <a:rPr lang="en-US" altLang="ko-KR" dirty="0"/>
                        <a:t>/ </a:t>
                      </a:r>
                      <a:r>
                        <a:rPr lang="en-US" dirty="0"/>
                        <a:t>hold 10</a:t>
                      </a:r>
                      <a:r>
                        <a:rPr lang="ko-KR" altLang="en-US" dirty="0"/>
                        <a:t>초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149720"/>
                  </a:ext>
                </a:extLst>
              </a:tr>
              <a:tr h="718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/>
                        <a:t>동작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IPv4</a:t>
                      </a:r>
                      <a:r>
                        <a:rPr lang="ko-KR" altLang="en-US" dirty="0"/>
                        <a:t>만 지원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그룹 번호 제한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IPv4</a:t>
                      </a:r>
                      <a:r>
                        <a:rPr lang="ko-KR" altLang="en-US" dirty="0"/>
                        <a:t>만 지원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그룹 번호 확장</a:t>
                      </a:r>
                      <a:r>
                        <a:rPr lang="en-US" altLang="ko-KR" dirty="0"/>
                        <a:t>, MAC </a:t>
                      </a:r>
                      <a:r>
                        <a:rPr lang="ko-KR" altLang="en-US" dirty="0"/>
                        <a:t>주소 확장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134633"/>
                  </a:ext>
                </a:extLst>
              </a:tr>
              <a:tr h="1033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주요 개선점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기본 </a:t>
                      </a:r>
                      <a:r>
                        <a:rPr lang="en-US" dirty="0"/>
                        <a:t>HSRP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그룹 번호 확장</a:t>
                      </a:r>
                      <a:r>
                        <a:rPr lang="en-US" altLang="ko-KR" dirty="0"/>
                        <a:t>, MAC </a:t>
                      </a:r>
                      <a:r>
                        <a:rPr lang="ko-KR" altLang="en-US" dirty="0"/>
                        <a:t>주소 충돌 최소화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대규모 네트워크 대응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6209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33">
          <a:extLst>
            <a:ext uri="{FF2B5EF4-FFF2-40B4-BE49-F238E27FC236}">
              <a16:creationId xmlns:a16="http://schemas.microsoft.com/office/drawing/2014/main" id="{F7BF39CF-F551-D0FC-1E11-7C71AAB3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 descr="image.png">
            <a:extLst>
              <a:ext uri="{FF2B5EF4-FFF2-40B4-BE49-F238E27FC236}">
                <a16:creationId xmlns:a16="http://schemas.microsoft.com/office/drawing/2014/main" id="{F1891B75-0A0E-4146-D1A9-23F32EF641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>
            <a:extLst>
              <a:ext uri="{FF2B5EF4-FFF2-40B4-BE49-F238E27FC236}">
                <a16:creationId xmlns:a16="http://schemas.microsoft.com/office/drawing/2014/main" id="{C08B5E52-458B-23E5-B108-570C374981E4}"/>
              </a:ext>
            </a:extLst>
          </p:cNvPr>
          <p:cNvSpPr txBox="1"/>
          <p:nvPr/>
        </p:nvSpPr>
        <p:spPr>
          <a:xfrm>
            <a:off x="476250" y="47625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HSRP 주요 설정 옵션</a:t>
            </a:r>
            <a:endParaRPr/>
          </a:p>
        </p:txBody>
      </p:sp>
      <p:sp>
        <p:nvSpPr>
          <p:cNvPr id="236" name="Google Shape;236;p20">
            <a:extLst>
              <a:ext uri="{FF2B5EF4-FFF2-40B4-BE49-F238E27FC236}">
                <a16:creationId xmlns:a16="http://schemas.microsoft.com/office/drawing/2014/main" id="{76FD1022-0F2F-F4F6-7110-6D0B56309F60}"/>
              </a:ext>
            </a:extLst>
          </p:cNvPr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>
            <a:extLst>
              <a:ext uri="{FF2B5EF4-FFF2-40B4-BE49-F238E27FC236}">
                <a16:creationId xmlns:a16="http://schemas.microsoft.com/office/drawing/2014/main" id="{CA30DD9D-A8ED-5A1D-417B-EECF5A2DDB46}"/>
              </a:ext>
            </a:extLst>
          </p:cNvPr>
          <p:cNvSpPr txBox="1"/>
          <p:nvPr/>
        </p:nvSpPr>
        <p:spPr>
          <a:xfrm>
            <a:off x="762000" y="2447925"/>
            <a:ext cx="1095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Priority (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우선순위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Active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선출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기준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Default 100. (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높을수록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우선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239" name="Google Shape;239;p20">
            <a:extLst>
              <a:ext uri="{FF2B5EF4-FFF2-40B4-BE49-F238E27FC236}">
                <a16:creationId xmlns:a16="http://schemas.microsoft.com/office/drawing/2014/main" id="{830D23E3-DCCC-8975-4AA5-B0B886EBFB18}"/>
              </a:ext>
            </a:extLst>
          </p:cNvPr>
          <p:cNvSpPr txBox="1"/>
          <p:nvPr/>
        </p:nvSpPr>
        <p:spPr>
          <a:xfrm>
            <a:off x="762000" y="3171825"/>
            <a:ext cx="1095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Preempt (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선점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죽었던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Active가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살아났을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때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다시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권한을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가져오기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위한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(Delay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권장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240" name="Google Shape;240;p20">
            <a:extLst>
              <a:ext uri="{FF2B5EF4-FFF2-40B4-BE49-F238E27FC236}">
                <a16:creationId xmlns:a16="http://schemas.microsoft.com/office/drawing/2014/main" id="{0CEAC5E5-E385-080D-DD01-E2DECBDD1141}"/>
              </a:ext>
            </a:extLst>
          </p:cNvPr>
          <p:cNvSpPr txBox="1"/>
          <p:nvPr/>
        </p:nvSpPr>
        <p:spPr>
          <a:xfrm>
            <a:off x="762000" y="3895725"/>
            <a:ext cx="1095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Timers (</a:t>
            </a:r>
            <a:r>
              <a:rPr lang="en-US" sz="1500" b="1" i="0" u="none" strike="noStrike" cap="none" dirty="0" err="1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타이머</a:t>
            </a: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Default Hello 3초, Hold 10초. Hold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시간은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Hello의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3배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이상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권장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41" name="Google Shape;241;p20">
            <a:extLst>
              <a:ext uri="{FF2B5EF4-FFF2-40B4-BE49-F238E27FC236}">
                <a16:creationId xmlns:a16="http://schemas.microsoft.com/office/drawing/2014/main" id="{ABF827E4-0CB2-6A30-8C6E-4FB908AD6F71}"/>
              </a:ext>
            </a:extLst>
          </p:cNvPr>
          <p:cNvSpPr txBox="1"/>
          <p:nvPr/>
        </p:nvSpPr>
        <p:spPr>
          <a:xfrm>
            <a:off x="762000" y="4619625"/>
            <a:ext cx="1095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7BFF"/>
                </a:solidFill>
                <a:latin typeface="Arial"/>
                <a:ea typeface="Arial"/>
                <a:cs typeface="Arial"/>
                <a:sym typeface="Arial"/>
              </a:rPr>
              <a:t>Interface Tracking: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외부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인터페이스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장애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시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Priority를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감소시켜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역할을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넘기는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기능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42" name="Google Shape;242;p20" descr="image.png">
            <a:extLst>
              <a:ext uri="{FF2B5EF4-FFF2-40B4-BE49-F238E27FC236}">
                <a16:creationId xmlns:a16="http://schemas.microsoft.com/office/drawing/2014/main" id="{3FEBBC94-8D8E-68F3-FB65-B519F07FA1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76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>
            <a:extLst>
              <a:ext uri="{FF2B5EF4-FFF2-40B4-BE49-F238E27FC236}">
                <a16:creationId xmlns:a16="http://schemas.microsoft.com/office/drawing/2014/main" id="{CB6E711C-82B7-5C33-CE76-12FD4F3E76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200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>
            <a:extLst>
              <a:ext uri="{FF2B5EF4-FFF2-40B4-BE49-F238E27FC236}">
                <a16:creationId xmlns:a16="http://schemas.microsoft.com/office/drawing/2014/main" id="{3B739DA1-3F0B-CF52-81D9-02DBFC905CE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924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>
            <a:extLst>
              <a:ext uri="{FF2B5EF4-FFF2-40B4-BE49-F238E27FC236}">
                <a16:creationId xmlns:a16="http://schemas.microsoft.com/office/drawing/2014/main" id="{D1460F67-D586-B481-C6F9-15A6F404AD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46482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4616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33">
          <a:extLst>
            <a:ext uri="{FF2B5EF4-FFF2-40B4-BE49-F238E27FC236}">
              <a16:creationId xmlns:a16="http://schemas.microsoft.com/office/drawing/2014/main" id="{AE5A4B1E-36FA-7E8F-CDFB-0A2EF0AC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 descr="image.png">
            <a:extLst>
              <a:ext uri="{FF2B5EF4-FFF2-40B4-BE49-F238E27FC236}">
                <a16:creationId xmlns:a16="http://schemas.microsoft.com/office/drawing/2014/main" id="{94DE2A2B-D685-51B7-0E1E-99EFA386FA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>
            <a:extLst>
              <a:ext uri="{FF2B5EF4-FFF2-40B4-BE49-F238E27FC236}">
                <a16:creationId xmlns:a16="http://schemas.microsoft.com/office/drawing/2014/main" id="{A2F56BCD-347F-2989-1D6F-26BB1A78A391}"/>
              </a:ext>
            </a:extLst>
          </p:cNvPr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150" b="1" dirty="0">
                <a:solidFill>
                  <a:srgbClr val="003366"/>
                </a:solidFill>
              </a:rPr>
              <a:t>확인 명령어</a:t>
            </a:r>
            <a:endParaRPr dirty="0"/>
          </a:p>
        </p:txBody>
      </p:sp>
      <p:sp>
        <p:nvSpPr>
          <p:cNvPr id="236" name="Google Shape;236;p20">
            <a:extLst>
              <a:ext uri="{FF2B5EF4-FFF2-40B4-BE49-F238E27FC236}">
                <a16:creationId xmlns:a16="http://schemas.microsoft.com/office/drawing/2014/main" id="{E499FA71-CF6E-8C33-4725-565D498AC3BE}"/>
              </a:ext>
            </a:extLst>
          </p:cNvPr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B0338B-51A2-6B39-7797-D6E42985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08672"/>
            <a:ext cx="5631818" cy="3594875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449D71E-62FA-01AB-D160-2269B71E3AB2}"/>
              </a:ext>
            </a:extLst>
          </p:cNvPr>
          <p:cNvCxnSpPr>
            <a:cxnSpLocks/>
          </p:cNvCxnSpPr>
          <p:nvPr/>
        </p:nvCxnSpPr>
        <p:spPr>
          <a:xfrm flipH="1">
            <a:off x="2042926" y="1788948"/>
            <a:ext cx="4200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7B138E-277B-248E-E49A-B2E5E72F0CE2}"/>
              </a:ext>
            </a:extLst>
          </p:cNvPr>
          <p:cNvSpPr txBox="1"/>
          <p:nvPr/>
        </p:nvSpPr>
        <p:spPr>
          <a:xfrm>
            <a:off x="6265802" y="1613111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en-US" altLang="ko-KR" sz="1200" dirty="0" err="1"/>
              <a:t>Vlan</a:t>
            </a:r>
            <a:r>
              <a:rPr lang="en-US" altLang="ko-KR" sz="1200" dirty="0"/>
              <a:t> </a:t>
            </a:r>
            <a:r>
              <a:rPr lang="ko-KR" altLang="en-US" sz="1200" dirty="0"/>
              <a:t>및 </a:t>
            </a:r>
            <a:r>
              <a:rPr lang="en-US" altLang="ko-KR" sz="1200" dirty="0"/>
              <a:t>HSRP </a:t>
            </a:r>
            <a:r>
              <a:rPr lang="ko-KR" altLang="en-US" sz="1200" dirty="0"/>
              <a:t>그룹 번호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C937B6D-6959-DAA5-C1CF-DA3FFAE3213C}"/>
              </a:ext>
            </a:extLst>
          </p:cNvPr>
          <p:cNvCxnSpPr>
            <a:cxnSpLocks/>
          </p:cNvCxnSpPr>
          <p:nvPr/>
        </p:nvCxnSpPr>
        <p:spPr>
          <a:xfrm flipH="1">
            <a:off x="2085173" y="1992951"/>
            <a:ext cx="4200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1B47D6D-7DD1-8B63-558D-54A71DC60B8A}"/>
              </a:ext>
            </a:extLst>
          </p:cNvPr>
          <p:cNvSpPr txBox="1"/>
          <p:nvPr/>
        </p:nvSpPr>
        <p:spPr>
          <a:xfrm>
            <a:off x="6317950" y="1851532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 </a:t>
            </a:r>
            <a:r>
              <a:rPr lang="ko-KR" altLang="en-US" sz="1200" dirty="0"/>
              <a:t>현재 스위치의 </a:t>
            </a:r>
            <a:r>
              <a:rPr lang="en-US" altLang="ko-KR" sz="1200" dirty="0"/>
              <a:t>HSRP </a:t>
            </a:r>
            <a:r>
              <a:rPr lang="ko-KR" altLang="en-US" sz="1200" dirty="0"/>
              <a:t>상태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0E57A22-93A0-6311-2367-47A800010A60}"/>
              </a:ext>
            </a:extLst>
          </p:cNvPr>
          <p:cNvCxnSpPr>
            <a:cxnSpLocks/>
          </p:cNvCxnSpPr>
          <p:nvPr/>
        </p:nvCxnSpPr>
        <p:spPr>
          <a:xfrm flipH="1">
            <a:off x="4697028" y="2246448"/>
            <a:ext cx="4200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740AE37-2B59-FAD7-5120-1251F3462EA7}"/>
              </a:ext>
            </a:extLst>
          </p:cNvPr>
          <p:cNvSpPr txBox="1"/>
          <p:nvPr/>
        </p:nvSpPr>
        <p:spPr>
          <a:xfrm>
            <a:off x="8885554" y="2108978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 </a:t>
            </a:r>
            <a:r>
              <a:rPr lang="ko-KR" altLang="en-US" sz="1200" dirty="0"/>
              <a:t>스위치 상태 변화 횟수 및 변경 시간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B166475-2F4F-02F8-D1E4-CE64FADC15D6}"/>
              </a:ext>
            </a:extLst>
          </p:cNvPr>
          <p:cNvCxnSpPr>
            <a:cxnSpLocks/>
          </p:cNvCxnSpPr>
          <p:nvPr/>
        </p:nvCxnSpPr>
        <p:spPr>
          <a:xfrm flipH="1">
            <a:off x="3511166" y="2468557"/>
            <a:ext cx="4200808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8342585-50A7-DA53-A854-EC617BF81A97}"/>
              </a:ext>
            </a:extLst>
          </p:cNvPr>
          <p:cNvSpPr txBox="1"/>
          <p:nvPr/>
        </p:nvSpPr>
        <p:spPr>
          <a:xfrm>
            <a:off x="7696287" y="2330455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 V.IP</a:t>
            </a:r>
            <a:r>
              <a:rPr lang="ko-KR" altLang="en-US" sz="1200" dirty="0"/>
              <a:t>의 </a:t>
            </a:r>
            <a:r>
              <a:rPr lang="en-US" altLang="ko-KR" sz="1200" dirty="0"/>
              <a:t>IP</a:t>
            </a:r>
            <a:r>
              <a:rPr lang="ko-KR" altLang="en-US" sz="1200" dirty="0"/>
              <a:t>주소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2FE46F5-34B7-F33D-FDD3-4F4C73B52D46}"/>
              </a:ext>
            </a:extLst>
          </p:cNvPr>
          <p:cNvCxnSpPr>
            <a:cxnSpLocks/>
          </p:cNvCxnSpPr>
          <p:nvPr/>
        </p:nvCxnSpPr>
        <p:spPr>
          <a:xfrm flipH="1">
            <a:off x="4626250" y="2706645"/>
            <a:ext cx="4200808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6FB68AE-B872-7C8F-BAEC-374C5FAEE29E}"/>
              </a:ext>
            </a:extLst>
          </p:cNvPr>
          <p:cNvSpPr txBox="1"/>
          <p:nvPr/>
        </p:nvSpPr>
        <p:spPr>
          <a:xfrm>
            <a:off x="8817407" y="2583392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5. Active V.MAC </a:t>
            </a:r>
            <a:r>
              <a:rPr lang="ko-KR" altLang="en-US" sz="1200" dirty="0"/>
              <a:t>주소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DD8D60F-AC4F-B0D6-D719-4E4E08AACEA0}"/>
              </a:ext>
            </a:extLst>
          </p:cNvPr>
          <p:cNvCxnSpPr>
            <a:cxnSpLocks/>
          </p:cNvCxnSpPr>
          <p:nvPr/>
        </p:nvCxnSpPr>
        <p:spPr>
          <a:xfrm flipH="1">
            <a:off x="5800114" y="2967687"/>
            <a:ext cx="4200808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533FC1-146D-4C1C-2E20-E431F5524304}"/>
              </a:ext>
            </a:extLst>
          </p:cNvPr>
          <p:cNvSpPr txBox="1"/>
          <p:nvPr/>
        </p:nvSpPr>
        <p:spPr>
          <a:xfrm>
            <a:off x="10000922" y="2857471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6. </a:t>
            </a:r>
            <a:r>
              <a:rPr lang="ko-KR" altLang="en-US" sz="1200" dirty="0"/>
              <a:t>현재 </a:t>
            </a:r>
            <a:r>
              <a:rPr lang="en-US" altLang="ko-KR" sz="1200" dirty="0"/>
              <a:t>V.MAC </a:t>
            </a:r>
            <a:r>
              <a:rPr lang="ko-KR" altLang="en-US" sz="1200" dirty="0"/>
              <a:t>주소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993A98D-DB3C-4080-63BC-D13ECE5ED9EE}"/>
              </a:ext>
            </a:extLst>
          </p:cNvPr>
          <p:cNvCxnSpPr>
            <a:cxnSpLocks/>
          </p:cNvCxnSpPr>
          <p:nvPr/>
        </p:nvCxnSpPr>
        <p:spPr>
          <a:xfrm flipH="1">
            <a:off x="3716376" y="3206109"/>
            <a:ext cx="420080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2059526-06E8-87F9-5EE1-EEE88F98868E}"/>
              </a:ext>
            </a:extLst>
          </p:cNvPr>
          <p:cNvSpPr txBox="1"/>
          <p:nvPr/>
        </p:nvSpPr>
        <p:spPr>
          <a:xfrm>
            <a:off x="7880690" y="3064178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7. Hello </a:t>
            </a:r>
            <a:r>
              <a:rPr lang="ko-KR" altLang="en-US" sz="1200" dirty="0"/>
              <a:t>패킷 전송 시간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326DB00-6DD8-9E72-9CC1-6A0E39D63711}"/>
              </a:ext>
            </a:extLst>
          </p:cNvPr>
          <p:cNvCxnSpPr>
            <a:cxnSpLocks/>
          </p:cNvCxnSpPr>
          <p:nvPr/>
        </p:nvCxnSpPr>
        <p:spPr>
          <a:xfrm flipH="1">
            <a:off x="3447720" y="3429000"/>
            <a:ext cx="4200808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FF21262-CCCD-FD22-6C18-6A5316250EE6}"/>
              </a:ext>
            </a:extLst>
          </p:cNvPr>
          <p:cNvSpPr txBox="1"/>
          <p:nvPr/>
        </p:nvSpPr>
        <p:spPr>
          <a:xfrm>
            <a:off x="7648528" y="3305301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8. </a:t>
            </a:r>
            <a:r>
              <a:rPr lang="ko-KR" altLang="en-US" sz="1200" dirty="0"/>
              <a:t>다음 </a:t>
            </a:r>
            <a:r>
              <a:rPr lang="en-US" altLang="ko-KR" sz="1200" dirty="0"/>
              <a:t>Hello </a:t>
            </a:r>
            <a:r>
              <a:rPr lang="ko-KR" altLang="en-US" sz="1200" dirty="0"/>
              <a:t>패킷 전송 시간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D60A699-20BF-D9DD-F512-6B0BC8B1E534}"/>
              </a:ext>
            </a:extLst>
          </p:cNvPr>
          <p:cNvCxnSpPr>
            <a:cxnSpLocks/>
          </p:cNvCxnSpPr>
          <p:nvPr/>
        </p:nvCxnSpPr>
        <p:spPr>
          <a:xfrm flipH="1">
            <a:off x="2380991" y="3691628"/>
            <a:ext cx="4200808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F5F7F4B-7D3B-9A49-51B4-B4C6A8514F41}"/>
              </a:ext>
            </a:extLst>
          </p:cNvPr>
          <p:cNvSpPr txBox="1"/>
          <p:nvPr/>
        </p:nvSpPr>
        <p:spPr>
          <a:xfrm>
            <a:off x="6581799" y="3558434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9. Preempt </a:t>
            </a:r>
            <a:r>
              <a:rPr lang="ko-KR" altLang="en-US" sz="1200" dirty="0"/>
              <a:t>동작 상태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6A6D617-E1E1-E75E-D145-01EA893C3CCC}"/>
              </a:ext>
            </a:extLst>
          </p:cNvPr>
          <p:cNvCxnSpPr>
            <a:cxnSpLocks/>
          </p:cNvCxnSpPr>
          <p:nvPr/>
        </p:nvCxnSpPr>
        <p:spPr>
          <a:xfrm flipH="1">
            <a:off x="2678035" y="3915915"/>
            <a:ext cx="4200808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F065873-F0D7-60E7-8A40-E8A64FCF3E2C}"/>
              </a:ext>
            </a:extLst>
          </p:cNvPr>
          <p:cNvSpPr txBox="1"/>
          <p:nvPr/>
        </p:nvSpPr>
        <p:spPr>
          <a:xfrm>
            <a:off x="6878843" y="3792660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10. </a:t>
            </a:r>
            <a:r>
              <a:rPr lang="ko-KR" altLang="en-US" sz="1200" dirty="0"/>
              <a:t>라우터 자신이 </a:t>
            </a:r>
            <a:r>
              <a:rPr lang="en-US" altLang="ko-KR" sz="1200" dirty="0"/>
              <a:t>active(local)</a:t>
            </a:r>
            <a:endParaRPr lang="ko-KR" altLang="en-US" sz="1200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A47D380-0946-FA26-BB91-7914294FFCF6}"/>
              </a:ext>
            </a:extLst>
          </p:cNvPr>
          <p:cNvCxnSpPr>
            <a:cxnSpLocks/>
          </p:cNvCxnSpPr>
          <p:nvPr/>
        </p:nvCxnSpPr>
        <p:spPr>
          <a:xfrm flipH="1">
            <a:off x="6079122" y="4217393"/>
            <a:ext cx="3265704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EC96602-02F4-F3FE-974C-4E9F63A3FFF0}"/>
              </a:ext>
            </a:extLst>
          </p:cNvPr>
          <p:cNvSpPr txBox="1"/>
          <p:nvPr/>
        </p:nvSpPr>
        <p:spPr>
          <a:xfrm>
            <a:off x="9305749" y="4081968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11. Standby</a:t>
            </a:r>
            <a:r>
              <a:rPr lang="ko-KR" altLang="en-US" sz="1200" dirty="0"/>
              <a:t> 라우터 </a:t>
            </a:r>
            <a:r>
              <a:rPr lang="en-US" altLang="ko-KR" sz="1200" dirty="0"/>
              <a:t>IP </a:t>
            </a:r>
            <a:r>
              <a:rPr lang="ko-KR" altLang="en-US" sz="1200" dirty="0"/>
              <a:t>및 </a:t>
            </a:r>
            <a:r>
              <a:rPr lang="en-US" altLang="ko-KR" sz="1200" dirty="0"/>
              <a:t>priority </a:t>
            </a:r>
            <a:r>
              <a:rPr lang="ko-KR" altLang="en-US" sz="1200" dirty="0"/>
              <a:t>값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ADFDD78-0A9A-DC9F-28AF-52BA25F29444}"/>
              </a:ext>
            </a:extLst>
          </p:cNvPr>
          <p:cNvCxnSpPr>
            <a:cxnSpLocks/>
          </p:cNvCxnSpPr>
          <p:nvPr/>
        </p:nvCxnSpPr>
        <p:spPr>
          <a:xfrm flipH="1">
            <a:off x="3068421" y="4394673"/>
            <a:ext cx="3265704" cy="0"/>
          </a:xfrm>
          <a:prstGeom prst="straightConnector1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D7C88A8-52A4-EF41-4D8C-E01E747438DD}"/>
              </a:ext>
            </a:extLst>
          </p:cNvPr>
          <p:cNvSpPr txBox="1"/>
          <p:nvPr/>
        </p:nvSpPr>
        <p:spPr>
          <a:xfrm>
            <a:off x="6334125" y="4225401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12. </a:t>
            </a:r>
            <a:r>
              <a:rPr lang="ko-KR" altLang="en-US" sz="1200" dirty="0"/>
              <a:t>본인의 </a:t>
            </a:r>
            <a:r>
              <a:rPr lang="en-US" altLang="ko-KR" sz="1200" dirty="0"/>
              <a:t>priority </a:t>
            </a:r>
            <a:r>
              <a:rPr lang="ko-KR" altLang="en-US" sz="1200" dirty="0"/>
              <a:t>값 </a:t>
            </a:r>
            <a:r>
              <a:rPr lang="en-US" altLang="ko-KR" sz="1200" dirty="0"/>
              <a:t>(default=100)</a:t>
            </a:r>
            <a:endParaRPr lang="ko-KR" altLang="en-US" sz="1200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0ACC812-A01D-6759-4517-F849C331E90D}"/>
              </a:ext>
            </a:extLst>
          </p:cNvPr>
          <p:cNvCxnSpPr>
            <a:cxnSpLocks/>
          </p:cNvCxnSpPr>
          <p:nvPr/>
        </p:nvCxnSpPr>
        <p:spPr>
          <a:xfrm flipH="1">
            <a:off x="4129678" y="4629249"/>
            <a:ext cx="3265704" cy="0"/>
          </a:xfrm>
          <a:prstGeom prst="straightConnector1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A12DEA6-ED1E-B56A-0582-4C3D80DE9EBF}"/>
              </a:ext>
            </a:extLst>
          </p:cNvPr>
          <p:cNvSpPr txBox="1"/>
          <p:nvPr/>
        </p:nvSpPr>
        <p:spPr>
          <a:xfrm>
            <a:off x="7470912" y="4489543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13. Track </a:t>
            </a:r>
            <a:r>
              <a:rPr lang="ko-KR" altLang="en-US" sz="1200" dirty="0"/>
              <a:t>대상</a:t>
            </a:r>
            <a:r>
              <a:rPr lang="en-US" altLang="ko-KR" sz="1200" dirty="0"/>
              <a:t>, </a:t>
            </a:r>
            <a:r>
              <a:rPr lang="ko-KR" altLang="en-US" sz="1200" dirty="0"/>
              <a:t>상태</a:t>
            </a:r>
            <a:r>
              <a:rPr lang="en-US" altLang="ko-KR" sz="1200" dirty="0"/>
              <a:t>, </a:t>
            </a:r>
            <a:r>
              <a:rPr lang="ko-KR" altLang="en-US" sz="1200" dirty="0"/>
              <a:t>변경할 </a:t>
            </a:r>
            <a:r>
              <a:rPr lang="en-US" altLang="ko-KR" sz="1200" dirty="0"/>
              <a:t>priority </a:t>
            </a:r>
            <a:r>
              <a:rPr lang="ko-KR" altLang="en-US" sz="1200" dirty="0"/>
              <a:t>값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223CEDA-4E9B-7DC5-81CD-021C1796208F}"/>
              </a:ext>
            </a:extLst>
          </p:cNvPr>
          <p:cNvCxnSpPr>
            <a:cxnSpLocks/>
          </p:cNvCxnSpPr>
          <p:nvPr/>
        </p:nvCxnSpPr>
        <p:spPr>
          <a:xfrm flipH="1">
            <a:off x="4778439" y="4865032"/>
            <a:ext cx="3265704" cy="0"/>
          </a:xfrm>
          <a:prstGeom prst="straightConnector1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3921F5E-E091-81F4-C5F3-DBCEA3A586BE}"/>
              </a:ext>
            </a:extLst>
          </p:cNvPr>
          <p:cNvSpPr txBox="1"/>
          <p:nvPr/>
        </p:nvSpPr>
        <p:spPr>
          <a:xfrm>
            <a:off x="8044143" y="4700628"/>
            <a:ext cx="3153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14. HSRP </a:t>
            </a:r>
            <a:r>
              <a:rPr lang="ko-KR" altLang="en-US" sz="1200" dirty="0"/>
              <a:t>프로세스 이름</a:t>
            </a:r>
          </a:p>
        </p:txBody>
      </p:sp>
    </p:spTree>
    <p:extLst>
      <p:ext uri="{BB962C8B-B14F-4D97-AF65-F5344CB8AC3E}">
        <p14:creationId xmlns:p14="http://schemas.microsoft.com/office/powerpoint/2010/main" val="102082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CB9D042A-F873-6D6A-AE54-F503821A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2919FD8A-A977-A87E-A366-D867B2950C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A4E11887-1A93-B12D-E0BB-37C6498FD7C4}"/>
              </a:ext>
            </a:extLst>
          </p:cNvPr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HSRP </a:t>
            </a:r>
            <a:r>
              <a:rPr lang="ko-KR" alt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동작 과정 및 실습</a:t>
            </a:r>
            <a:endParaRPr dirty="0"/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12E90EDD-4414-6A51-F5B3-2FCA8F9279EB}"/>
              </a:ext>
            </a:extLst>
          </p:cNvPr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08251E4-ED16-0FE6-2BE0-25EEBD18C4EF}"/>
              </a:ext>
            </a:extLst>
          </p:cNvPr>
          <p:cNvSpPr/>
          <p:nvPr/>
        </p:nvSpPr>
        <p:spPr>
          <a:xfrm>
            <a:off x="5423026" y="2860895"/>
            <a:ext cx="1475715" cy="100493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V_GW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V_MAC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VIP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2CFE4-1087-D102-D20F-0E091650776C}"/>
              </a:ext>
            </a:extLst>
          </p:cNvPr>
          <p:cNvSpPr txBox="1"/>
          <p:nvPr/>
        </p:nvSpPr>
        <p:spPr>
          <a:xfrm>
            <a:off x="1851890" y="2707006"/>
            <a:ext cx="1369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       SW1</a:t>
            </a:r>
          </a:p>
          <a:p>
            <a:r>
              <a:rPr lang="en-US" altLang="ko-KR" dirty="0"/>
              <a:t>Active </a:t>
            </a:r>
            <a:r>
              <a:rPr lang="en-US" altLang="ko-KR" dirty="0" err="1"/>
              <a:t>pri</a:t>
            </a:r>
            <a:r>
              <a:rPr lang="en-US" altLang="ko-KR" dirty="0"/>
              <a:t> : 100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181D2B-C892-B922-91A0-A21D1C349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926" y="1095375"/>
            <a:ext cx="5397721" cy="5762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25B72C-F64D-C451-6E96-B97544F84685}"/>
              </a:ext>
            </a:extLst>
          </p:cNvPr>
          <p:cNvSpPr txBox="1"/>
          <p:nvPr/>
        </p:nvSpPr>
        <p:spPr>
          <a:xfrm>
            <a:off x="1782962" y="3363362"/>
            <a:ext cx="1438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       SW1</a:t>
            </a:r>
          </a:p>
          <a:p>
            <a:r>
              <a:rPr lang="en-US" altLang="ko-KR" dirty="0"/>
              <a:t>Standby </a:t>
            </a:r>
            <a:r>
              <a:rPr lang="en-US" altLang="ko-KR" dirty="0" err="1"/>
              <a:t>pri</a:t>
            </a:r>
            <a:r>
              <a:rPr lang="en-US" altLang="ko-KR" dirty="0"/>
              <a:t> : 90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0F471-0E11-DEF9-4CEA-39055DA05ADC}"/>
              </a:ext>
            </a:extLst>
          </p:cNvPr>
          <p:cNvSpPr txBox="1"/>
          <p:nvPr/>
        </p:nvSpPr>
        <p:spPr>
          <a:xfrm>
            <a:off x="8844075" y="3363362"/>
            <a:ext cx="1269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       SW1</a:t>
            </a:r>
          </a:p>
          <a:p>
            <a:r>
              <a:rPr lang="en-US" altLang="ko-KR" dirty="0"/>
              <a:t>Active </a:t>
            </a:r>
            <a:r>
              <a:rPr lang="en-US" altLang="ko-KR" dirty="0" err="1"/>
              <a:t>pri</a:t>
            </a:r>
            <a:r>
              <a:rPr lang="en-US" altLang="ko-KR" dirty="0"/>
              <a:t> : 95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0ADEEB-D909-3F9F-A138-900B53709537}"/>
              </a:ext>
            </a:extLst>
          </p:cNvPr>
          <p:cNvSpPr txBox="1"/>
          <p:nvPr/>
        </p:nvSpPr>
        <p:spPr>
          <a:xfrm>
            <a:off x="8844075" y="2707006"/>
            <a:ext cx="1438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       SW2</a:t>
            </a:r>
          </a:p>
          <a:p>
            <a:r>
              <a:rPr lang="en-US" altLang="ko-KR" dirty="0"/>
              <a:t>Standby </a:t>
            </a:r>
            <a:r>
              <a:rPr lang="en-US" altLang="ko-KR" dirty="0" err="1"/>
              <a:t>pri</a:t>
            </a:r>
            <a:r>
              <a:rPr lang="en-US" altLang="ko-KR" dirty="0"/>
              <a:t> : 95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D526E-9232-79D5-B01B-C91E9939659C}"/>
              </a:ext>
            </a:extLst>
          </p:cNvPr>
          <p:cNvSpPr txBox="1"/>
          <p:nvPr/>
        </p:nvSpPr>
        <p:spPr>
          <a:xfrm>
            <a:off x="4312208" y="2399229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Track</a:t>
            </a:r>
            <a:endParaRPr lang="ko-KR" altLang="en-US" dirty="0"/>
          </a:p>
        </p:txBody>
      </p:sp>
      <p:sp>
        <p:nvSpPr>
          <p:cNvPr id="33" name="화살표: 굽음 32">
            <a:extLst>
              <a:ext uri="{FF2B5EF4-FFF2-40B4-BE49-F238E27FC236}">
                <a16:creationId xmlns:a16="http://schemas.microsoft.com/office/drawing/2014/main" id="{D096389E-1E6F-917D-6D61-0BB3B7E83F07}"/>
              </a:ext>
            </a:extLst>
          </p:cNvPr>
          <p:cNvSpPr/>
          <p:nvPr/>
        </p:nvSpPr>
        <p:spPr>
          <a:xfrm rot="19113917">
            <a:off x="6285423" y="4442780"/>
            <a:ext cx="1226634" cy="769441"/>
          </a:xfrm>
          <a:prstGeom prst="bentArrow">
            <a:avLst>
              <a:gd name="adj1" fmla="val 13843"/>
              <a:gd name="adj2" fmla="val 19710"/>
              <a:gd name="adj3" fmla="val 25000"/>
              <a:gd name="adj4" fmla="val 2719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위쪽 34">
            <a:extLst>
              <a:ext uri="{FF2B5EF4-FFF2-40B4-BE49-F238E27FC236}">
                <a16:creationId xmlns:a16="http://schemas.microsoft.com/office/drawing/2014/main" id="{532896F4-4F6D-C96E-0B54-904C524319A1}"/>
              </a:ext>
            </a:extLst>
          </p:cNvPr>
          <p:cNvSpPr/>
          <p:nvPr/>
        </p:nvSpPr>
        <p:spPr>
          <a:xfrm rot="2900652">
            <a:off x="5915348" y="3443117"/>
            <a:ext cx="284471" cy="265909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6EF12-E192-BC3D-BDE6-8267BB5C5C80}"/>
              </a:ext>
            </a:extLst>
          </p:cNvPr>
          <p:cNvSpPr txBox="1"/>
          <p:nvPr/>
        </p:nvSpPr>
        <p:spPr>
          <a:xfrm>
            <a:off x="4884925" y="2168396"/>
            <a:ext cx="325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rgbClr val="FF0000"/>
                </a:solidFill>
              </a:rPr>
              <a:t>x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54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8" grpId="0"/>
      <p:bldP spid="9" grpId="0"/>
      <p:bldP spid="10" grpId="0"/>
      <p:bldP spid="12" grpId="0"/>
      <p:bldP spid="33" grpId="0" animBg="1"/>
      <p:bldP spid="3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E5E1D1C7-C9AA-7E7C-E079-03E74CBB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05E6C231-7EEF-0DF3-1431-8A9CB37FB945}"/>
              </a:ext>
            </a:extLst>
          </p:cNvPr>
          <p:cNvSpPr txBox="1"/>
          <p:nvPr/>
        </p:nvSpPr>
        <p:spPr>
          <a:xfrm>
            <a:off x="476250" y="476250"/>
            <a:ext cx="117157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150" b="1" dirty="0">
                <a:solidFill>
                  <a:srgbClr val="003366"/>
                </a:solidFill>
              </a:rPr>
              <a:t>MHSRP</a:t>
            </a:r>
            <a:r>
              <a:rPr lang="ko-KR" altLang="en-US" sz="3150" b="1" i="0" u="none" strike="noStrike" cap="none" dirty="0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실습</a:t>
            </a:r>
            <a:endParaRPr dirty="0"/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34E60D25-A653-13E1-9030-B9796C078584}"/>
              </a:ext>
            </a:extLst>
          </p:cNvPr>
          <p:cNvSpPr/>
          <p:nvPr/>
        </p:nvSpPr>
        <p:spPr>
          <a:xfrm>
            <a:off x="476250" y="1095375"/>
            <a:ext cx="11239500" cy="2857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DD1EF8-FBEB-9F82-9185-467156335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942" y="1123950"/>
            <a:ext cx="6107775" cy="561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48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238125" y="2145059"/>
            <a:ext cx="11715750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476250" y="3257550"/>
            <a:ext cx="11239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FHRP 및 HSRP 설정에 대해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궁금한 점이 있으신가요?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476250" y="4438650"/>
            <a:ext cx="11239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7428</TotalTime>
  <Words>914</Words>
  <Application>Microsoft Office PowerPoint</Application>
  <PresentationFormat>와이드스크린</PresentationFormat>
  <Paragraphs>142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TJ</cp:lastModifiedBy>
  <cp:revision>2</cp:revision>
  <dcterms:modified xsi:type="dcterms:W3CDTF">2025-12-22T09:21:45Z</dcterms:modified>
</cp:coreProperties>
</file>