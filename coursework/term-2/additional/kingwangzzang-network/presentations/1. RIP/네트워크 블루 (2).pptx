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6.xml"  /><Relationship Id="rId2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1E46B4"/>
                </a:solidFill>
              </a:defRPr>
            </a:pPr>
            <a:r>
              <a:t>RIPv2 Auto Summary &amp; Split Horizon (확장 버전)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1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46B4"/>
                </a:solidFill>
              </a:defRPr>
            </a:pPr>
            <a:r>
              <a:t>Auto Summary란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ko-KR" altLang="en-US"/>
              <a:t>Classful 경계를 기준으로 라우팅 정보를 자동 요약</a:t>
            </a:r>
            <a:endParaRPr lang="ko-KR" altLang="en-US"/>
          </a:p>
          <a:p>
            <a:pPr>
              <a:defRPr sz="2400"/>
            </a:pPr>
            <a:r>
              <a:rPr lang="ko-KR" altLang="en-US"/>
              <a:t>Classless(VLSM/CIDR) 환경에서는 문제 발생</a:t>
            </a:r>
            <a:endParaRPr lang="ko-KR" altLang="en-US"/>
          </a:p>
          <a:p>
            <a:pPr>
              <a:defRPr sz="2400"/>
            </a:pPr>
            <a:r>
              <a:rPr lang="ko-KR" altLang="en-US"/>
              <a:t>RIPv2에서는 반드시 no auto-summary 필요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46B4"/>
                </a:solidFill>
              </a:defRPr>
            </a:pPr>
            <a:r>
              <a:t>RIPv2 주요 명령어 표</a:t>
            </a:r>
          </a:p>
        </p:txBody>
      </p:sp>
      <p:pic>
        <p:nvPicPr>
          <p:cNvPr id="3" name="Picture 2" descr="e309bebf-cc7e-4989-8ecf-ef603cb6b8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229600" cy="4898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E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46B4"/>
                </a:solidFill>
              </a:defRPr>
            </a:pPr>
            <a:r>
              <a:t>RIPv1 vs RIPv2 비교 표</a:t>
            </a:r>
          </a:p>
        </p:txBody>
      </p:sp>
      <p:pic>
        <p:nvPicPr>
          <p:cNvPr id="3" name="Picture 2" descr="90971017-1fda-48f8-b36c-e711513e4b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229600" cy="39907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1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46B4"/>
                </a:solidFill>
              </a:defRPr>
            </a:pPr>
            <a:r>
              <a:t>Split Horizon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ko-KR" altLang="en-US"/>
              <a:t>들어온 인터페이스로 다시 광고하지 않음</a:t>
            </a:r>
            <a:endParaRPr lang="ko-KR" altLang="en-US"/>
          </a:p>
          <a:p>
            <a:pPr>
              <a:defRPr sz="2400"/>
            </a:pPr>
            <a:r>
              <a:rPr lang="ko-KR" altLang="en-US"/>
              <a:t>잘못된 루프 방지</a:t>
            </a:r>
            <a:endParaRPr lang="ko-KR" altLang="en-US"/>
          </a:p>
          <a:p>
            <a:pPr>
              <a:defRPr sz="2400"/>
            </a:pPr>
            <a:r>
              <a:rPr lang="ko-KR" altLang="en-US"/>
              <a:t>Count to Infinity 완화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1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46B4"/>
                </a:solidFill>
              </a:defRPr>
            </a:pPr>
            <a:r>
              <a:t>Poison Reverse (Split Horizon 확장)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ko-KR" altLang="en-US"/>
              <a:t>Split Horizon의 약점 보완</a:t>
            </a:r>
            <a:endParaRPr lang="ko-KR" altLang="en-US"/>
          </a:p>
          <a:p>
            <a:pPr>
              <a:defRPr sz="2400"/>
            </a:pPr>
            <a:r>
              <a:rPr lang="ko-KR" altLang="en-US"/>
              <a:t>배운 인터페이스로 다시 광고하되 metric=16(무한) 사용</a:t>
            </a:r>
            <a:endParaRPr lang="ko-KR" altLang="en-US"/>
          </a:p>
          <a:p>
            <a:pPr>
              <a:defRPr sz="2400"/>
            </a:pPr>
            <a:r>
              <a:rPr lang="ko-KR" altLang="en-US"/>
              <a:t>'도달 불가'를 명확히 알림</a:t>
            </a:r>
            <a:endParaRPr lang="ko-KR" altLang="en-US"/>
          </a:p>
          <a:p>
            <a:pPr>
              <a:defRPr sz="2400"/>
            </a:pPr>
            <a:r>
              <a:rPr lang="ko-KR" altLang="en-US"/>
              <a:t>단순 미전송보다 장애 상황을 정확히 전달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1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46B4"/>
                </a:solidFill>
              </a:defRPr>
            </a:pPr>
            <a:r>
              <a:t>RIP 주 안정화 메커니즘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lang="ko-KR" altLang="en-US"/>
              <a:t>Triggered Updates: 변화 즉시 전파</a:t>
            </a:r>
            <a:endParaRPr lang="ko-KR" altLang="en-US"/>
          </a:p>
          <a:p>
            <a:pPr>
              <a:defRPr sz="2400"/>
            </a:pPr>
            <a:r>
              <a:rPr lang="ko-KR" altLang="en-US"/>
              <a:t>Holddown Timer: 불안정 경로 일시 무시</a:t>
            </a:r>
            <a:endParaRPr lang="ko-KR" altLang="en-US"/>
          </a:p>
          <a:p>
            <a:pPr>
              <a:defRPr sz="2400"/>
            </a:pPr>
            <a:r>
              <a:rPr lang="ko-KR" altLang="en-US"/>
              <a:t>Hop Count 제한(최대 15): 무한 루프 방지</a:t>
            </a:r>
            <a:endParaRPr lang="ko-KR" altLang="en-US"/>
          </a:p>
          <a:p>
            <a:pPr>
              <a:defRPr sz="2400"/>
            </a:pPr>
            <a:r>
              <a:rPr lang="ko-KR" altLang="en-US"/>
              <a:t>Split Horizon / Poison Reverse와 함께 안정성 극대화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1e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idx="0"/>
          </p:nvPr>
        </p:nvSpPr>
        <p:spPr/>
        <p:txBody>
          <a:bodyPr/>
          <a:p>
            <a:pPr>
              <a:defRPr/>
            </a:pPr>
            <a:r>
              <a:rPr lang="en-US" altLang="ko-KR"/>
              <a:t>RIP v1 / v2 </a:t>
            </a:r>
            <a:r>
              <a:rPr lang="ko-KR" altLang="en-US"/>
              <a:t>비교실습</a:t>
            </a:r>
            <a:endParaRPr lang="ko-KR" altLang="en-US"/>
          </a:p>
        </p:txBody>
      </p:sp>
      <p:pic>
        <p:nvPicPr>
          <p:cNvPr id="5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442601" y="1417638"/>
            <a:ext cx="6258798" cy="4344006"/>
          </a:xfrm>
          <a:prstGeom prst="rect">
            <a:avLst/>
          </a:prstGeom>
        </p:spPr>
      </p:pic>
      <p:sp>
        <p:nvSpPr>
          <p:cNvPr id="7" name=""/>
          <p:cNvSpPr txBox="1"/>
          <p:nvPr/>
        </p:nvSpPr>
        <p:spPr>
          <a:xfrm>
            <a:off x="2999008" y="5925704"/>
            <a:ext cx="3145982" cy="90181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클래스풀 </a:t>
            </a:r>
            <a:r>
              <a:rPr lang="en-US" altLang="ko-KR"/>
              <a:t>/</a:t>
            </a:r>
            <a:r>
              <a:rPr lang="ko-KR" altLang="en-US"/>
              <a:t> 클래스리스</a:t>
            </a:r>
            <a:endParaRPr lang="ko-KR" altLang="en-US"/>
          </a:p>
          <a:p>
            <a:pPr>
              <a:defRPr/>
            </a:pPr>
            <a:r>
              <a:rPr lang="en-US" altLang="ko-KR"/>
              <a:t>2.</a:t>
            </a:r>
            <a:r>
              <a:rPr lang="ko-KR" altLang="en-US"/>
              <a:t> 브로드캐스트 </a:t>
            </a:r>
            <a:r>
              <a:rPr lang="en-US" altLang="ko-KR"/>
              <a:t>/</a:t>
            </a:r>
            <a:r>
              <a:rPr lang="ko-KR" altLang="en-US"/>
              <a:t> 멀티캐스트</a:t>
            </a:r>
            <a:endParaRPr lang="ko-KR" altLang="en-US"/>
          </a:p>
          <a:p>
            <a:pPr>
              <a:defRPr/>
            </a:pPr>
            <a:r>
              <a:rPr lang="en-US" altLang="ko-KR"/>
              <a:t>3. split horizon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5367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108</ep:Words>
  <ep:PresentationFormat>On-screen Show (4:3)</ep:PresentationFormat>
  <ep:Paragraphs>26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RIPv2 Auto Summary &amp; Split Horizon (확장 버전)</vt:lpstr>
      <vt:lpstr>Auto Summary란</vt:lpstr>
      <vt:lpstr>RIPv2 주요 명령어 표</vt:lpstr>
      <vt:lpstr>RIPv1 vs RIPv2 비교 표</vt:lpstr>
      <vt:lpstr>Split Horizon</vt:lpstr>
      <vt:lpstr>Poison Reverse (Split Horizon 확장)</vt:lpstr>
      <vt:lpstr>RIP 주 안정화 메커니즘</vt:lpstr>
      <vt:lpstr>RIP v1 / v2 비교실습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TJ</cp:lastModifiedBy>
  <dcterms:modified xsi:type="dcterms:W3CDTF">2025-11-17T05:55:58.093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