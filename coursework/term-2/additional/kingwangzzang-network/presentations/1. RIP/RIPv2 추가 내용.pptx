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68" r:id="rId3"/>
    <p:sldId id="271" r:id="rId4"/>
    <p:sldId id="258" r:id="rId5"/>
    <p:sldId id="265" r:id="rId6"/>
    <p:sldId id="266" r:id="rId7"/>
    <p:sldId id="267" r:id="rId8"/>
    <p:sldId id="270" r:id="rId9"/>
  </p:sldIdLst>
  <p:sldSz cx="12192000" cy="6858000"/>
  <p:notesSz cx="6858000" cy="9144000"/>
  <p:embeddedFontLst>
    <p:embeddedFont>
      <p:font typeface="Noto Sans KR" panose="020B0200000000000000" pitchFamily="50" charset="-127"/>
      <p:regular r:id="rId11"/>
      <p:bold r:id="rId12"/>
    </p:embeddedFont>
    <p:embeddedFont>
      <p:font typeface="Roboto Mono" panose="00000009000000000000" pitchFamily="49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957" autoAdjust="0"/>
  </p:normalViewPr>
  <p:slideViewPr>
    <p:cSldViewPr snapToGrid="0">
      <p:cViewPr varScale="1">
        <p:scale>
          <a:sx n="102" d="100"/>
          <a:sy n="102" d="100"/>
        </p:scale>
        <p:origin x="918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F5F48D40-24B6-23D5-8A41-79ED5451F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>
            <a:extLst>
              <a:ext uri="{FF2B5EF4-FFF2-40B4-BE49-F238E27FC236}">
                <a16:creationId xmlns:a16="http://schemas.microsoft.com/office/drawing/2014/main" id="{494F8BEB-5B57-F72D-F1FE-57915F1DC1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>
            <a:extLst>
              <a:ext uri="{FF2B5EF4-FFF2-40B4-BE49-F238E27FC236}">
                <a16:creationId xmlns:a16="http://schemas.microsoft.com/office/drawing/2014/main" id="{E4AC7F35-9E1A-3E68-1159-22B85DEE54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8837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317B5877-E275-34C0-8DB7-CB65E310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>
            <a:extLst>
              <a:ext uri="{FF2B5EF4-FFF2-40B4-BE49-F238E27FC236}">
                <a16:creationId xmlns:a16="http://schemas.microsoft.com/office/drawing/2014/main" id="{BCC13F3C-8455-4F21-00DD-A1D1FC6404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>
            <a:extLst>
              <a:ext uri="{FF2B5EF4-FFF2-40B4-BE49-F238E27FC236}">
                <a16:creationId xmlns:a16="http://schemas.microsoft.com/office/drawing/2014/main" id="{338848E7-34E7-007B-4159-1AA41C9F01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6443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B6DFF09B-4381-AF82-A182-E83322D4D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>
            <a:extLst>
              <a:ext uri="{FF2B5EF4-FFF2-40B4-BE49-F238E27FC236}">
                <a16:creationId xmlns:a16="http://schemas.microsoft.com/office/drawing/2014/main" id="{A721F060-79C4-61B8-7B9F-384ADFAC48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>
            <a:extLst>
              <a:ext uri="{FF2B5EF4-FFF2-40B4-BE49-F238E27FC236}">
                <a16:creationId xmlns:a16="http://schemas.microsoft.com/office/drawing/2014/main" id="{0CA0650F-C1EC-B7DD-41CE-20DBA5D65E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889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A6FB2B3C-5BBF-0D74-BB52-3F8B9F6B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>
            <a:extLst>
              <a:ext uri="{FF2B5EF4-FFF2-40B4-BE49-F238E27FC236}">
                <a16:creationId xmlns:a16="http://schemas.microsoft.com/office/drawing/2014/main" id="{9DB9500E-724A-994C-01BD-140A34B5E3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>
            <a:extLst>
              <a:ext uri="{FF2B5EF4-FFF2-40B4-BE49-F238E27FC236}">
                <a16:creationId xmlns:a16="http://schemas.microsoft.com/office/drawing/2014/main" id="{5E00D74B-F62C-E8BA-1588-537D980E29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31643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D7FC7696-CCB0-C90B-9277-0C417491C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>
            <a:extLst>
              <a:ext uri="{FF2B5EF4-FFF2-40B4-BE49-F238E27FC236}">
                <a16:creationId xmlns:a16="http://schemas.microsoft.com/office/drawing/2014/main" id="{1AFF5E52-0B6D-3926-B4F8-A038336FA6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>
            <a:extLst>
              <a:ext uri="{FF2B5EF4-FFF2-40B4-BE49-F238E27FC236}">
                <a16:creationId xmlns:a16="http://schemas.microsoft.com/office/drawing/2014/main" id="{2103C0F5-5607-FEA6-A015-6C0679721E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7762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84A33364-917C-3562-9200-A48943EE6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>
            <a:extLst>
              <a:ext uri="{FF2B5EF4-FFF2-40B4-BE49-F238E27FC236}">
                <a16:creationId xmlns:a16="http://schemas.microsoft.com/office/drawing/2014/main" id="{80E1DA77-696D-13EE-57CC-6ED6B7D742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>
            <a:extLst>
              <a:ext uri="{FF2B5EF4-FFF2-40B4-BE49-F238E27FC236}">
                <a16:creationId xmlns:a16="http://schemas.microsoft.com/office/drawing/2014/main" id="{D57F6C36-F0C7-5783-4C4A-138C697706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3376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40605" y="2709862"/>
            <a:ext cx="6310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RIPv2 </a:t>
            </a:r>
            <a:r>
              <a:rPr lang="en-US" sz="6000" b="1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추가 설명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315777" y="4005262"/>
            <a:ext cx="3560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00687" y="1223962"/>
            <a:ext cx="11906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700587" y="5014912"/>
            <a:ext cx="2790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킹왕짱 블루 네트워크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126D926A-CE39-3579-AE22-2EC0693B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8" descr="image.png">
            <a:extLst>
              <a:ext uri="{FF2B5EF4-FFF2-40B4-BE49-F238E27FC236}">
                <a16:creationId xmlns:a16="http://schemas.microsoft.com/office/drawing/2014/main" id="{0FDD38E0-C070-D934-EE86-09BFECBB84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8">
            <a:extLst>
              <a:ext uri="{FF2B5EF4-FFF2-40B4-BE49-F238E27FC236}">
                <a16:creationId xmlns:a16="http://schemas.microsoft.com/office/drawing/2014/main" id="{F62A4297-0EA5-2D46-4CE3-2B5B82B25109}"/>
              </a:ext>
            </a:extLst>
          </p:cNvPr>
          <p:cNvSpPr txBox="1"/>
          <p:nvPr/>
        </p:nvSpPr>
        <p:spPr>
          <a:xfrm>
            <a:off x="476250" y="285750"/>
            <a:ext cx="38004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1. Key-chain (</a:t>
            </a:r>
            <a:r>
              <a:rPr lang="en-US" sz="27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인증</a:t>
            </a:r>
            <a:r>
              <a:rPr lang="en-US" sz="27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7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보안</a:t>
            </a:r>
            <a:r>
              <a:rPr lang="en-US" sz="27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9AFE3F5-7946-5425-AD85-5CBDFE9F8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1542265"/>
            <a:ext cx="5429250" cy="445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74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B68C5A00-EA94-DBFD-0E81-72AC78E0C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8" descr="image.png">
            <a:extLst>
              <a:ext uri="{FF2B5EF4-FFF2-40B4-BE49-F238E27FC236}">
                <a16:creationId xmlns:a16="http://schemas.microsoft.com/office/drawing/2014/main" id="{4148233B-2732-ACED-CB4F-7A24605A75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image.png">
            <a:extLst>
              <a:ext uri="{FF2B5EF4-FFF2-40B4-BE49-F238E27FC236}">
                <a16:creationId xmlns:a16="http://schemas.microsoft.com/office/drawing/2014/main" id="{90EC913D-A7ED-2AAE-BDA2-B0E4F4012E4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66850"/>
            <a:ext cx="5429250" cy="501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8">
            <a:extLst>
              <a:ext uri="{FF2B5EF4-FFF2-40B4-BE49-F238E27FC236}">
                <a16:creationId xmlns:a16="http://schemas.microsoft.com/office/drawing/2014/main" id="{4CC04ACD-78C9-3CFC-E9CA-32FE70FA2F07}"/>
              </a:ext>
            </a:extLst>
          </p:cNvPr>
          <p:cNvSpPr txBox="1"/>
          <p:nvPr/>
        </p:nvSpPr>
        <p:spPr>
          <a:xfrm>
            <a:off x="476250" y="285750"/>
            <a:ext cx="38004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1. Key-chain (</a:t>
            </a:r>
            <a:r>
              <a:rPr lang="en-US" sz="27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인증</a:t>
            </a:r>
            <a:r>
              <a:rPr lang="en-US" sz="27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7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보안</a:t>
            </a:r>
            <a:r>
              <a:rPr lang="en-US" sz="27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209" name="Google Shape;209;p18">
            <a:extLst>
              <a:ext uri="{FF2B5EF4-FFF2-40B4-BE49-F238E27FC236}">
                <a16:creationId xmlns:a16="http://schemas.microsoft.com/office/drawing/2014/main" id="{6CB809AD-6879-3AFF-A222-5EFF10187275}"/>
              </a:ext>
            </a:extLst>
          </p:cNvPr>
          <p:cNvSpPr txBox="1"/>
          <p:nvPr/>
        </p:nvSpPr>
        <p:spPr>
          <a:xfrm>
            <a:off x="476250" y="1466850"/>
            <a:ext cx="57007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개념 잡기</a:t>
            </a:r>
            <a:endParaRPr/>
          </a:p>
        </p:txBody>
      </p:sp>
      <p:sp>
        <p:nvSpPr>
          <p:cNvPr id="210" name="Google Shape;210;p18">
            <a:extLst>
              <a:ext uri="{FF2B5EF4-FFF2-40B4-BE49-F238E27FC236}">
                <a16:creationId xmlns:a16="http://schemas.microsoft.com/office/drawing/2014/main" id="{86D54415-0E05-0D4B-2DC2-C87FB7CA7A5F}"/>
              </a:ext>
            </a:extLst>
          </p:cNvPr>
          <p:cNvSpPr txBox="1"/>
          <p:nvPr/>
        </p:nvSpPr>
        <p:spPr>
          <a:xfrm>
            <a:off x="476250" y="2038350"/>
            <a:ext cx="5429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라우터끼리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암호(Key)가 맞는 친구하고만</a:t>
            </a:r>
            <a:r>
              <a:rPr lang="en-US" sz="1500" b="0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정보를 교환하는 보안 기능입니다.</a:t>
            </a:r>
            <a:endParaRPr/>
          </a:p>
        </p:txBody>
      </p:sp>
      <p:sp>
        <p:nvSpPr>
          <p:cNvPr id="211" name="Google Shape;211;p18">
            <a:extLst>
              <a:ext uri="{FF2B5EF4-FFF2-40B4-BE49-F238E27FC236}">
                <a16:creationId xmlns:a16="http://schemas.microsoft.com/office/drawing/2014/main" id="{19C7BC4C-0F05-1890-1C64-A2E325617A6D}"/>
              </a:ext>
            </a:extLst>
          </p:cNvPr>
          <p:cNvSpPr txBox="1"/>
          <p:nvPr/>
        </p:nvSpPr>
        <p:spPr>
          <a:xfrm>
            <a:off x="476250" y="4362450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Lab Goal:</a:t>
            </a:r>
            <a:endParaRPr/>
          </a:p>
        </p:txBody>
      </p:sp>
      <p:sp>
        <p:nvSpPr>
          <p:cNvPr id="212" name="Google Shape;212;p18">
            <a:extLst>
              <a:ext uri="{FF2B5EF4-FFF2-40B4-BE49-F238E27FC236}">
                <a16:creationId xmlns:a16="http://schemas.microsoft.com/office/drawing/2014/main" id="{007A2B7E-419A-9D99-E437-53C598425792}"/>
              </a:ext>
            </a:extLst>
          </p:cNvPr>
          <p:cNvSpPr txBox="1"/>
          <p:nvPr/>
        </p:nvSpPr>
        <p:spPr>
          <a:xfrm>
            <a:off x="476250" y="4810125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R1과 R2 사이에 암호 'cisco'로 MD5 인증을 걸어라.</a:t>
            </a:r>
            <a:endParaRPr/>
          </a:p>
        </p:txBody>
      </p:sp>
      <p:sp>
        <p:nvSpPr>
          <p:cNvPr id="213" name="Google Shape;213;p18">
            <a:extLst>
              <a:ext uri="{FF2B5EF4-FFF2-40B4-BE49-F238E27FC236}">
                <a16:creationId xmlns:a16="http://schemas.microsoft.com/office/drawing/2014/main" id="{31B9408A-7E4E-8E32-9B78-6005A1F760F6}"/>
              </a:ext>
            </a:extLst>
          </p:cNvPr>
          <p:cNvSpPr txBox="1"/>
          <p:nvPr/>
        </p:nvSpPr>
        <p:spPr>
          <a:xfrm>
            <a:off x="6486525" y="1666875"/>
            <a:ext cx="4095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! 1. 열쇠고리(Key-chain) 생성 (R1, R2 동일하게)</a:t>
            </a:r>
            <a:endParaRPr/>
          </a:p>
        </p:txBody>
      </p:sp>
      <p:sp>
        <p:nvSpPr>
          <p:cNvPr id="214" name="Google Shape;214;p18">
            <a:extLst>
              <a:ext uri="{FF2B5EF4-FFF2-40B4-BE49-F238E27FC236}">
                <a16:creationId xmlns:a16="http://schemas.microsoft.com/office/drawing/2014/main" id="{74DA2AEB-6CC0-4F2F-6228-1167D7C7F6AD}"/>
              </a:ext>
            </a:extLst>
          </p:cNvPr>
          <p:cNvSpPr txBox="1"/>
          <p:nvPr/>
        </p:nvSpPr>
        <p:spPr>
          <a:xfrm>
            <a:off x="6486525" y="1885950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R1(config)#</a:t>
            </a:r>
            <a:endParaRPr dirty="0"/>
          </a:p>
        </p:txBody>
      </p:sp>
      <p:sp>
        <p:nvSpPr>
          <p:cNvPr id="215" name="Google Shape;215;p18">
            <a:extLst>
              <a:ext uri="{FF2B5EF4-FFF2-40B4-BE49-F238E27FC236}">
                <a16:creationId xmlns:a16="http://schemas.microsoft.com/office/drawing/2014/main" id="{A0030F4A-46B6-3DFF-883F-3BD062FE5198}"/>
              </a:ext>
            </a:extLst>
          </p:cNvPr>
          <p:cNvSpPr txBox="1"/>
          <p:nvPr/>
        </p:nvSpPr>
        <p:spPr>
          <a:xfrm>
            <a:off x="8582025" y="1885950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MY_KEY</a:t>
            </a:r>
            <a:endParaRPr/>
          </a:p>
        </p:txBody>
      </p:sp>
      <p:sp>
        <p:nvSpPr>
          <p:cNvPr id="216" name="Google Shape;216;p18">
            <a:extLst>
              <a:ext uri="{FF2B5EF4-FFF2-40B4-BE49-F238E27FC236}">
                <a16:creationId xmlns:a16="http://schemas.microsoft.com/office/drawing/2014/main" id="{32C4C082-A831-8F9E-485D-2CCCCEAD5761}"/>
              </a:ext>
            </a:extLst>
          </p:cNvPr>
          <p:cNvSpPr txBox="1"/>
          <p:nvPr/>
        </p:nvSpPr>
        <p:spPr>
          <a:xfrm>
            <a:off x="6486525" y="2085975"/>
            <a:ext cx="1905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R1(config-keychain)#</a:t>
            </a:r>
            <a:endParaRPr/>
          </a:p>
        </p:txBody>
      </p:sp>
      <p:sp>
        <p:nvSpPr>
          <p:cNvPr id="217" name="Google Shape;217;p18">
            <a:extLst>
              <a:ext uri="{FF2B5EF4-FFF2-40B4-BE49-F238E27FC236}">
                <a16:creationId xmlns:a16="http://schemas.microsoft.com/office/drawing/2014/main" id="{FB57DD55-7446-1FF9-2C46-3BBCE91568C8}"/>
              </a:ext>
            </a:extLst>
          </p:cNvPr>
          <p:cNvSpPr txBox="1"/>
          <p:nvPr/>
        </p:nvSpPr>
        <p:spPr>
          <a:xfrm>
            <a:off x="6486525" y="2286000"/>
            <a:ext cx="2286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R1(config-keychain-key)#</a:t>
            </a:r>
            <a:endParaRPr/>
          </a:p>
        </p:txBody>
      </p:sp>
      <p:sp>
        <p:nvSpPr>
          <p:cNvPr id="218" name="Google Shape;218;p18">
            <a:extLst>
              <a:ext uri="{FF2B5EF4-FFF2-40B4-BE49-F238E27FC236}">
                <a16:creationId xmlns:a16="http://schemas.microsoft.com/office/drawing/2014/main" id="{9DE8B4B4-E008-EC58-EE5A-E086FCAE2A09}"/>
              </a:ext>
            </a:extLst>
          </p:cNvPr>
          <p:cNvSpPr txBox="1"/>
          <p:nvPr/>
        </p:nvSpPr>
        <p:spPr>
          <a:xfrm>
            <a:off x="9915525" y="2286000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cisco</a:t>
            </a:r>
            <a:endParaRPr dirty="0"/>
          </a:p>
        </p:txBody>
      </p:sp>
      <p:sp>
        <p:nvSpPr>
          <p:cNvPr id="219" name="Google Shape;219;p18">
            <a:extLst>
              <a:ext uri="{FF2B5EF4-FFF2-40B4-BE49-F238E27FC236}">
                <a16:creationId xmlns:a16="http://schemas.microsoft.com/office/drawing/2014/main" id="{C378863B-5E5D-0CF4-29FC-62CB2CE8F48B}"/>
              </a:ext>
            </a:extLst>
          </p:cNvPr>
          <p:cNvSpPr txBox="1"/>
          <p:nvPr/>
        </p:nvSpPr>
        <p:spPr>
          <a:xfrm>
            <a:off x="6486525" y="2686050"/>
            <a:ext cx="1790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! 2. 인터페이스에 적용</a:t>
            </a:r>
            <a:endParaRPr/>
          </a:p>
        </p:txBody>
      </p:sp>
      <p:sp>
        <p:nvSpPr>
          <p:cNvPr id="220" name="Google Shape;220;p18">
            <a:extLst>
              <a:ext uri="{FF2B5EF4-FFF2-40B4-BE49-F238E27FC236}">
                <a16:creationId xmlns:a16="http://schemas.microsoft.com/office/drawing/2014/main" id="{3E5EB52C-4120-07AD-96C8-6943D31EE182}"/>
              </a:ext>
            </a:extLst>
          </p:cNvPr>
          <p:cNvSpPr txBox="1"/>
          <p:nvPr/>
        </p:nvSpPr>
        <p:spPr>
          <a:xfrm>
            <a:off x="6486525" y="2905125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R1(config)#</a:t>
            </a:r>
            <a:endParaRPr/>
          </a:p>
        </p:txBody>
      </p:sp>
      <p:sp>
        <p:nvSpPr>
          <p:cNvPr id="221" name="Google Shape;221;p18">
            <a:extLst>
              <a:ext uri="{FF2B5EF4-FFF2-40B4-BE49-F238E27FC236}">
                <a16:creationId xmlns:a16="http://schemas.microsoft.com/office/drawing/2014/main" id="{4DBE27BF-27A5-A9B9-AE49-E226A605EC6F}"/>
              </a:ext>
            </a:extLst>
          </p:cNvPr>
          <p:cNvSpPr txBox="1"/>
          <p:nvPr/>
        </p:nvSpPr>
        <p:spPr>
          <a:xfrm>
            <a:off x="6486525" y="3105150"/>
            <a:ext cx="1333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R1(config-if)#</a:t>
            </a:r>
            <a:endParaRPr/>
          </a:p>
        </p:txBody>
      </p:sp>
      <p:sp>
        <p:nvSpPr>
          <p:cNvPr id="222" name="Google Shape;222;p18">
            <a:extLst>
              <a:ext uri="{FF2B5EF4-FFF2-40B4-BE49-F238E27FC236}">
                <a16:creationId xmlns:a16="http://schemas.microsoft.com/office/drawing/2014/main" id="{86E6B7CC-98EA-3203-52AC-55311E68CEF1}"/>
              </a:ext>
            </a:extLst>
          </p:cNvPr>
          <p:cNvSpPr txBox="1"/>
          <p:nvPr/>
        </p:nvSpPr>
        <p:spPr>
          <a:xfrm>
            <a:off x="7915275" y="3105150"/>
            <a:ext cx="2857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ip rip authentication mode md5</a:t>
            </a:r>
            <a:endParaRPr/>
          </a:p>
        </p:txBody>
      </p:sp>
      <p:sp>
        <p:nvSpPr>
          <p:cNvPr id="223" name="Google Shape;223;p18">
            <a:extLst>
              <a:ext uri="{FF2B5EF4-FFF2-40B4-BE49-F238E27FC236}">
                <a16:creationId xmlns:a16="http://schemas.microsoft.com/office/drawing/2014/main" id="{366B7937-604F-DD12-E742-BE993B02F1C7}"/>
              </a:ext>
            </a:extLst>
          </p:cNvPr>
          <p:cNvSpPr txBox="1"/>
          <p:nvPr/>
        </p:nvSpPr>
        <p:spPr>
          <a:xfrm>
            <a:off x="6486525" y="3305175"/>
            <a:ext cx="1333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R1(config-if)#</a:t>
            </a:r>
            <a:endParaRPr/>
          </a:p>
        </p:txBody>
      </p:sp>
      <p:sp>
        <p:nvSpPr>
          <p:cNvPr id="224" name="Google Shape;224;p18">
            <a:extLst>
              <a:ext uri="{FF2B5EF4-FFF2-40B4-BE49-F238E27FC236}">
                <a16:creationId xmlns:a16="http://schemas.microsoft.com/office/drawing/2014/main" id="{18E7DE8F-CE6A-05F4-CFB7-435C13DD68B5}"/>
              </a:ext>
            </a:extLst>
          </p:cNvPr>
          <p:cNvSpPr txBox="1"/>
          <p:nvPr/>
        </p:nvSpPr>
        <p:spPr>
          <a:xfrm>
            <a:off x="7915275" y="3305175"/>
            <a:ext cx="2952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ip rip authentication key-chain</a:t>
            </a:r>
            <a:endParaRPr/>
          </a:p>
        </p:txBody>
      </p:sp>
      <p:sp>
        <p:nvSpPr>
          <p:cNvPr id="225" name="Google Shape;225;p18">
            <a:extLst>
              <a:ext uri="{FF2B5EF4-FFF2-40B4-BE49-F238E27FC236}">
                <a16:creationId xmlns:a16="http://schemas.microsoft.com/office/drawing/2014/main" id="{2ECA27D7-F0E2-CC49-B2FF-F20023A17494}"/>
              </a:ext>
            </a:extLst>
          </p:cNvPr>
          <p:cNvSpPr txBox="1"/>
          <p:nvPr/>
        </p:nvSpPr>
        <p:spPr>
          <a:xfrm>
            <a:off x="6486525" y="3505200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MY_KEY</a:t>
            </a:r>
            <a:endParaRPr/>
          </a:p>
        </p:txBody>
      </p:sp>
      <p:sp>
        <p:nvSpPr>
          <p:cNvPr id="226" name="Google Shape;226;p18">
            <a:extLst>
              <a:ext uri="{FF2B5EF4-FFF2-40B4-BE49-F238E27FC236}">
                <a16:creationId xmlns:a16="http://schemas.microsoft.com/office/drawing/2014/main" id="{246E3CAB-E93B-02FE-F295-78368D58C93B}"/>
              </a:ext>
            </a:extLst>
          </p:cNvPr>
          <p:cNvSpPr txBox="1"/>
          <p:nvPr/>
        </p:nvSpPr>
        <p:spPr>
          <a:xfrm>
            <a:off x="6486525" y="3905250"/>
            <a:ext cx="48577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debug ip rip 으로 확인 시 "ignored v2 packet from..."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 에러가 뜨면 인증 실패 중인 것!</a:t>
            </a:r>
            <a:endParaRPr/>
          </a:p>
        </p:txBody>
      </p:sp>
      <p:pic>
        <p:nvPicPr>
          <p:cNvPr id="227" name="Google Shape;227;p18" descr="image.png">
            <a:extLst>
              <a:ext uri="{FF2B5EF4-FFF2-40B4-BE49-F238E27FC236}">
                <a16:creationId xmlns:a16="http://schemas.microsoft.com/office/drawing/2014/main" id="{B873D724-FE3A-BFB4-6357-B8C31C536F3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15430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>
            <a:extLst>
              <a:ext uri="{FF2B5EF4-FFF2-40B4-BE49-F238E27FC236}">
                <a16:creationId xmlns:a16="http://schemas.microsoft.com/office/drawing/2014/main" id="{F5CEB9A7-A23D-5909-6975-034444BF9A42}"/>
              </a:ext>
            </a:extLst>
          </p:cNvPr>
          <p:cNvSpPr txBox="1"/>
          <p:nvPr/>
        </p:nvSpPr>
        <p:spPr>
          <a:xfrm>
            <a:off x="476250" y="2790825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Text 모드: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암호가 평문으로 전송 (보안 약함)</a:t>
            </a:r>
            <a:endParaRPr/>
          </a:p>
        </p:txBody>
      </p:sp>
      <p:sp>
        <p:nvSpPr>
          <p:cNvPr id="229" name="Google Shape;229;p18">
            <a:extLst>
              <a:ext uri="{FF2B5EF4-FFF2-40B4-BE49-F238E27FC236}">
                <a16:creationId xmlns:a16="http://schemas.microsoft.com/office/drawing/2014/main" id="{3E70A0C7-7276-D45A-CEC6-893B67E15AAC}"/>
              </a:ext>
            </a:extLst>
          </p:cNvPr>
          <p:cNvSpPr txBox="1"/>
          <p:nvPr/>
        </p:nvSpPr>
        <p:spPr>
          <a:xfrm>
            <a:off x="476250" y="3238500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MD5 모드: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암호가 해시되어 전송 (보안 강력)</a:t>
            </a:r>
            <a:endParaRPr/>
          </a:p>
        </p:txBody>
      </p:sp>
      <p:sp>
        <p:nvSpPr>
          <p:cNvPr id="230" name="Google Shape;230;p18">
            <a:extLst>
              <a:ext uri="{FF2B5EF4-FFF2-40B4-BE49-F238E27FC236}">
                <a16:creationId xmlns:a16="http://schemas.microsoft.com/office/drawing/2014/main" id="{CD4280ED-3A22-4243-D6C3-C79C0E8CB6EF}"/>
              </a:ext>
            </a:extLst>
          </p:cNvPr>
          <p:cNvSpPr txBox="1"/>
          <p:nvPr/>
        </p:nvSpPr>
        <p:spPr>
          <a:xfrm>
            <a:off x="476250" y="3686175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0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양쪽 라우터의 Key String이 일치해야 합니다.</a:t>
            </a:r>
            <a:endParaRPr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F424970-CCA1-C189-394C-6FB9780861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4609" y="1543050"/>
            <a:ext cx="5293031" cy="479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322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66850"/>
            <a:ext cx="5429250" cy="501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476250" y="285750"/>
            <a:ext cx="40386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2. Distribute-list (</a:t>
            </a:r>
            <a:r>
              <a:rPr lang="en-US" sz="27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필터링</a:t>
            </a:r>
            <a:r>
              <a:rPr lang="en-US" sz="27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476250" y="1466850"/>
            <a:ext cx="57007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개념 잡기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76250" y="2038350"/>
            <a:ext cx="5429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특정 네트워크 정보를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"광고하지 않거나, 받지 않겠다"</a:t>
            </a:r>
            <a:r>
              <a:rPr lang="en-US" sz="1500" b="0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고 선언하는 기능입니다.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486525" y="1666875"/>
            <a:ext cx="24193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! 1. 차단할 대상을 ACL로 정의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486525" y="1885950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R1(config)#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058275" y="1885950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deny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534525" y="1885950"/>
            <a:ext cx="1619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1.1.1.0 0.0.0.255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6486525" y="2085975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R1(config)#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058275" y="2085975"/>
            <a:ext cx="952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permit any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486525" y="2486025"/>
            <a:ext cx="30861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! 2. RIP 프로세스에 적용 (방향: out)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486525" y="2705100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R1(config)#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486525" y="2905125"/>
            <a:ext cx="1714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R1(config-router)#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296275" y="2905125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distribute-list</a:t>
            </a:r>
            <a:endParaRPr dirty="0"/>
          </a:p>
        </p:txBody>
      </p:sp>
      <p:sp>
        <p:nvSpPr>
          <p:cNvPr id="136" name="Google Shape;136;p15"/>
          <p:cNvSpPr txBox="1"/>
          <p:nvPr/>
        </p:nvSpPr>
        <p:spPr>
          <a:xfrm>
            <a:off x="10106025" y="2905125"/>
            <a:ext cx="1238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out Serial0/0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486525" y="3305175"/>
            <a:ext cx="1676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! 결과 확인 (R2에서)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486525" y="3524250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R2#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486525" y="3724275"/>
            <a:ext cx="3524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User info: 1.1.1.0 네트워크가 사라졌나요?</a:t>
            </a:r>
            <a:endParaRPr/>
          </a:p>
        </p:txBody>
      </p:sp>
      <p:pic>
        <p:nvPicPr>
          <p:cNvPr id="140" name="Google Shape;14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15430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476250" y="2790825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0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ACL(Access List)을 사용하여 대상을 지정합니다.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476250" y="3238500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OUT:</a:t>
            </a:r>
            <a:r>
              <a:rPr lang="en-US" sz="1500" b="0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내가 가진 정보를 남에게 줄 때 필터링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476250" y="3686175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1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IN: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남이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주는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정보를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내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라우팅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테이블에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넣을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때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필터링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32FBEE2-6AFA-DB58-9778-9FC1BEDC2E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359" y="1466850"/>
            <a:ext cx="5429250" cy="4999054"/>
          </a:xfrm>
          <a:prstGeom prst="rect">
            <a:avLst/>
          </a:prstGeom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014EBDDD-235E-17ED-ECD8-1FEE1DDD6A4D}"/>
              </a:ext>
            </a:extLst>
          </p:cNvPr>
          <p:cNvCxnSpPr>
            <a:cxnSpLocks/>
          </p:cNvCxnSpPr>
          <p:nvPr/>
        </p:nvCxnSpPr>
        <p:spPr>
          <a:xfrm flipH="1">
            <a:off x="7966875" y="2382330"/>
            <a:ext cx="743885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139B5A7-BCAB-0BC6-6CD1-B3DEADF8FB82}"/>
              </a:ext>
            </a:extLst>
          </p:cNvPr>
          <p:cNvCxnSpPr>
            <a:cxnSpLocks/>
          </p:cNvCxnSpPr>
          <p:nvPr/>
        </p:nvCxnSpPr>
        <p:spPr>
          <a:xfrm>
            <a:off x="8039395" y="2780318"/>
            <a:ext cx="671365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275F691-E4D7-15EB-C42C-ADCECD3FC6DB}"/>
              </a:ext>
            </a:extLst>
          </p:cNvPr>
          <p:cNvSpPr txBox="1"/>
          <p:nvPr/>
        </p:nvSpPr>
        <p:spPr>
          <a:xfrm>
            <a:off x="8176496" y="2008286"/>
            <a:ext cx="622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A6B856-CF9E-BA16-9693-0E95CB8208AA}"/>
              </a:ext>
            </a:extLst>
          </p:cNvPr>
          <p:cNvSpPr txBox="1"/>
          <p:nvPr/>
        </p:nvSpPr>
        <p:spPr>
          <a:xfrm>
            <a:off x="8029575" y="2943225"/>
            <a:ext cx="671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OUT</a:t>
            </a:r>
            <a:endParaRPr lang="ko-KR" altLang="en-US" dirty="0"/>
          </a:p>
        </p:txBody>
      </p:sp>
      <p:sp>
        <p:nvSpPr>
          <p:cNvPr id="13" name="Google Shape;143;p15">
            <a:extLst>
              <a:ext uri="{FF2B5EF4-FFF2-40B4-BE49-F238E27FC236}">
                <a16:creationId xmlns:a16="http://schemas.microsoft.com/office/drawing/2014/main" id="{FE7A7CD4-EB29-06EA-A899-AD689BBBAE93}"/>
              </a:ext>
            </a:extLst>
          </p:cNvPr>
          <p:cNvSpPr txBox="1"/>
          <p:nvPr/>
        </p:nvSpPr>
        <p:spPr>
          <a:xfrm>
            <a:off x="503392" y="4210051"/>
            <a:ext cx="5429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ko-KR" altLang="en-US" sz="1500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반드시 </a:t>
            </a:r>
            <a:r>
              <a:rPr lang="en-US" altLang="ko-KR" sz="1500" b="1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**ACL </a:t>
            </a:r>
            <a:r>
              <a:rPr lang="ko-KR" altLang="en-US" sz="1500" b="1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설정</a:t>
            </a:r>
            <a:r>
              <a:rPr lang="en-US" altLang="ko-KR" sz="1500" b="1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**</a:t>
            </a:r>
            <a:r>
              <a:rPr lang="ko-KR" altLang="en-US" sz="1500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을 해주어야 합니다</a:t>
            </a:r>
            <a:r>
              <a:rPr lang="en-US" altLang="ko-KR" sz="1500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Shape 117">
          <a:extLst>
            <a:ext uri="{FF2B5EF4-FFF2-40B4-BE49-F238E27FC236}">
              <a16:creationId xmlns:a16="http://schemas.microsoft.com/office/drawing/2014/main" id="{EA742B39-BBB7-D6E3-8B58-BAFD136DF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>
            <a:extLst>
              <a:ext uri="{FF2B5EF4-FFF2-40B4-BE49-F238E27FC236}">
                <a16:creationId xmlns:a16="http://schemas.microsoft.com/office/drawing/2014/main" id="{FB4F8699-2CF1-32D1-F833-EFC5DF047C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>
            <a:extLst>
              <a:ext uri="{FF2B5EF4-FFF2-40B4-BE49-F238E27FC236}">
                <a16:creationId xmlns:a16="http://schemas.microsoft.com/office/drawing/2014/main" id="{D221A3DD-2124-F347-7F46-D823FD9793B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66850"/>
            <a:ext cx="5429250" cy="501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>
            <a:extLst>
              <a:ext uri="{FF2B5EF4-FFF2-40B4-BE49-F238E27FC236}">
                <a16:creationId xmlns:a16="http://schemas.microsoft.com/office/drawing/2014/main" id="{C1B0E15D-971B-2965-0CCE-F9829EE4EE60}"/>
              </a:ext>
            </a:extLst>
          </p:cNvPr>
          <p:cNvSpPr txBox="1"/>
          <p:nvPr/>
        </p:nvSpPr>
        <p:spPr>
          <a:xfrm>
            <a:off x="476250" y="285750"/>
            <a:ext cx="40386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  <a:sym typeface="Noto Sans KR"/>
              </a:rPr>
              <a:t>2. Distribute-list (</a:t>
            </a:r>
            <a:r>
              <a:rPr kumimoji="0" lang="en-US" sz="27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  <a:sym typeface="Noto Sans KR"/>
              </a:rPr>
              <a:t>필터링</a:t>
            </a:r>
            <a:r>
              <a:rPr kumimoji="0" 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0F651A06-7627-6366-515C-B41560367201}"/>
              </a:ext>
            </a:extLst>
          </p:cNvPr>
          <p:cNvSpPr txBox="1"/>
          <p:nvPr/>
        </p:nvSpPr>
        <p:spPr>
          <a:xfrm>
            <a:off x="476250" y="1466850"/>
            <a:ext cx="57007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100" b="1" i="0" u="none" strike="noStrike" kern="0" cap="none" spc="0" normalizeH="0" baseline="0" noProof="0">
                <a:ln>
                  <a:noFill/>
                </a:ln>
                <a:solidFill>
                  <a:srgbClr val="4CAF50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  <a:sym typeface="Noto Sans KR"/>
              </a:rPr>
              <a:t>개념 잡기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6" name="Google Shape;126;p15">
            <a:extLst>
              <a:ext uri="{FF2B5EF4-FFF2-40B4-BE49-F238E27FC236}">
                <a16:creationId xmlns:a16="http://schemas.microsoft.com/office/drawing/2014/main" id="{6CA22FAA-610F-3EED-A67C-FEF42457CE3A}"/>
              </a:ext>
            </a:extLst>
          </p:cNvPr>
          <p:cNvSpPr txBox="1"/>
          <p:nvPr/>
        </p:nvSpPr>
        <p:spPr>
          <a:xfrm>
            <a:off x="6486525" y="1666875"/>
            <a:ext cx="24193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1" u="none" strike="noStrike" kern="0" cap="none" spc="0" normalizeH="0" baseline="0" noProof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! 1. 차단할 대상을 ACL로 정의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7" name="Google Shape;127;p15">
            <a:extLst>
              <a:ext uri="{FF2B5EF4-FFF2-40B4-BE49-F238E27FC236}">
                <a16:creationId xmlns:a16="http://schemas.microsoft.com/office/drawing/2014/main" id="{39E2996E-F219-020A-39BC-B109B8B80069}"/>
              </a:ext>
            </a:extLst>
          </p:cNvPr>
          <p:cNvSpPr txBox="1"/>
          <p:nvPr/>
        </p:nvSpPr>
        <p:spPr>
          <a:xfrm>
            <a:off x="6486525" y="1885950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CAF50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R1(config)#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8" name="Google Shape;128;p15">
            <a:extLst>
              <a:ext uri="{FF2B5EF4-FFF2-40B4-BE49-F238E27FC236}">
                <a16:creationId xmlns:a16="http://schemas.microsoft.com/office/drawing/2014/main" id="{5A9AA2D3-9EA4-F40A-E313-51AB7754A448}"/>
              </a:ext>
            </a:extLst>
          </p:cNvPr>
          <p:cNvSpPr txBox="1"/>
          <p:nvPr/>
        </p:nvSpPr>
        <p:spPr>
          <a:xfrm>
            <a:off x="9058275" y="1885950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deny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9" name="Google Shape;129;p15">
            <a:extLst>
              <a:ext uri="{FF2B5EF4-FFF2-40B4-BE49-F238E27FC236}">
                <a16:creationId xmlns:a16="http://schemas.microsoft.com/office/drawing/2014/main" id="{92557886-8FB1-355F-1220-8A85A2527B85}"/>
              </a:ext>
            </a:extLst>
          </p:cNvPr>
          <p:cNvSpPr txBox="1"/>
          <p:nvPr/>
        </p:nvSpPr>
        <p:spPr>
          <a:xfrm>
            <a:off x="9534524" y="1885950"/>
            <a:ext cx="212189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10.32.0.0 0.15.255.255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0" name="Google Shape;130;p15">
            <a:extLst>
              <a:ext uri="{FF2B5EF4-FFF2-40B4-BE49-F238E27FC236}">
                <a16:creationId xmlns:a16="http://schemas.microsoft.com/office/drawing/2014/main" id="{9D658484-56BD-7A6F-8791-0BC4BEC0E7DC}"/>
              </a:ext>
            </a:extLst>
          </p:cNvPr>
          <p:cNvSpPr txBox="1"/>
          <p:nvPr/>
        </p:nvSpPr>
        <p:spPr>
          <a:xfrm>
            <a:off x="6486525" y="2085975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CAF50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R1(config)#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1" name="Google Shape;131;p15">
            <a:extLst>
              <a:ext uri="{FF2B5EF4-FFF2-40B4-BE49-F238E27FC236}">
                <a16:creationId xmlns:a16="http://schemas.microsoft.com/office/drawing/2014/main" id="{81C31A91-9F44-DE7E-72F1-1BFCFA9D158A}"/>
              </a:ext>
            </a:extLst>
          </p:cNvPr>
          <p:cNvSpPr txBox="1"/>
          <p:nvPr/>
        </p:nvSpPr>
        <p:spPr>
          <a:xfrm>
            <a:off x="9058275" y="2085975"/>
            <a:ext cx="952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permit any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2" name="Google Shape;132;p15">
            <a:extLst>
              <a:ext uri="{FF2B5EF4-FFF2-40B4-BE49-F238E27FC236}">
                <a16:creationId xmlns:a16="http://schemas.microsoft.com/office/drawing/2014/main" id="{692C372C-7881-B9BA-B1F0-343B84BBF8B1}"/>
              </a:ext>
            </a:extLst>
          </p:cNvPr>
          <p:cNvSpPr txBox="1"/>
          <p:nvPr/>
        </p:nvSpPr>
        <p:spPr>
          <a:xfrm>
            <a:off x="6486525" y="2486025"/>
            <a:ext cx="30861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1" u="none" strike="noStrike" kern="0" cap="none" spc="0" normalizeH="0" baseline="0" noProof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! 2. RIP 프로세스에 적용 (방향: out)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3" name="Google Shape;133;p15">
            <a:extLst>
              <a:ext uri="{FF2B5EF4-FFF2-40B4-BE49-F238E27FC236}">
                <a16:creationId xmlns:a16="http://schemas.microsoft.com/office/drawing/2014/main" id="{8EDD6AA2-68A0-E196-8AE2-A0D870CE2DCE}"/>
              </a:ext>
            </a:extLst>
          </p:cNvPr>
          <p:cNvSpPr txBox="1"/>
          <p:nvPr/>
        </p:nvSpPr>
        <p:spPr>
          <a:xfrm>
            <a:off x="6486525" y="2705100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CAF50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R1(config)#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4" name="Google Shape;134;p15">
            <a:extLst>
              <a:ext uri="{FF2B5EF4-FFF2-40B4-BE49-F238E27FC236}">
                <a16:creationId xmlns:a16="http://schemas.microsoft.com/office/drawing/2014/main" id="{91D53811-BF82-34B8-7C36-5ED1C802CFC9}"/>
              </a:ext>
            </a:extLst>
          </p:cNvPr>
          <p:cNvSpPr txBox="1"/>
          <p:nvPr/>
        </p:nvSpPr>
        <p:spPr>
          <a:xfrm>
            <a:off x="6486525" y="2905125"/>
            <a:ext cx="1714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CAF50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R1(config-router)#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5" name="Google Shape;135;p15">
            <a:extLst>
              <a:ext uri="{FF2B5EF4-FFF2-40B4-BE49-F238E27FC236}">
                <a16:creationId xmlns:a16="http://schemas.microsoft.com/office/drawing/2014/main" id="{717A92DB-9D07-0C31-8573-694A59461343}"/>
              </a:ext>
            </a:extLst>
          </p:cNvPr>
          <p:cNvSpPr txBox="1"/>
          <p:nvPr/>
        </p:nvSpPr>
        <p:spPr>
          <a:xfrm>
            <a:off x="8296275" y="2905125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distribute-list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6" name="Google Shape;136;p15">
            <a:extLst>
              <a:ext uri="{FF2B5EF4-FFF2-40B4-BE49-F238E27FC236}">
                <a16:creationId xmlns:a16="http://schemas.microsoft.com/office/drawing/2014/main" id="{4E0152D1-B430-E492-57BB-07CDF55D2D13}"/>
              </a:ext>
            </a:extLst>
          </p:cNvPr>
          <p:cNvSpPr txBox="1"/>
          <p:nvPr/>
        </p:nvSpPr>
        <p:spPr>
          <a:xfrm>
            <a:off x="10106025" y="2905125"/>
            <a:ext cx="12382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out Serial1/0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7" name="Google Shape;137;p15">
            <a:extLst>
              <a:ext uri="{FF2B5EF4-FFF2-40B4-BE49-F238E27FC236}">
                <a16:creationId xmlns:a16="http://schemas.microsoft.com/office/drawing/2014/main" id="{8FB6755F-7E32-D5E6-FE9F-2697AB669DE6}"/>
              </a:ext>
            </a:extLst>
          </p:cNvPr>
          <p:cNvSpPr txBox="1"/>
          <p:nvPr/>
        </p:nvSpPr>
        <p:spPr>
          <a:xfrm>
            <a:off x="6486525" y="3305175"/>
            <a:ext cx="1676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1" u="none" strike="noStrike" kern="0" cap="none" spc="0" normalizeH="0" baseline="0" noProof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! 결과 확인 (R2에서)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8" name="Google Shape;138;p15">
            <a:extLst>
              <a:ext uri="{FF2B5EF4-FFF2-40B4-BE49-F238E27FC236}">
                <a16:creationId xmlns:a16="http://schemas.microsoft.com/office/drawing/2014/main" id="{00585988-DBE0-0FE6-AB33-3481D67D6528}"/>
              </a:ext>
            </a:extLst>
          </p:cNvPr>
          <p:cNvSpPr txBox="1"/>
          <p:nvPr/>
        </p:nvSpPr>
        <p:spPr>
          <a:xfrm>
            <a:off x="6486525" y="3524250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CAF50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R2#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0" name="Google Shape;140;p15" descr="image.png">
            <a:extLst>
              <a:ext uri="{FF2B5EF4-FFF2-40B4-BE49-F238E27FC236}">
                <a16:creationId xmlns:a16="http://schemas.microsoft.com/office/drawing/2014/main" id="{F5E96771-A2C0-9E8D-5DD6-4A59F0E2666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15430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4E8FBF-BBB9-0355-9D69-634410DB17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582" y="2185987"/>
            <a:ext cx="5293031" cy="37304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9BCB26-299B-9538-F5A6-AF493B7E9218}"/>
              </a:ext>
            </a:extLst>
          </p:cNvPr>
          <p:cNvSpPr txBox="1"/>
          <p:nvPr/>
        </p:nvSpPr>
        <p:spPr>
          <a:xfrm>
            <a:off x="6486525" y="4550716"/>
            <a:ext cx="4857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R2</a:t>
            </a:r>
            <a:r>
              <a:rPr lang="ko-KR" altLang="en-US" dirty="0">
                <a:solidFill>
                  <a:schemeClr val="bg1"/>
                </a:solidFill>
              </a:rPr>
              <a:t>에서 확인 시 </a:t>
            </a:r>
            <a:r>
              <a:rPr lang="en-US" altLang="ko-KR" dirty="0">
                <a:solidFill>
                  <a:schemeClr val="bg1"/>
                </a:solidFill>
              </a:rPr>
              <a:t>10.32.0.0 </a:t>
            </a:r>
            <a:r>
              <a:rPr lang="ko-KR" altLang="en-US" dirty="0">
                <a:solidFill>
                  <a:schemeClr val="bg1"/>
                </a:solidFill>
              </a:rPr>
              <a:t>대역이 사라진 것을 볼 수 있다</a:t>
            </a:r>
            <a:r>
              <a:rPr lang="en-US" altLang="ko-KR" dirty="0">
                <a:solidFill>
                  <a:schemeClr val="bg1"/>
                </a:solidFill>
              </a:rPr>
              <a:t>!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854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A1D46A5F-C4E0-099B-6ABF-A3A79CDBD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6" descr="image.png">
            <a:extLst>
              <a:ext uri="{FF2B5EF4-FFF2-40B4-BE49-F238E27FC236}">
                <a16:creationId xmlns:a16="http://schemas.microsoft.com/office/drawing/2014/main" id="{D9C96F1E-5323-4E29-E75E-92DAA4A70D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>
            <a:extLst>
              <a:ext uri="{FF2B5EF4-FFF2-40B4-BE49-F238E27FC236}">
                <a16:creationId xmlns:a16="http://schemas.microsoft.com/office/drawing/2014/main" id="{B3C96819-049C-6937-DD55-501B251EB5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66850"/>
            <a:ext cx="5429250" cy="501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>
            <a:extLst>
              <a:ext uri="{FF2B5EF4-FFF2-40B4-BE49-F238E27FC236}">
                <a16:creationId xmlns:a16="http://schemas.microsoft.com/office/drawing/2014/main" id="{539779DF-55B4-5A57-B113-2003FA91E2BD}"/>
              </a:ext>
            </a:extLst>
          </p:cNvPr>
          <p:cNvSpPr txBox="1"/>
          <p:nvPr/>
        </p:nvSpPr>
        <p:spPr>
          <a:xfrm>
            <a:off x="476250" y="285750"/>
            <a:ext cx="42100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r>
              <a:rPr lang="en-US" sz="27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. Offset-list (Metric </a:t>
            </a:r>
            <a:r>
              <a:rPr lang="en-US" sz="27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조작</a:t>
            </a:r>
            <a:r>
              <a:rPr lang="en-US" sz="27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E811F3C2-B0BC-634C-A84C-A1624FBAF032}"/>
              </a:ext>
            </a:extLst>
          </p:cNvPr>
          <p:cNvSpPr txBox="1"/>
          <p:nvPr/>
        </p:nvSpPr>
        <p:spPr>
          <a:xfrm>
            <a:off x="476250" y="1466850"/>
            <a:ext cx="57007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개념 잡기</a:t>
            </a: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39407E85-188B-779C-F611-851AEF73BDEF}"/>
              </a:ext>
            </a:extLst>
          </p:cNvPr>
          <p:cNvSpPr txBox="1"/>
          <p:nvPr/>
        </p:nvSpPr>
        <p:spPr>
          <a:xfrm>
            <a:off x="476250" y="2038350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경로의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Metric(Hop Count)을 인위적으로 증가</a:t>
            </a:r>
            <a:r>
              <a:rPr lang="en-US" sz="1500" b="0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시키는 기능입니다.</a:t>
            </a:r>
            <a:endParaRPr/>
          </a:p>
        </p:txBody>
      </p:sp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CC28C212-A1D1-EE95-0085-A120F1975B7B}"/>
              </a:ext>
            </a:extLst>
          </p:cNvPr>
          <p:cNvSpPr txBox="1"/>
          <p:nvPr/>
        </p:nvSpPr>
        <p:spPr>
          <a:xfrm>
            <a:off x="6486525" y="1666875"/>
            <a:ext cx="1752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! 1. 대상 지정 (ACL)</a:t>
            </a:r>
            <a:endParaRPr/>
          </a:p>
        </p:txBody>
      </p:sp>
      <p:sp>
        <p:nvSpPr>
          <p:cNvPr id="157" name="Google Shape;157;p16">
            <a:extLst>
              <a:ext uri="{FF2B5EF4-FFF2-40B4-BE49-F238E27FC236}">
                <a16:creationId xmlns:a16="http://schemas.microsoft.com/office/drawing/2014/main" id="{A2E16A81-D153-5B24-6BD6-CFE927826171}"/>
              </a:ext>
            </a:extLst>
          </p:cNvPr>
          <p:cNvSpPr txBox="1"/>
          <p:nvPr/>
        </p:nvSpPr>
        <p:spPr>
          <a:xfrm>
            <a:off x="6486525" y="1885950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R1(config)#</a:t>
            </a:r>
            <a:endParaRPr/>
          </a:p>
        </p:txBody>
      </p:sp>
      <p:sp>
        <p:nvSpPr>
          <p:cNvPr id="158" name="Google Shape;158;p16">
            <a:extLst>
              <a:ext uri="{FF2B5EF4-FFF2-40B4-BE49-F238E27FC236}">
                <a16:creationId xmlns:a16="http://schemas.microsoft.com/office/drawing/2014/main" id="{2CCDDE1C-56B6-2B3D-01FB-EB1212C92A96}"/>
              </a:ext>
            </a:extLst>
          </p:cNvPr>
          <p:cNvSpPr txBox="1"/>
          <p:nvPr/>
        </p:nvSpPr>
        <p:spPr>
          <a:xfrm>
            <a:off x="9725025" y="1885950"/>
            <a:ext cx="1619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1.1.1.0 0.0.0.255</a:t>
            </a: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D1AF6883-DD08-38A1-1276-4C83715C920B}"/>
              </a:ext>
            </a:extLst>
          </p:cNvPr>
          <p:cNvSpPr txBox="1"/>
          <p:nvPr/>
        </p:nvSpPr>
        <p:spPr>
          <a:xfrm>
            <a:off x="6486525" y="2286000"/>
            <a:ext cx="18478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! 2. Metric 증가 설정</a:t>
            </a:r>
            <a:endParaRPr/>
          </a:p>
        </p:txBody>
      </p:sp>
      <p:sp>
        <p:nvSpPr>
          <p:cNvPr id="160" name="Google Shape;160;p16">
            <a:extLst>
              <a:ext uri="{FF2B5EF4-FFF2-40B4-BE49-F238E27FC236}">
                <a16:creationId xmlns:a16="http://schemas.microsoft.com/office/drawing/2014/main" id="{ED695FD5-BEF9-AA4E-6680-7D4B2F64D132}"/>
              </a:ext>
            </a:extLst>
          </p:cNvPr>
          <p:cNvSpPr txBox="1"/>
          <p:nvPr/>
        </p:nvSpPr>
        <p:spPr>
          <a:xfrm>
            <a:off x="6486525" y="2505075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R1(config)#</a:t>
            </a:r>
            <a:endParaRPr/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989BA64E-BD1B-E726-35D2-404EC701289A}"/>
              </a:ext>
            </a:extLst>
          </p:cNvPr>
          <p:cNvSpPr txBox="1"/>
          <p:nvPr/>
        </p:nvSpPr>
        <p:spPr>
          <a:xfrm>
            <a:off x="6486525" y="2705100"/>
            <a:ext cx="1714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R1(config-router)#</a:t>
            </a:r>
            <a:endParaRPr/>
          </a:p>
        </p:txBody>
      </p:sp>
      <p:sp>
        <p:nvSpPr>
          <p:cNvPr id="162" name="Google Shape;162;p16">
            <a:extLst>
              <a:ext uri="{FF2B5EF4-FFF2-40B4-BE49-F238E27FC236}">
                <a16:creationId xmlns:a16="http://schemas.microsoft.com/office/drawing/2014/main" id="{9DC8FF5D-1A81-F888-AFCC-37BB44A32B14}"/>
              </a:ext>
            </a:extLst>
          </p:cNvPr>
          <p:cNvSpPr txBox="1"/>
          <p:nvPr/>
        </p:nvSpPr>
        <p:spPr>
          <a:xfrm>
            <a:off x="8296275" y="2705100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offset-list</a:t>
            </a:r>
            <a:endParaRPr/>
          </a:p>
        </p:txBody>
      </p:sp>
      <p:sp>
        <p:nvSpPr>
          <p:cNvPr id="163" name="Google Shape;163;p16">
            <a:extLst>
              <a:ext uri="{FF2B5EF4-FFF2-40B4-BE49-F238E27FC236}">
                <a16:creationId xmlns:a16="http://schemas.microsoft.com/office/drawing/2014/main" id="{9FEA9FAE-527E-445F-1FCC-3A2BBEA0DA05}"/>
              </a:ext>
            </a:extLst>
          </p:cNvPr>
          <p:cNvSpPr txBox="1"/>
          <p:nvPr/>
        </p:nvSpPr>
        <p:spPr>
          <a:xfrm>
            <a:off x="9725025" y="2705100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out 5 Serial0/0</a:t>
            </a:r>
            <a:endParaRPr/>
          </a:p>
        </p:txBody>
      </p:sp>
      <p:sp>
        <p:nvSpPr>
          <p:cNvPr id="164" name="Google Shape;164;p16">
            <a:extLst>
              <a:ext uri="{FF2B5EF4-FFF2-40B4-BE49-F238E27FC236}">
                <a16:creationId xmlns:a16="http://schemas.microsoft.com/office/drawing/2014/main" id="{EDB7196A-E238-505E-C8C9-A6BF8F6DCA56}"/>
              </a:ext>
            </a:extLst>
          </p:cNvPr>
          <p:cNvSpPr txBox="1"/>
          <p:nvPr/>
        </p:nvSpPr>
        <p:spPr>
          <a:xfrm>
            <a:off x="6486525" y="3105150"/>
            <a:ext cx="1676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! 결과 확인 (R2에서)</a:t>
            </a:r>
            <a:endParaRPr/>
          </a:p>
        </p:txBody>
      </p:sp>
      <p:sp>
        <p:nvSpPr>
          <p:cNvPr id="165" name="Google Shape;165;p16">
            <a:extLst>
              <a:ext uri="{FF2B5EF4-FFF2-40B4-BE49-F238E27FC236}">
                <a16:creationId xmlns:a16="http://schemas.microsoft.com/office/drawing/2014/main" id="{298976F5-BB1F-51B8-43CD-D81C0242B5A0}"/>
              </a:ext>
            </a:extLst>
          </p:cNvPr>
          <p:cNvSpPr txBox="1"/>
          <p:nvPr/>
        </p:nvSpPr>
        <p:spPr>
          <a:xfrm>
            <a:off x="6486525" y="3324225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R2#</a:t>
            </a:r>
            <a:endParaRPr/>
          </a:p>
        </p:txBody>
      </p:sp>
      <p:sp>
        <p:nvSpPr>
          <p:cNvPr id="166" name="Google Shape;166;p16">
            <a:extLst>
              <a:ext uri="{FF2B5EF4-FFF2-40B4-BE49-F238E27FC236}">
                <a16:creationId xmlns:a16="http://schemas.microsoft.com/office/drawing/2014/main" id="{BACF49EF-3588-B650-2498-71EC50C5871A}"/>
              </a:ext>
            </a:extLst>
          </p:cNvPr>
          <p:cNvSpPr txBox="1"/>
          <p:nvPr/>
        </p:nvSpPr>
        <p:spPr>
          <a:xfrm>
            <a:off x="8201025" y="3324225"/>
            <a:ext cx="666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1.1.1.0</a:t>
            </a:r>
            <a:endParaRPr/>
          </a:p>
        </p:txBody>
      </p:sp>
      <p:sp>
        <p:nvSpPr>
          <p:cNvPr id="167" name="Google Shape;167;p16">
            <a:extLst>
              <a:ext uri="{FF2B5EF4-FFF2-40B4-BE49-F238E27FC236}">
                <a16:creationId xmlns:a16="http://schemas.microsoft.com/office/drawing/2014/main" id="{514742AE-E482-3BB2-236B-6A423CE06DE4}"/>
              </a:ext>
            </a:extLst>
          </p:cNvPr>
          <p:cNvSpPr txBox="1"/>
          <p:nvPr/>
        </p:nvSpPr>
        <p:spPr>
          <a:xfrm>
            <a:off x="6486525" y="3524250"/>
            <a:ext cx="2476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Routing Descriptor Blocks:</a:t>
            </a:r>
            <a:endParaRPr/>
          </a:p>
        </p:txBody>
      </p:sp>
      <p:sp>
        <p:nvSpPr>
          <p:cNvPr id="168" name="Google Shape;168;p16">
            <a:extLst>
              <a:ext uri="{FF2B5EF4-FFF2-40B4-BE49-F238E27FC236}">
                <a16:creationId xmlns:a16="http://schemas.microsoft.com/office/drawing/2014/main" id="{47FE0D58-4BEC-B578-DA72-78FF5F54BBF6}"/>
              </a:ext>
            </a:extLst>
          </p:cNvPr>
          <p:cNvSpPr txBox="1"/>
          <p:nvPr/>
        </p:nvSpPr>
        <p:spPr>
          <a:xfrm>
            <a:off x="6486525" y="3724275"/>
            <a:ext cx="4762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* 12.1.1.1, from 12.1.1.1, 00:00:09, via Serial0/0</a:t>
            </a:r>
            <a:endParaRPr/>
          </a:p>
        </p:txBody>
      </p:sp>
      <p:sp>
        <p:nvSpPr>
          <p:cNvPr id="169" name="Google Shape;169;p16">
            <a:extLst>
              <a:ext uri="{FF2B5EF4-FFF2-40B4-BE49-F238E27FC236}">
                <a16:creationId xmlns:a16="http://schemas.microsoft.com/office/drawing/2014/main" id="{AD8E97ED-E80B-ABF3-857E-7347FB4C2F05}"/>
              </a:ext>
            </a:extLst>
          </p:cNvPr>
          <p:cNvSpPr txBox="1"/>
          <p:nvPr/>
        </p:nvSpPr>
        <p:spPr>
          <a:xfrm>
            <a:off x="6486525" y="3924300"/>
            <a:ext cx="4095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 Route metric is 6, traffic share count is 1</a:t>
            </a:r>
            <a:endParaRPr/>
          </a:p>
        </p:txBody>
      </p:sp>
      <p:sp>
        <p:nvSpPr>
          <p:cNvPr id="170" name="Google Shape;170;p16">
            <a:extLst>
              <a:ext uri="{FF2B5EF4-FFF2-40B4-BE49-F238E27FC236}">
                <a16:creationId xmlns:a16="http://schemas.microsoft.com/office/drawing/2014/main" id="{7C51F326-41E1-F79F-4DD7-F39BB7944E5B}"/>
              </a:ext>
            </a:extLst>
          </p:cNvPr>
          <p:cNvSpPr txBox="1"/>
          <p:nvPr/>
        </p:nvSpPr>
        <p:spPr>
          <a:xfrm>
            <a:off x="6486525" y="4124325"/>
            <a:ext cx="23241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(기본 1 + 추가 5 = 6 hops)</a:t>
            </a:r>
            <a:endParaRPr/>
          </a:p>
        </p:txBody>
      </p:sp>
      <p:pic>
        <p:nvPicPr>
          <p:cNvPr id="171" name="Google Shape;171;p16" descr="image.png">
            <a:extLst>
              <a:ext uri="{FF2B5EF4-FFF2-40B4-BE49-F238E27FC236}">
                <a16:creationId xmlns:a16="http://schemas.microsoft.com/office/drawing/2014/main" id="{572CC0AA-BBF2-8B3E-2DA5-423D5B5782D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15430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>
            <a:extLst>
              <a:ext uri="{FF2B5EF4-FFF2-40B4-BE49-F238E27FC236}">
                <a16:creationId xmlns:a16="http://schemas.microsoft.com/office/drawing/2014/main" id="{C546D4B1-4CF3-7E6D-D697-3BC1E009F6B2}"/>
              </a:ext>
            </a:extLst>
          </p:cNvPr>
          <p:cNvSpPr txBox="1"/>
          <p:nvPr/>
        </p:nvSpPr>
        <p:spPr>
          <a:xfrm>
            <a:off x="476250" y="2486025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0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주로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경로 조정(Path Manipulation)</a:t>
            </a:r>
            <a:r>
              <a:rPr lang="en-US" sz="1500" b="0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에 사용됩니다.</a:t>
            </a:r>
            <a:endParaRPr/>
          </a:p>
        </p:txBody>
      </p:sp>
      <p:sp>
        <p:nvSpPr>
          <p:cNvPr id="173" name="Google Shape;173;p16">
            <a:extLst>
              <a:ext uri="{FF2B5EF4-FFF2-40B4-BE49-F238E27FC236}">
                <a16:creationId xmlns:a16="http://schemas.microsoft.com/office/drawing/2014/main" id="{D4CE1DBB-421E-422F-4AFE-FE136340E20E}"/>
              </a:ext>
            </a:extLst>
          </p:cNvPr>
          <p:cNvSpPr txBox="1"/>
          <p:nvPr/>
        </p:nvSpPr>
        <p:spPr>
          <a:xfrm>
            <a:off x="476250" y="2933700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0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특정 경로를 백업으로 돌리고 싶을 때 유용합니다.</a:t>
            </a:r>
            <a:endParaRPr/>
          </a:p>
        </p:txBody>
      </p:sp>
      <p:sp>
        <p:nvSpPr>
          <p:cNvPr id="174" name="Google Shape;174;p16">
            <a:extLst>
              <a:ext uri="{FF2B5EF4-FFF2-40B4-BE49-F238E27FC236}">
                <a16:creationId xmlns:a16="http://schemas.microsoft.com/office/drawing/2014/main" id="{235FDE4B-C4E3-AE0E-3734-D80ADE39368F}"/>
              </a:ext>
            </a:extLst>
          </p:cNvPr>
          <p:cNvSpPr txBox="1"/>
          <p:nvPr/>
        </p:nvSpPr>
        <p:spPr>
          <a:xfrm>
            <a:off x="476250" y="3381375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0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ACL로 대상을 지정하고, 숫자를 더합니다.</a:t>
            </a:r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B2A7F55-67F2-8B2D-0CBC-6780C6D17A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411" y="1085850"/>
            <a:ext cx="5091113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444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Shape 178">
          <a:extLst>
            <a:ext uri="{FF2B5EF4-FFF2-40B4-BE49-F238E27FC236}">
              <a16:creationId xmlns:a16="http://schemas.microsoft.com/office/drawing/2014/main" id="{70553A5B-5628-1ABC-3123-BDC41F4B8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7" descr="image.png">
            <a:extLst>
              <a:ext uri="{FF2B5EF4-FFF2-40B4-BE49-F238E27FC236}">
                <a16:creationId xmlns:a16="http://schemas.microsoft.com/office/drawing/2014/main" id="{BB62B632-5B55-9FBF-D471-DD0F87E881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>
            <a:extLst>
              <a:ext uri="{FF2B5EF4-FFF2-40B4-BE49-F238E27FC236}">
                <a16:creationId xmlns:a16="http://schemas.microsoft.com/office/drawing/2014/main" id="{A505E7A6-2B36-F437-A352-3B566AD44DA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66850"/>
            <a:ext cx="5429250" cy="501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>
            <a:extLst>
              <a:ext uri="{FF2B5EF4-FFF2-40B4-BE49-F238E27FC236}">
                <a16:creationId xmlns:a16="http://schemas.microsoft.com/office/drawing/2014/main" id="{605EE778-F437-B64A-9AB1-CDB631E5214A}"/>
              </a:ext>
            </a:extLst>
          </p:cNvPr>
          <p:cNvSpPr txBox="1"/>
          <p:nvPr/>
        </p:nvSpPr>
        <p:spPr>
          <a:xfrm>
            <a:off x="476250" y="285750"/>
            <a:ext cx="51054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5. Manual Summary (</a:t>
            </a:r>
            <a:r>
              <a:rPr lang="en-US" sz="27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수동</a:t>
            </a:r>
            <a:r>
              <a:rPr lang="en-US" sz="27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7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축약</a:t>
            </a:r>
            <a:r>
              <a:rPr lang="en-US" sz="27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183" name="Google Shape;183;p17">
            <a:extLst>
              <a:ext uri="{FF2B5EF4-FFF2-40B4-BE49-F238E27FC236}">
                <a16:creationId xmlns:a16="http://schemas.microsoft.com/office/drawing/2014/main" id="{A9FC9CCC-02A6-2B29-38F9-A923BCF82677}"/>
              </a:ext>
            </a:extLst>
          </p:cNvPr>
          <p:cNvSpPr txBox="1"/>
          <p:nvPr/>
        </p:nvSpPr>
        <p:spPr>
          <a:xfrm>
            <a:off x="476250" y="1466850"/>
            <a:ext cx="570071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개념 잡기</a:t>
            </a:r>
            <a:endParaRPr/>
          </a:p>
        </p:txBody>
      </p:sp>
      <p:sp>
        <p:nvSpPr>
          <p:cNvPr id="184" name="Google Shape;184;p17">
            <a:extLst>
              <a:ext uri="{FF2B5EF4-FFF2-40B4-BE49-F238E27FC236}">
                <a16:creationId xmlns:a16="http://schemas.microsoft.com/office/drawing/2014/main" id="{B460710E-DD4E-869B-8F19-B4933777E33F}"/>
              </a:ext>
            </a:extLst>
          </p:cNvPr>
          <p:cNvSpPr txBox="1"/>
          <p:nvPr/>
        </p:nvSpPr>
        <p:spPr>
          <a:xfrm>
            <a:off x="476250" y="2038350"/>
            <a:ext cx="5429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여러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개의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작은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네트워크를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1" i="0" u="none" strike="noStrike" cap="none" dirty="0" err="1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하나의</a:t>
            </a:r>
            <a:r>
              <a:rPr lang="en-US" sz="1500" b="1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큰 </a:t>
            </a:r>
            <a:r>
              <a:rPr lang="en-US" sz="1500" b="1" i="0" u="none" strike="noStrike" cap="none" dirty="0" err="1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주소로</a:t>
            </a:r>
            <a:r>
              <a:rPr lang="en-US" sz="1500" b="1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1" i="0" u="none" strike="noStrike" cap="none" dirty="0" err="1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묶어서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광고하는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기술입니다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187" name="Google Shape;187;p17">
            <a:extLst>
              <a:ext uri="{FF2B5EF4-FFF2-40B4-BE49-F238E27FC236}">
                <a16:creationId xmlns:a16="http://schemas.microsoft.com/office/drawing/2014/main" id="{00C2F05D-BC77-B983-3E4B-201692E10773}"/>
              </a:ext>
            </a:extLst>
          </p:cNvPr>
          <p:cNvSpPr txBox="1"/>
          <p:nvPr/>
        </p:nvSpPr>
        <p:spPr>
          <a:xfrm>
            <a:off x="6486525" y="1666875"/>
            <a:ext cx="20383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! R1 인터페이스 설정 모드</a:t>
            </a:r>
            <a:endParaRPr/>
          </a:p>
        </p:txBody>
      </p:sp>
      <p:sp>
        <p:nvSpPr>
          <p:cNvPr id="188" name="Google Shape;188;p17">
            <a:extLst>
              <a:ext uri="{FF2B5EF4-FFF2-40B4-BE49-F238E27FC236}">
                <a16:creationId xmlns:a16="http://schemas.microsoft.com/office/drawing/2014/main" id="{E45E8414-CB8F-385D-785B-36A7295265CF}"/>
              </a:ext>
            </a:extLst>
          </p:cNvPr>
          <p:cNvSpPr txBox="1"/>
          <p:nvPr/>
        </p:nvSpPr>
        <p:spPr>
          <a:xfrm>
            <a:off x="6486525" y="1885950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R1(config)#</a:t>
            </a:r>
            <a:endParaRPr/>
          </a:p>
        </p:txBody>
      </p:sp>
      <p:sp>
        <p:nvSpPr>
          <p:cNvPr id="189" name="Google Shape;189;p17">
            <a:extLst>
              <a:ext uri="{FF2B5EF4-FFF2-40B4-BE49-F238E27FC236}">
                <a16:creationId xmlns:a16="http://schemas.microsoft.com/office/drawing/2014/main" id="{F6092C37-E7A1-B9C6-0347-AC4050073EF9}"/>
              </a:ext>
            </a:extLst>
          </p:cNvPr>
          <p:cNvSpPr txBox="1"/>
          <p:nvPr/>
        </p:nvSpPr>
        <p:spPr>
          <a:xfrm>
            <a:off x="6486525" y="2085975"/>
            <a:ext cx="1333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R1(config-if)#</a:t>
            </a:r>
            <a:endParaRPr/>
          </a:p>
        </p:txBody>
      </p:sp>
      <p:sp>
        <p:nvSpPr>
          <p:cNvPr id="190" name="Google Shape;190;p17">
            <a:extLst>
              <a:ext uri="{FF2B5EF4-FFF2-40B4-BE49-F238E27FC236}">
                <a16:creationId xmlns:a16="http://schemas.microsoft.com/office/drawing/2014/main" id="{9CB1435F-5BB5-8F3A-4C5D-021E207FFEEB}"/>
              </a:ext>
            </a:extLst>
          </p:cNvPr>
          <p:cNvSpPr txBox="1"/>
          <p:nvPr/>
        </p:nvSpPr>
        <p:spPr>
          <a:xfrm>
            <a:off x="7915275" y="2085975"/>
            <a:ext cx="2095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ip summary-address rip</a:t>
            </a:r>
            <a:endParaRPr/>
          </a:p>
        </p:txBody>
      </p:sp>
      <p:sp>
        <p:nvSpPr>
          <p:cNvPr id="191" name="Google Shape;191;p17">
            <a:extLst>
              <a:ext uri="{FF2B5EF4-FFF2-40B4-BE49-F238E27FC236}">
                <a16:creationId xmlns:a16="http://schemas.microsoft.com/office/drawing/2014/main" id="{6D6960CA-A34E-7705-D5C7-00E42D32DF41}"/>
              </a:ext>
            </a:extLst>
          </p:cNvPr>
          <p:cNvSpPr txBox="1"/>
          <p:nvPr/>
        </p:nvSpPr>
        <p:spPr>
          <a:xfrm>
            <a:off x="6486525" y="2305050"/>
            <a:ext cx="42862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10.0.0.0 255.192.0.0</a:t>
            </a:r>
            <a:endParaRPr dirty="0"/>
          </a:p>
        </p:txBody>
      </p:sp>
      <p:sp>
        <p:nvSpPr>
          <p:cNvPr id="192" name="Google Shape;192;p17">
            <a:extLst>
              <a:ext uri="{FF2B5EF4-FFF2-40B4-BE49-F238E27FC236}">
                <a16:creationId xmlns:a16="http://schemas.microsoft.com/office/drawing/2014/main" id="{82F9E2AE-3237-31A8-E39A-53C349ADA770}"/>
              </a:ext>
            </a:extLst>
          </p:cNvPr>
          <p:cNvSpPr txBox="1"/>
          <p:nvPr/>
        </p:nvSpPr>
        <p:spPr>
          <a:xfrm>
            <a:off x="6486525" y="2686050"/>
            <a:ext cx="1676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! </a:t>
            </a:r>
            <a:r>
              <a:rPr lang="en-US" sz="1200" b="0" i="1" u="none" strike="noStrike" cap="none" dirty="0" err="1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결과</a:t>
            </a:r>
            <a:r>
              <a:rPr lang="en-US" sz="1200" b="0" i="1" u="none" strike="noStrike" cap="none" dirty="0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200" b="0" i="1" u="none" strike="noStrike" cap="none" dirty="0" err="1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확인</a:t>
            </a:r>
            <a:r>
              <a:rPr lang="en-US" sz="1200" b="0" i="1" u="none" strike="noStrike" cap="none" dirty="0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 (R2에서)</a:t>
            </a:r>
            <a:endParaRPr dirty="0"/>
          </a:p>
        </p:txBody>
      </p:sp>
      <p:sp>
        <p:nvSpPr>
          <p:cNvPr id="193" name="Google Shape;193;p17">
            <a:extLst>
              <a:ext uri="{FF2B5EF4-FFF2-40B4-BE49-F238E27FC236}">
                <a16:creationId xmlns:a16="http://schemas.microsoft.com/office/drawing/2014/main" id="{8BF9E921-264C-1D8E-B2BB-F46E5D07A5CA}"/>
              </a:ext>
            </a:extLst>
          </p:cNvPr>
          <p:cNvSpPr txBox="1"/>
          <p:nvPr/>
        </p:nvSpPr>
        <p:spPr>
          <a:xfrm>
            <a:off x="6486525" y="2905125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R2#</a:t>
            </a:r>
            <a:endParaRPr dirty="0"/>
          </a:p>
        </p:txBody>
      </p:sp>
      <p:sp>
        <p:nvSpPr>
          <p:cNvPr id="195" name="Google Shape;195;p17">
            <a:extLst>
              <a:ext uri="{FF2B5EF4-FFF2-40B4-BE49-F238E27FC236}">
                <a16:creationId xmlns:a16="http://schemas.microsoft.com/office/drawing/2014/main" id="{5BBFE821-4B1A-AB5D-8D6D-53F8E9C6AE9D}"/>
              </a:ext>
            </a:extLst>
          </p:cNvPr>
          <p:cNvSpPr txBox="1"/>
          <p:nvPr/>
        </p:nvSpPr>
        <p:spPr>
          <a:xfrm>
            <a:off x="6486525" y="3505200"/>
            <a:ext cx="8001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! 주의사항</a:t>
            </a:r>
            <a:endParaRPr/>
          </a:p>
        </p:txBody>
      </p:sp>
      <p:sp>
        <p:nvSpPr>
          <p:cNvPr id="196" name="Google Shape;196;p17">
            <a:extLst>
              <a:ext uri="{FF2B5EF4-FFF2-40B4-BE49-F238E27FC236}">
                <a16:creationId xmlns:a16="http://schemas.microsoft.com/office/drawing/2014/main" id="{F049EE41-7CC5-ABA8-EE2F-4C3E4CE5EBCA}"/>
              </a:ext>
            </a:extLst>
          </p:cNvPr>
          <p:cNvSpPr txBox="1"/>
          <p:nvPr/>
        </p:nvSpPr>
        <p:spPr>
          <a:xfrm>
            <a:off x="6486525" y="3724275"/>
            <a:ext cx="36004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RIPv2에서 'no auto-summary'가 되어 있어야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 정확한 수동 축약 효과를 볼 수 있습니다.</a:t>
            </a:r>
            <a:endParaRPr/>
          </a:p>
        </p:txBody>
      </p:sp>
      <p:pic>
        <p:nvPicPr>
          <p:cNvPr id="197" name="Google Shape;197;p17" descr="image.png">
            <a:extLst>
              <a:ext uri="{FF2B5EF4-FFF2-40B4-BE49-F238E27FC236}">
                <a16:creationId xmlns:a16="http://schemas.microsoft.com/office/drawing/2014/main" id="{BD0CF3E2-6A00-EAD9-5305-6A2B2043CDD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154305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>
            <a:extLst>
              <a:ext uri="{FF2B5EF4-FFF2-40B4-BE49-F238E27FC236}">
                <a16:creationId xmlns:a16="http://schemas.microsoft.com/office/drawing/2014/main" id="{6202C414-22B5-6A3E-7BB2-F88BDA03F585}"/>
              </a:ext>
            </a:extLst>
          </p:cNvPr>
          <p:cNvSpPr txBox="1"/>
          <p:nvPr/>
        </p:nvSpPr>
        <p:spPr>
          <a:xfrm>
            <a:off x="476250" y="2790825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0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라우팅 테이블 크기 감소 (메모리 절약)</a:t>
            </a:r>
            <a:endParaRPr/>
          </a:p>
        </p:txBody>
      </p:sp>
      <p:sp>
        <p:nvSpPr>
          <p:cNvPr id="199" name="Google Shape;199;p17">
            <a:extLst>
              <a:ext uri="{FF2B5EF4-FFF2-40B4-BE49-F238E27FC236}">
                <a16:creationId xmlns:a16="http://schemas.microsoft.com/office/drawing/2014/main" id="{DCFD565E-23BC-0FD8-9593-28168CC5FE1C}"/>
              </a:ext>
            </a:extLst>
          </p:cNvPr>
          <p:cNvSpPr txBox="1"/>
          <p:nvPr/>
        </p:nvSpPr>
        <p:spPr>
          <a:xfrm>
            <a:off x="476250" y="3238500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0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네트워크 안정성 향상 (Flapping 방지)</a:t>
            </a:r>
            <a:endParaRPr/>
          </a:p>
        </p:txBody>
      </p:sp>
      <p:sp>
        <p:nvSpPr>
          <p:cNvPr id="200" name="Google Shape;200;p17">
            <a:extLst>
              <a:ext uri="{FF2B5EF4-FFF2-40B4-BE49-F238E27FC236}">
                <a16:creationId xmlns:a16="http://schemas.microsoft.com/office/drawing/2014/main" id="{CAC4F0FA-1DFB-640B-CE29-D59592234241}"/>
              </a:ext>
            </a:extLst>
          </p:cNvPr>
          <p:cNvSpPr txBox="1"/>
          <p:nvPr/>
        </p:nvSpPr>
        <p:spPr>
          <a:xfrm>
            <a:off x="476250" y="3686175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500" b="1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인터페이스</a:t>
            </a:r>
            <a:r>
              <a:rPr lang="en-US" sz="1500" b="0" i="0" u="none" strike="noStrike" cap="none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밑에서 설정합니다.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40766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99FFBF61-E921-9EC8-9D75-EBD7E966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6" descr="image.png">
            <a:extLst>
              <a:ext uri="{FF2B5EF4-FFF2-40B4-BE49-F238E27FC236}">
                <a16:creationId xmlns:a16="http://schemas.microsoft.com/office/drawing/2014/main" id="{04EB9A3E-EA5E-974D-414D-B642940143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>
            <a:extLst>
              <a:ext uri="{FF2B5EF4-FFF2-40B4-BE49-F238E27FC236}">
                <a16:creationId xmlns:a16="http://schemas.microsoft.com/office/drawing/2014/main" id="{DA108D95-CFB5-FB89-031B-2822C5A095B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66850"/>
            <a:ext cx="5429250" cy="501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>
            <a:extLst>
              <a:ext uri="{FF2B5EF4-FFF2-40B4-BE49-F238E27FC236}">
                <a16:creationId xmlns:a16="http://schemas.microsoft.com/office/drawing/2014/main" id="{2C523B9D-6791-B284-A62B-794CAEA30BD5}"/>
              </a:ext>
            </a:extLst>
          </p:cNvPr>
          <p:cNvSpPr txBox="1"/>
          <p:nvPr/>
        </p:nvSpPr>
        <p:spPr>
          <a:xfrm>
            <a:off x="476250" y="285750"/>
            <a:ext cx="42100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6. Offset-list (Metric </a:t>
            </a:r>
            <a:r>
              <a:rPr lang="en-US" sz="2700" b="1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조작</a:t>
            </a:r>
            <a:r>
              <a:rPr lang="en-US" sz="2700" b="1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154" name="Google Shape;154;p16">
            <a:extLst>
              <a:ext uri="{FF2B5EF4-FFF2-40B4-BE49-F238E27FC236}">
                <a16:creationId xmlns:a16="http://schemas.microsoft.com/office/drawing/2014/main" id="{47CEBDED-EC8C-7D62-FCC5-BD19D5E39B80}"/>
              </a:ext>
            </a:extLst>
          </p:cNvPr>
          <p:cNvSpPr txBox="1"/>
          <p:nvPr/>
        </p:nvSpPr>
        <p:spPr>
          <a:xfrm>
            <a:off x="523875" y="2300287"/>
            <a:ext cx="5429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CAF50"/>
                </a:solidFill>
                <a:latin typeface="Noto Sans KR"/>
                <a:ea typeface="Noto Sans KR"/>
                <a:cs typeface="Noto Sans KR"/>
                <a:sym typeface="Noto Sans KR"/>
              </a:rPr>
              <a:t>Lab Goal:</a:t>
            </a:r>
            <a:endParaRPr dirty="0"/>
          </a:p>
        </p:txBody>
      </p:sp>
      <p:sp>
        <p:nvSpPr>
          <p:cNvPr id="155" name="Google Shape;155;p16">
            <a:extLst>
              <a:ext uri="{FF2B5EF4-FFF2-40B4-BE49-F238E27FC236}">
                <a16:creationId xmlns:a16="http://schemas.microsoft.com/office/drawing/2014/main" id="{D6894755-B70F-A918-0412-B50EEC0F07CB}"/>
              </a:ext>
            </a:extLst>
          </p:cNvPr>
          <p:cNvSpPr txBox="1"/>
          <p:nvPr/>
        </p:nvSpPr>
        <p:spPr>
          <a:xfrm>
            <a:off x="523875" y="3271837"/>
            <a:ext cx="5429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R5</a:t>
            </a:r>
            <a:r>
              <a:rPr lang="ko-KR" alt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와 </a:t>
            </a:r>
            <a:r>
              <a:rPr lang="en-US" altLang="ko-KR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R7, R7</a:t>
            </a:r>
            <a:r>
              <a:rPr lang="ko-KR" alt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과 </a:t>
            </a:r>
            <a:r>
              <a:rPr lang="en-US" altLang="ko-KR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R6</a:t>
            </a:r>
            <a:r>
              <a:rPr lang="ko-KR" alt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의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경로</a:t>
            </a:r>
            <a:r>
              <a:rPr lang="ko-KR" alt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를 추가하고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R4</a:t>
            </a:r>
            <a:r>
              <a:rPr lang="ko-KR" alt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에서 </a:t>
            </a:r>
            <a:r>
              <a:rPr lang="en-US" altLang="ko-KR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R5</a:t>
            </a:r>
            <a:r>
              <a:rPr lang="ko-KR" alt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로 가는 경로에 홉카운트를 추가하여 로드 </a:t>
            </a:r>
            <a:r>
              <a:rPr lang="ko-KR" altLang="en-US" sz="1500" b="0" i="0" u="none" strike="noStrike" cap="none" dirty="0" err="1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밸런싱</a:t>
            </a:r>
            <a:r>
              <a:rPr lang="ko-KR" altLang="en-US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 해보자</a:t>
            </a:r>
            <a:r>
              <a:rPr lang="en-US" altLang="ko-KR" sz="1500" b="0" i="0" u="none" strike="noStrike" cap="none" dirty="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4D28DEE6-08F9-3AEB-9F43-65C9108A6ABF}"/>
              </a:ext>
            </a:extLst>
          </p:cNvPr>
          <p:cNvSpPr txBox="1"/>
          <p:nvPr/>
        </p:nvSpPr>
        <p:spPr>
          <a:xfrm>
            <a:off x="6486525" y="1666875"/>
            <a:ext cx="1752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! 1. 대상 지정 (ACL)</a:t>
            </a:r>
            <a:endParaRPr/>
          </a:p>
        </p:txBody>
      </p:sp>
      <p:sp>
        <p:nvSpPr>
          <p:cNvPr id="157" name="Google Shape;157;p16">
            <a:extLst>
              <a:ext uri="{FF2B5EF4-FFF2-40B4-BE49-F238E27FC236}">
                <a16:creationId xmlns:a16="http://schemas.microsoft.com/office/drawing/2014/main" id="{B1561919-AD1A-E813-3684-11DD1583FB3B}"/>
              </a:ext>
            </a:extLst>
          </p:cNvPr>
          <p:cNvSpPr txBox="1"/>
          <p:nvPr/>
        </p:nvSpPr>
        <p:spPr>
          <a:xfrm>
            <a:off x="6486525" y="1885950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R1(config)#</a:t>
            </a:r>
            <a:endParaRPr/>
          </a:p>
        </p:txBody>
      </p:sp>
      <p:sp>
        <p:nvSpPr>
          <p:cNvPr id="158" name="Google Shape;158;p16">
            <a:extLst>
              <a:ext uri="{FF2B5EF4-FFF2-40B4-BE49-F238E27FC236}">
                <a16:creationId xmlns:a16="http://schemas.microsoft.com/office/drawing/2014/main" id="{0D2E5192-F325-8A3D-802D-CC4E567FFFE5}"/>
              </a:ext>
            </a:extLst>
          </p:cNvPr>
          <p:cNvSpPr txBox="1"/>
          <p:nvPr/>
        </p:nvSpPr>
        <p:spPr>
          <a:xfrm>
            <a:off x="9725025" y="1885950"/>
            <a:ext cx="1619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1.1.1.0 0.0.0.255</a:t>
            </a: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9AFD3FAA-F1A3-D79C-0343-694FB17B0F4A}"/>
              </a:ext>
            </a:extLst>
          </p:cNvPr>
          <p:cNvSpPr txBox="1"/>
          <p:nvPr/>
        </p:nvSpPr>
        <p:spPr>
          <a:xfrm>
            <a:off x="6486525" y="2286000"/>
            <a:ext cx="18478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! 2. Metric 증가 설정</a:t>
            </a:r>
            <a:endParaRPr/>
          </a:p>
        </p:txBody>
      </p:sp>
      <p:sp>
        <p:nvSpPr>
          <p:cNvPr id="160" name="Google Shape;160;p16">
            <a:extLst>
              <a:ext uri="{FF2B5EF4-FFF2-40B4-BE49-F238E27FC236}">
                <a16:creationId xmlns:a16="http://schemas.microsoft.com/office/drawing/2014/main" id="{01CDC4B6-87CB-920C-3512-FAAE22B1CF02}"/>
              </a:ext>
            </a:extLst>
          </p:cNvPr>
          <p:cNvSpPr txBox="1"/>
          <p:nvPr/>
        </p:nvSpPr>
        <p:spPr>
          <a:xfrm>
            <a:off x="6486525" y="2505075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R1(config)#</a:t>
            </a:r>
            <a:endParaRPr/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DD79D35F-1DB4-12E3-FCA7-A73B68768E73}"/>
              </a:ext>
            </a:extLst>
          </p:cNvPr>
          <p:cNvSpPr txBox="1"/>
          <p:nvPr/>
        </p:nvSpPr>
        <p:spPr>
          <a:xfrm>
            <a:off x="6486525" y="2705100"/>
            <a:ext cx="1714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R1(config-router)#</a:t>
            </a:r>
            <a:endParaRPr/>
          </a:p>
        </p:txBody>
      </p:sp>
      <p:sp>
        <p:nvSpPr>
          <p:cNvPr id="162" name="Google Shape;162;p16">
            <a:extLst>
              <a:ext uri="{FF2B5EF4-FFF2-40B4-BE49-F238E27FC236}">
                <a16:creationId xmlns:a16="http://schemas.microsoft.com/office/drawing/2014/main" id="{BAF360D6-6065-9B4A-2BEA-3DAAC6817086}"/>
              </a:ext>
            </a:extLst>
          </p:cNvPr>
          <p:cNvSpPr txBox="1"/>
          <p:nvPr/>
        </p:nvSpPr>
        <p:spPr>
          <a:xfrm>
            <a:off x="8296275" y="2705100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69CD6"/>
                </a:solidFill>
                <a:latin typeface="Roboto Mono"/>
                <a:ea typeface="Roboto Mono"/>
                <a:cs typeface="Roboto Mono"/>
                <a:sym typeface="Roboto Mono"/>
              </a:rPr>
              <a:t>offset-list</a:t>
            </a:r>
            <a:endParaRPr/>
          </a:p>
        </p:txBody>
      </p:sp>
      <p:sp>
        <p:nvSpPr>
          <p:cNvPr id="163" name="Google Shape;163;p16">
            <a:extLst>
              <a:ext uri="{FF2B5EF4-FFF2-40B4-BE49-F238E27FC236}">
                <a16:creationId xmlns:a16="http://schemas.microsoft.com/office/drawing/2014/main" id="{2F97BA8F-2702-57C4-0DFB-819B7C0F1D5C}"/>
              </a:ext>
            </a:extLst>
          </p:cNvPr>
          <p:cNvSpPr txBox="1"/>
          <p:nvPr/>
        </p:nvSpPr>
        <p:spPr>
          <a:xfrm>
            <a:off x="9725025" y="2705100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out 5 Serial0/0</a:t>
            </a:r>
            <a:endParaRPr/>
          </a:p>
        </p:txBody>
      </p:sp>
      <p:sp>
        <p:nvSpPr>
          <p:cNvPr id="164" name="Google Shape;164;p16">
            <a:extLst>
              <a:ext uri="{FF2B5EF4-FFF2-40B4-BE49-F238E27FC236}">
                <a16:creationId xmlns:a16="http://schemas.microsoft.com/office/drawing/2014/main" id="{0DCFE828-DB8E-F68A-D860-3C3F4B07C26A}"/>
              </a:ext>
            </a:extLst>
          </p:cNvPr>
          <p:cNvSpPr txBox="1"/>
          <p:nvPr/>
        </p:nvSpPr>
        <p:spPr>
          <a:xfrm>
            <a:off x="6486525" y="3105150"/>
            <a:ext cx="1676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! 결과 확인 (R2에서)</a:t>
            </a:r>
            <a:endParaRPr/>
          </a:p>
        </p:txBody>
      </p:sp>
      <p:sp>
        <p:nvSpPr>
          <p:cNvPr id="165" name="Google Shape;165;p16">
            <a:extLst>
              <a:ext uri="{FF2B5EF4-FFF2-40B4-BE49-F238E27FC236}">
                <a16:creationId xmlns:a16="http://schemas.microsoft.com/office/drawing/2014/main" id="{01FE2306-53FE-DB8A-C8DB-75C7FE41FE4E}"/>
              </a:ext>
            </a:extLst>
          </p:cNvPr>
          <p:cNvSpPr txBox="1"/>
          <p:nvPr/>
        </p:nvSpPr>
        <p:spPr>
          <a:xfrm>
            <a:off x="6486525" y="3324225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R2#</a:t>
            </a:r>
            <a:endParaRPr/>
          </a:p>
        </p:txBody>
      </p:sp>
      <p:sp>
        <p:nvSpPr>
          <p:cNvPr id="166" name="Google Shape;166;p16">
            <a:extLst>
              <a:ext uri="{FF2B5EF4-FFF2-40B4-BE49-F238E27FC236}">
                <a16:creationId xmlns:a16="http://schemas.microsoft.com/office/drawing/2014/main" id="{5DEFD176-66C9-8F79-6C75-35B8B268176F}"/>
              </a:ext>
            </a:extLst>
          </p:cNvPr>
          <p:cNvSpPr txBox="1"/>
          <p:nvPr/>
        </p:nvSpPr>
        <p:spPr>
          <a:xfrm>
            <a:off x="8201025" y="3324225"/>
            <a:ext cx="666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E9178"/>
                </a:solidFill>
                <a:latin typeface="Roboto Mono"/>
                <a:ea typeface="Roboto Mono"/>
                <a:cs typeface="Roboto Mono"/>
                <a:sym typeface="Roboto Mono"/>
              </a:rPr>
              <a:t>1.1.1.0</a:t>
            </a:r>
            <a:endParaRPr/>
          </a:p>
        </p:txBody>
      </p:sp>
      <p:sp>
        <p:nvSpPr>
          <p:cNvPr id="167" name="Google Shape;167;p16">
            <a:extLst>
              <a:ext uri="{FF2B5EF4-FFF2-40B4-BE49-F238E27FC236}">
                <a16:creationId xmlns:a16="http://schemas.microsoft.com/office/drawing/2014/main" id="{E7CBCA16-ADD2-02D5-C809-3455D0E36ABD}"/>
              </a:ext>
            </a:extLst>
          </p:cNvPr>
          <p:cNvSpPr txBox="1"/>
          <p:nvPr/>
        </p:nvSpPr>
        <p:spPr>
          <a:xfrm>
            <a:off x="6486525" y="3524250"/>
            <a:ext cx="2476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Routing Descriptor Blocks:</a:t>
            </a:r>
            <a:endParaRPr/>
          </a:p>
        </p:txBody>
      </p:sp>
      <p:sp>
        <p:nvSpPr>
          <p:cNvPr id="168" name="Google Shape;168;p16">
            <a:extLst>
              <a:ext uri="{FF2B5EF4-FFF2-40B4-BE49-F238E27FC236}">
                <a16:creationId xmlns:a16="http://schemas.microsoft.com/office/drawing/2014/main" id="{01949065-0E19-C6DB-FACB-BE2A31C66AD0}"/>
              </a:ext>
            </a:extLst>
          </p:cNvPr>
          <p:cNvSpPr txBox="1"/>
          <p:nvPr/>
        </p:nvSpPr>
        <p:spPr>
          <a:xfrm>
            <a:off x="6486525" y="3724275"/>
            <a:ext cx="4762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* 12.1.1.1, from 12.1.1.1, 00:00:09, via Serial0/0</a:t>
            </a:r>
            <a:endParaRPr/>
          </a:p>
        </p:txBody>
      </p:sp>
      <p:sp>
        <p:nvSpPr>
          <p:cNvPr id="169" name="Google Shape;169;p16">
            <a:extLst>
              <a:ext uri="{FF2B5EF4-FFF2-40B4-BE49-F238E27FC236}">
                <a16:creationId xmlns:a16="http://schemas.microsoft.com/office/drawing/2014/main" id="{0CF45A66-91ED-5E57-EF2A-5490AACBDD3F}"/>
              </a:ext>
            </a:extLst>
          </p:cNvPr>
          <p:cNvSpPr txBox="1"/>
          <p:nvPr/>
        </p:nvSpPr>
        <p:spPr>
          <a:xfrm>
            <a:off x="6486525" y="3924300"/>
            <a:ext cx="4095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 Route metric is 6, traffic share count is 1</a:t>
            </a:r>
            <a:endParaRPr/>
          </a:p>
        </p:txBody>
      </p:sp>
      <p:sp>
        <p:nvSpPr>
          <p:cNvPr id="170" name="Google Shape;170;p16">
            <a:extLst>
              <a:ext uri="{FF2B5EF4-FFF2-40B4-BE49-F238E27FC236}">
                <a16:creationId xmlns:a16="http://schemas.microsoft.com/office/drawing/2014/main" id="{B7AD6DA5-B8F7-7A7B-09D1-F8D955FEAE94}"/>
              </a:ext>
            </a:extLst>
          </p:cNvPr>
          <p:cNvSpPr txBox="1"/>
          <p:nvPr/>
        </p:nvSpPr>
        <p:spPr>
          <a:xfrm>
            <a:off x="6486525" y="4124325"/>
            <a:ext cx="23241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A9955"/>
                </a:solidFill>
                <a:latin typeface="Roboto Mono"/>
                <a:ea typeface="Roboto Mono"/>
                <a:cs typeface="Roboto Mono"/>
                <a:sym typeface="Roboto Mono"/>
              </a:rPr>
              <a:t>(기본 1 + 추가 5 = 6 hops)</a:t>
            </a:r>
            <a:endParaRPr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EC09FF-440A-BB20-A1AD-996A41A7DF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419" y="987752"/>
            <a:ext cx="5132270" cy="567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83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685</Words>
  <Application>Microsoft Office PowerPoint</Application>
  <PresentationFormat>와이드스크린</PresentationFormat>
  <Paragraphs>118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Calibri</vt:lpstr>
      <vt:lpstr>Noto Sans KR</vt:lpstr>
      <vt:lpstr>Arial</vt:lpstr>
      <vt:lpstr>Roboto Mono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TJ</dc:creator>
  <cp:lastModifiedBy>TJ</cp:lastModifiedBy>
  <cp:revision>4</cp:revision>
  <dcterms:modified xsi:type="dcterms:W3CDTF">2025-11-26T03:08:03Z</dcterms:modified>
</cp:coreProperties>
</file>