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8" r:id="rId13"/>
    <p:sldId id="270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933E487-874A-D55E-0985-CDB57F37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>
            <a:extLst>
              <a:ext uri="{FF2B5EF4-FFF2-40B4-BE49-F238E27FC236}">
                <a16:creationId xmlns:a16="http://schemas.microsoft.com/office/drawing/2014/main" id="{AD5D82A9-5AFC-652D-B30F-00206E3C3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:notes">
            <a:extLst>
              <a:ext uri="{FF2B5EF4-FFF2-40B4-BE49-F238E27FC236}">
                <a16:creationId xmlns:a16="http://schemas.microsoft.com/office/drawing/2014/main" id="{93248D43-50C7-35D1-4F8B-3DE115C6B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120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5F04D052-6CFB-F151-DCA3-F8D9B63C6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>
            <a:extLst>
              <a:ext uri="{FF2B5EF4-FFF2-40B4-BE49-F238E27FC236}">
                <a16:creationId xmlns:a16="http://schemas.microsoft.com/office/drawing/2014/main" id="{9117A61B-1FCE-2A47-C3AB-235253AD4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>
            <a:extLst>
              <a:ext uri="{FF2B5EF4-FFF2-40B4-BE49-F238E27FC236}">
                <a16:creationId xmlns:a16="http://schemas.microsoft.com/office/drawing/2014/main" id="{4D32E3ED-02DA-3320-55AD-85F6FC750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6061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3A47197B-DD7D-7EC5-8D57-BCF1D028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>
            <a:extLst>
              <a:ext uri="{FF2B5EF4-FFF2-40B4-BE49-F238E27FC236}">
                <a16:creationId xmlns:a16="http://schemas.microsoft.com/office/drawing/2014/main" id="{AA18485A-8D78-01AF-D973-681D0FBDD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>
            <a:extLst>
              <a:ext uri="{FF2B5EF4-FFF2-40B4-BE49-F238E27FC236}">
                <a16:creationId xmlns:a16="http://schemas.microsoft.com/office/drawing/2014/main" id="{F161DF07-C067-3BAB-A479-ED29653C9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1066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22823A71-C9CD-7B2E-8988-5DB590C9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>
            <a:extLst>
              <a:ext uri="{FF2B5EF4-FFF2-40B4-BE49-F238E27FC236}">
                <a16:creationId xmlns:a16="http://schemas.microsoft.com/office/drawing/2014/main" id="{F77CD758-D220-9FB1-90FF-611C8E0533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8:notes">
            <a:extLst>
              <a:ext uri="{FF2B5EF4-FFF2-40B4-BE49-F238E27FC236}">
                <a16:creationId xmlns:a16="http://schemas.microsoft.com/office/drawing/2014/main" id="{B254D343-2379-74B2-847D-6FE3E0A832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0603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619C43B-5514-56FA-CB0E-2D7AB7C81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>
            <a:extLst>
              <a:ext uri="{FF2B5EF4-FFF2-40B4-BE49-F238E27FC236}">
                <a16:creationId xmlns:a16="http://schemas.microsoft.com/office/drawing/2014/main" id="{1091C170-1309-E78E-F4FA-DFA6799040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:notes">
            <a:extLst>
              <a:ext uri="{FF2B5EF4-FFF2-40B4-BE49-F238E27FC236}">
                <a16:creationId xmlns:a16="http://schemas.microsoft.com/office/drawing/2014/main" id="{4D9CE043-2176-09D0-0DC9-A8A8945CB9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442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38125" y="1596479"/>
            <a:ext cx="1171575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EIGRP </a:t>
            </a:r>
          </a:p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offset-list &amp; manual summary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3990151"/>
            <a:ext cx="112395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ko-KR" altLang="en-US" sz="2400" dirty="0">
                <a:solidFill>
                  <a:srgbClr val="555555"/>
                </a:solidFill>
              </a:rPr>
              <a:t>💫</a:t>
            </a:r>
            <a:r>
              <a:rPr lang="ko-KR" altLang="en-US" sz="2400" dirty="0" err="1">
                <a:solidFill>
                  <a:srgbClr val="555555"/>
                </a:solidFill>
              </a:rPr>
              <a:t>킹</a:t>
            </a:r>
            <a:r>
              <a:rPr lang="ko-KR" altLang="en-US" sz="6000" dirty="0" err="1">
                <a:solidFill>
                  <a:srgbClr val="555555"/>
                </a:solidFill>
              </a:rPr>
              <a:t>왕</a:t>
            </a:r>
            <a:r>
              <a:rPr lang="ko-KR" altLang="en-US" sz="2400" dirty="0" err="1">
                <a:solidFill>
                  <a:srgbClr val="555555"/>
                </a:solidFill>
              </a:rPr>
              <a:t>짱</a:t>
            </a:r>
            <a:r>
              <a:rPr lang="ko-KR" altLang="en-US" sz="2400" dirty="0">
                <a:solidFill>
                  <a:srgbClr val="555555"/>
                </a:solidFill>
              </a:rPr>
              <a:t> 네트워크💫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EIGRP Offset-list란?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6250" y="2748260"/>
            <a:ext cx="5429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네트워크 관리자가 EIGRP 경로 업데이트의 </a:t>
            </a: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메트릭(Metric)을 수정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할 수 있는 기능입니다.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39187" y="301198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619875" y="3712518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경로를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완전히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차단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(Filter)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하지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않고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우선순위만</a:t>
            </a:r>
            <a:r>
              <a:rPr lang="en-US" sz="165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낮추는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강력하고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유연한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방법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3609082"/>
            <a:ext cx="5143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Access-list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를 사용하여 특정 Prefix(경로)를 지정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4087117"/>
            <a:ext cx="5334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해당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경로의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EIGRP Metric 중 </a:t>
            </a:r>
            <a:r>
              <a:rPr lang="en-US" sz="1650" b="1" dirty="0">
                <a:solidFill>
                  <a:srgbClr val="007BFF"/>
                </a:solidFill>
              </a:rPr>
              <a:t>Cost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값에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오프셋을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더함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565153"/>
            <a:ext cx="5143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메트릭을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인위적으로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높여서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선호도를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낮춤</a:t>
            </a:r>
            <a:endParaRPr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7385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418071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4664824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4223295"/>
            <a:ext cx="11239500" cy="1683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69765"/>
            <a:ext cx="3555950" cy="167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7950" y="2169765"/>
            <a:ext cx="3555950" cy="167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169765"/>
            <a:ext cx="3555950" cy="1672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58900" y="23602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05351" y="23602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51801" y="23602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설정 과정 및 메트릭 원리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047750" y="4509045"/>
            <a:ext cx="1090136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어떤 메트릭이 변하는가?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4947195"/>
            <a:ext cx="106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계산이 끝난 최종 </a:t>
            </a:r>
            <a:r>
              <a:rPr lang="en-US" altLang="ko-KR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EIGRP metric </a:t>
            </a:r>
            <a:r>
              <a:rPr lang="ko-KR" alt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값에 </a:t>
            </a:r>
            <a:r>
              <a:rPr lang="en-US" altLang="ko-KR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offset</a:t>
            </a:r>
            <a:r>
              <a:rPr lang="ko-KR" alt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을 더함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5347245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35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오프셋</a:t>
            </a:r>
            <a:r>
              <a:rPr lang="en-US" sz="135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값 </a:t>
            </a:r>
            <a:r>
              <a:rPr lang="en-US" sz="135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범위</a:t>
            </a:r>
            <a:r>
              <a:rPr lang="en-US" sz="135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1 ~ 2,147,483,647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682626" y="2884140"/>
            <a:ext cx="33336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ACL 생성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290289" y="3096601"/>
            <a:ext cx="413878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조정할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특정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네트워크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대역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(Prefix)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lang="en-US" sz="1350" b="0" i="0" u="none" strike="noStrike" cap="none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4429076" y="2884140"/>
            <a:ext cx="33336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Offset-list 적용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508450" y="3103215"/>
            <a:ext cx="31749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EIGRP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프로세스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내에서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offset-list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명령어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사용</a:t>
            </a:r>
            <a:endParaRPr lang="en-US" sz="1350" b="0" i="0" u="none" strike="noStrike" cap="none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175527" y="2884140"/>
            <a:ext cx="33336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메트릭 수정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254900" y="3103215"/>
            <a:ext cx="31749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333333"/>
                </a:solidFill>
              </a:rPr>
              <a:t>Composite Metric(</a:t>
            </a:r>
            <a:r>
              <a:rPr lang="ko-KR" altLang="en-US" sz="1350" dirty="0">
                <a:solidFill>
                  <a:srgbClr val="333333"/>
                </a:solidFill>
              </a:rPr>
              <a:t>합성 </a:t>
            </a:r>
            <a:r>
              <a:rPr lang="ko-KR" altLang="en-US" sz="1350" dirty="0" err="1">
                <a:solidFill>
                  <a:srgbClr val="333333"/>
                </a:solidFill>
              </a:rPr>
              <a:t>메트릭</a:t>
            </a:r>
            <a:r>
              <a:rPr lang="en-US" altLang="ko-KR" sz="1350" dirty="0">
                <a:solidFill>
                  <a:srgbClr val="333333"/>
                </a:solidFill>
              </a:rPr>
              <a:t>)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값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증가로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인한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경로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우선순위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변경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확인</a:t>
            </a:r>
            <a:endParaRPr dirty="0"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4532858"/>
            <a:ext cx="1905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45">
          <a:extLst>
            <a:ext uri="{FF2B5EF4-FFF2-40B4-BE49-F238E27FC236}">
              <a16:creationId xmlns:a16="http://schemas.microsoft.com/office/drawing/2014/main" id="{80EA17D5-E2D5-E243-1D5C-18EE3712C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1" descr="image.png">
            <a:extLst>
              <a:ext uri="{FF2B5EF4-FFF2-40B4-BE49-F238E27FC236}">
                <a16:creationId xmlns:a16="http://schemas.microsoft.com/office/drawing/2014/main" id="{2D7AFB5C-0E9A-A7B9-1398-601B76C408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>
            <a:extLst>
              <a:ext uri="{FF2B5EF4-FFF2-40B4-BE49-F238E27FC236}">
                <a16:creationId xmlns:a16="http://schemas.microsoft.com/office/drawing/2014/main" id="{F611F1B2-8A0C-DD59-2BC0-160AB5D0B95E}"/>
              </a:ext>
            </a:extLst>
          </p:cNvPr>
          <p:cNvSpPr txBox="1"/>
          <p:nvPr/>
        </p:nvSpPr>
        <p:spPr>
          <a:xfrm>
            <a:off x="190500" y="325063"/>
            <a:ext cx="6011124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Offset-list </a:t>
            </a:r>
            <a:r>
              <a:rPr lang="ko-KR" altLang="en-US" sz="4800" b="0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설정 과정</a:t>
            </a:r>
            <a:endParaRPr lang="ko-KR" altLang="en-US" dirty="0"/>
          </a:p>
        </p:txBody>
      </p:sp>
      <p:sp>
        <p:nvSpPr>
          <p:cNvPr id="249" name="Google Shape;249;p21">
            <a:extLst>
              <a:ext uri="{FF2B5EF4-FFF2-40B4-BE49-F238E27FC236}">
                <a16:creationId xmlns:a16="http://schemas.microsoft.com/office/drawing/2014/main" id="{83730736-363A-38A2-7A88-CA285C9A8FA1}"/>
              </a:ext>
            </a:extLst>
          </p:cNvPr>
          <p:cNvSpPr txBox="1"/>
          <p:nvPr/>
        </p:nvSpPr>
        <p:spPr>
          <a:xfrm>
            <a:off x="581874" y="2318462"/>
            <a:ext cx="112395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ctr">
              <a:lnSpc>
                <a:spcPct val="160000"/>
              </a:lnSpc>
              <a:buAutoNum type="arabicPeriod"/>
            </a:pPr>
            <a:r>
              <a:rPr lang="en-US" altLang="ko-KR" sz="1800" dirty="0"/>
              <a:t>access-list (</a:t>
            </a:r>
            <a:r>
              <a:rPr lang="ko-KR" altLang="en-US" sz="1800" dirty="0"/>
              <a:t>숫자</a:t>
            </a:r>
            <a:r>
              <a:rPr lang="en-US" altLang="ko-KR" sz="1800" dirty="0"/>
              <a:t>) (permit/deny) (IP</a:t>
            </a:r>
            <a:r>
              <a:rPr lang="ko-KR" altLang="en-US" sz="1800" dirty="0"/>
              <a:t>대역 </a:t>
            </a:r>
            <a:r>
              <a:rPr lang="en-US" altLang="ko-KR" sz="1800" dirty="0"/>
              <a:t>+ Wild mask)</a:t>
            </a:r>
          </a:p>
          <a:p>
            <a:pPr marL="342900" lvl="0" indent="-342900" algn="ctr">
              <a:lnSpc>
                <a:spcPct val="160000"/>
              </a:lnSpc>
              <a:buAutoNum type="arabicPeriod"/>
            </a:pPr>
            <a:endParaRPr lang="en-US" altLang="ko-KR" sz="1800" dirty="0"/>
          </a:p>
          <a:p>
            <a:pPr marL="342900" lvl="0" indent="-342900" algn="ctr">
              <a:lnSpc>
                <a:spcPct val="160000"/>
              </a:lnSpc>
              <a:buAutoNum type="arabicPeriod"/>
            </a:pPr>
            <a:r>
              <a:rPr lang="en-US" altLang="ko-KR" sz="1800" dirty="0"/>
              <a:t>Router </a:t>
            </a:r>
            <a:r>
              <a:rPr lang="en-US" altLang="ko-KR" sz="1800" dirty="0" err="1"/>
              <a:t>eigrp</a:t>
            </a:r>
            <a:r>
              <a:rPr lang="en-US" altLang="ko-KR" sz="1800" dirty="0"/>
              <a:t> (</a:t>
            </a:r>
            <a:r>
              <a:rPr lang="ko-KR" altLang="en-US" sz="1800" dirty="0"/>
              <a:t>숫자</a:t>
            </a:r>
            <a:r>
              <a:rPr lang="en-US" altLang="ko-KR" sz="1800" dirty="0"/>
              <a:t>)</a:t>
            </a:r>
          </a:p>
          <a:p>
            <a:pPr marL="342900" lvl="0" indent="-342900" algn="ctr">
              <a:lnSpc>
                <a:spcPct val="160000"/>
              </a:lnSpc>
              <a:buAutoNum type="arabicPeriod"/>
            </a:pPr>
            <a:endParaRPr lang="en-US" altLang="ko-KR" sz="1800" dirty="0"/>
          </a:p>
          <a:p>
            <a:pPr marL="342900" lvl="0" indent="-342900" algn="ctr">
              <a:lnSpc>
                <a:spcPct val="160000"/>
              </a:lnSpc>
              <a:buAutoNum type="arabicPeriod"/>
            </a:pPr>
            <a:r>
              <a:rPr lang="en-US" altLang="ko-KR" sz="1800" dirty="0"/>
              <a:t>Offset-list (ACL</a:t>
            </a:r>
            <a:r>
              <a:rPr lang="ko-KR" altLang="en-US" sz="1800" dirty="0"/>
              <a:t>숫자</a:t>
            </a:r>
            <a:r>
              <a:rPr lang="en-US" altLang="ko-KR" sz="1800" dirty="0"/>
              <a:t>) (in/out) (</a:t>
            </a:r>
            <a:r>
              <a:rPr lang="ko-KR" altLang="en-US" sz="1800" dirty="0"/>
              <a:t>추가할 </a:t>
            </a:r>
            <a:r>
              <a:rPr lang="en-US" altLang="ko-KR" sz="1800" dirty="0"/>
              <a:t>offset-list</a:t>
            </a:r>
            <a:r>
              <a:rPr lang="ko-KR" altLang="en-US" sz="1800" dirty="0"/>
              <a:t> 값</a:t>
            </a:r>
            <a:r>
              <a:rPr lang="en-US" altLang="ko-KR" sz="1800" dirty="0"/>
              <a:t>) (</a:t>
            </a:r>
            <a:r>
              <a:rPr lang="ko-KR" altLang="en-US" sz="1800" dirty="0"/>
              <a:t>인터페이스</a:t>
            </a:r>
            <a:r>
              <a:rPr lang="en-US" altLang="ko-KR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225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35721"/>
            <a:ext cx="542925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35721"/>
            <a:ext cx="5429250" cy="292000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방향성: IN vs OUT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809625" y="2721471"/>
            <a:ext cx="505063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IN (수신)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3159621"/>
            <a:ext cx="4810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이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인터페이스로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들어오는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EIGRP Update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메시지에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대해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dirty="0">
                <a:solidFill>
                  <a:srgbClr val="333333"/>
                </a:solidFill>
              </a:rPr>
              <a:t>Cost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증가</a:t>
            </a:r>
            <a:endParaRPr dirty="0"/>
          </a:p>
        </p:txBody>
      </p:sp>
      <p:sp>
        <p:nvSpPr>
          <p:cNvPr id="143" name="Google Shape;143;p16"/>
          <p:cNvSpPr/>
          <p:nvPr/>
        </p:nvSpPr>
        <p:spPr>
          <a:xfrm>
            <a:off x="809625" y="3912096"/>
            <a:ext cx="48101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809625" y="4064496"/>
            <a:ext cx="5000625" cy="111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효과</a:t>
            </a:r>
            <a:r>
              <a:rPr lang="en-US" sz="165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이웃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라우터가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보낸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경로를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내가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받을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때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메트릭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조작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65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들어오는</a:t>
            </a:r>
            <a:r>
              <a:rPr lang="en-US" sz="165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경로의</a:t>
            </a:r>
            <a:r>
              <a:rPr lang="en-US" sz="165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우선순위를</a:t>
            </a:r>
            <a:r>
              <a:rPr lang="en-US" sz="165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떨어뜨림</a:t>
            </a:r>
            <a:r>
              <a:rPr lang="en-US" sz="165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6619875" y="2721471"/>
            <a:ext cx="505063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OUT (송신)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619875" y="3159621"/>
            <a:ext cx="4810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이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인터페이스로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나가는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EIGRP Update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메시지에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대해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Cost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증가</a:t>
            </a:r>
            <a:endParaRPr dirty="0"/>
          </a:p>
        </p:txBody>
      </p:sp>
      <p:sp>
        <p:nvSpPr>
          <p:cNvPr id="147" name="Google Shape;147;p16"/>
          <p:cNvSpPr/>
          <p:nvPr/>
        </p:nvSpPr>
        <p:spPr>
          <a:xfrm>
            <a:off x="6619875" y="3912096"/>
            <a:ext cx="48101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619875" y="4064496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효과: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내가 보내는 경로 정보를 조작하여 이웃에게 전달.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이웃이 다른 경로를 선택하도록 유도.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750046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9875" y="2750046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47292"/>
            <a:ext cx="5429250" cy="349686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사용 목적 및 장점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476250" y="2662535"/>
            <a:ext cx="57007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왜 사용하는가?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19875" y="2433042"/>
            <a:ext cx="505063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주요 장점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3024485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경로 크기 조정: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비용을 늘려 Primary/Backup 경로를 명확히 구분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3837682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Traffic Engineering: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로드 밸런싱 대신 특정 경로를 강제로 사용하도록 유도 (선호도 조절)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62000" y="4650878"/>
            <a:ext cx="5143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일부 경로를 의도적으로 </a:t>
            </a: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Less Preferred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처리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9875" y="2461617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905625" y="2918817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정밀한 제어: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OSPF처럼 일괄 변경이 아닌, Prefix별 세밀한 조절 가능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905625" y="3732014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방향성 활용: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IN/OUT 방향을 나누어 나에게 미치는 영향과 이웃에게 미치는 영향을 분리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905625" y="4545210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논리적 조정: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실제 물리적 링크 속도(Bandwidth)를 건드리지 않고 라우팅 정책만 변경</a:t>
            </a:r>
            <a:endParaRPr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05306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8662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67945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29473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376058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457378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080444"/>
            <a:ext cx="5429250" cy="292179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Manual Summary란?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476250" y="1789211"/>
            <a:ext cx="5429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EIGRP 라우터가 특정 네트워크 범위를 </a:t>
            </a: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하나의 큰 요약 경로(Summarized Route)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로 묶어서 이웃에게 전달하는 기능입니다.</a:t>
            </a:r>
            <a:endParaRPr/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6262" y="2750939"/>
            <a:ext cx="16097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6286500" y="4370189"/>
            <a:ext cx="5429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Interface 단위 설정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해당 인터페이스로 "나가는" 업데이트 요약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09625" y="3366194"/>
            <a:ext cx="505063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주요 목적</a:t>
            </a:r>
            <a:endParaRPr/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3394769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1095375" y="3804344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라우팅 테이블 크기 감소 (메모리 절약)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095375" y="4282380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네트워크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안정성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증가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플랩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영향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최소화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91" name="Google Shape;191;p18"/>
          <p:cNvSpPr txBox="1"/>
          <p:nvPr/>
        </p:nvSpPr>
        <p:spPr>
          <a:xfrm>
            <a:off x="1095375" y="4760416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업데이트 트래픽 플러딩(Flooding) 감소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095375" y="5238452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경계 라우터에서 내부 상세 경로 숨기기</a:t>
            </a:r>
            <a:endParaRPr/>
          </a:p>
        </p:txBody>
      </p:sp>
      <p:pic>
        <p:nvPicPr>
          <p:cNvPr id="193" name="Google Shape;19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383291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31095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78899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26702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240458"/>
            <a:ext cx="11239500" cy="1344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871019"/>
            <a:ext cx="5429250" cy="167997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Null0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라우트</a:t>
            </a:r>
            <a:endParaRPr dirty="0"/>
          </a:p>
        </p:txBody>
      </p:sp>
      <p:sp>
        <p:nvSpPr>
          <p:cNvPr id="205" name="Google Shape;205;p19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897732" y="2416371"/>
            <a:ext cx="1115139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Null0 </a:t>
            </a:r>
            <a:r>
              <a:rPr lang="en-US" sz="1950" b="1" i="0" u="none" strike="noStrike" cap="none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라우트</a:t>
            </a:r>
            <a:r>
              <a:rPr lang="en-US" sz="19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50" b="1" i="0" u="none" strike="noStrike" cap="none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자동</a:t>
            </a:r>
            <a:r>
              <a:rPr lang="en-US" sz="19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50" b="1" i="0" u="none" strike="noStrike" cap="none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생성</a:t>
            </a:r>
            <a:endParaRPr dirty="0"/>
          </a:p>
        </p:txBody>
      </p:sp>
      <p:sp>
        <p:nvSpPr>
          <p:cNvPr id="208" name="Google Shape;208;p19"/>
          <p:cNvSpPr txBox="1"/>
          <p:nvPr/>
        </p:nvSpPr>
        <p:spPr>
          <a:xfrm>
            <a:off x="809625" y="2783085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Manual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Summary를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설정하면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요약된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경로에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대해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Null0 </a:t>
            </a:r>
            <a:r>
              <a:rPr lang="en-US" sz="165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인터페이스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로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향하는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경로가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라우팅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테이블에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자동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생성됩니다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450771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476250" y="4266307"/>
            <a:ext cx="57007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생성 이유?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476250" y="4485382"/>
            <a:ext cx="5429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"요약 범위에는 포함되지만, 실제로는 존재하지 않는 상세 네트워크"로 향하는 패킷을 </a:t>
            </a: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즉시 폐기(Drop)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하기 위함입니다.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619875" y="4156769"/>
            <a:ext cx="505063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효과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619875" y="4594919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잘못된 목적지 패킷이 디폴트 라우트 등을 타고 핑퐁 치는 </a:t>
            </a: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Routing Loop를 방지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합니다.</a:t>
            </a:r>
            <a:endParaRPr/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9875" y="4185344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215753"/>
            <a:ext cx="5429250" cy="335979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Manual Summary (Null0 </a:t>
            </a:r>
            <a:r>
              <a:rPr lang="ko-KR" altLang="en-US" sz="3150" b="1" i="0" u="none" strike="noStrike" cap="none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라우트</a:t>
            </a:r>
            <a:r>
              <a:rPr lang="en-US" altLang="ko-KR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동작</a:t>
            </a:r>
            <a:r>
              <a:rPr 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50" b="1" i="0" u="none" strike="noStrike" cap="none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endParaRPr dirty="0"/>
          </a:p>
        </p:txBody>
      </p:sp>
      <p:sp>
        <p:nvSpPr>
          <p:cNvPr id="222" name="Google Shape;222;p20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76250" y="2748111"/>
            <a:ext cx="57007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요약 설정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476250" y="2967186"/>
            <a:ext cx="5429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요약: 10.1.0.0/22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476250" y="3428107"/>
            <a:ext cx="5429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실제 존재하는 하위 네트워크: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619875" y="2501503"/>
            <a:ext cx="505063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619875" y="2939653"/>
            <a:ext cx="48101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상황: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패킷이 10.1.0.50으로 유입됨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619875" y="3427214"/>
            <a:ext cx="481012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6619875" y="3579614"/>
            <a:ext cx="48101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동작: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1. 10.1.0.0/24 네트워크는 실제 라우터에 없음.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2. 하지만 요약 경로(10.1.0.0/22) 범위에는 포함됨.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3. </a:t>
            </a:r>
            <a:r>
              <a:rPr lang="en-US" sz="1650" b="1" i="0" u="none" strike="noStrike" cap="none">
                <a:solidFill>
                  <a:srgbClr val="FF4D4D"/>
                </a:solidFill>
                <a:latin typeface="Arial"/>
                <a:ea typeface="Arial"/>
                <a:cs typeface="Arial"/>
                <a:sym typeface="Arial"/>
              </a:rPr>
              <a:t>Null0 라우트에 매칭되어 드랍(Drop).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619875" y="5015507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결과: 루프 없이 안전하게 폐기됨.</a:t>
            </a:r>
            <a:endParaRPr/>
          </a:p>
        </p:txBody>
      </p:sp>
      <p:pic>
        <p:nvPicPr>
          <p:cNvPr id="232" name="Google Shape;23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767161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571500" y="3703349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66750" y="3702397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10.1.1.0/24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571500" y="4038510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66750" y="4037558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10.1.2.0/24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571500" y="4373671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66750" y="4372719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10.1.3.0/24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571500" y="4708832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4D4D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66750" y="4707880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4D4D"/>
                </a:solidFill>
                <a:latin typeface="Arial"/>
                <a:ea typeface="Arial"/>
                <a:cs typeface="Arial"/>
                <a:sym typeface="Arial"/>
              </a:rPr>
              <a:t>10.1.0.0/24 (</a:t>
            </a:r>
            <a:r>
              <a:rPr lang="en-US" sz="1650" b="0" i="0" u="none" strike="noStrike" cap="none" dirty="0" err="1">
                <a:solidFill>
                  <a:srgbClr val="FF4D4D"/>
                </a:solidFill>
                <a:latin typeface="Arial"/>
                <a:ea typeface="Arial"/>
                <a:cs typeface="Arial"/>
                <a:sym typeface="Arial"/>
              </a:rPr>
              <a:t>존재하지</a:t>
            </a:r>
            <a:r>
              <a:rPr lang="en-US" sz="1650" b="0" i="0" u="none" strike="noStrike" cap="none" dirty="0">
                <a:solidFill>
                  <a:srgbClr val="FF4D4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u="none" strike="noStrike" cap="none" dirty="0" err="1">
                <a:solidFill>
                  <a:srgbClr val="FF4D4D"/>
                </a:solidFill>
                <a:latin typeface="Arial"/>
                <a:ea typeface="Arial"/>
                <a:cs typeface="Arial"/>
                <a:sym typeface="Arial"/>
              </a:rPr>
              <a:t>않음</a:t>
            </a:r>
            <a:r>
              <a:rPr lang="en-US" sz="1650" b="0" i="0" u="none" strike="noStrike" cap="none" dirty="0">
                <a:solidFill>
                  <a:srgbClr val="FF4D4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pic>
        <p:nvPicPr>
          <p:cNvPr id="241" name="Google Shape;24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2530078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18">
          <a:extLst>
            <a:ext uri="{FF2B5EF4-FFF2-40B4-BE49-F238E27FC236}">
              <a16:creationId xmlns:a16="http://schemas.microsoft.com/office/drawing/2014/main" id="{B65AD372-56ED-B8BF-6E93-2E2A8BA8F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>
            <a:extLst>
              <a:ext uri="{FF2B5EF4-FFF2-40B4-BE49-F238E27FC236}">
                <a16:creationId xmlns:a16="http://schemas.microsoft.com/office/drawing/2014/main" id="{6C11834C-8CBC-FAE6-7AED-D509BA6DF9C5}"/>
              </a:ext>
            </a:extLst>
          </p:cNvPr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Offset-list + manual summary </a:t>
            </a:r>
            <a:r>
              <a:rPr lang="ko-KR" altLang="en-US" sz="3150" b="1" dirty="0" err="1">
                <a:solidFill>
                  <a:srgbClr val="003366"/>
                </a:solidFill>
              </a:rPr>
              <a:t>물리</a:t>
            </a:r>
            <a:r>
              <a:rPr lang="ko-KR" altLang="en-US" sz="3150" b="1" i="0" u="none" strike="noStrike" cap="none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랩</a:t>
            </a:r>
            <a:endParaRPr dirty="0"/>
          </a:p>
        </p:txBody>
      </p:sp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D6A2C834-7DBA-72CA-6005-72640420A1D5}"/>
              </a:ext>
            </a:extLst>
          </p:cNvPr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B602AB-5C17-F036-8BCF-41C8D4C61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4" y="1258327"/>
            <a:ext cx="10612331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55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18">
          <a:extLst>
            <a:ext uri="{FF2B5EF4-FFF2-40B4-BE49-F238E27FC236}">
              <a16:creationId xmlns:a16="http://schemas.microsoft.com/office/drawing/2014/main" id="{39D254F9-8D1B-E177-30C9-93CC801A0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>
            <a:extLst>
              <a:ext uri="{FF2B5EF4-FFF2-40B4-BE49-F238E27FC236}">
                <a16:creationId xmlns:a16="http://schemas.microsoft.com/office/drawing/2014/main" id="{B186899B-2FB8-1B73-253B-4EE782A4D2C9}"/>
              </a:ext>
            </a:extLst>
          </p:cNvPr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Offset-list + manual summary </a:t>
            </a:r>
            <a:r>
              <a:rPr lang="ko-KR" altLang="en-US" sz="3150" b="1" i="0" u="none" strike="noStrike" cap="none" dirty="0" err="1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논리랩</a:t>
            </a:r>
            <a:endParaRPr dirty="0"/>
          </a:p>
        </p:txBody>
      </p:sp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B131559A-50BE-ADC5-E948-C086386BF3C5}"/>
              </a:ext>
            </a:extLst>
          </p:cNvPr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>
            <a:extLst>
              <a:ext uri="{FF2B5EF4-FFF2-40B4-BE49-F238E27FC236}">
                <a16:creationId xmlns:a16="http://schemas.microsoft.com/office/drawing/2014/main" id="{6ABDA9B3-B23C-6D8D-5D63-23EA24DDD408}"/>
              </a:ext>
            </a:extLst>
          </p:cNvPr>
          <p:cNvSpPr txBox="1"/>
          <p:nvPr/>
        </p:nvSpPr>
        <p:spPr>
          <a:xfrm>
            <a:off x="6619875" y="2939653"/>
            <a:ext cx="48101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상황: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패킷이 10.1.0.50으로 유입됨</a:t>
            </a:r>
            <a:endParaRPr/>
          </a:p>
        </p:txBody>
      </p:sp>
      <p:sp>
        <p:nvSpPr>
          <p:cNvPr id="231" name="Google Shape;231;p20">
            <a:extLst>
              <a:ext uri="{FF2B5EF4-FFF2-40B4-BE49-F238E27FC236}">
                <a16:creationId xmlns:a16="http://schemas.microsoft.com/office/drawing/2014/main" id="{20D4ADAF-F6B9-0E59-1C5F-D43B1BB6FB9C}"/>
              </a:ext>
            </a:extLst>
          </p:cNvPr>
          <p:cNvSpPr txBox="1"/>
          <p:nvPr/>
        </p:nvSpPr>
        <p:spPr>
          <a:xfrm>
            <a:off x="6619875" y="5015507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결과: 루프 없이 안전하게 폐기됨.</a:t>
            </a:r>
            <a:endParaRPr/>
          </a:p>
        </p:txBody>
      </p:sp>
      <p:pic>
        <p:nvPicPr>
          <p:cNvPr id="241" name="Google Shape;241;p20" descr="image.png">
            <a:extLst>
              <a:ext uri="{FF2B5EF4-FFF2-40B4-BE49-F238E27FC236}">
                <a16:creationId xmlns:a16="http://schemas.microsoft.com/office/drawing/2014/main" id="{46B2601C-D83B-7EC9-A275-627B292C5F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9875" y="2530078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33B4018-93C1-3A5A-4EFE-9F906B222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01" y="1258327"/>
            <a:ext cx="10707594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67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18">
          <a:extLst>
            <a:ext uri="{FF2B5EF4-FFF2-40B4-BE49-F238E27FC236}">
              <a16:creationId xmlns:a16="http://schemas.microsoft.com/office/drawing/2014/main" id="{4D784221-4A7E-2553-531C-58C80A9C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>
            <a:extLst>
              <a:ext uri="{FF2B5EF4-FFF2-40B4-BE49-F238E27FC236}">
                <a16:creationId xmlns:a16="http://schemas.microsoft.com/office/drawing/2014/main" id="{65F2FDEF-0620-41C2-3811-AA8849E0E860}"/>
              </a:ext>
            </a:extLst>
          </p:cNvPr>
          <p:cNvSpPr txBox="1"/>
          <p:nvPr/>
        </p:nvSpPr>
        <p:spPr>
          <a:xfrm>
            <a:off x="476250" y="476250"/>
            <a:ext cx="11715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altLang="ko-KR" sz="3200" b="1" dirty="0">
                <a:solidFill>
                  <a:srgbClr val="003366"/>
                </a:solidFill>
              </a:rPr>
              <a:t>Manual </a:t>
            </a:r>
            <a:r>
              <a:rPr lang="en-US" altLang="ko-KR" sz="3200" b="1" dirty="0" err="1">
                <a:solidFill>
                  <a:srgbClr val="003366"/>
                </a:solidFill>
              </a:rPr>
              <a:t>Sumary</a:t>
            </a:r>
            <a:r>
              <a:rPr lang="en-US" altLang="ko-KR" sz="3200" b="1" dirty="0">
                <a:solidFill>
                  <a:srgbClr val="003366"/>
                </a:solidFill>
              </a:rPr>
              <a:t> Wireshark </a:t>
            </a:r>
            <a:r>
              <a:rPr lang="ko-KR" altLang="en-US" sz="3200" b="1" dirty="0">
                <a:solidFill>
                  <a:srgbClr val="003366"/>
                </a:solidFill>
              </a:rPr>
              <a:t>패킷 확인</a:t>
            </a:r>
            <a:r>
              <a:rPr lang="en-US" altLang="ko-KR" sz="3200" b="1" dirty="0">
                <a:solidFill>
                  <a:srgbClr val="003366"/>
                </a:solidFill>
              </a:rPr>
              <a:t> </a:t>
            </a:r>
            <a:endParaRPr lang="ko-KR" altLang="en-US" sz="3200" dirty="0"/>
          </a:p>
        </p:txBody>
      </p:sp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92683EE2-36F3-CD38-8EB7-642751D2A350}"/>
              </a:ext>
            </a:extLst>
          </p:cNvPr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>
            <a:extLst>
              <a:ext uri="{FF2B5EF4-FFF2-40B4-BE49-F238E27FC236}">
                <a16:creationId xmlns:a16="http://schemas.microsoft.com/office/drawing/2014/main" id="{C4E4603F-5679-BBF8-DA91-DEB44360013C}"/>
              </a:ext>
            </a:extLst>
          </p:cNvPr>
          <p:cNvSpPr txBox="1"/>
          <p:nvPr/>
        </p:nvSpPr>
        <p:spPr>
          <a:xfrm>
            <a:off x="6619875" y="2939653"/>
            <a:ext cx="48101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상황: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패킷이 10.1.0.50으로 유입됨</a:t>
            </a:r>
            <a:endParaRPr/>
          </a:p>
        </p:txBody>
      </p:sp>
      <p:sp>
        <p:nvSpPr>
          <p:cNvPr id="231" name="Google Shape;231;p20">
            <a:extLst>
              <a:ext uri="{FF2B5EF4-FFF2-40B4-BE49-F238E27FC236}">
                <a16:creationId xmlns:a16="http://schemas.microsoft.com/office/drawing/2014/main" id="{EF684D72-B606-5607-FC2C-6CCFFB12B7D8}"/>
              </a:ext>
            </a:extLst>
          </p:cNvPr>
          <p:cNvSpPr txBox="1"/>
          <p:nvPr/>
        </p:nvSpPr>
        <p:spPr>
          <a:xfrm>
            <a:off x="6619875" y="5015507"/>
            <a:ext cx="48101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결과: 루프 없이 안전하게 폐기됨.</a:t>
            </a:r>
            <a:endParaRPr/>
          </a:p>
        </p:txBody>
      </p:sp>
      <p:pic>
        <p:nvPicPr>
          <p:cNvPr id="241" name="Google Shape;241;p20" descr="image.png">
            <a:extLst>
              <a:ext uri="{FF2B5EF4-FFF2-40B4-BE49-F238E27FC236}">
                <a16:creationId xmlns:a16="http://schemas.microsoft.com/office/drawing/2014/main" id="{D5FDF4C7-1B64-889C-3096-341B6428AC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9875" y="2530078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A59B548-1173-F9EE-ED27-28950FF02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28" y="1250632"/>
            <a:ext cx="9434691" cy="5293863"/>
          </a:xfrm>
          <a:prstGeom prst="rect">
            <a:avLst/>
          </a:prstGeom>
          <a:ln w="9525">
            <a:solidFill>
              <a:schemeClr val="bg1"/>
            </a:solidFill>
          </a:ln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77A0104-678E-BF5A-D779-87760F695A77}"/>
              </a:ext>
            </a:extLst>
          </p:cNvPr>
          <p:cNvCxnSpPr>
            <a:cxnSpLocks/>
          </p:cNvCxnSpPr>
          <p:nvPr/>
        </p:nvCxnSpPr>
        <p:spPr>
          <a:xfrm>
            <a:off x="2851292" y="5289797"/>
            <a:ext cx="1046453" cy="0"/>
          </a:xfrm>
          <a:prstGeom prst="line">
            <a:avLst/>
          </a:prstGeom>
          <a:ln w="825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573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45">
          <a:extLst>
            <a:ext uri="{FF2B5EF4-FFF2-40B4-BE49-F238E27FC236}">
              <a16:creationId xmlns:a16="http://schemas.microsoft.com/office/drawing/2014/main" id="{CE8DBE4F-074D-18E9-FCCB-E9011CF6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1" descr="image.png">
            <a:extLst>
              <a:ext uri="{FF2B5EF4-FFF2-40B4-BE49-F238E27FC236}">
                <a16:creationId xmlns:a16="http://schemas.microsoft.com/office/drawing/2014/main" id="{107DE3EE-4693-8314-B883-02D2D1A1F6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>
            <a:extLst>
              <a:ext uri="{FF2B5EF4-FFF2-40B4-BE49-F238E27FC236}">
                <a16:creationId xmlns:a16="http://schemas.microsoft.com/office/drawing/2014/main" id="{C773C683-5924-0BC1-DDD2-4625DD4813F7}"/>
              </a:ext>
            </a:extLst>
          </p:cNvPr>
          <p:cNvSpPr txBox="1"/>
          <p:nvPr/>
        </p:nvSpPr>
        <p:spPr>
          <a:xfrm>
            <a:off x="10972800" y="6515100"/>
            <a:ext cx="9334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0A0"/>
                </a:solidFill>
                <a:latin typeface="Arial"/>
                <a:ea typeface="Arial"/>
                <a:cs typeface="Arial"/>
                <a:sym typeface="Arial"/>
              </a:rPr>
              <a:t>End of Session</a:t>
            </a:r>
            <a:endParaRPr/>
          </a:p>
        </p:txBody>
      </p:sp>
      <p:sp>
        <p:nvSpPr>
          <p:cNvPr id="248" name="Google Shape;248;p21">
            <a:extLst>
              <a:ext uri="{FF2B5EF4-FFF2-40B4-BE49-F238E27FC236}">
                <a16:creationId xmlns:a16="http://schemas.microsoft.com/office/drawing/2014/main" id="{0DBDA87B-AD16-9A5F-3A94-EDB07B95FAB1}"/>
              </a:ext>
            </a:extLst>
          </p:cNvPr>
          <p:cNvSpPr txBox="1"/>
          <p:nvPr/>
        </p:nvSpPr>
        <p:spPr>
          <a:xfrm>
            <a:off x="238125" y="2114698"/>
            <a:ext cx="11715750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/>
          </a:p>
        </p:txBody>
      </p:sp>
      <p:sp>
        <p:nvSpPr>
          <p:cNvPr id="249" name="Google Shape;249;p21">
            <a:extLst>
              <a:ext uri="{FF2B5EF4-FFF2-40B4-BE49-F238E27FC236}">
                <a16:creationId xmlns:a16="http://schemas.microsoft.com/office/drawing/2014/main" id="{26F7919F-E341-C3E9-89DF-3D4BD9F32DDD}"/>
              </a:ext>
            </a:extLst>
          </p:cNvPr>
          <p:cNvSpPr txBox="1"/>
          <p:nvPr/>
        </p:nvSpPr>
        <p:spPr>
          <a:xfrm>
            <a:off x="476250" y="3227189"/>
            <a:ext cx="11239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EIGRP Offset-list 및 Manual Summary에 대해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궁금한 점이 있으신가요?</a:t>
            </a:r>
            <a:endParaRPr/>
          </a:p>
        </p:txBody>
      </p:sp>
      <p:sp>
        <p:nvSpPr>
          <p:cNvPr id="250" name="Google Shape;250;p21">
            <a:extLst>
              <a:ext uri="{FF2B5EF4-FFF2-40B4-BE49-F238E27FC236}">
                <a16:creationId xmlns:a16="http://schemas.microsoft.com/office/drawing/2014/main" id="{BE6572F7-AAF9-DE0E-6A5F-897726BD90D4}"/>
              </a:ext>
            </a:extLst>
          </p:cNvPr>
          <p:cNvSpPr txBox="1"/>
          <p:nvPr/>
        </p:nvSpPr>
        <p:spPr>
          <a:xfrm>
            <a:off x="476250" y="4469010"/>
            <a:ext cx="11239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4431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</TotalTime>
  <Words>599</Words>
  <Application>Microsoft Office PowerPoint</Application>
  <PresentationFormat>와이드스크린</PresentationFormat>
  <Paragraphs>84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TJ</cp:lastModifiedBy>
  <cp:revision>6</cp:revision>
  <dcterms:modified xsi:type="dcterms:W3CDTF">2025-12-15T17:07:05Z</dcterms:modified>
</cp:coreProperties>
</file>