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0F323-1BCE-8EC3-EE0E-C234DD645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9241C0-BF67-5FE1-B935-227224DB6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906FAC-556D-1051-F580-BC049C0E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886752-0498-1F75-7628-78A927A7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0AE75-53CE-25C9-1D3D-27E50F97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43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242E8-E1B5-B6CE-86B8-C5A32A54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E661F-C224-BF99-2525-54B117BB5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308AA-6FCC-B3EA-4E4B-7D52F759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88C92-6935-629C-E9DA-5A5044142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C77E13-1D0F-AB4A-720E-CD9EFC52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68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B9F5A-1B36-7017-48B5-184BC673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2E835D-D278-D658-3657-F76177F10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187C2-3400-A0DF-43C8-D0E43330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B15850-5888-48D6-E468-B0BABC39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F29955-702E-8AFD-1EB1-36D7B37F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17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69151-9849-F38E-0BF3-FB05B1B3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5D0175-98D5-3783-2FE8-09258721A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9FFA3A-6159-9960-9B1E-2FA0D2099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0F45D1-6785-9DA2-4E45-562AF4605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94A383-2717-E190-E072-EADBD9AD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7DD199-9E98-8527-BD59-B4C0C074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495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278F1-15CC-F518-0691-F498099A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64B8B2-B4CC-F236-79EE-1B21BE309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642250-1CDA-FED9-3ED9-FCEE358A0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BA77EE-1CBA-1843-6254-BBDBD1B20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0E6A61-0016-F501-D567-2C9598FB4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D1CC81-527F-625E-CD35-C2B6BC1E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4E54F7-6BA2-67D8-FB7F-903B5F93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DE4E24-0FF0-0610-D364-B627150C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61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3782F-9246-D07A-6B46-ECB5ACF8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80AFD5-BF17-1AD6-9EC2-F086D5CF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CA7DB2-D075-4465-3019-E3F86315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288075-0B39-9CCB-E890-217A3F65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552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36983F-782F-502A-F1F9-A557F5CB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54853C-8D98-05D6-13E4-472FA452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A41AFD-4458-CF3E-7257-3C6F3AFB3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36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D9152-86AB-4BFA-EBE5-DE571195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29D787-44BC-5ED5-F13A-D69513BED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80FD45-149D-3ADB-2E22-F7E784F66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9C38B0-97DB-C771-9FC5-EB10EF6B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976A2D-BCFE-688B-9AF1-8233495B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7EB1F4-7106-BEDE-BF08-60BD21C1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27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A3980-9F57-0DDE-055C-FD6B746D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25090F-5692-1575-7F2B-C42FA1A99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01FA4C-C3F7-EF05-2A31-0CAB8753F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CA32E4-80BC-F1A5-5177-BB31CBBB0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CD8335-1487-DA11-2F02-804A95B2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4E2E88-0242-9221-6B5B-FD936F9F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022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00BFB-EE5D-05AA-B7F6-019159ACA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3B86DA-FA72-39A6-889D-60CD3F4DF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AA350-2F37-4AC2-540C-25CB6CE6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92EB77-E4BD-FB2C-14AB-1DFFDED9A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04FAB6-DEF0-28BF-64D3-B8AA3752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35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59B864-6E82-081D-F11B-D1B5299EF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D7D75A-07D9-4E1A-131C-DB56BCD5E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CC51C8-8A95-0C22-50BE-0B0DFDBC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EDBCE7-CAEB-ACBE-4884-4DF6FDB8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2D6278-3AD1-C1D2-5DDC-293D576A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901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456068-A515-4A6C-95D7-CB268CFD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59B640-CB65-069B-7197-6EDBA5D84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2E1F4A-3BCC-62CC-9B9D-999B9E41B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A3955-44FA-48A2-A18C-B602F805DDD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1D3272-7459-67A6-D59F-2AC00A560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98FF1-134E-D226-E9DE-7AAC695C5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C81D2-EFC8-4341-9D40-4C14079C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23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E2057-E9C3-550B-99D5-49BB0AE41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558" y="2583821"/>
            <a:ext cx="2935705" cy="991351"/>
          </a:xfrm>
        </p:spPr>
        <p:txBody>
          <a:bodyPr/>
          <a:lstStyle/>
          <a:p>
            <a:r>
              <a:rPr lang="en-US" altLang="ko-KR" b="1" dirty="0"/>
              <a:t>EIGRP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F9B83-8A0B-5548-2CB7-8C3045793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3540870"/>
            <a:ext cx="7170820" cy="617034"/>
          </a:xfrm>
        </p:spPr>
        <p:txBody>
          <a:bodyPr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</a:rPr>
              <a:t>Distribute-list, Redistribute, Key-chain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F7C5F81-9C33-3CEF-3D7A-525D1159A333}"/>
              </a:ext>
            </a:extLst>
          </p:cNvPr>
          <p:cNvCxnSpPr>
            <a:cxnSpLocks/>
          </p:cNvCxnSpPr>
          <p:nvPr/>
        </p:nvCxnSpPr>
        <p:spPr>
          <a:xfrm>
            <a:off x="0" y="352927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46BE29E-2549-5831-6577-744025C39011}"/>
              </a:ext>
            </a:extLst>
          </p:cNvPr>
          <p:cNvCxnSpPr>
            <a:cxnSpLocks/>
          </p:cNvCxnSpPr>
          <p:nvPr/>
        </p:nvCxnSpPr>
        <p:spPr>
          <a:xfrm>
            <a:off x="0" y="6505073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56E9A76-1598-7A50-8000-1653A9C47776}"/>
              </a:ext>
            </a:extLst>
          </p:cNvPr>
          <p:cNvSpPr txBox="1"/>
          <p:nvPr/>
        </p:nvSpPr>
        <p:spPr>
          <a:xfrm>
            <a:off x="7218947" y="5390147"/>
            <a:ext cx="48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💙</a:t>
            </a:r>
            <a:r>
              <a:rPr lang="ko-KR" altLang="en-US" sz="3600" b="1" dirty="0" err="1"/>
              <a:t>킹왕짱</a:t>
            </a:r>
            <a:r>
              <a:rPr lang="ko-KR" altLang="en-US" sz="3600" b="1" dirty="0"/>
              <a:t> 네트워크💙</a:t>
            </a:r>
          </a:p>
        </p:txBody>
      </p:sp>
    </p:spTree>
    <p:extLst>
      <p:ext uri="{BB962C8B-B14F-4D97-AF65-F5344CB8AC3E}">
        <p14:creationId xmlns:p14="http://schemas.microsoft.com/office/powerpoint/2010/main" val="2312351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A7F697-5F77-3B51-A911-A673916FA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58" y="923799"/>
            <a:ext cx="5145505" cy="847474"/>
          </a:xfrm>
        </p:spPr>
        <p:txBody>
          <a:bodyPr/>
          <a:lstStyle/>
          <a:p>
            <a:r>
              <a:rPr lang="en-US" altLang="ko-KR" b="1" dirty="0"/>
              <a:t>Distribute-list</a:t>
            </a:r>
            <a:endParaRPr lang="ko-KR" altLang="en-US" b="1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87F0C43-E43F-1530-3C22-0D3B1E51F547}"/>
              </a:ext>
            </a:extLst>
          </p:cNvPr>
          <p:cNvCxnSpPr>
            <a:cxnSpLocks/>
          </p:cNvCxnSpPr>
          <p:nvPr/>
        </p:nvCxnSpPr>
        <p:spPr>
          <a:xfrm>
            <a:off x="0" y="352927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3829307-64B0-FE9A-513E-8D09C89AC1C1}"/>
              </a:ext>
            </a:extLst>
          </p:cNvPr>
          <p:cNvCxnSpPr>
            <a:cxnSpLocks/>
          </p:cNvCxnSpPr>
          <p:nvPr/>
        </p:nvCxnSpPr>
        <p:spPr>
          <a:xfrm>
            <a:off x="0" y="6505073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C4C96642-EBE8-E16D-FB80-CE47A93ADFEB}"/>
              </a:ext>
            </a:extLst>
          </p:cNvPr>
          <p:cNvGrpSpPr/>
          <p:nvPr/>
        </p:nvGrpSpPr>
        <p:grpSpPr>
          <a:xfrm>
            <a:off x="461213" y="1771269"/>
            <a:ext cx="5454316" cy="4235115"/>
            <a:chOff x="786063" y="1771273"/>
            <a:chExt cx="5454316" cy="4235115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0774C5C5-B8DD-9CE3-464C-1810DC4787EB}"/>
                </a:ext>
              </a:extLst>
            </p:cNvPr>
            <p:cNvSpPr/>
            <p:nvPr/>
          </p:nvSpPr>
          <p:spPr>
            <a:xfrm>
              <a:off x="786063" y="1771273"/>
              <a:ext cx="5454316" cy="423511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B72415-F0AA-547A-4E7F-04412BE55D36}"/>
                </a:ext>
              </a:extLst>
            </p:cNvPr>
            <p:cNvSpPr txBox="1"/>
            <p:nvPr/>
          </p:nvSpPr>
          <p:spPr>
            <a:xfrm>
              <a:off x="1267326" y="2363124"/>
              <a:ext cx="44917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B050"/>
                  </a:solidFill>
                </a:rPr>
                <a:t>ACL</a:t>
              </a:r>
              <a:endParaRPr lang="ko-KR" altLang="en-US" sz="2800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2549E85-C2B0-9DDD-B7F8-2564FF39DD34}"/>
              </a:ext>
            </a:extLst>
          </p:cNvPr>
          <p:cNvGrpSpPr/>
          <p:nvPr/>
        </p:nvGrpSpPr>
        <p:grpSpPr>
          <a:xfrm>
            <a:off x="6316578" y="1723142"/>
            <a:ext cx="5454316" cy="4235115"/>
            <a:chOff x="6316578" y="1723142"/>
            <a:chExt cx="5454316" cy="4235115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E98D31AE-D4E9-3ABF-9F07-DFE09FCE9622}"/>
                </a:ext>
              </a:extLst>
            </p:cNvPr>
            <p:cNvSpPr/>
            <p:nvPr/>
          </p:nvSpPr>
          <p:spPr>
            <a:xfrm>
              <a:off x="6316578" y="1723142"/>
              <a:ext cx="5454316" cy="423511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4CDB19-AF27-13D8-C165-705C93CBC9BE}"/>
                </a:ext>
              </a:extLst>
            </p:cNvPr>
            <p:cNvSpPr txBox="1"/>
            <p:nvPr/>
          </p:nvSpPr>
          <p:spPr>
            <a:xfrm>
              <a:off x="6797841" y="2363120"/>
              <a:ext cx="44917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B050"/>
                  </a:solidFill>
                </a:rPr>
                <a:t>Distribute-list</a:t>
              </a:r>
              <a:endParaRPr lang="ko-KR" altLang="en-US" sz="2800" b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703F638-BDC3-ED52-78A9-AB692031F6BD}"/>
              </a:ext>
            </a:extLst>
          </p:cNvPr>
          <p:cNvSpPr txBox="1"/>
          <p:nvPr/>
        </p:nvSpPr>
        <p:spPr>
          <a:xfrm>
            <a:off x="902369" y="3048465"/>
            <a:ext cx="44917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트래픽 흐름 제어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패킷이 인터페이스를 통과하는 것을 허용할지 차단할지 결정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F27545-E957-6DFB-0724-2C2FE67DB8DD}"/>
              </a:ext>
            </a:extLst>
          </p:cNvPr>
          <p:cNvSpPr txBox="1"/>
          <p:nvPr/>
        </p:nvSpPr>
        <p:spPr>
          <a:xfrm>
            <a:off x="6797841" y="3103996"/>
            <a:ext cx="44917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라우팅 업데이트 제어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라우팅 테이블에 경로 정보를 광고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(Out)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하거나 받는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(In)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것을 필터링</a:t>
            </a:r>
          </a:p>
        </p:txBody>
      </p:sp>
    </p:spTree>
    <p:extLst>
      <p:ext uri="{BB962C8B-B14F-4D97-AF65-F5344CB8AC3E}">
        <p14:creationId xmlns:p14="http://schemas.microsoft.com/office/powerpoint/2010/main" val="1717625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F0EE-9A33-2998-7C7B-84DD98AA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CFA41-4052-E1DC-BF85-BB891959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altLang="ko-KR" b="1" dirty="0"/>
              <a:t>Distribute-list </a:t>
            </a:r>
            <a:r>
              <a:rPr lang="ko-KR" altLang="en-US" b="1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A816EB-ADCA-E476-3672-0D5B9564B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ACL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생성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타겟 지정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514350" indent="-514350">
              <a:buAutoNum type="arabicPeriod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EIGRP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적용 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0F5B405-E9BF-274E-DA2D-CA6649C45820}"/>
              </a:ext>
            </a:extLst>
          </p:cNvPr>
          <p:cNvCxnSpPr>
            <a:cxnSpLocks/>
          </p:cNvCxnSpPr>
          <p:nvPr/>
        </p:nvCxnSpPr>
        <p:spPr>
          <a:xfrm>
            <a:off x="0" y="352927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128DE26-6E48-7477-925C-C3872D0D27F5}"/>
              </a:ext>
            </a:extLst>
          </p:cNvPr>
          <p:cNvCxnSpPr>
            <a:cxnSpLocks/>
          </p:cNvCxnSpPr>
          <p:nvPr/>
        </p:nvCxnSpPr>
        <p:spPr>
          <a:xfrm>
            <a:off x="0" y="6505073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 2">
            <a:extLst>
              <a:ext uri="{FF2B5EF4-FFF2-40B4-BE49-F238E27FC236}">
                <a16:creationId xmlns:a16="http://schemas.microsoft.com/office/drawing/2014/main" id="{2B246FE7-F3FA-EF6C-B859-926C878F3C0E}"/>
              </a:ext>
            </a:extLst>
          </p:cNvPr>
          <p:cNvSpPr/>
          <p:nvPr/>
        </p:nvSpPr>
        <p:spPr>
          <a:xfrm>
            <a:off x="1616643" y="3263483"/>
            <a:ext cx="8958714" cy="256381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access-list </a:t>
            </a:r>
            <a:r>
              <a:rPr lang="en-US" altLang="ko-KR" sz="2000" b="1" dirty="0">
                <a:solidFill>
                  <a:schemeClr val="accent6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[</a:t>
            </a:r>
            <a:r>
              <a:rPr lang="ko-KR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번호</a:t>
            </a:r>
            <a:r>
              <a:rPr lang="en-US" altLang="ko-KR" sz="2000" b="1" dirty="0">
                <a:solidFill>
                  <a:schemeClr val="accent6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] </a:t>
            </a:r>
            <a:r>
              <a:rPr lang="en-US" altLang="ko-KR" sz="2000" b="1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[deny/permit] </a:t>
            </a:r>
            <a:r>
              <a:rPr lang="en-US" altLang="ko-KR" sz="2000" b="1" dirty="0">
                <a:solidFill>
                  <a:srgbClr val="FFFF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[</a:t>
            </a:r>
            <a:r>
              <a:rPr lang="en-US" altLang="ko-KR" sz="2000" b="1" dirty="0" err="1">
                <a:solidFill>
                  <a:srgbClr val="FFFF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ip</a:t>
            </a:r>
            <a:r>
              <a:rPr lang="en-US" altLang="ko-KR" sz="2000" b="1" dirty="0">
                <a:solidFill>
                  <a:srgbClr val="FFFF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] [</a:t>
            </a:r>
            <a:r>
              <a:rPr lang="en-US" altLang="ko-KR" sz="2000" b="1" dirty="0" err="1">
                <a:solidFill>
                  <a:srgbClr val="FFFF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wildmask</a:t>
            </a:r>
            <a:r>
              <a:rPr lang="en-US" altLang="ko-KR" sz="2000" b="1" dirty="0">
                <a:solidFill>
                  <a:srgbClr val="FFFF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]</a:t>
            </a:r>
            <a:br>
              <a:rPr lang="en-US" altLang="ko-KR" sz="2000" b="1" dirty="0">
                <a:solidFill>
                  <a:srgbClr val="FFFF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</a:b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access-list </a:t>
            </a:r>
            <a:r>
              <a:rPr lang="en-US" altLang="ko-KR" sz="2000" b="1" dirty="0">
                <a:solidFill>
                  <a:schemeClr val="accent6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[</a:t>
            </a:r>
            <a:r>
              <a:rPr lang="ko-KR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번호</a:t>
            </a:r>
            <a:r>
              <a:rPr lang="en-US" altLang="ko-KR" sz="2000" b="1" dirty="0">
                <a:solidFill>
                  <a:schemeClr val="accent6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] </a:t>
            </a:r>
            <a:r>
              <a:rPr lang="en-US" altLang="ko-KR" sz="2000" b="1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permit</a:t>
            </a: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2000" b="1" dirty="0">
                <a:solidFill>
                  <a:srgbClr val="FFFF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any</a:t>
            </a: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(</a:t>
            </a:r>
            <a:r>
              <a:rPr lang="ko-KR" altLang="en-US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첫번째 규칙이 </a:t>
            </a: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deny</a:t>
            </a:r>
            <a:r>
              <a:rPr lang="ko-KR" altLang="en-US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일시</a:t>
            </a: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)</a:t>
            </a:r>
          </a:p>
          <a:p>
            <a:b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</a:b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router </a:t>
            </a:r>
            <a:r>
              <a:rPr lang="en-US" altLang="ko-KR" sz="2000" b="1" dirty="0" err="1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eigrp</a:t>
            </a: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2000" b="1" dirty="0">
                <a:solidFill>
                  <a:srgbClr val="00B0F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[AS number]</a:t>
            </a:r>
            <a:br>
              <a:rPr lang="en-US" altLang="ko-KR" sz="2000" b="1" dirty="0">
                <a:solidFill>
                  <a:srgbClr val="00B0F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</a:b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distribute-list </a:t>
            </a:r>
            <a:r>
              <a:rPr lang="en-US" altLang="ko-KR" sz="2000" b="1" dirty="0">
                <a:solidFill>
                  <a:srgbClr val="92D05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[</a:t>
            </a:r>
            <a:r>
              <a:rPr lang="ko-KR" altLang="en-US" sz="2000" b="1" dirty="0">
                <a:solidFill>
                  <a:srgbClr val="92D05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번호</a:t>
            </a:r>
            <a:r>
              <a:rPr lang="en-US" altLang="ko-KR" sz="2000" b="1" dirty="0">
                <a:solidFill>
                  <a:srgbClr val="92D05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] </a:t>
            </a:r>
            <a:r>
              <a:rPr lang="en-US" altLang="ko-KR" sz="2000" b="1" dirty="0">
                <a:solidFill>
                  <a:srgbClr val="FF0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[in/out] </a:t>
            </a: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포트번호</a:t>
            </a:r>
            <a:r>
              <a:rPr lang="en-US" altLang="ko-KR" sz="2000" b="1" dirty="0">
                <a:solidFill>
                  <a:schemeClr val="bg1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]</a:t>
            </a:r>
            <a:endParaRPr lang="ko-KR" altLang="en-US" sz="2000" b="1" dirty="0">
              <a:solidFill>
                <a:schemeClr val="bg1"/>
              </a:solidFill>
              <a:latin typeface="Courier New" panose="02070309020205020404" pitchFamily="49" charset="0"/>
              <a:ea typeface="맑은 고딕" panose="020B0503020000020004" pitchFamily="50" charset="-12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71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2F6C-3933-29C0-B80C-19CAFAE8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867DE-3E85-6E96-4084-54CFF287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786"/>
            <a:ext cx="10515600" cy="879139"/>
          </a:xfrm>
        </p:spPr>
        <p:txBody>
          <a:bodyPr/>
          <a:lstStyle/>
          <a:p>
            <a:r>
              <a:rPr lang="en-US" altLang="ko-KR" b="1" dirty="0"/>
              <a:t>Redistribute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재분배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50DEC3-2675-B13F-068F-04C4F3E07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7173"/>
            <a:ext cx="10515600" cy="15432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en-US" altLang="ko-KR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</a:t>
            </a: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</a:t>
            </a: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간 </a:t>
            </a:r>
            <a:r>
              <a:rPr lang="en-US" altLang="ko-KR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Metric </a:t>
            </a:r>
            <a:r>
              <a:rPr lang="en-US" altLang="ko-KR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en-US" altLang="ko-KR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altLang="ko-KR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show run</a:t>
            </a:r>
            <a:endParaRPr lang="en-US" altLang="ko-KR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A4EECC5-194E-98EE-DBC6-139CE67D23DE}"/>
              </a:ext>
            </a:extLst>
          </p:cNvPr>
          <p:cNvCxnSpPr>
            <a:cxnSpLocks/>
          </p:cNvCxnSpPr>
          <p:nvPr/>
        </p:nvCxnSpPr>
        <p:spPr>
          <a:xfrm>
            <a:off x="0" y="352927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5991E12-91F9-A705-BC2C-CCCFCBFBDFD3}"/>
              </a:ext>
            </a:extLst>
          </p:cNvPr>
          <p:cNvCxnSpPr>
            <a:cxnSpLocks/>
          </p:cNvCxnSpPr>
          <p:nvPr/>
        </p:nvCxnSpPr>
        <p:spPr>
          <a:xfrm>
            <a:off x="0" y="6505073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7E8819-7D13-D318-4114-6B46A06EB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707" y="3597611"/>
            <a:ext cx="8606851" cy="2081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98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C7AA-3511-0708-021B-339EFB653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86A96-C70C-4F41-4C67-5CB791B04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3349"/>
            <a:ext cx="10515600" cy="879139"/>
          </a:xfrm>
        </p:spPr>
        <p:txBody>
          <a:bodyPr/>
          <a:lstStyle/>
          <a:p>
            <a:r>
              <a:rPr lang="en-US" altLang="ko-KR" b="1" dirty="0"/>
              <a:t>Redistribute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재분배</a:t>
            </a:r>
            <a:r>
              <a:rPr lang="en-US" altLang="ko-KR" b="1" dirty="0"/>
              <a:t>) </a:t>
            </a:r>
            <a:r>
              <a:rPr lang="ko-KR" altLang="en-US" b="1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D43D46-82C0-5FD9-8182-03E7F7067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488"/>
            <a:ext cx="5658853" cy="6279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40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RIPv2 ↔ EIGRP</a:t>
            </a:r>
            <a:endParaRPr lang="en-US" altLang="ko-KR" sz="40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989EE5B-32BE-BB28-7D9F-B227230E3BD7}"/>
              </a:ext>
            </a:extLst>
          </p:cNvPr>
          <p:cNvCxnSpPr>
            <a:cxnSpLocks/>
          </p:cNvCxnSpPr>
          <p:nvPr/>
        </p:nvCxnSpPr>
        <p:spPr>
          <a:xfrm>
            <a:off x="0" y="352927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2DE64F1-C268-FA87-FA32-88CE2442100A}"/>
              </a:ext>
            </a:extLst>
          </p:cNvPr>
          <p:cNvCxnSpPr>
            <a:cxnSpLocks/>
          </p:cNvCxnSpPr>
          <p:nvPr/>
        </p:nvCxnSpPr>
        <p:spPr>
          <a:xfrm>
            <a:off x="0" y="6505073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 1">
            <a:extLst>
              <a:ext uri="{FF2B5EF4-FFF2-40B4-BE49-F238E27FC236}">
                <a16:creationId xmlns:a16="http://schemas.microsoft.com/office/drawing/2014/main" id="{F24C69C8-8642-FA3E-5191-A96AF245B996}"/>
              </a:ext>
            </a:extLst>
          </p:cNvPr>
          <p:cNvSpPr/>
          <p:nvPr/>
        </p:nvSpPr>
        <p:spPr>
          <a:xfrm>
            <a:off x="1078834" y="2026570"/>
            <a:ext cx="4854742" cy="384442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EIGRP -&gt; RIP:</a:t>
            </a:r>
            <a:endParaRPr lang="en-US" sz="2400" b="1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rip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redistribute eigrp 100 metric </a:t>
            </a:r>
            <a:r>
              <a:rPr lang="en-US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56FCE7A-D319-C586-2AE8-061E53A089B7}"/>
              </a:ext>
            </a:extLst>
          </p:cNvPr>
          <p:cNvSpPr/>
          <p:nvPr/>
        </p:nvSpPr>
        <p:spPr>
          <a:xfrm>
            <a:off x="5843508" y="2026570"/>
            <a:ext cx="5657018" cy="384442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rgbClr val="00B0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97D35-D1E9-0001-E5C7-E8481B4E47A7}"/>
              </a:ext>
            </a:extLst>
          </p:cNvPr>
          <p:cNvSpPr txBox="1"/>
          <p:nvPr/>
        </p:nvSpPr>
        <p:spPr>
          <a:xfrm>
            <a:off x="1078834" y="5923252"/>
            <a:ext cx="6371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중요</a:t>
            </a:r>
            <a:r>
              <a:rPr lang="en-US" altLang="ko-KR" sz="1600" dirty="0">
                <a:solidFill>
                  <a:srgbClr val="FF0000"/>
                </a:solidFill>
              </a:rPr>
              <a:t> rip</a:t>
            </a:r>
            <a:r>
              <a:rPr lang="ko-KR" altLang="en-US" sz="1600" dirty="0">
                <a:solidFill>
                  <a:srgbClr val="FF0000"/>
                </a:solidFill>
              </a:rPr>
              <a:t>와 </a:t>
            </a:r>
            <a:r>
              <a:rPr lang="en-US" altLang="ko-KR" sz="1600" dirty="0" err="1">
                <a:solidFill>
                  <a:srgbClr val="FF0000"/>
                </a:solidFill>
              </a:rPr>
              <a:t>eigrp</a:t>
            </a:r>
            <a:r>
              <a:rPr lang="ko-KR" altLang="en-US" sz="1600" dirty="0">
                <a:solidFill>
                  <a:srgbClr val="FF0000"/>
                </a:solidFill>
              </a:rPr>
              <a:t>모두 </a:t>
            </a:r>
            <a:r>
              <a:rPr lang="en-US" altLang="ko-KR" sz="1600" dirty="0">
                <a:solidFill>
                  <a:srgbClr val="FF0000"/>
                </a:solidFill>
              </a:rPr>
              <a:t>no auto-summary</a:t>
            </a:r>
            <a:r>
              <a:rPr lang="ko-KR" altLang="en-US" sz="1600" dirty="0">
                <a:solidFill>
                  <a:srgbClr val="FF0000"/>
                </a:solidFill>
              </a:rPr>
              <a:t>되어 있어야 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8814BE-AB3E-D770-F41D-4ECEBDB29B94}"/>
              </a:ext>
            </a:extLst>
          </p:cNvPr>
          <p:cNvSpPr txBox="1"/>
          <p:nvPr/>
        </p:nvSpPr>
        <p:spPr>
          <a:xfrm>
            <a:off x="5691108" y="3405580"/>
            <a:ext cx="580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Bandwidth: </a:t>
            </a:r>
            <a:r>
              <a:rPr lang="ko-KR" altLang="en-US" dirty="0">
                <a:solidFill>
                  <a:srgbClr val="FF0000"/>
                </a:solidFill>
              </a:rPr>
              <a:t>대역폭</a:t>
            </a:r>
            <a:r>
              <a:rPr lang="en-US" altLang="ko-KR" dirty="0">
                <a:solidFill>
                  <a:srgbClr val="FF0000"/>
                </a:solidFill>
              </a:rPr>
              <a:t>. 1544</a:t>
            </a:r>
            <a:r>
              <a:rPr lang="ko-KR" altLang="en-US" dirty="0">
                <a:solidFill>
                  <a:srgbClr val="FF0000"/>
                </a:solidFill>
              </a:rPr>
              <a:t>는 </a:t>
            </a:r>
            <a:r>
              <a:rPr lang="en-US" altLang="ko-KR" dirty="0">
                <a:solidFill>
                  <a:srgbClr val="FF0000"/>
                </a:solidFill>
              </a:rPr>
              <a:t>T1 </a:t>
            </a:r>
            <a:r>
              <a:rPr lang="ko-KR" altLang="en-US" dirty="0">
                <a:solidFill>
                  <a:srgbClr val="FF0000"/>
                </a:solidFill>
              </a:rPr>
              <a:t>라인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전용선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속도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B9FAD4-B408-D07B-5E87-692C4B4F25D0}"/>
              </a:ext>
            </a:extLst>
          </p:cNvPr>
          <p:cNvSpPr txBox="1"/>
          <p:nvPr/>
        </p:nvSpPr>
        <p:spPr>
          <a:xfrm>
            <a:off x="6096000" y="3764114"/>
            <a:ext cx="4015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Delay: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지연 시간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정석이라면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2000) 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BE029-2197-718C-B56A-A00986C4C515}"/>
              </a:ext>
            </a:extLst>
          </p:cNvPr>
          <p:cNvSpPr txBox="1"/>
          <p:nvPr/>
        </p:nvSpPr>
        <p:spPr>
          <a:xfrm>
            <a:off x="6258426" y="4135348"/>
            <a:ext cx="4962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Reliability: </a:t>
            </a:r>
            <a:r>
              <a:rPr lang="ko-KR" altLang="en-US" dirty="0">
                <a:solidFill>
                  <a:srgbClr val="FFFF00"/>
                </a:solidFill>
              </a:rPr>
              <a:t>신뢰도</a:t>
            </a:r>
            <a:r>
              <a:rPr lang="en-US" altLang="ko-KR" dirty="0">
                <a:solidFill>
                  <a:srgbClr val="FFFF00"/>
                </a:solidFill>
              </a:rPr>
              <a:t>(</a:t>
            </a:r>
            <a:r>
              <a:rPr lang="ko-KR" altLang="en-US" dirty="0">
                <a:solidFill>
                  <a:srgbClr val="FFFF00"/>
                </a:solidFill>
              </a:rPr>
              <a:t>범위</a:t>
            </a:r>
            <a:r>
              <a:rPr lang="en-US" altLang="ko-KR" dirty="0">
                <a:solidFill>
                  <a:srgbClr val="FFFF00"/>
                </a:solidFill>
              </a:rPr>
              <a:t>: 1~255) </a:t>
            </a:r>
            <a:r>
              <a:rPr lang="ko-KR" altLang="en-US" dirty="0">
                <a:solidFill>
                  <a:srgbClr val="FFFF00"/>
                </a:solidFill>
              </a:rPr>
              <a:t>높을수록 좋음</a:t>
            </a:r>
            <a:endParaRPr lang="en-US" altLang="ko-KR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5F05E1-65C4-91E3-2DAF-4D11026E0E0B}"/>
              </a:ext>
            </a:extLst>
          </p:cNvPr>
          <p:cNvSpPr txBox="1"/>
          <p:nvPr/>
        </p:nvSpPr>
        <p:spPr>
          <a:xfrm>
            <a:off x="6595427" y="4455197"/>
            <a:ext cx="3707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Load: </a:t>
            </a:r>
            <a:r>
              <a:rPr lang="ko-KR" altLang="en-US" dirty="0">
                <a:solidFill>
                  <a:srgbClr val="00B050"/>
                </a:solidFill>
              </a:rPr>
              <a:t>부하</a:t>
            </a:r>
            <a:r>
              <a:rPr lang="en-US" altLang="ko-KR" dirty="0">
                <a:solidFill>
                  <a:srgbClr val="00B050"/>
                </a:solidFill>
              </a:rPr>
              <a:t>(1~255) </a:t>
            </a:r>
            <a:r>
              <a:rPr lang="ko-KR" altLang="en-US" dirty="0">
                <a:solidFill>
                  <a:srgbClr val="00B050"/>
                </a:solidFill>
              </a:rPr>
              <a:t>적을수록 좋음</a:t>
            </a:r>
            <a:endParaRPr lang="en-US" altLang="ko-KR" dirty="0">
              <a:solidFill>
                <a:srgbClr val="00B05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5DF7B4-C65F-1EC2-36E5-17ECB5A2DA82}"/>
              </a:ext>
            </a:extLst>
          </p:cNvPr>
          <p:cNvSpPr txBox="1"/>
          <p:nvPr/>
        </p:nvSpPr>
        <p:spPr>
          <a:xfrm>
            <a:off x="6733301" y="4833542"/>
            <a:ext cx="4854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MTU: </a:t>
            </a:r>
            <a:r>
              <a:rPr lang="ko-KR" altLang="en-US" dirty="0">
                <a:solidFill>
                  <a:srgbClr val="00B0F0"/>
                </a:solidFill>
              </a:rPr>
              <a:t>최대 전송 유닛</a:t>
            </a:r>
            <a:r>
              <a:rPr lang="en-US" altLang="ko-KR" dirty="0">
                <a:solidFill>
                  <a:srgbClr val="00B0F0"/>
                </a:solidFill>
              </a:rPr>
              <a:t>. </a:t>
            </a:r>
            <a:r>
              <a:rPr lang="ko-KR" altLang="en-US" dirty="0">
                <a:solidFill>
                  <a:srgbClr val="00B0F0"/>
                </a:solidFill>
              </a:rPr>
              <a:t>이더넷 표준 </a:t>
            </a:r>
            <a:r>
              <a:rPr lang="en-US" altLang="ko-KR" dirty="0">
                <a:solidFill>
                  <a:srgbClr val="00B0F0"/>
                </a:solidFill>
              </a:rPr>
              <a:t>1500Bytes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220817-CC6D-520B-3DEE-2E3144B381EC}"/>
              </a:ext>
            </a:extLst>
          </p:cNvPr>
          <p:cNvSpPr txBox="1"/>
          <p:nvPr/>
        </p:nvSpPr>
        <p:spPr>
          <a:xfrm>
            <a:off x="5691108" y="2175725"/>
            <a:ext cx="58094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 -&gt; EIGRP:</a:t>
            </a:r>
            <a:endParaRPr lang="en-US" altLang="ko-KR" sz="2400" b="1" dirty="0"/>
          </a:p>
          <a:p>
            <a:r>
              <a:rPr lang="en-US" altLang="ko-KR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</a:t>
            </a:r>
            <a:r>
              <a:rPr lang="en-US" altLang="ko-KR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eigrp</a:t>
            </a:r>
            <a:r>
              <a:rPr lang="en-US" altLang="ko-KR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</a:t>
            </a:r>
            <a:endParaRPr lang="en-US" altLang="ko-KR" dirty="0"/>
          </a:p>
          <a:p>
            <a:r>
              <a:rPr lang="en-US" altLang="ko-KR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redistribute rip metric </a:t>
            </a:r>
            <a:r>
              <a:rPr lang="en-US" altLang="ko-KR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1544</a:t>
            </a:r>
            <a:r>
              <a:rPr lang="en-US" altLang="ko-KR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r>
              <a:rPr lang="en-US" altLang="ko-KR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r>
              <a:rPr lang="en-US" altLang="ko-KR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altLang="ko-KR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</a:t>
            </a:r>
          </a:p>
          <a:p>
            <a:endParaRPr lang="ko-KR" altLang="en-US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C529B6F-1ED9-2406-31B9-D71B2C62E6C1}"/>
              </a:ext>
            </a:extLst>
          </p:cNvPr>
          <p:cNvCxnSpPr/>
          <p:nvPr/>
        </p:nvCxnSpPr>
        <p:spPr>
          <a:xfrm>
            <a:off x="8997244" y="3115733"/>
            <a:ext cx="6660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C117246-56F8-F19E-557E-544348D5C30C}"/>
              </a:ext>
            </a:extLst>
          </p:cNvPr>
          <p:cNvCxnSpPr/>
          <p:nvPr/>
        </p:nvCxnSpPr>
        <p:spPr>
          <a:xfrm>
            <a:off x="9750582" y="3115733"/>
            <a:ext cx="5522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B17251F-C0E5-DADE-DEF8-AEAA9C3BD15D}"/>
              </a:ext>
            </a:extLst>
          </p:cNvPr>
          <p:cNvCxnSpPr>
            <a:cxnSpLocks/>
          </p:cNvCxnSpPr>
          <p:nvPr/>
        </p:nvCxnSpPr>
        <p:spPr>
          <a:xfrm>
            <a:off x="10404012" y="3115733"/>
            <a:ext cx="40582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64D7644-704E-3B76-B863-76752EB9E70A}"/>
              </a:ext>
            </a:extLst>
          </p:cNvPr>
          <p:cNvCxnSpPr/>
          <p:nvPr/>
        </p:nvCxnSpPr>
        <p:spPr>
          <a:xfrm>
            <a:off x="10945640" y="3115733"/>
            <a:ext cx="19012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98C5C4A-F3DC-3DBF-F22D-BFFB01B7156F}"/>
              </a:ext>
            </a:extLst>
          </p:cNvPr>
          <p:cNvCxnSpPr>
            <a:cxnSpLocks/>
          </p:cNvCxnSpPr>
          <p:nvPr/>
        </p:nvCxnSpPr>
        <p:spPr>
          <a:xfrm>
            <a:off x="5755991" y="3405580"/>
            <a:ext cx="635756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4719E31-4034-F34D-8601-1C5DEA883A82}"/>
              </a:ext>
            </a:extLst>
          </p:cNvPr>
          <p:cNvCxnSpPr/>
          <p:nvPr/>
        </p:nvCxnSpPr>
        <p:spPr>
          <a:xfrm>
            <a:off x="5273964" y="4396509"/>
            <a:ext cx="1570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03363CB-FCBB-5462-8665-1948AD990899}"/>
              </a:ext>
            </a:extLst>
          </p:cNvPr>
          <p:cNvSpPr txBox="1"/>
          <p:nvPr/>
        </p:nvSpPr>
        <p:spPr>
          <a:xfrm>
            <a:off x="4852154" y="4402609"/>
            <a:ext cx="78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홉 수</a:t>
            </a:r>
          </a:p>
        </p:txBody>
      </p:sp>
    </p:spTree>
    <p:extLst>
      <p:ext uri="{BB962C8B-B14F-4D97-AF65-F5344CB8AC3E}">
        <p14:creationId xmlns:p14="http://schemas.microsoft.com/office/powerpoint/2010/main" val="309213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3" grpId="0"/>
      <p:bldP spid="24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51C3-20CB-A722-0832-F66C6223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32DCD-850C-8F41-47B3-D9661FFA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7961"/>
            <a:ext cx="10515600" cy="879139"/>
          </a:xfrm>
        </p:spPr>
        <p:txBody>
          <a:bodyPr/>
          <a:lstStyle/>
          <a:p>
            <a:r>
              <a:rPr lang="ko-KR" altLang="en-US" b="1" dirty="0"/>
              <a:t>프로토콜 인증 방식</a:t>
            </a:r>
            <a:r>
              <a:rPr lang="en-US" altLang="ko-KR" b="1" dirty="0"/>
              <a:t>( key-chain)</a:t>
            </a:r>
            <a:endParaRPr lang="ko-KR" altLang="en-US" b="1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5137746-7428-DD30-666B-8FEFDAB2CB21}"/>
              </a:ext>
            </a:extLst>
          </p:cNvPr>
          <p:cNvCxnSpPr>
            <a:cxnSpLocks/>
          </p:cNvCxnSpPr>
          <p:nvPr/>
        </p:nvCxnSpPr>
        <p:spPr>
          <a:xfrm>
            <a:off x="0" y="352927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8114355-BDF1-68E8-7D18-36D90FC8C034}"/>
              </a:ext>
            </a:extLst>
          </p:cNvPr>
          <p:cNvCxnSpPr>
            <a:cxnSpLocks/>
          </p:cNvCxnSpPr>
          <p:nvPr/>
        </p:nvCxnSpPr>
        <p:spPr>
          <a:xfrm>
            <a:off x="0" y="6505073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27159430-FD30-CC6D-636E-06D81F773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030392"/>
              </p:ext>
            </p:extLst>
          </p:nvPr>
        </p:nvGraphicFramePr>
        <p:xfrm>
          <a:off x="1916348" y="2222770"/>
          <a:ext cx="8501973" cy="2412460"/>
        </p:xfrm>
        <a:graphic>
          <a:graphicData uri="http://schemas.openxmlformats.org/drawingml/2006/table">
            <a:tbl>
              <a:tblPr/>
              <a:tblGrid>
                <a:gridCol w="226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3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프로토콜</a:t>
                      </a:r>
                      <a:endParaRPr lang="en-US" sz="2800" dirty="0"/>
                    </a:p>
                  </a:txBody>
                  <a:tcPr>
                    <a:lnL w="0" cap="flat" cmpd="sng" algn="ctr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평문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암호화(MD5)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RIPv2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OSPF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EIGRP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69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DF4C7-34DA-B5B1-E808-311F4601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AAAD7-7700-4369-7DC6-ED325B239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7961"/>
            <a:ext cx="10515600" cy="879139"/>
          </a:xfrm>
        </p:spPr>
        <p:txBody>
          <a:bodyPr/>
          <a:lstStyle/>
          <a:p>
            <a:r>
              <a:rPr lang="en-US" altLang="ko-KR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EIGRP Key-chain</a:t>
            </a:r>
            <a:endParaRPr lang="ko-KR" altLang="en-US" b="1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54A5DE0-FC37-7FA2-C2B9-6492D9DE2739}"/>
              </a:ext>
            </a:extLst>
          </p:cNvPr>
          <p:cNvCxnSpPr>
            <a:cxnSpLocks/>
          </p:cNvCxnSpPr>
          <p:nvPr/>
        </p:nvCxnSpPr>
        <p:spPr>
          <a:xfrm>
            <a:off x="0" y="352927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3B63DDA-CDF1-B4FE-A607-FD4E3691A362}"/>
              </a:ext>
            </a:extLst>
          </p:cNvPr>
          <p:cNvCxnSpPr>
            <a:cxnSpLocks/>
          </p:cNvCxnSpPr>
          <p:nvPr/>
        </p:nvCxnSpPr>
        <p:spPr>
          <a:xfrm>
            <a:off x="0" y="6505073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 2">
            <a:extLst>
              <a:ext uri="{FF2B5EF4-FFF2-40B4-BE49-F238E27FC236}">
                <a16:creationId xmlns:a16="http://schemas.microsoft.com/office/drawing/2014/main" id="{FD6965EF-D8E3-3B08-8878-717382381686}"/>
              </a:ext>
            </a:extLst>
          </p:cNvPr>
          <p:cNvSpPr/>
          <p:nvPr/>
        </p:nvSpPr>
        <p:spPr>
          <a:xfrm>
            <a:off x="1809345" y="1780162"/>
            <a:ext cx="8229600" cy="4114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chain AA </a:t>
            </a:r>
            <a:r>
              <a:rPr 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</a:t>
            </a:r>
            <a:r>
              <a:rPr lang="ko-KR" alt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꾸러미 만들기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1 </a:t>
            </a:r>
            <a:r>
              <a:rPr 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</a:t>
            </a:r>
            <a:r>
              <a:rPr lang="ko-KR" alt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키 번호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2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key-string cisco </a:t>
            </a:r>
            <a:r>
              <a:rPr 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</a:t>
            </a:r>
            <a:r>
              <a:rPr lang="ko-KR" alt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키 비밀번호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s1/0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authentication mode eigrp 100 md5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authentication key-chain eigrp 100 AA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46646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D3813-C2AD-0504-9A70-BC7D3964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DF577-DE6B-F3C9-EB0F-8C195BD8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7961"/>
            <a:ext cx="10515600" cy="879139"/>
          </a:xfrm>
        </p:spPr>
        <p:txBody>
          <a:bodyPr/>
          <a:lstStyle/>
          <a:p>
            <a:r>
              <a:rPr lang="ko-KR" altLang="en-US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ko-KR" altLang="en-US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논리랩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ko-KR" altLang="en-US" b="1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0C60516-7A9E-F943-2DF3-433997624E84}"/>
              </a:ext>
            </a:extLst>
          </p:cNvPr>
          <p:cNvCxnSpPr>
            <a:cxnSpLocks/>
          </p:cNvCxnSpPr>
          <p:nvPr/>
        </p:nvCxnSpPr>
        <p:spPr>
          <a:xfrm>
            <a:off x="0" y="352927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415457-9ADA-14CF-805B-0D94D881390B}"/>
              </a:ext>
            </a:extLst>
          </p:cNvPr>
          <p:cNvCxnSpPr>
            <a:cxnSpLocks/>
          </p:cNvCxnSpPr>
          <p:nvPr/>
        </p:nvCxnSpPr>
        <p:spPr>
          <a:xfrm>
            <a:off x="0" y="6505073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CE0F9EB8-A71E-ACC0-2F72-114628112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91" y="1468743"/>
            <a:ext cx="9479666" cy="45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1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AD23F-B9FB-AB09-20E3-C7A26F2E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70C75B8-58CC-9091-6C36-9120DC7D3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63" y="352926"/>
            <a:ext cx="10036727" cy="61473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0CC45B-6F0C-1883-7018-4A1140A5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7961"/>
            <a:ext cx="10515600" cy="879139"/>
          </a:xfrm>
        </p:spPr>
        <p:txBody>
          <a:bodyPr/>
          <a:lstStyle/>
          <a:p>
            <a:r>
              <a:rPr lang="ko-KR" altLang="en-US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물리랩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ko-KR" altLang="en-US" b="1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CD34FB5-76E1-4FF6-F83E-FC76ADE1F898}"/>
              </a:ext>
            </a:extLst>
          </p:cNvPr>
          <p:cNvCxnSpPr>
            <a:cxnSpLocks/>
          </p:cNvCxnSpPr>
          <p:nvPr/>
        </p:nvCxnSpPr>
        <p:spPr>
          <a:xfrm>
            <a:off x="0" y="352927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05F0BFA-CAFE-858D-0ACA-317FDCC7D958}"/>
              </a:ext>
            </a:extLst>
          </p:cNvPr>
          <p:cNvCxnSpPr>
            <a:cxnSpLocks/>
          </p:cNvCxnSpPr>
          <p:nvPr/>
        </p:nvCxnSpPr>
        <p:spPr>
          <a:xfrm>
            <a:off x="0" y="6505073"/>
            <a:ext cx="1219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88705382-570A-F95C-B409-F79BB34BA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63" y="446711"/>
            <a:ext cx="1495634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86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6847</TotalTime>
  <Words>277</Words>
  <Application>Microsoft Office PowerPoint</Application>
  <PresentationFormat>와이드스크린</PresentationFormat>
  <Paragraphs>59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Malgun Gothic</vt:lpstr>
      <vt:lpstr>Malgun Gothic</vt:lpstr>
      <vt:lpstr>Arial</vt:lpstr>
      <vt:lpstr>Courier New</vt:lpstr>
      <vt:lpstr>Office 테마</vt:lpstr>
      <vt:lpstr>EIGRP</vt:lpstr>
      <vt:lpstr>Distribute-list</vt:lpstr>
      <vt:lpstr>Distribute-list 설정</vt:lpstr>
      <vt:lpstr>Redistribute (재분배)</vt:lpstr>
      <vt:lpstr>Redistribute (재분배) 예시</vt:lpstr>
      <vt:lpstr>프로토콜 인증 방식( key-chain)</vt:lpstr>
      <vt:lpstr>EIGRP Key-chain</vt:lpstr>
      <vt:lpstr>실습 - 논리랩 </vt:lpstr>
      <vt:lpstr>실습 -물리랩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16</cp:revision>
  <dcterms:created xsi:type="dcterms:W3CDTF">2025-12-11T00:52:36Z</dcterms:created>
  <dcterms:modified xsi:type="dcterms:W3CDTF">2025-12-16T03:29:07Z</dcterms:modified>
</cp:coreProperties>
</file>