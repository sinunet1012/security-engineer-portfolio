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68" r:id="rId5"/>
    <p:sldId id="259" r:id="rId6"/>
    <p:sldId id="260" r:id="rId7"/>
    <p:sldId id="266" r:id="rId8"/>
    <p:sldId id="261" r:id="rId9"/>
    <p:sldId id="275" r:id="rId10"/>
    <p:sldId id="279" r:id="rId11"/>
    <p:sldId id="264" r:id="rId12"/>
    <p:sldId id="262" r:id="rId13"/>
    <p:sldId id="273" r:id="rId14"/>
    <p:sldId id="274" r:id="rId15"/>
    <p:sldId id="277" r:id="rId16"/>
    <p:sldId id="263" r:id="rId17"/>
    <p:sldId id="280" r:id="rId18"/>
    <p:sldId id="265" r:id="rId19"/>
    <p:sldId id="267" r:id="rId20"/>
    <p:sldId id="272" r:id="rId21"/>
    <p:sldId id="281" r:id="rId22"/>
    <p:sldId id="271" r:id="rId23"/>
    <p:sldId id="270" r:id="rId24"/>
    <p:sldId id="282" r:id="rId25"/>
    <p:sldId id="269" r:id="rId26"/>
    <p:sldId id="278" r:id="rId27"/>
    <p:sldId id="283" r:id="rId28"/>
    <p:sldId id="276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BDD2"/>
    <a:srgbClr val="F5F5A4"/>
    <a:srgbClr val="EA92B8"/>
    <a:srgbClr val="E65C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74C214-C5C2-49DA-BBE4-EA93F621E327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967BC4-00B1-46B9-B9F9-2723B0AE75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231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967BC4-00B1-46B9-B9F9-2723B0AE754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942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967BC4-00B1-46B9-B9F9-2723B0AE754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964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90B82A-8F9C-6422-1E6F-6FB737E45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65CCEA-B8C5-9E36-3A2D-5DB33E346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5B178A-4A1E-D125-D1D7-147568849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4CF7C-0A0D-47B6-B83A-65661BE8EA9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2F7E03-FE61-44E5-A79A-735B80DCF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577D97-5A11-329B-06D5-59D8C00C8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4D8DA-3EF5-46B0-AB44-7EE307353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151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72768-9920-0CC0-8EF7-D219DF938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B4903F-6F35-12F3-4AD1-AF463E794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183B79-686E-F659-2D5C-C8A6B769C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4CF7C-0A0D-47B6-B83A-65661BE8EA9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C5DCA1-F901-60F3-F71D-DA1678293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7F1109-0425-8828-D5C5-91F8E2932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4D8DA-3EF5-46B0-AB44-7EE307353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593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95E254-3EC3-E5A7-C0EA-50D1A1400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047D9D-6DFC-2AAF-6EF3-069AACAE1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0C49F4-D1CB-06F3-2FC1-0900DBBCC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4CF7C-0A0D-47B6-B83A-65661BE8EA9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394731-3C8D-DF9E-636E-9A15ACBE1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031A67-8F3D-1508-7DB9-5B92B897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4D8DA-3EF5-46B0-AB44-7EE307353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663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0094D-0342-1937-60B4-09A2C91FD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696B9F-6D11-4B66-4CCE-19B9E8267D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FA9283-D4C0-3EA7-1E79-3887BDFFC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5CBF62-F4F1-CC6A-E1C2-03E87DB88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4CF7C-0A0D-47B6-B83A-65661BE8EA9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C75D62-42CB-59AD-07C1-0D910E886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EF0CC3-4A13-600A-EA0B-ECA21FDE8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4D8DA-3EF5-46B0-AB44-7EE307353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182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AAC75C-A44E-2D99-058E-688AE8CD0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CCCA31-D8EB-F844-A925-82FBE010F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8A79C2-D00C-8111-02D3-6EC075AD8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BCB64C-95AC-F7CD-551B-BFDD5C8546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D2C1A5-A1B8-C8D0-586E-1E5ADFE873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D6E7863-F046-82D3-1C04-ECFA4A37D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4CF7C-0A0D-47B6-B83A-65661BE8EA9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4BC10AA-9E2D-414A-E66A-FCE8EE643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622B2E-90EB-FC98-99CD-5DBF0180C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4D8DA-3EF5-46B0-AB44-7EE307353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935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8666A2-746B-C3D0-B18B-6F7F88B17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A0172CF-4F3D-93A1-0D3F-30824073D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4CF7C-0A0D-47B6-B83A-65661BE8EA9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9225A8-5F96-A083-EB86-35C20464A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93D189-5C51-985A-9500-62D4950BA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4D8DA-3EF5-46B0-AB44-7EE307353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88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DA94702-22D1-77C0-8E3D-FCB160020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4CF7C-0A0D-47B6-B83A-65661BE8EA9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1818043-EFE3-9E4F-E142-7212159B2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225DE7-B74B-3D67-4E7D-D414F0D15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4D8DA-3EF5-46B0-AB44-7EE307353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677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AEF81-F0E1-EB50-FEE0-E330CF5C9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94BEBE-EF3C-14FD-1B9F-AC3665447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17A8AC-D455-B073-7684-FB1172953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8854EB-ADAB-4B35-CBA5-B3E5C6F2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4CF7C-0A0D-47B6-B83A-65661BE8EA9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C14CF9-0467-C442-CE2E-90E697FE4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15006E-6530-6EE0-E6BF-7F5073A7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4D8DA-3EF5-46B0-AB44-7EE307353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195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2E9780-0764-B836-4090-2FD53D8E8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6CEE6AA-ED06-ECC7-4FEF-63D26D0969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8531EA-4C6B-8E8F-41A9-E081ADE82E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2A70B7-3ABF-E6DE-EBB6-02F84D58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4CF7C-0A0D-47B6-B83A-65661BE8EA9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D860B4-7100-EEED-7B06-F1C98AC4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161F26-7362-B35F-188C-2D970C767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4D8DA-3EF5-46B0-AB44-7EE307353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150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1CDB1E-20B0-E81A-028D-66C05D3F6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8B0D25-C9A6-1CC8-A0FC-DEB11C75D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8C0C74-FDD7-4E76-0349-6DDBC01DC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4CF7C-0A0D-47B6-B83A-65661BE8EA9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306319-D719-CCD7-ACCF-42788877C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D01BA6-AC2E-5820-A897-6CDF095A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4D8DA-3EF5-46B0-AB44-7EE307353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503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0B34271-DEB1-7700-6959-7B31437A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FAB178-0CEF-6750-B3AC-68A610113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B235A2-2A2F-4B65-0318-B366EC427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4CF7C-0A0D-47B6-B83A-65661BE8EA9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700E93-B39C-394C-180A-11D793F3B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49A00B-FCA6-29B6-4A23-0BD6203BB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4D8DA-3EF5-46B0-AB44-7EE307353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851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B62ED82-A419-E9A8-474F-574D243BE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10EC6C-D2C8-58A9-168C-8EA756ABB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7E81B6-3FFC-55CA-A891-5C8F642E68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4CF7C-0A0D-47B6-B83A-65661BE8EA91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814E29-62BD-A9AA-4393-E0D076049F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D2910B-409B-1F1B-7D09-0D2AB0139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4D8DA-3EF5-46B0-AB44-7EE307353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487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84ED6A-FFD1-C899-876F-453D7DCD6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35702"/>
            <a:ext cx="9144000" cy="3175503"/>
          </a:xfrm>
        </p:spPr>
        <p:txBody>
          <a:bodyPr>
            <a:noAutofit/>
          </a:bodyPr>
          <a:lstStyle/>
          <a:p>
            <a:r>
              <a:rPr lang="en-US" altLang="ko-KR" sz="22000"/>
              <a:t>EIGRP</a:t>
            </a:r>
            <a:endParaRPr lang="ko-KR" altLang="en-US" sz="2200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2313E2-572C-3636-E6FC-4764B8AA4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301" y="4534546"/>
            <a:ext cx="11751398" cy="1655762"/>
          </a:xfrm>
        </p:spPr>
        <p:txBody>
          <a:bodyPr>
            <a:noAutofit/>
          </a:bodyPr>
          <a:lstStyle/>
          <a:p>
            <a:r>
              <a:rPr lang="ko-KR" altLang="en-US" sz="8000"/>
              <a:t>💙 </a:t>
            </a:r>
            <a:r>
              <a:rPr lang="ko-KR" altLang="en-US" sz="8000" err="1"/>
              <a:t>킹왕짱</a:t>
            </a:r>
            <a:r>
              <a:rPr lang="ko-KR" altLang="en-US" sz="8000"/>
              <a:t> 네트워크 💙</a:t>
            </a:r>
          </a:p>
        </p:txBody>
      </p:sp>
    </p:spTree>
    <p:extLst>
      <p:ext uri="{BB962C8B-B14F-4D97-AF65-F5344CB8AC3E}">
        <p14:creationId xmlns:p14="http://schemas.microsoft.com/office/powerpoint/2010/main" val="3265901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FDE26D8-89D5-5EFA-8D3B-7A3FCD809FC5}"/>
              </a:ext>
            </a:extLst>
          </p:cNvPr>
          <p:cNvSpPr/>
          <p:nvPr/>
        </p:nvSpPr>
        <p:spPr>
          <a:xfrm>
            <a:off x="3440317" y="534154"/>
            <a:ext cx="5404919" cy="11497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동적 라우팅 프로토콜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AA9DB6-028F-E9FE-E565-3C06FDF5C31A}"/>
              </a:ext>
            </a:extLst>
          </p:cNvPr>
          <p:cNvSpPr/>
          <p:nvPr/>
        </p:nvSpPr>
        <p:spPr>
          <a:xfrm>
            <a:off x="1267485" y="2399168"/>
            <a:ext cx="2978590" cy="14032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링크 상태 라우팅 프로토콜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438EAF-9E59-B80D-D6BA-9BF588968250}"/>
              </a:ext>
            </a:extLst>
          </p:cNvPr>
          <p:cNvSpPr/>
          <p:nvPr/>
        </p:nvSpPr>
        <p:spPr>
          <a:xfrm>
            <a:off x="4714494" y="2399168"/>
            <a:ext cx="3085443" cy="14032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거리 벡터 라우팅 프로토콜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C7EFAD6-4EE1-D806-010A-44855534B76C}"/>
              </a:ext>
            </a:extLst>
          </p:cNvPr>
          <p:cNvSpPr/>
          <p:nvPr/>
        </p:nvSpPr>
        <p:spPr>
          <a:xfrm>
            <a:off x="8170473" y="2372006"/>
            <a:ext cx="2754042" cy="14304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하이브리드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5B1687-4C5F-0F4F-BFE1-2ABC535A852E}"/>
              </a:ext>
            </a:extLst>
          </p:cNvPr>
          <p:cNvSpPr/>
          <p:nvPr/>
        </p:nvSpPr>
        <p:spPr>
          <a:xfrm>
            <a:off x="4675360" y="4388903"/>
            <a:ext cx="3085443" cy="14304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RIP, IGRP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4440C1D-0124-0697-A61B-D49B6B9F8379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2756780" y="1683945"/>
            <a:ext cx="1018515" cy="7152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0EFFD2B-1918-CAC2-0C4D-B1A84FB1506F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142777" y="1683945"/>
            <a:ext cx="0" cy="7152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DE9D7D6-1B18-53ED-EB78-65DB8C9AA014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8383509" y="1683945"/>
            <a:ext cx="1163985" cy="6880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F44335-F65A-AE2E-6A87-12E75FC31F67}"/>
              </a:ext>
            </a:extLst>
          </p:cNvPr>
          <p:cNvSpPr/>
          <p:nvPr/>
        </p:nvSpPr>
        <p:spPr>
          <a:xfrm>
            <a:off x="1267485" y="4388903"/>
            <a:ext cx="2978590" cy="14032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OSPF, IS-IS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B27A9C3-0CB1-0EDB-7B5D-80CE8739BCDB}"/>
              </a:ext>
            </a:extLst>
          </p:cNvPr>
          <p:cNvSpPr/>
          <p:nvPr/>
        </p:nvSpPr>
        <p:spPr>
          <a:xfrm>
            <a:off x="8238653" y="4388903"/>
            <a:ext cx="2685862" cy="14304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EIGRP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7DD6737-0207-B9C3-0B2E-522B9302AD53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2756780" y="3802454"/>
            <a:ext cx="0" cy="5864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타원 15">
            <a:extLst>
              <a:ext uri="{FF2B5EF4-FFF2-40B4-BE49-F238E27FC236}">
                <a16:creationId xmlns:a16="http://schemas.microsoft.com/office/drawing/2014/main" id="{23D1596E-C9D5-D56F-F2B0-621B6D5CFD38}"/>
              </a:ext>
            </a:extLst>
          </p:cNvPr>
          <p:cNvSpPr/>
          <p:nvPr/>
        </p:nvSpPr>
        <p:spPr>
          <a:xfrm>
            <a:off x="9155437" y="4865848"/>
            <a:ext cx="852293" cy="61641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64C42B5-2E5D-6296-7312-230B055B60BF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218082" y="3802454"/>
            <a:ext cx="0" cy="5864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5D7BED6-6B25-02BF-6FF5-E6BAB0113216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9581584" y="3802454"/>
            <a:ext cx="0" cy="5864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C780810-440D-5417-7800-91591E77070A}"/>
              </a:ext>
            </a:extLst>
          </p:cNvPr>
          <p:cNvSpPr txBox="1"/>
          <p:nvPr/>
        </p:nvSpPr>
        <p:spPr>
          <a:xfrm>
            <a:off x="7695444" y="5819351"/>
            <a:ext cx="3992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거리 벡터 </a:t>
            </a:r>
            <a:r>
              <a:rPr lang="en-US" altLang="ko-KR"/>
              <a:t>+ </a:t>
            </a:r>
            <a:r>
              <a:rPr lang="ko-KR" altLang="en-US"/>
              <a:t>링크 상태 </a:t>
            </a:r>
            <a:r>
              <a:rPr lang="en-US" altLang="ko-KR"/>
              <a:t>= </a:t>
            </a:r>
            <a:r>
              <a:rPr lang="ko-KR" altLang="en-US"/>
              <a:t>하이브리드</a:t>
            </a:r>
          </a:p>
        </p:txBody>
      </p:sp>
    </p:spTree>
    <p:extLst>
      <p:ext uri="{BB962C8B-B14F-4D97-AF65-F5344CB8AC3E}">
        <p14:creationId xmlns:p14="http://schemas.microsoft.com/office/powerpoint/2010/main" val="11840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E88949-4EF9-FB2D-2929-F4E25CE0F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667" y="104115"/>
            <a:ext cx="10515600" cy="1101537"/>
          </a:xfrm>
        </p:spPr>
        <p:txBody>
          <a:bodyPr>
            <a:noAutofit/>
          </a:bodyPr>
          <a:lstStyle/>
          <a:p>
            <a:r>
              <a:rPr lang="en-US" altLang="ko-KR" sz="8800" b="1"/>
              <a:t>EIGRP</a:t>
            </a:r>
            <a:r>
              <a:rPr lang="ko-KR" altLang="en-US" sz="8800" b="1"/>
              <a:t>가 </a:t>
            </a:r>
            <a:r>
              <a:rPr lang="ko-KR" altLang="en-US" sz="8800" b="1" err="1"/>
              <a:t>뭘까</a:t>
            </a:r>
            <a:r>
              <a:rPr lang="en-US" altLang="ko-KR" sz="8800" b="1"/>
              <a:t>?</a:t>
            </a:r>
            <a:endParaRPr lang="ko-KR" altLang="en-US" sz="8800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3CEB0E-1217-CBDF-F941-82188D250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667" y="1330859"/>
            <a:ext cx="11796666" cy="5423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5400"/>
              <a:t>enhanced IGRP</a:t>
            </a:r>
            <a:r>
              <a:rPr lang="en-US" altLang="ko-KR" sz="3600"/>
              <a:t>(enhanced: </a:t>
            </a:r>
            <a:r>
              <a:rPr lang="ko-KR" altLang="en-US" sz="3600"/>
              <a:t>향상된</a:t>
            </a:r>
            <a:r>
              <a:rPr lang="en-US" altLang="ko-KR" sz="3600"/>
              <a:t>)</a:t>
            </a:r>
          </a:p>
          <a:p>
            <a:pPr marL="0" indent="0">
              <a:buNone/>
            </a:pPr>
            <a:endParaRPr lang="ko-KR" altLang="en-US" sz="1600" b="0">
              <a:effectLst/>
            </a:endParaRPr>
          </a:p>
          <a:p>
            <a:pPr marL="0" indent="0" fontAlgn="base">
              <a:buNone/>
            </a:pPr>
            <a:r>
              <a:rPr lang="en-US" altLang="ko-KR"/>
              <a:t>Cisco </a:t>
            </a:r>
            <a:r>
              <a:rPr lang="ko-KR" altLang="en-US"/>
              <a:t>고유 프로토콜</a:t>
            </a:r>
            <a:r>
              <a:rPr lang="en-US" altLang="ko-KR"/>
              <a:t>(</a:t>
            </a:r>
            <a:r>
              <a:rPr lang="ko-KR" altLang="en-US"/>
              <a:t>현재는 오픈 표준화됨</a:t>
            </a:r>
            <a:r>
              <a:rPr lang="en-US" altLang="ko-KR"/>
              <a:t>)</a:t>
            </a:r>
            <a:br>
              <a:rPr lang="en-US" altLang="ko-KR"/>
            </a:br>
            <a:endParaRPr lang="en-US" altLang="ko-KR" sz="3600"/>
          </a:p>
          <a:p>
            <a:pPr marL="0" indent="0">
              <a:buNone/>
            </a:pPr>
            <a:r>
              <a:rPr lang="en-US" altLang="ko-KR" sz="3600"/>
              <a:t>IGRP</a:t>
            </a:r>
            <a:r>
              <a:rPr lang="en-US" altLang="ko-KR" sz="2400"/>
              <a:t>(Interior Gateway Routing Protocol: </a:t>
            </a:r>
            <a:r>
              <a:rPr lang="ko-KR" altLang="en-US" sz="2400"/>
              <a:t>내부 게이트웨이 라우팅 프로토콜</a:t>
            </a:r>
            <a:r>
              <a:rPr lang="en-US" altLang="ko-KR" sz="2400"/>
              <a:t>)</a:t>
            </a:r>
            <a:endParaRPr lang="ko-KR" altLang="en-US" sz="2400" b="0">
              <a:effectLst/>
            </a:endParaRPr>
          </a:p>
          <a:p>
            <a:r>
              <a:rPr lang="en-US" altLang="ko-KR" sz="2000"/>
              <a:t>Classful </a:t>
            </a:r>
            <a:r>
              <a:rPr lang="ko-KR" altLang="en-US" sz="2000"/>
              <a:t>프로토콜</a:t>
            </a:r>
            <a:endParaRPr lang="ko-KR" altLang="en-US" sz="2000" b="0">
              <a:effectLst/>
            </a:endParaRPr>
          </a:p>
          <a:p>
            <a:r>
              <a:rPr lang="ko-KR" altLang="en-US" sz="2000"/>
              <a:t>수렴 속도 느림</a:t>
            </a:r>
            <a:endParaRPr lang="ko-KR" altLang="en-US" sz="2000" b="0">
              <a:effectLst/>
            </a:endParaRPr>
          </a:p>
          <a:p>
            <a:r>
              <a:rPr lang="en-US" altLang="ko-KR" sz="2000"/>
              <a:t>Loop </a:t>
            </a:r>
            <a:r>
              <a:rPr lang="ko-KR" altLang="en-US" sz="2000"/>
              <a:t>발생 가능</a:t>
            </a:r>
            <a:r>
              <a:rPr lang="en-US" altLang="ko-KR" sz="2000"/>
              <a:t>(</a:t>
            </a:r>
            <a:r>
              <a:rPr lang="ko-KR" altLang="en-US" sz="2000"/>
              <a:t>거리 벡터의 문제점</a:t>
            </a:r>
            <a:r>
              <a:rPr lang="en-US" altLang="ko-KR" sz="2000"/>
              <a:t>)</a:t>
            </a:r>
            <a:endParaRPr lang="ko-KR" altLang="en-US" sz="2000" b="0">
              <a:effectLst/>
            </a:endParaRPr>
          </a:p>
          <a:p>
            <a:r>
              <a:rPr lang="en-US" altLang="ko-KR" sz="2000"/>
              <a:t>Cisco </a:t>
            </a:r>
            <a:r>
              <a:rPr lang="ko-KR" altLang="en-US" sz="2000"/>
              <a:t>전용이라 표준화 </a:t>
            </a:r>
            <a:r>
              <a:rPr lang="ko-KR" altLang="en-US" sz="2000" err="1"/>
              <a:t>무리데스</a:t>
            </a:r>
            <a:endParaRPr lang="en-US" altLang="ko-KR" sz="2000"/>
          </a:p>
          <a:p>
            <a:r>
              <a:rPr lang="ko-KR" altLang="en-US" sz="2000"/>
              <a:t>사실상 단종</a:t>
            </a:r>
            <a:r>
              <a:rPr lang="en-US" altLang="ko-KR" sz="2000"/>
              <a:t>!! </a:t>
            </a:r>
            <a:r>
              <a:rPr lang="ko-KR" altLang="en-US" sz="2000"/>
              <a:t>이제 사용 </a:t>
            </a:r>
            <a:r>
              <a:rPr lang="ko-KR" altLang="en-US" sz="2000" err="1"/>
              <a:t>안합니다</a:t>
            </a:r>
            <a:r>
              <a:rPr lang="en-US" altLang="ko-KR" sz="2000"/>
              <a:t>.</a:t>
            </a:r>
            <a:endParaRPr lang="ko-KR" altLang="en-US" sz="2000" b="0">
              <a:effectLst/>
            </a:endParaRPr>
          </a:p>
          <a:p>
            <a:pPr marL="0" indent="0">
              <a:buNone/>
            </a:pPr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A6E22F8-0EA3-718A-D52C-C750E3D73B14}"/>
              </a:ext>
            </a:extLst>
          </p:cNvPr>
          <p:cNvCxnSpPr>
            <a:cxnSpLocks/>
          </p:cNvCxnSpPr>
          <p:nvPr/>
        </p:nvCxnSpPr>
        <p:spPr>
          <a:xfrm>
            <a:off x="134293" y="1330859"/>
            <a:ext cx="1186004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243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47E95E-3934-88F2-050D-5431603F3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61" y="262556"/>
            <a:ext cx="10515600" cy="1051737"/>
          </a:xfrm>
        </p:spPr>
        <p:txBody>
          <a:bodyPr>
            <a:normAutofit/>
          </a:bodyPr>
          <a:lstStyle/>
          <a:p>
            <a:r>
              <a:rPr lang="en-US" altLang="ko-KR" sz="5400" b="1"/>
              <a:t>RIP</a:t>
            </a:r>
            <a:r>
              <a:rPr lang="ko-KR" altLang="en-US" sz="5400" b="1"/>
              <a:t>와 차이점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95C78A7-6BF2-34C2-7C71-365C8777B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30795"/>
              </p:ext>
            </p:extLst>
          </p:nvPr>
        </p:nvGraphicFramePr>
        <p:xfrm>
          <a:off x="718886" y="1456029"/>
          <a:ext cx="10515600" cy="5036843"/>
        </p:xfrm>
        <a:graphic>
          <a:graphicData uri="http://schemas.openxmlformats.org/drawingml/2006/table">
            <a:tbl>
              <a:tblPr/>
              <a:tblGrid>
                <a:gridCol w="2200939">
                  <a:extLst>
                    <a:ext uri="{9D8B030D-6E8A-4147-A177-3AD203B41FA5}">
                      <a16:colId xmlns:a16="http://schemas.microsoft.com/office/drawing/2014/main" val="2385383367"/>
                    </a:ext>
                  </a:extLst>
                </a:gridCol>
                <a:gridCol w="4564912">
                  <a:extLst>
                    <a:ext uri="{9D8B030D-6E8A-4147-A177-3AD203B41FA5}">
                      <a16:colId xmlns:a16="http://schemas.microsoft.com/office/drawing/2014/main" val="2699092783"/>
                    </a:ext>
                  </a:extLst>
                </a:gridCol>
                <a:gridCol w="3749749">
                  <a:extLst>
                    <a:ext uri="{9D8B030D-6E8A-4147-A177-3AD203B41FA5}">
                      <a16:colId xmlns:a16="http://schemas.microsoft.com/office/drawing/2014/main" val="1193875942"/>
                    </a:ext>
                  </a:extLst>
                </a:gridCol>
              </a:tblGrid>
              <a:tr h="71954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alt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항목</a:t>
                      </a:r>
                      <a:endParaRPr lang="ko-KR" altLang="en-US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D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RIP</a:t>
                      </a:r>
                      <a:endParaRPr lang="en-US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D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EIGRP</a:t>
                      </a:r>
                      <a:endParaRPr lang="en-US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428791"/>
                  </a:ext>
                </a:extLst>
              </a:tr>
              <a:tr h="71954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알고리즘</a:t>
                      </a:r>
                      <a:endParaRPr lang="ko-KR" altLang="en-US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Distance Vector</a:t>
                      </a:r>
                      <a:endParaRPr lang="en-US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Hybrid</a:t>
                      </a:r>
                      <a:endParaRPr lang="en-US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8424163"/>
                  </a:ext>
                </a:extLst>
              </a:tr>
              <a:tr h="71954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메트릭</a:t>
                      </a:r>
                      <a:endParaRPr lang="ko-KR" altLang="en-US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Hop Count</a:t>
                      </a:r>
                      <a:endParaRPr lang="en-US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Bandwidth, Delay </a:t>
                      </a: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등등</a:t>
                      </a:r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,,,</a:t>
                      </a:r>
                      <a:endParaRPr lang="en-US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17716"/>
                  </a:ext>
                </a:extLst>
              </a:tr>
              <a:tr h="71954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최대 홉 수</a:t>
                      </a:r>
                      <a:endParaRPr lang="ko-KR" altLang="en-US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endParaRPr lang="ko-KR" altLang="en-US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224 (</a:t>
                      </a: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이론상 거의 무한대</a:t>
                      </a:r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endParaRPr lang="ko-KR" altLang="en-US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988087"/>
                  </a:ext>
                </a:extLst>
              </a:tr>
              <a:tr h="71954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업데이트 방식</a:t>
                      </a:r>
                      <a:endParaRPr lang="ko-KR" altLang="en-US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전체 라우팅 테이블 주기적 전송</a:t>
                      </a:r>
                      <a:endParaRPr lang="ko-KR" altLang="en-US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변경사항만 전송</a:t>
                      </a:r>
                      <a:endParaRPr lang="ko-KR" altLang="en-US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205547"/>
                  </a:ext>
                </a:extLst>
              </a:tr>
              <a:tr h="71954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수렴 속도</a:t>
                      </a:r>
                      <a:endParaRPr lang="ko-KR" altLang="en-US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느림</a:t>
                      </a:r>
                      <a:endParaRPr lang="ko-KR" altLang="en-US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빠름 </a:t>
                      </a:r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DUAL)</a:t>
                      </a:r>
                      <a:endParaRPr lang="en-US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024386"/>
                  </a:ext>
                </a:extLst>
              </a:tr>
              <a:tr h="71954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사용 범위</a:t>
                      </a:r>
                      <a:endParaRPr lang="ko-KR" altLang="en-US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소규모 네트워크</a:t>
                      </a:r>
                      <a:endParaRPr lang="ko-KR" altLang="en-US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중</a:t>
                      </a:r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·</a:t>
                      </a: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대규모 </a:t>
                      </a:r>
                      <a:r>
                        <a:rPr lang="ko-KR" altLang="en-US" sz="24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내부망</a:t>
                      </a:r>
                      <a:endParaRPr lang="ko-KR" altLang="en-US" sz="24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750771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F5CA8E1-A9BA-A6F8-DA4E-BAD69F4C6F31}"/>
              </a:ext>
            </a:extLst>
          </p:cNvPr>
          <p:cNvCxnSpPr>
            <a:cxnSpLocks/>
          </p:cNvCxnSpPr>
          <p:nvPr/>
        </p:nvCxnSpPr>
        <p:spPr>
          <a:xfrm>
            <a:off x="197667" y="1314293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320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46E08-E8D0-DE77-CFAB-66772F7CA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131" y="111628"/>
            <a:ext cx="10515600" cy="1092483"/>
          </a:xfrm>
        </p:spPr>
        <p:txBody>
          <a:bodyPr>
            <a:normAutofit/>
          </a:bodyPr>
          <a:lstStyle/>
          <a:p>
            <a:r>
              <a:rPr lang="ko-KR" altLang="en-US" sz="5400" b="1"/>
              <a:t>특징                             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0A4B3A-2616-0E98-4E8E-D19E7956F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131" y="1493822"/>
            <a:ext cx="10515600" cy="5033726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sz="2400"/>
              <a:t>udp</a:t>
            </a:r>
            <a:r>
              <a:rPr lang="ko-KR" altLang="en-US" sz="2400"/>
              <a:t> </a:t>
            </a:r>
            <a:r>
              <a:rPr lang="en-US" altLang="ko-KR" sz="2400"/>
              <a:t>88</a:t>
            </a:r>
            <a:r>
              <a:rPr lang="ko-KR" altLang="en-US" sz="2400"/>
              <a:t>번 포트 </a:t>
            </a:r>
            <a:r>
              <a:rPr lang="en-US" altLang="ko-KR" sz="2400"/>
              <a:t>/ rtp </a:t>
            </a:r>
            <a:r>
              <a:rPr lang="ko-KR" altLang="en-US" sz="2400"/>
              <a:t>자체 프로토콜로 데이터 전송</a:t>
            </a:r>
            <a:endParaRPr lang="en-US" altLang="ko-KR" sz="2400"/>
          </a:p>
          <a:p>
            <a:r>
              <a:rPr lang="en-US" altLang="ko-KR" sz="3000"/>
              <a:t>Classless </a:t>
            </a:r>
            <a:r>
              <a:rPr lang="en-US" altLang="ko-KR" sz="3000">
                <a:sym typeface="Wingdings" panose="05000000000000000000" pitchFamily="2" charset="2"/>
              </a:rPr>
              <a:t> NO</a:t>
            </a:r>
            <a:r>
              <a:rPr lang="ko-KR" altLang="en-US" sz="3000">
                <a:sym typeface="Wingdings" panose="05000000000000000000" pitchFamily="2" charset="2"/>
              </a:rPr>
              <a:t> </a:t>
            </a:r>
            <a:r>
              <a:rPr lang="en-US" altLang="ko-KR" sz="3000">
                <a:sym typeface="Wingdings" panose="05000000000000000000" pitchFamily="2" charset="2"/>
              </a:rPr>
              <a:t>AUTO-SUMMARY</a:t>
            </a:r>
          </a:p>
          <a:p>
            <a:r>
              <a:rPr lang="ko-KR" altLang="en-US" sz="3200"/>
              <a:t>기본적으로 </a:t>
            </a:r>
            <a:r>
              <a:rPr lang="en-US" altLang="ko-KR" sz="3200"/>
              <a:t>auto-summary</a:t>
            </a:r>
            <a:endParaRPr lang="en-US" altLang="ko-KR" sz="3000"/>
          </a:p>
          <a:p>
            <a:r>
              <a:rPr lang="ko-KR" altLang="en-US" sz="2400"/>
              <a:t>멀티캐스트</a:t>
            </a:r>
            <a:r>
              <a:rPr lang="en-US" altLang="ko-KR" sz="2400"/>
              <a:t>(224.0.0.10) / RIPv2 </a:t>
            </a:r>
            <a:r>
              <a:rPr lang="ko-KR" altLang="en-US" sz="2400"/>
              <a:t>멀티캐스트 주소</a:t>
            </a:r>
            <a:r>
              <a:rPr lang="en-US" altLang="ko-KR" sz="2400"/>
              <a:t>: 224.0.0.9</a:t>
            </a:r>
          </a:p>
          <a:p>
            <a:endParaRPr lang="en-US" altLang="ko-KR" sz="2400"/>
          </a:p>
          <a:p>
            <a:r>
              <a:rPr lang="ko-KR" altLang="en-US" sz="4000"/>
              <a:t>하이브리드 방식</a:t>
            </a:r>
            <a:endParaRPr lang="en-US" altLang="ko-KR" sz="4000"/>
          </a:p>
          <a:p>
            <a:r>
              <a:rPr lang="en-US" altLang="ko-KR" sz="4000" b="0">
                <a:effectLst/>
              </a:rPr>
              <a:t>AS </a:t>
            </a:r>
            <a:r>
              <a:rPr lang="ko-KR" altLang="en-US" sz="4000" b="0">
                <a:effectLst/>
              </a:rPr>
              <a:t>번호 </a:t>
            </a:r>
            <a:r>
              <a:rPr lang="en-US" altLang="ko-KR" sz="4000" b="0">
                <a:effectLst/>
              </a:rPr>
              <a:t>/ PID </a:t>
            </a:r>
            <a:r>
              <a:rPr lang="ko-KR" altLang="en-US" sz="4000" b="0">
                <a:effectLst/>
              </a:rPr>
              <a:t>사용</a:t>
            </a:r>
            <a:endParaRPr lang="en-US" altLang="ko-KR" sz="4000" b="0">
              <a:effectLst/>
            </a:endParaRPr>
          </a:p>
          <a:p>
            <a:r>
              <a:rPr lang="en-US" altLang="ko-KR" sz="4000"/>
              <a:t>Neighbor</a:t>
            </a:r>
            <a:r>
              <a:rPr lang="ko-KR" altLang="en-US" sz="4000"/>
              <a:t> 자동 형성</a:t>
            </a:r>
            <a:endParaRPr lang="ko-KR" altLang="en-US" sz="4000" b="0">
              <a:effectLst/>
            </a:endParaRPr>
          </a:p>
          <a:p>
            <a:r>
              <a:rPr lang="en-US" altLang="ko-KR" sz="4000"/>
              <a:t>DUAL</a:t>
            </a:r>
            <a:endParaRPr lang="ko-KR" altLang="en-US" sz="4000" b="0">
              <a:effectLst/>
            </a:endParaRPr>
          </a:p>
          <a:p>
            <a:r>
              <a:rPr lang="ko-KR" altLang="en-US" sz="4000"/>
              <a:t>변경사항만 업데이트</a:t>
            </a:r>
            <a:endParaRPr lang="ko-KR" altLang="en-US" sz="4000" b="0">
              <a:effectLst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D484519-9CB8-880F-BB4E-E1619AF34CDB}"/>
              </a:ext>
            </a:extLst>
          </p:cNvPr>
          <p:cNvCxnSpPr>
            <a:cxnSpLocks/>
          </p:cNvCxnSpPr>
          <p:nvPr/>
        </p:nvCxnSpPr>
        <p:spPr>
          <a:xfrm>
            <a:off x="297255" y="1204111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780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9A986D-2DB0-DEED-1646-8C54E732F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9168"/>
          </a:xfrm>
        </p:spPr>
        <p:txBody>
          <a:bodyPr>
            <a:normAutofit/>
          </a:bodyPr>
          <a:lstStyle/>
          <a:p>
            <a:r>
              <a:rPr lang="ko-KR" altLang="en-US" sz="6000" b="1"/>
              <a:t>하이브리드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723FF1-EFD4-AA84-75EF-7C6A88C7A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Distance Vector(</a:t>
            </a:r>
            <a:r>
              <a:rPr lang="ko-KR" altLang="en-US"/>
              <a:t>거리벡터</a:t>
            </a:r>
            <a:r>
              <a:rPr lang="en-US" altLang="ko-KR"/>
              <a:t>) + Link State(</a:t>
            </a:r>
            <a:r>
              <a:rPr lang="ko-KR" altLang="en-US"/>
              <a:t>링크 </a:t>
            </a:r>
            <a:r>
              <a:rPr lang="ko-KR" altLang="en-US" err="1"/>
              <a:t>스테이트</a:t>
            </a:r>
            <a:r>
              <a:rPr lang="en-US" altLang="ko-KR"/>
              <a:t>)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Distance Vector: hop count </a:t>
            </a:r>
            <a:r>
              <a:rPr lang="ko-KR" altLang="en-US"/>
              <a:t>계산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Link State: </a:t>
            </a:r>
            <a:r>
              <a:rPr lang="ko-KR" altLang="en-US"/>
              <a:t>회선 상태 고려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E81F168-02B5-75DB-A48A-7DD7142F683B}"/>
              </a:ext>
            </a:extLst>
          </p:cNvPr>
          <p:cNvCxnSpPr>
            <a:cxnSpLocks/>
          </p:cNvCxnSpPr>
          <p:nvPr/>
        </p:nvCxnSpPr>
        <p:spPr>
          <a:xfrm>
            <a:off x="197667" y="1314293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677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F68244-2159-2AC6-57B2-FFAA6F86C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6000" b="1"/>
              <a:t>Metric</a:t>
            </a:r>
            <a:endParaRPr lang="ko-KR" altLang="en-US" sz="6000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9973A0-E49F-D45D-E194-CE31CD581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4000">
                <a:solidFill>
                  <a:srgbClr val="FF0000"/>
                </a:solidFill>
              </a:rPr>
              <a:t>Bandwidth(</a:t>
            </a:r>
            <a:r>
              <a:rPr lang="ko-KR" altLang="en-US" sz="4000">
                <a:solidFill>
                  <a:srgbClr val="FF0000"/>
                </a:solidFill>
              </a:rPr>
              <a:t>대역폭</a:t>
            </a:r>
            <a:r>
              <a:rPr lang="en-US" altLang="ko-KR" sz="400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4000">
                <a:solidFill>
                  <a:srgbClr val="FF0000"/>
                </a:solidFill>
              </a:rPr>
              <a:t>Delay(</a:t>
            </a:r>
            <a:r>
              <a:rPr lang="ko-KR" altLang="en-US" sz="4000">
                <a:solidFill>
                  <a:srgbClr val="FF0000"/>
                </a:solidFill>
              </a:rPr>
              <a:t>지연 시간</a:t>
            </a:r>
            <a:r>
              <a:rPr lang="en-US" altLang="ko-KR" sz="400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lang="en-US" altLang="ko-KR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>
                <a:sym typeface="Wingdings" panose="05000000000000000000" pitchFamily="2" charset="2"/>
              </a:rPr>
              <a:t>↓ ↓ ↓ 쓰진 않고 참고만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Reliability(</a:t>
            </a:r>
            <a:r>
              <a:rPr lang="ko-KR" altLang="en-US"/>
              <a:t>신뢰도</a:t>
            </a:r>
            <a:r>
              <a:rPr lang="en-US" altLang="ko-KR"/>
              <a:t>)</a:t>
            </a:r>
          </a:p>
          <a:p>
            <a:pPr marL="0" indent="0">
              <a:buNone/>
            </a:pPr>
            <a:r>
              <a:rPr lang="en-US" altLang="ko-KR"/>
              <a:t>Load(</a:t>
            </a:r>
            <a:r>
              <a:rPr lang="ko-KR" altLang="en-US"/>
              <a:t>부하</a:t>
            </a:r>
            <a:r>
              <a:rPr lang="en-US" altLang="ko-KR"/>
              <a:t>)</a:t>
            </a:r>
          </a:p>
          <a:p>
            <a:pPr marL="0" indent="0">
              <a:buNone/>
            </a:pPr>
            <a:endParaRPr lang="en-US" altLang="ko-KR" sz="1000"/>
          </a:p>
          <a:p>
            <a:pPr marL="0" indent="0">
              <a:buNone/>
            </a:pPr>
            <a:r>
              <a:rPr lang="en-US" altLang="ko-KR"/>
              <a:t>MTU(</a:t>
            </a:r>
            <a:r>
              <a:rPr lang="ko-KR" altLang="en-US"/>
              <a:t>패킷 최대 전송 크기</a:t>
            </a:r>
            <a:r>
              <a:rPr lang="en-US" altLang="ko-KR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BAC485-219D-4E8F-159C-4C0F07AC76BA}"/>
              </a:ext>
            </a:extLst>
          </p:cNvPr>
          <p:cNvSpPr txBox="1"/>
          <p:nvPr/>
        </p:nvSpPr>
        <p:spPr>
          <a:xfrm>
            <a:off x="3367889" y="4569737"/>
            <a:ext cx="5613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기본값이 거의 </a:t>
            </a:r>
            <a:r>
              <a:rPr lang="en-US" altLang="ko-KR"/>
              <a:t>0</a:t>
            </a:r>
            <a:r>
              <a:rPr lang="ko-KR" altLang="en-US"/>
              <a:t>이라서 계산 잘 안함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7B6882-B080-A535-9876-E132769A0C84}"/>
              </a:ext>
            </a:extLst>
          </p:cNvPr>
          <p:cNvSpPr txBox="1"/>
          <p:nvPr/>
        </p:nvSpPr>
        <p:spPr>
          <a:xfrm>
            <a:off x="5154439" y="5554704"/>
            <a:ext cx="1883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그냥 계산 </a:t>
            </a:r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0A38EA-D0BF-51F6-59B6-A286D4BCAEA8}"/>
              </a:ext>
            </a:extLst>
          </p:cNvPr>
          <p:cNvSpPr txBox="1"/>
          <p:nvPr/>
        </p:nvSpPr>
        <p:spPr>
          <a:xfrm>
            <a:off x="5154439" y="1942869"/>
            <a:ext cx="447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클수록 </a:t>
            </a:r>
            <a:r>
              <a:rPr lang="ko-KR" altLang="en-US" err="1"/>
              <a:t>야르</a:t>
            </a:r>
            <a:r>
              <a:rPr lang="ko-KR" altLang="en-US"/>
              <a:t> </a:t>
            </a:r>
            <a:r>
              <a:rPr lang="en-US" altLang="ko-KR"/>
              <a:t>/ </a:t>
            </a:r>
            <a:r>
              <a:rPr lang="ko-KR" altLang="en-US"/>
              <a:t>낮을 수록 </a:t>
            </a:r>
            <a:r>
              <a:rPr lang="ko-KR" altLang="en-US" err="1"/>
              <a:t>메트릭</a:t>
            </a:r>
            <a:r>
              <a:rPr lang="ko-KR" altLang="en-US"/>
              <a:t> 값 커짐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0AAD3D-F224-AE15-733B-762664AEC967}"/>
              </a:ext>
            </a:extLst>
          </p:cNvPr>
          <p:cNvSpPr txBox="1"/>
          <p:nvPr/>
        </p:nvSpPr>
        <p:spPr>
          <a:xfrm>
            <a:off x="4722890" y="2563806"/>
            <a:ext cx="5341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+mn-ea"/>
              </a:rPr>
              <a:t>EIGRP</a:t>
            </a:r>
            <a:r>
              <a:rPr lang="ko-KR" altLang="en-US">
                <a:latin typeface="+mn-ea"/>
              </a:rPr>
              <a:t>는 경로 상 각 링크의 </a:t>
            </a:r>
            <a:r>
              <a:rPr lang="en-US" altLang="ko-KR">
                <a:latin typeface="+mn-ea"/>
              </a:rPr>
              <a:t>Delay</a:t>
            </a:r>
            <a:r>
              <a:rPr lang="ko-KR" altLang="en-US">
                <a:latin typeface="+mn-ea"/>
              </a:rPr>
              <a:t>를 모두 합한 값</a:t>
            </a:r>
            <a:endParaRPr lang="en-US" altLang="ko-KR">
              <a:latin typeface="+mn-ea"/>
            </a:endParaRPr>
          </a:p>
          <a:p>
            <a:r>
              <a:rPr lang="ko-KR" altLang="en-US" sz="1400"/>
              <a:t>경로 전체 </a:t>
            </a:r>
            <a:r>
              <a:rPr lang="en-US" altLang="ko-KR" sz="1400"/>
              <a:t>Delay </a:t>
            </a:r>
            <a:r>
              <a:rPr lang="ko-KR" altLang="en-US" sz="1400"/>
              <a:t>합계 </a:t>
            </a:r>
            <a:r>
              <a:rPr lang="en-US" altLang="ko-KR" sz="1400"/>
              <a:t>/ 10</a:t>
            </a:r>
            <a:endParaRPr lang="ko-KR" altLang="en-US" sz="140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2F99968-169F-1228-55A8-EF66D446F701}"/>
              </a:ext>
            </a:extLst>
          </p:cNvPr>
          <p:cNvCxnSpPr>
            <a:cxnSpLocks/>
          </p:cNvCxnSpPr>
          <p:nvPr/>
        </p:nvCxnSpPr>
        <p:spPr>
          <a:xfrm>
            <a:off x="360629" y="1522523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851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7DC0C-3E97-A136-517C-92114AFA8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92" y="231989"/>
            <a:ext cx="10515600" cy="982413"/>
          </a:xfrm>
        </p:spPr>
        <p:txBody>
          <a:bodyPr>
            <a:normAutofit/>
          </a:bodyPr>
          <a:lstStyle/>
          <a:p>
            <a:r>
              <a:rPr lang="en-US" altLang="ko-KR" sz="6000" b="1"/>
              <a:t>AS number / PID</a:t>
            </a:r>
            <a:endParaRPr lang="ko-KR" altLang="en-US" sz="6000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140C94-15A5-EC84-D367-4755B19D2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92" y="1491882"/>
            <a:ext cx="10515600" cy="50804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/>
              <a:t>자율 시스템 번호</a:t>
            </a:r>
            <a:r>
              <a:rPr lang="en-US" altLang="ko-KR"/>
              <a:t>(Autonomous System Number) </a:t>
            </a:r>
            <a:r>
              <a:rPr lang="ko-KR" altLang="en-US"/>
              <a:t>사용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동일 관리 받는 라우터들의 집합 번호</a:t>
            </a:r>
          </a:p>
          <a:p>
            <a:pPr marL="0" indent="0">
              <a:buNone/>
            </a:pPr>
            <a:r>
              <a:rPr lang="en-US" altLang="ko-KR"/>
              <a:t>RIP</a:t>
            </a:r>
            <a:r>
              <a:rPr lang="ko-KR" altLang="en-US"/>
              <a:t>와 다르게 한 라우터에서 </a:t>
            </a:r>
            <a:r>
              <a:rPr lang="en-US" altLang="ko-KR"/>
              <a:t>PID(AS)</a:t>
            </a:r>
            <a:r>
              <a:rPr lang="ko-KR" altLang="en-US"/>
              <a:t>가 다른 여러 개의 </a:t>
            </a:r>
            <a:r>
              <a:rPr lang="en-US" altLang="ko-KR"/>
              <a:t>EIGRP</a:t>
            </a:r>
            <a:r>
              <a:rPr lang="ko-KR" altLang="en-US" b="1"/>
              <a:t> </a:t>
            </a:r>
            <a:r>
              <a:rPr lang="ko-KR" altLang="en-US"/>
              <a:t>동작 가능</a:t>
            </a:r>
          </a:p>
          <a:p>
            <a:pPr marL="0" indent="0">
              <a:buNone/>
            </a:pPr>
            <a:br>
              <a:rPr lang="ko-KR" altLang="en-US"/>
            </a:br>
            <a:r>
              <a:rPr lang="ko-KR" altLang="en-US"/>
              <a:t>사용되는 이유</a:t>
            </a:r>
          </a:p>
          <a:p>
            <a:pPr fontAlgn="base"/>
            <a:r>
              <a:rPr lang="ko-KR" altLang="en-US"/>
              <a:t>동일 장비에서 여러 개의 </a:t>
            </a:r>
            <a:r>
              <a:rPr lang="en-US" altLang="ko-KR"/>
              <a:t>EIGRP </a:t>
            </a:r>
            <a:r>
              <a:rPr lang="ko-KR" altLang="en-US"/>
              <a:t>프로세스를 구분하기 위해</a:t>
            </a:r>
            <a:endParaRPr lang="en-US" altLang="ko-KR"/>
          </a:p>
          <a:p>
            <a:pPr fontAlgn="base"/>
            <a:r>
              <a:rPr lang="ko-KR" altLang="en-US"/>
              <a:t>서로 다른 </a:t>
            </a:r>
            <a:r>
              <a:rPr lang="en-US" altLang="ko-KR"/>
              <a:t>PID(=</a:t>
            </a:r>
            <a:r>
              <a:rPr lang="ko-KR" altLang="en-US"/>
              <a:t>다른 </a:t>
            </a:r>
            <a:r>
              <a:rPr lang="en-US" altLang="ko-KR"/>
              <a:t>AS </a:t>
            </a:r>
            <a:r>
              <a:rPr lang="ko-KR" altLang="en-US"/>
              <a:t>번호</a:t>
            </a:r>
            <a:r>
              <a:rPr lang="en-US" altLang="ko-KR"/>
              <a:t>)</a:t>
            </a:r>
            <a:r>
              <a:rPr lang="ko-KR" altLang="en-US"/>
              <a:t>의 </a:t>
            </a:r>
            <a:r>
              <a:rPr lang="en-US" altLang="ko-KR"/>
              <a:t>EIGRP</a:t>
            </a:r>
            <a:r>
              <a:rPr lang="ko-KR" altLang="en-US"/>
              <a:t>는 </a:t>
            </a:r>
            <a:r>
              <a:rPr lang="en-US" altLang="ko-KR"/>
              <a:t>neighbor </a:t>
            </a:r>
            <a:r>
              <a:rPr lang="ko-KR" altLang="en-US"/>
              <a:t>불가</a:t>
            </a:r>
          </a:p>
          <a:p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E956FED-FF83-79D9-A027-E59B07362266}"/>
              </a:ext>
            </a:extLst>
          </p:cNvPr>
          <p:cNvCxnSpPr>
            <a:cxnSpLocks/>
          </p:cNvCxnSpPr>
          <p:nvPr/>
        </p:nvCxnSpPr>
        <p:spPr>
          <a:xfrm>
            <a:off x="225376" y="1268111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BD0325E-3FF1-9918-32D5-4C82FC6EE4AA}"/>
              </a:ext>
            </a:extLst>
          </p:cNvPr>
          <p:cNvCxnSpPr>
            <a:cxnSpLocks/>
          </p:cNvCxnSpPr>
          <p:nvPr/>
        </p:nvCxnSpPr>
        <p:spPr>
          <a:xfrm>
            <a:off x="371192" y="1919335"/>
            <a:ext cx="277036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7A148994-6E0C-3C72-BA17-D7AA96FF89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1416361"/>
              </p:ext>
            </p:extLst>
          </p:nvPr>
        </p:nvGraphicFramePr>
        <p:xfrm>
          <a:off x="225376" y="5671848"/>
          <a:ext cx="11802980" cy="614680"/>
        </p:xfrm>
        <a:graphic>
          <a:graphicData uri="http://schemas.openxmlformats.org/drawingml/2006/table">
            <a:tbl>
              <a:tblPr/>
              <a:tblGrid>
                <a:gridCol w="11802980">
                  <a:extLst>
                    <a:ext uri="{9D8B030D-6E8A-4147-A177-3AD203B41FA5}">
                      <a16:colId xmlns:a16="http://schemas.microsoft.com/office/drawing/2014/main" val="3292739576"/>
                    </a:ext>
                  </a:extLst>
                </a:gridCol>
              </a:tblGrid>
              <a:tr h="55983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32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Router(config)# router </a:t>
                      </a:r>
                      <a:r>
                        <a:rPr lang="en-US" sz="3200" b="0" i="0" u="none" strike="noStrike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eigrp</a:t>
                      </a:r>
                      <a:r>
                        <a:rPr lang="en-US" sz="32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 [AS-number]</a:t>
                      </a:r>
                      <a:endParaRPr lang="en-US" sz="320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841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7067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77AFD2-6A91-2A60-94C7-B17E6A26E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86305"/>
            <a:ext cx="10515600" cy="949168"/>
          </a:xfrm>
        </p:spPr>
        <p:txBody>
          <a:bodyPr>
            <a:noAutofit/>
          </a:bodyPr>
          <a:lstStyle/>
          <a:p>
            <a:r>
              <a:rPr lang="ko-KR" altLang="en-US" sz="5400" b="1"/>
              <a:t>한 라우터에서 여러 개 사용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49BB34-7B8B-596E-B881-A4B890BC9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628" y="1493114"/>
            <a:ext cx="11682743" cy="4843031"/>
          </a:xfrm>
        </p:spPr>
        <p:txBody>
          <a:bodyPr>
            <a:noAutofit/>
          </a:bodyPr>
          <a:lstStyle/>
          <a:p>
            <a:pPr fontAlgn="base">
              <a:lnSpc>
                <a:spcPct val="120000"/>
              </a:lnSpc>
            </a:pPr>
            <a:r>
              <a:rPr lang="ko-KR" altLang="en-US" sz="3200"/>
              <a:t>네트워크 분리</a:t>
            </a:r>
            <a:endParaRPr lang="en-US" altLang="ko-KR" sz="2000"/>
          </a:p>
          <a:p>
            <a:pPr marL="0" indent="0" fontAlgn="base">
              <a:lnSpc>
                <a:spcPct val="120000"/>
              </a:lnSpc>
              <a:buNone/>
            </a:pPr>
            <a:r>
              <a:rPr lang="en-US" altLang="ko-KR" sz="2000"/>
              <a:t>  - </a:t>
            </a: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하나의 라우터에서 서로 섞이면 안되는 네트워크를 운영할 때</a:t>
            </a:r>
            <a:endParaRPr lang="en-US" altLang="ko-KR" sz="800"/>
          </a:p>
          <a:p>
            <a:pPr fontAlgn="base">
              <a:lnSpc>
                <a:spcPct val="120000"/>
              </a:lnSpc>
            </a:pPr>
            <a:r>
              <a:rPr lang="ko-KR" altLang="en-US" sz="3200"/>
              <a:t>가상 라우팅 테이블</a:t>
            </a:r>
            <a:r>
              <a:rPr lang="en-US" altLang="ko-KR" sz="3200"/>
              <a:t>(VRF)</a:t>
            </a:r>
            <a:r>
              <a:rPr lang="ko-KR" altLang="en-US" sz="3200"/>
              <a:t>과 함께 사용</a:t>
            </a:r>
            <a:endParaRPr lang="en-US" altLang="ko-KR" sz="2000"/>
          </a:p>
          <a:p>
            <a:pPr marL="0" indent="0" fontAlgn="base">
              <a:lnSpc>
                <a:spcPct val="70000"/>
              </a:lnSpc>
              <a:buNone/>
            </a:pPr>
            <a:r>
              <a:rPr lang="en-US" altLang="ko-KR" sz="2000"/>
              <a:t> - </a:t>
            </a:r>
            <a:r>
              <a:rPr lang="en-US" altLang="ko-KR" sz="2000">
                <a:solidFill>
                  <a:schemeClr val="tx1">
                    <a:lumMod val="75000"/>
                    <a:lumOff val="25000"/>
                  </a:schemeClr>
                </a:solidFill>
              </a:rPr>
              <a:t>VRF(Virtual Routing and Forwarding)</a:t>
            </a: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200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 하나의 라우터 안에 여러 개의 독립된 라우팅 테이블을 </a:t>
            </a:r>
            <a:endParaRPr lang="en-US" altLang="ko-KR" sz="2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fontAlgn="base">
              <a:lnSpc>
                <a:spcPct val="70000"/>
              </a:lnSpc>
              <a:buNone/>
            </a:pPr>
            <a:r>
              <a:rPr lang="en-US" altLang="ko-KR" sz="200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만들어 서로 완전히 분리된 네트워크처럼 동작하게 하는 기술</a:t>
            </a:r>
            <a:endParaRPr lang="en-US" altLang="ko-KR" sz="8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base">
              <a:lnSpc>
                <a:spcPct val="120000"/>
              </a:lnSpc>
            </a:pPr>
            <a:r>
              <a:rPr lang="ko-KR" altLang="en-US" sz="3200"/>
              <a:t>재분배</a:t>
            </a:r>
            <a:r>
              <a:rPr lang="en-US" altLang="ko-KR" sz="3200"/>
              <a:t> </a:t>
            </a:r>
            <a:r>
              <a:rPr lang="ko-KR" altLang="en-US" sz="3200"/>
              <a:t>정책 구성</a:t>
            </a:r>
            <a:endParaRPr lang="en-US" altLang="ko-KR" sz="2000"/>
          </a:p>
          <a:p>
            <a:pPr marL="0" indent="0" fontAlgn="base">
              <a:lnSpc>
                <a:spcPct val="120000"/>
              </a:lnSpc>
              <a:buNone/>
            </a:pPr>
            <a:r>
              <a:rPr lang="en-US" altLang="ko-KR" sz="2000"/>
              <a:t>  - </a:t>
            </a: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서로 다른 </a:t>
            </a:r>
            <a:r>
              <a:rPr lang="en-US" altLang="ko-KR" sz="2000">
                <a:solidFill>
                  <a:schemeClr val="tx1">
                    <a:lumMod val="75000"/>
                    <a:lumOff val="25000"/>
                  </a:schemeClr>
                </a:solidFill>
              </a:rPr>
              <a:t>EIGRP</a:t>
            </a: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에서는 각각 라우팅 정보를 정책적으로 필터링하거나</a:t>
            </a:r>
            <a:r>
              <a:rPr lang="en-US" altLang="ko-KR" sz="20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변환해서 교환 가능</a:t>
            </a:r>
            <a:endParaRPr lang="en-US" altLang="ko-KR" sz="8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base">
              <a:lnSpc>
                <a:spcPct val="120000"/>
              </a:lnSpc>
            </a:pPr>
            <a:r>
              <a:rPr lang="en-US" altLang="ko-KR" sz="3200"/>
              <a:t>Migration </a:t>
            </a:r>
            <a:r>
              <a:rPr lang="ko-KR" altLang="en-US" sz="3200"/>
              <a:t>중 </a:t>
            </a:r>
            <a:r>
              <a:rPr lang="en-US" altLang="ko-KR" sz="3200"/>
              <a:t>AS </a:t>
            </a:r>
            <a:r>
              <a:rPr lang="ko-KR" altLang="en-US" sz="3200"/>
              <a:t>간 이동 작업 필요할 때</a:t>
            </a:r>
            <a:endParaRPr lang="en-US" altLang="ko-KR" sz="2000"/>
          </a:p>
          <a:p>
            <a:pPr marL="0" indent="0" fontAlgn="base">
              <a:lnSpc>
                <a:spcPct val="120000"/>
              </a:lnSpc>
              <a:buNone/>
            </a:pPr>
            <a:r>
              <a:rPr lang="en-US" altLang="ko-KR" sz="2000"/>
              <a:t>   - </a:t>
            </a:r>
            <a:r>
              <a:rPr lang="en-US" altLang="ko-KR" sz="2000">
                <a:solidFill>
                  <a:schemeClr val="tx1">
                    <a:lumMod val="75000"/>
                    <a:lumOff val="25000"/>
                  </a:schemeClr>
                </a:solidFill>
              </a:rPr>
              <a:t>AS → </a:t>
            </a: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새로운 </a:t>
            </a:r>
            <a:r>
              <a:rPr lang="en-US" altLang="ko-KR" sz="2000">
                <a:solidFill>
                  <a:schemeClr val="tx1">
                    <a:lumMod val="75000"/>
                    <a:lumOff val="25000"/>
                  </a:schemeClr>
                </a:solidFill>
              </a:rPr>
              <a:t>AS </a:t>
            </a: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로 네트워크를 옮겨야 할 때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56F7E15-EE1F-CBDD-F077-04E5851A9A26}"/>
              </a:ext>
            </a:extLst>
          </p:cNvPr>
          <p:cNvCxnSpPr>
            <a:cxnSpLocks/>
          </p:cNvCxnSpPr>
          <p:nvPr/>
        </p:nvCxnSpPr>
        <p:spPr>
          <a:xfrm>
            <a:off x="197667" y="1314293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707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D4CB60-14F2-115E-1DD4-E7CE0023C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2" y="453556"/>
            <a:ext cx="10515600" cy="725738"/>
          </a:xfrm>
        </p:spPr>
        <p:txBody>
          <a:bodyPr>
            <a:noAutofit/>
          </a:bodyPr>
          <a:lstStyle/>
          <a:p>
            <a:r>
              <a:rPr lang="ko-KR" altLang="en-US" sz="6000" b="1"/>
              <a:t>패킷 종류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D0E72F3-71E3-CC55-972D-CE4D4CA9C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676857"/>
              </p:ext>
            </p:extLst>
          </p:nvPr>
        </p:nvGraphicFramePr>
        <p:xfrm>
          <a:off x="240632" y="1524261"/>
          <a:ext cx="11710736" cy="5085085"/>
        </p:xfrm>
        <a:graphic>
          <a:graphicData uri="http://schemas.openxmlformats.org/drawingml/2006/table">
            <a:tbl>
              <a:tblPr/>
              <a:tblGrid>
                <a:gridCol w="2670200">
                  <a:extLst>
                    <a:ext uri="{9D8B030D-6E8A-4147-A177-3AD203B41FA5}">
                      <a16:colId xmlns:a16="http://schemas.microsoft.com/office/drawing/2014/main" val="612090064"/>
                    </a:ext>
                  </a:extLst>
                </a:gridCol>
                <a:gridCol w="9040536">
                  <a:extLst>
                    <a:ext uri="{9D8B030D-6E8A-4147-A177-3AD203B41FA5}">
                      <a16:colId xmlns:a16="http://schemas.microsoft.com/office/drawing/2014/main" val="508981802"/>
                    </a:ext>
                  </a:extLst>
                </a:gridCol>
              </a:tblGrid>
              <a:tr h="101701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af-ZA" sz="3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Hello</a:t>
                      </a:r>
                      <a:endParaRPr lang="af-ZA" sz="36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af-ZA" sz="3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Neighbor </a:t>
                      </a:r>
                      <a:r>
                        <a:rPr lang="ko-KR" altLang="en-US" sz="3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형성 및 유지</a:t>
                      </a:r>
                      <a:endParaRPr lang="ko-KR" altLang="en-US" sz="36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138969"/>
                  </a:ext>
                </a:extLst>
              </a:tr>
              <a:tr h="101701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af-ZA" sz="3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Update</a:t>
                      </a:r>
                      <a:endParaRPr lang="af-ZA" sz="36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3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변경된 라우팅 정보 전달</a:t>
                      </a:r>
                      <a:endParaRPr lang="ko-KR" altLang="en-US" sz="36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670889"/>
                  </a:ext>
                </a:extLst>
              </a:tr>
              <a:tr h="101701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af-ZA" sz="3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Query</a:t>
                      </a:r>
                      <a:endParaRPr lang="af-ZA" sz="36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altLang="en-US" sz="3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대체 경로 요청 </a:t>
                      </a:r>
                      <a:r>
                        <a:rPr lang="en-US" altLang="ko-KR" sz="3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af-ZA" sz="3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DUAL Trigger)</a:t>
                      </a:r>
                      <a:endParaRPr lang="af-ZA" sz="36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334192"/>
                  </a:ext>
                </a:extLst>
              </a:tr>
              <a:tr h="101701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af-ZA" sz="3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Reply</a:t>
                      </a:r>
                      <a:endParaRPr lang="af-ZA" sz="36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af-ZA" sz="3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Query</a:t>
                      </a:r>
                      <a:r>
                        <a:rPr lang="ko-KR" altLang="en-US" sz="3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에 대한 응답</a:t>
                      </a:r>
                      <a:endParaRPr lang="ko-KR" altLang="en-US" sz="36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451465"/>
                  </a:ext>
                </a:extLst>
              </a:tr>
              <a:tr h="101701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af-ZA" sz="3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ACK</a:t>
                      </a:r>
                      <a:endParaRPr lang="af-ZA" sz="36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af-ZA" sz="3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Update/Query/Reply </a:t>
                      </a:r>
                      <a:r>
                        <a:rPr lang="ko-KR" altLang="en-US" sz="3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패킷 확인</a:t>
                      </a:r>
                      <a:endParaRPr lang="ko-KR" altLang="en-US" sz="360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666973"/>
                  </a:ext>
                </a:extLst>
              </a:tr>
            </a:tbl>
          </a:graphicData>
        </a:graphic>
      </p:graphicFrame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3347A18-8C21-5B9F-CFC6-823D0ECE09B1}"/>
              </a:ext>
            </a:extLst>
          </p:cNvPr>
          <p:cNvCxnSpPr>
            <a:cxnSpLocks/>
          </p:cNvCxnSpPr>
          <p:nvPr/>
        </p:nvCxnSpPr>
        <p:spPr>
          <a:xfrm>
            <a:off x="112295" y="1295829"/>
            <a:ext cx="11839073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668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E9DBD-41D2-A20A-8C9C-2761D7157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6000" b="1"/>
              <a:t>Neighbor </a:t>
            </a:r>
            <a:r>
              <a:rPr lang="ko-KR" altLang="en-US" sz="6000" b="1"/>
              <a:t>자동 형성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04588E-682D-3A22-505B-F13026B02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798465"/>
            <a:ext cx="1219199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580"/>
              <a:t>라우팅 정보를 교환하기 전에 </a:t>
            </a:r>
            <a:r>
              <a:rPr lang="en-US" altLang="ko-KR" sz="2580"/>
              <a:t>hello </a:t>
            </a:r>
            <a:r>
              <a:rPr lang="ko-KR" altLang="en-US" sz="2580"/>
              <a:t>패킷을 보내 </a:t>
            </a:r>
            <a:r>
              <a:rPr lang="en-US" altLang="ko-KR" sz="2580"/>
              <a:t>neighbor </a:t>
            </a:r>
            <a:r>
              <a:rPr lang="ko-KR" altLang="en-US" sz="2580"/>
              <a:t>확인 및 인접 관계 구성</a:t>
            </a:r>
          </a:p>
          <a:p>
            <a:pPr marL="0" indent="0">
              <a:buNone/>
            </a:pPr>
            <a:r>
              <a:rPr lang="ko-KR" altLang="en-US" sz="2400" err="1">
                <a:solidFill>
                  <a:schemeClr val="tx1">
                    <a:lumMod val="65000"/>
                    <a:lumOff val="35000"/>
                  </a:schemeClr>
                </a:solidFill>
              </a:rPr>
              <a:t>헬로</a:t>
            </a:r>
            <a:r>
              <a:rPr lang="ko-KR" alt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 패킷은 </a:t>
            </a:r>
            <a:r>
              <a:rPr lang="en-US" altLang="ko-KR" sz="2400">
                <a:solidFill>
                  <a:schemeClr val="tx1">
                    <a:lumMod val="65000"/>
                    <a:lumOff val="35000"/>
                  </a:schemeClr>
                </a:solidFill>
              </a:rPr>
              <a:t>224.0.0.10</a:t>
            </a:r>
            <a:r>
              <a:rPr lang="ko-KR" alt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을 사용하고 네트워크</a:t>
            </a:r>
            <a:r>
              <a:rPr lang="en-US" altLang="ko-KR" sz="240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ko-KR" alt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링크</a:t>
            </a:r>
            <a:r>
              <a:rPr lang="en-US" altLang="ko-KR" sz="240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ko-KR" altLang="en-US" sz="2400">
                <a:solidFill>
                  <a:schemeClr val="tx1">
                    <a:lumMod val="65000"/>
                    <a:lumOff val="35000"/>
                  </a:schemeClr>
                </a:solidFill>
              </a:rPr>
              <a:t>에 따라 주기 다름</a:t>
            </a:r>
          </a:p>
          <a:p>
            <a:pPr marL="0" indent="0">
              <a:buNone/>
            </a:pPr>
            <a:endParaRPr lang="en-US" altLang="ko-KR" sz="2600"/>
          </a:p>
          <a:p>
            <a:pPr marL="0" indent="0">
              <a:buNone/>
            </a:pPr>
            <a:r>
              <a:rPr lang="en-US" altLang="ko-KR" sz="2600"/>
              <a:t>1.544Mbps </a:t>
            </a:r>
            <a:r>
              <a:rPr lang="ko-KR" altLang="en-US" sz="2600"/>
              <a:t>이하</a:t>
            </a:r>
            <a:r>
              <a:rPr lang="en-US" altLang="ko-KR" sz="2600"/>
              <a:t>(</a:t>
            </a:r>
            <a:r>
              <a:rPr lang="ko-KR" altLang="en-US" sz="2600" err="1"/>
              <a:t>프레임릴레이</a:t>
            </a:r>
            <a:r>
              <a:rPr lang="ko-KR" altLang="en-US" sz="2600"/>
              <a:t> 멀티포인트</a:t>
            </a:r>
            <a:r>
              <a:rPr lang="en-US" altLang="ko-KR" sz="2600"/>
              <a:t>): </a:t>
            </a:r>
            <a:r>
              <a:rPr lang="ko-KR" altLang="en-US" sz="2600" err="1"/>
              <a:t>헬로</a:t>
            </a:r>
            <a:r>
              <a:rPr lang="ko-KR" altLang="en-US" sz="2600"/>
              <a:t> 주기 </a:t>
            </a:r>
            <a:r>
              <a:rPr lang="en-US" altLang="ko-KR" sz="2600"/>
              <a:t>60</a:t>
            </a:r>
            <a:r>
              <a:rPr lang="ko-KR" altLang="en-US" sz="2600"/>
              <a:t>초 </a:t>
            </a:r>
            <a:r>
              <a:rPr lang="en-US" altLang="ko-KR" sz="2600"/>
              <a:t>/ </a:t>
            </a:r>
            <a:r>
              <a:rPr lang="ko-KR" altLang="en-US" sz="2600"/>
              <a:t>유지 시간 </a:t>
            </a:r>
            <a:r>
              <a:rPr lang="en-US" altLang="ko-KR" sz="2600"/>
              <a:t>180</a:t>
            </a:r>
            <a:r>
              <a:rPr lang="ko-KR" altLang="en-US" sz="2600"/>
              <a:t>초</a:t>
            </a:r>
          </a:p>
          <a:p>
            <a:pPr marL="0" indent="0">
              <a:buNone/>
            </a:pPr>
            <a:r>
              <a:rPr lang="en-US" altLang="ko-KR" sz="2600"/>
              <a:t>1.544Mbps </a:t>
            </a:r>
            <a:r>
              <a:rPr lang="ko-KR" altLang="en-US" sz="2600"/>
              <a:t>이상</a:t>
            </a:r>
            <a:r>
              <a:rPr lang="en-US" altLang="ko-KR" sz="2600"/>
              <a:t>(</a:t>
            </a:r>
            <a:r>
              <a:rPr lang="ko-KR" altLang="en-US" sz="2600"/>
              <a:t>이더넷</a:t>
            </a:r>
            <a:r>
              <a:rPr lang="en-US" altLang="ko-KR" sz="2600"/>
              <a:t>, T1, PPP, HDLC): </a:t>
            </a:r>
            <a:r>
              <a:rPr lang="ko-KR" altLang="en-US" sz="2600" err="1"/>
              <a:t>헬로</a:t>
            </a:r>
            <a:r>
              <a:rPr lang="ko-KR" altLang="en-US" sz="2600"/>
              <a:t> 주기 </a:t>
            </a:r>
            <a:r>
              <a:rPr lang="en-US" altLang="ko-KR" sz="2600"/>
              <a:t>5</a:t>
            </a:r>
            <a:r>
              <a:rPr lang="ko-KR" altLang="en-US" sz="2600"/>
              <a:t>초 </a:t>
            </a:r>
            <a:r>
              <a:rPr lang="en-US" altLang="ko-KR" sz="2600"/>
              <a:t>/ </a:t>
            </a:r>
            <a:r>
              <a:rPr lang="ko-KR" altLang="en-US" sz="2600"/>
              <a:t>유지 시간 </a:t>
            </a:r>
            <a:r>
              <a:rPr lang="en-US" altLang="ko-KR" sz="2600"/>
              <a:t>15</a:t>
            </a:r>
            <a:r>
              <a:rPr lang="ko-KR" altLang="en-US" sz="2600"/>
              <a:t>초</a:t>
            </a:r>
            <a:endParaRPr lang="en-US" altLang="ko-KR" sz="2600"/>
          </a:p>
          <a:p>
            <a:pPr marL="0" indent="0">
              <a:buNone/>
            </a:pPr>
            <a:endParaRPr lang="ko-KR" altLang="en-US" sz="2600"/>
          </a:p>
          <a:p>
            <a:pPr marL="0" indent="0">
              <a:buNone/>
            </a:pPr>
            <a:r>
              <a:rPr lang="ko-KR" altLang="en-US" sz="2600"/>
              <a:t>유지시간</a:t>
            </a:r>
            <a:r>
              <a:rPr lang="en-US" altLang="ko-KR" sz="2600"/>
              <a:t>: </a:t>
            </a:r>
            <a:r>
              <a:rPr lang="ko-KR" altLang="en-US" sz="2600"/>
              <a:t>활성화되어 있는 이웃을 비활성 상태로 간주하기 전에 </a:t>
            </a:r>
            <a:endParaRPr lang="en-US" altLang="ko-KR" sz="2600"/>
          </a:p>
          <a:p>
            <a:pPr marL="0" indent="0">
              <a:buNone/>
            </a:pPr>
            <a:r>
              <a:rPr lang="en-US" altLang="ko-KR" sz="2600"/>
              <a:t>              </a:t>
            </a:r>
            <a:r>
              <a:rPr lang="ko-KR" altLang="en-US" sz="2600" err="1"/>
              <a:t>헬로패킷</a:t>
            </a:r>
            <a:r>
              <a:rPr lang="ko-KR" altLang="en-US" sz="2600"/>
              <a:t> 기다리는 시간</a:t>
            </a:r>
          </a:p>
          <a:p>
            <a:pPr marL="0" indent="0">
              <a:buNone/>
            </a:pPr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8709A6D-9056-0D0C-AC89-607C476E4300}"/>
              </a:ext>
            </a:extLst>
          </p:cNvPr>
          <p:cNvCxnSpPr>
            <a:cxnSpLocks/>
          </p:cNvCxnSpPr>
          <p:nvPr/>
        </p:nvCxnSpPr>
        <p:spPr>
          <a:xfrm>
            <a:off x="297255" y="1504416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066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CBD33-D371-A7C0-A23D-9C74F69DC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9109"/>
          </a:xfrm>
        </p:spPr>
        <p:txBody>
          <a:bodyPr>
            <a:normAutofit/>
          </a:bodyPr>
          <a:lstStyle/>
          <a:p>
            <a:r>
              <a:rPr lang="en-US" altLang="ko-KR" sz="6000" b="1"/>
              <a:t>DUAL</a:t>
            </a:r>
            <a:endParaRPr lang="ko-KR" altLang="en-US" sz="6000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4242B8-EE7E-4B51-82B1-5F50B19E4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31"/>
            <a:ext cx="10515600" cy="4829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/>
              <a:t>DUAL(Diffusing Update Algorithm) </a:t>
            </a:r>
          </a:p>
          <a:p>
            <a:pPr marL="0" indent="0">
              <a:buNone/>
            </a:pPr>
            <a:r>
              <a:rPr lang="ko-KR" altLang="en-US"/>
              <a:t>소문에 의한 확산</a:t>
            </a:r>
            <a:endParaRPr lang="en-US" altLang="ko-KR"/>
          </a:p>
          <a:p>
            <a:pPr marL="0" indent="0">
              <a:buNone/>
            </a:pPr>
            <a:endParaRPr lang="ko-KR" altLang="en-US"/>
          </a:p>
          <a:p>
            <a:pPr marL="0" indent="0">
              <a:buNone/>
            </a:pPr>
            <a:r>
              <a:rPr lang="ko-KR" altLang="en-US"/>
              <a:t>최적 경로를 선출하는 알고리즘</a:t>
            </a:r>
            <a:r>
              <a:rPr lang="en-US" altLang="ko-KR"/>
              <a:t> / </a:t>
            </a:r>
            <a:r>
              <a:rPr lang="ko-KR" altLang="en-US"/>
              <a:t>루프 방지 보장</a:t>
            </a:r>
            <a:endParaRPr lang="en-US" altLang="ko-KR"/>
          </a:p>
          <a:p>
            <a:pPr marL="0" indent="0" fontAlgn="base">
              <a:buNone/>
            </a:pPr>
            <a:r>
              <a:rPr lang="en-US" altLang="ko-KR"/>
              <a:t>Fast Convergence</a:t>
            </a:r>
          </a:p>
          <a:p>
            <a:pPr marL="0" indent="0" fontAlgn="base">
              <a:buNone/>
            </a:pPr>
            <a:endParaRPr lang="ko-KR" altLang="en-US"/>
          </a:p>
          <a:p>
            <a:pPr marL="0" indent="0" fontAlgn="base">
              <a:buNone/>
            </a:pPr>
            <a:r>
              <a:rPr lang="en-US" altLang="ko-KR"/>
              <a:t>Best Path(= Successor) </a:t>
            </a:r>
            <a:r>
              <a:rPr lang="ko-KR" altLang="en-US"/>
              <a:t>선택</a:t>
            </a:r>
          </a:p>
          <a:p>
            <a:pPr marL="0" indent="0" fontAlgn="base">
              <a:buNone/>
            </a:pPr>
            <a:r>
              <a:rPr lang="en-US" altLang="ko-KR"/>
              <a:t>Backup Path(= Feasible Successor) </a:t>
            </a:r>
            <a:r>
              <a:rPr lang="ko-KR" altLang="en-US"/>
              <a:t>유지 → 빠른 수렴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398D09D-1899-6BAD-6364-7618B01B1E69}"/>
              </a:ext>
            </a:extLst>
          </p:cNvPr>
          <p:cNvCxnSpPr>
            <a:cxnSpLocks/>
          </p:cNvCxnSpPr>
          <p:nvPr/>
        </p:nvCxnSpPr>
        <p:spPr>
          <a:xfrm>
            <a:off x="197667" y="1314293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874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746EE-1EC2-CF76-91CD-8211FB0F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8571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6000" b="1"/>
              <a:t>DUAL</a:t>
            </a:r>
            <a:endParaRPr lang="ko-KR" altLang="en-US" sz="6000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4A42B3-C4A6-11B1-4D23-43B8514FA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255" y="1825625"/>
            <a:ext cx="11761961" cy="4351338"/>
          </a:xfrm>
        </p:spPr>
        <p:txBody>
          <a:bodyPr/>
          <a:lstStyle/>
          <a:p>
            <a:r>
              <a:rPr lang="en-US" altLang="ko-KR">
                <a:solidFill>
                  <a:srgbClr val="FF0000"/>
                </a:solidFill>
              </a:rPr>
              <a:t>FD(Feasible Distance)</a:t>
            </a:r>
            <a:r>
              <a:rPr lang="en-US" altLang="ko-KR"/>
              <a:t>: Routing Table</a:t>
            </a:r>
            <a:r>
              <a:rPr lang="ko-KR" altLang="en-US"/>
              <a:t>에 </a:t>
            </a:r>
            <a:r>
              <a:rPr lang="en-US" altLang="ko-KR"/>
              <a:t>Successor</a:t>
            </a:r>
            <a:r>
              <a:rPr lang="ko-KR" altLang="en-US"/>
              <a:t>로 기록</a:t>
            </a:r>
            <a:endParaRPr lang="en-US" altLang="ko-KR"/>
          </a:p>
          <a:p>
            <a:endParaRPr lang="en-US" altLang="ko-KR"/>
          </a:p>
          <a:p>
            <a:r>
              <a:rPr lang="en-US" altLang="ko-KR">
                <a:solidFill>
                  <a:srgbClr val="FF0000"/>
                </a:solidFill>
              </a:rPr>
              <a:t>AD(Advertised Distance)</a:t>
            </a:r>
            <a:r>
              <a:rPr lang="en-US" altLang="ko-KR"/>
              <a:t>: </a:t>
            </a:r>
            <a:r>
              <a:rPr lang="ko-KR" altLang="en-US"/>
              <a:t>이웃 라우터가 광고한 그 목적지까지의 </a:t>
            </a:r>
            <a:r>
              <a:rPr lang="en-US" altLang="ko-KR"/>
              <a:t>cost</a:t>
            </a:r>
          </a:p>
          <a:p>
            <a:endParaRPr lang="en-US" altLang="ko-KR"/>
          </a:p>
          <a:p>
            <a:r>
              <a:rPr lang="en-US" altLang="ko-KR">
                <a:solidFill>
                  <a:srgbClr val="FF0000"/>
                </a:solidFill>
              </a:rPr>
              <a:t>RD(Reported Distance)</a:t>
            </a:r>
            <a:r>
              <a:rPr lang="en-US" altLang="ko-KR"/>
              <a:t>: AD</a:t>
            </a:r>
            <a:r>
              <a:rPr lang="ko-KR" altLang="en-US"/>
              <a:t>와 의미 </a:t>
            </a:r>
            <a:r>
              <a:rPr lang="en-US" altLang="ko-KR"/>
              <a:t>same</a:t>
            </a:r>
          </a:p>
          <a:p>
            <a:pPr marL="0" indent="0">
              <a:buNone/>
            </a:pPr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FB010A7-A514-36F4-6D68-0F29DE254BD7}"/>
              </a:ext>
            </a:extLst>
          </p:cNvPr>
          <p:cNvCxnSpPr>
            <a:cxnSpLocks/>
          </p:cNvCxnSpPr>
          <p:nvPr/>
        </p:nvCxnSpPr>
        <p:spPr>
          <a:xfrm>
            <a:off x="297255" y="1531576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DDE4E36-7A31-868C-347A-DA81939CF593}"/>
              </a:ext>
            </a:extLst>
          </p:cNvPr>
          <p:cNvCxnSpPr>
            <a:cxnSpLocks/>
          </p:cNvCxnSpPr>
          <p:nvPr/>
        </p:nvCxnSpPr>
        <p:spPr>
          <a:xfrm>
            <a:off x="1195057" y="2254313"/>
            <a:ext cx="12674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525BF7-49C5-DA4C-1CAB-4CFEB77F8A9C}"/>
              </a:ext>
            </a:extLst>
          </p:cNvPr>
          <p:cNvSpPr txBox="1"/>
          <p:nvPr/>
        </p:nvSpPr>
        <p:spPr>
          <a:xfrm>
            <a:off x="1077362" y="2254313"/>
            <a:ext cx="3431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Feasible: </a:t>
            </a:r>
            <a:r>
              <a:rPr lang="ko-KR" altLang="en-US"/>
              <a:t>실행 가능한</a:t>
            </a:r>
            <a:r>
              <a:rPr lang="en-US" altLang="ko-KR"/>
              <a:t>/</a:t>
            </a:r>
            <a:r>
              <a:rPr lang="ko-KR" altLang="en-US"/>
              <a:t>실용적인</a:t>
            </a:r>
          </a:p>
        </p:txBody>
      </p:sp>
    </p:spTree>
    <p:extLst>
      <p:ext uri="{BB962C8B-B14F-4D97-AF65-F5344CB8AC3E}">
        <p14:creationId xmlns:p14="http://schemas.microsoft.com/office/powerpoint/2010/main" val="674684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388C2-AA73-EB18-E4BE-561A19D0D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5685A9-4166-221A-6D64-5C710AE0B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36" y="13358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6000" b="1"/>
              <a:t>DUAL : Successor </a:t>
            </a:r>
            <a:r>
              <a:rPr lang="ko-KR" altLang="en-US" sz="6000" b="1"/>
              <a:t>선정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EF25FD-67CA-AB7C-69B4-0D6F78A26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9002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/>
              <a:t>Successor</a:t>
            </a:r>
            <a:r>
              <a:rPr lang="ko-KR" altLang="en-US"/>
              <a:t>는 </a:t>
            </a:r>
            <a:r>
              <a:rPr lang="en-US" altLang="ko-KR"/>
              <a:t>FD</a:t>
            </a:r>
            <a:r>
              <a:rPr lang="ko-KR" altLang="en-US"/>
              <a:t>가 가장 낮은 경로</a:t>
            </a:r>
            <a:r>
              <a:rPr lang="en-US" altLang="ko-KR"/>
              <a:t>(Topology Table </a:t>
            </a:r>
            <a:r>
              <a:rPr lang="ko-KR" altLang="en-US"/>
              <a:t>참조</a:t>
            </a:r>
            <a:r>
              <a:rPr lang="en-US" altLang="ko-KR"/>
              <a:t>)</a:t>
            </a:r>
          </a:p>
          <a:p>
            <a:pPr marL="0" indent="0">
              <a:buNone/>
            </a:pPr>
            <a:r>
              <a:rPr lang="en-US" altLang="ko-KR" sz="2000"/>
              <a:t>Topology Table </a:t>
            </a:r>
            <a:r>
              <a:rPr lang="ko-KR" altLang="en-US" sz="2000"/>
              <a:t>검사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FD</a:t>
            </a:r>
            <a:r>
              <a:rPr lang="ko-KR" altLang="en-US" sz="2000"/>
              <a:t>가 가장 작은 경로 선택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Routing Table</a:t>
            </a:r>
            <a:r>
              <a:rPr lang="ko-KR" altLang="en-US" sz="2000"/>
              <a:t>에 등록</a:t>
            </a:r>
            <a:endParaRPr lang="en-US" altLang="ko-KR" sz="2000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FS(Feasible Successor) </a:t>
            </a:r>
            <a:r>
              <a:rPr lang="ko-KR" altLang="en-US"/>
              <a:t>조건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AD(</a:t>
            </a:r>
            <a:r>
              <a:rPr lang="ko-KR" altLang="en-US"/>
              <a:t>이웃이 알려준 경로</a:t>
            </a:r>
            <a:r>
              <a:rPr lang="en-US" altLang="ko-KR"/>
              <a:t>) &lt; FD(</a:t>
            </a:r>
            <a:r>
              <a:rPr lang="ko-KR" altLang="en-US"/>
              <a:t>내가 알고 있는 경로</a:t>
            </a:r>
            <a:r>
              <a:rPr lang="en-US" altLang="ko-KR"/>
              <a:t>)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en-US"/>
              <a:t>루프 발생 가능성 </a:t>
            </a:r>
            <a:r>
              <a:rPr lang="en-US" altLang="ko-KR"/>
              <a:t>x</a:t>
            </a:r>
          </a:p>
          <a:p>
            <a:pPr marL="0" indent="0">
              <a:buNone/>
            </a:pPr>
            <a:r>
              <a:rPr lang="ko-KR" altLang="en-US"/>
              <a:t>백업 경로로 </a:t>
            </a:r>
            <a:r>
              <a:rPr lang="en-US" altLang="ko-KR"/>
              <a:t>Topology Table</a:t>
            </a:r>
            <a:r>
              <a:rPr lang="ko-KR" altLang="en-US"/>
              <a:t>에 저장</a:t>
            </a:r>
            <a:endParaRPr lang="en-US" altLang="ko-KR"/>
          </a:p>
          <a:p>
            <a:pPr marL="0" indent="0">
              <a:buNone/>
            </a:pPr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0126877-0367-5765-A07D-E300CCAD25B1}"/>
              </a:ext>
            </a:extLst>
          </p:cNvPr>
          <p:cNvCxnSpPr>
            <a:cxnSpLocks/>
          </p:cNvCxnSpPr>
          <p:nvPr/>
        </p:nvCxnSpPr>
        <p:spPr>
          <a:xfrm>
            <a:off x="215774" y="1459148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129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C9B18D5-36A4-B9B3-75FA-F9DE1FA3E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232" y="956131"/>
            <a:ext cx="8613536" cy="59018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359CD3-4102-6A76-FFBA-6AAE0341D78D}"/>
              </a:ext>
            </a:extLst>
          </p:cNvPr>
          <p:cNvSpPr txBox="1"/>
          <p:nvPr/>
        </p:nvSpPr>
        <p:spPr>
          <a:xfrm>
            <a:off x="805759" y="144856"/>
            <a:ext cx="22543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/>
              <a:t>DUAL</a:t>
            </a:r>
            <a:endParaRPr lang="ko-KR" altLang="en-US" sz="6000" b="1"/>
          </a:p>
        </p:txBody>
      </p:sp>
    </p:spTree>
    <p:extLst>
      <p:ext uri="{BB962C8B-B14F-4D97-AF65-F5344CB8AC3E}">
        <p14:creationId xmlns:p14="http://schemas.microsoft.com/office/powerpoint/2010/main" val="1787005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59B7CA-3DA4-07EF-91CE-3965383C1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6000" b="1"/>
              <a:t>두 가지 업데이트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D9C83B-FEB1-2E5E-FD88-E9BA50476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/>
              <a:t>RIP</a:t>
            </a:r>
            <a:r>
              <a:rPr lang="ko-KR" altLang="en-US"/>
              <a:t>랑 다르게 라우팅 테이블 전체를 일정 주기로 </a:t>
            </a:r>
            <a:r>
              <a:rPr lang="ko-KR" altLang="en-US" err="1"/>
              <a:t>이웃라우터에게</a:t>
            </a:r>
            <a:r>
              <a:rPr lang="ko-KR" altLang="en-US"/>
              <a:t> 전송 </a:t>
            </a:r>
            <a:r>
              <a:rPr lang="en-US" altLang="ko-KR"/>
              <a:t>x</a:t>
            </a:r>
            <a:endParaRPr lang="ko-KR" altLang="en-US"/>
          </a:p>
          <a:p>
            <a:pPr marL="0" indent="0">
              <a:buNone/>
            </a:pPr>
            <a:br>
              <a:rPr lang="ko-KR" altLang="en-US"/>
            </a:br>
            <a:r>
              <a:rPr lang="ko-KR" altLang="en-US"/>
              <a:t>대신 </a:t>
            </a:r>
            <a:r>
              <a:rPr lang="en-US" altLang="ko-KR"/>
              <a:t>2</a:t>
            </a:r>
            <a:r>
              <a:rPr lang="ko-KR" altLang="en-US"/>
              <a:t>가지 업데이트 실행</a:t>
            </a:r>
          </a:p>
          <a:p>
            <a:pPr marL="0" indent="0" fontAlgn="base">
              <a:buNone/>
            </a:pPr>
            <a:r>
              <a:rPr lang="ko-KR" altLang="en-US"/>
              <a:t>부분적 업데이트</a:t>
            </a:r>
            <a:r>
              <a:rPr lang="en-US" altLang="ko-KR"/>
              <a:t>: </a:t>
            </a:r>
            <a:r>
              <a:rPr lang="ko-KR" altLang="en-US"/>
              <a:t>특정 경로에 변화 → 그 변경 부분만 업데이트</a:t>
            </a:r>
          </a:p>
          <a:p>
            <a:pPr marL="0" indent="0" fontAlgn="base">
              <a:buNone/>
            </a:pPr>
            <a:r>
              <a:rPr lang="ko-KR" altLang="en-US"/>
              <a:t>제한된 업데이트</a:t>
            </a:r>
            <a:r>
              <a:rPr lang="en-US" altLang="ko-KR"/>
              <a:t>: </a:t>
            </a:r>
            <a:r>
              <a:rPr lang="ko-KR" altLang="en-US"/>
              <a:t>부분적 업데이트에 영향을 받는 라우터만 업데이트 </a:t>
            </a:r>
          </a:p>
          <a:p>
            <a:pPr marL="0" indent="0">
              <a:buNone/>
            </a:pPr>
            <a:r>
              <a:rPr lang="ko-KR" altLang="en-US"/>
              <a:t>→ 이게 좋은 점 </a:t>
            </a:r>
            <a:r>
              <a:rPr lang="en-US" altLang="ko-KR"/>
              <a:t>: </a:t>
            </a:r>
            <a:r>
              <a:rPr lang="ko-KR" altLang="en-US"/>
              <a:t>필요한 정보만 업데이트 → 업데이트에 소요되는 네트워크 자원 최소화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CB86302-CDEA-7CFB-F24C-371B2FE203FE}"/>
              </a:ext>
            </a:extLst>
          </p:cNvPr>
          <p:cNvCxnSpPr>
            <a:cxnSpLocks/>
          </p:cNvCxnSpPr>
          <p:nvPr/>
        </p:nvCxnSpPr>
        <p:spPr>
          <a:xfrm>
            <a:off x="297255" y="1513470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78D2706-7A61-986C-80F2-EC09043D1714}"/>
              </a:ext>
            </a:extLst>
          </p:cNvPr>
          <p:cNvSpPr txBox="1"/>
          <p:nvPr/>
        </p:nvSpPr>
        <p:spPr>
          <a:xfrm>
            <a:off x="4925085" y="5477347"/>
            <a:ext cx="5884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C00000"/>
                </a:solidFill>
              </a:rPr>
              <a:t>Frame-relay</a:t>
            </a:r>
            <a:r>
              <a:rPr lang="ko-KR" altLang="en-US">
                <a:solidFill>
                  <a:srgbClr val="C00000"/>
                </a:solidFill>
              </a:rPr>
              <a:t>같이 전용 회선을 사용하는 경우 아주 </a:t>
            </a:r>
            <a:r>
              <a:rPr lang="en-US" altLang="ko-KR">
                <a:solidFill>
                  <a:srgbClr val="C00000"/>
                </a:solidFill>
              </a:rPr>
              <a:t>good</a:t>
            </a:r>
            <a:endParaRPr lang="ko-KR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117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B83B78-47CB-7E38-62FD-10A5EB2F5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099" y="257017"/>
            <a:ext cx="10515600" cy="848039"/>
          </a:xfrm>
        </p:spPr>
        <p:txBody>
          <a:bodyPr>
            <a:noAutofit/>
          </a:bodyPr>
          <a:lstStyle/>
          <a:p>
            <a:r>
              <a:rPr lang="en-US" altLang="ko-KR" sz="6000" b="1"/>
              <a:t>Split-horizon</a:t>
            </a:r>
            <a:endParaRPr lang="ko-KR" altLang="en-US" sz="6000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D60DF9-5941-7257-7025-92D7E34CD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099" y="1394858"/>
            <a:ext cx="10515600" cy="5463141"/>
          </a:xfrm>
        </p:spPr>
        <p:txBody>
          <a:bodyPr/>
          <a:lstStyle/>
          <a:p>
            <a:pPr marL="0" indent="0">
              <a:buNone/>
            </a:pPr>
            <a:r>
              <a:rPr lang="ko-KR" altLang="en-US"/>
              <a:t>동작 목적</a:t>
            </a:r>
            <a:endParaRPr lang="en-US" altLang="ko-KR"/>
          </a:p>
          <a:p>
            <a:r>
              <a:rPr lang="en-US" altLang="ko-KR" sz="2000"/>
              <a:t>Hub-and-Spoke</a:t>
            </a:r>
          </a:p>
          <a:p>
            <a:r>
              <a:rPr lang="en-US" altLang="ko-KR" sz="2000"/>
              <a:t>Multipoint NBMA</a:t>
            </a:r>
          </a:p>
          <a:p>
            <a:r>
              <a:rPr lang="en-US" altLang="ko-KR" sz="2000"/>
              <a:t>Frame Relay</a:t>
            </a:r>
          </a:p>
          <a:p>
            <a:pPr marL="0" indent="0">
              <a:buNone/>
            </a:pPr>
            <a:r>
              <a:rPr lang="ko-KR" altLang="en-US" sz="2000"/>
              <a:t>   등등</a:t>
            </a:r>
            <a:r>
              <a:rPr lang="en-US" altLang="ko-KR" sz="2000"/>
              <a:t>,,,</a:t>
            </a:r>
          </a:p>
          <a:p>
            <a:pPr marL="0" indent="0">
              <a:buNone/>
            </a:pPr>
            <a:endParaRPr lang="en-US" altLang="ko-KR" sz="800"/>
          </a:p>
          <a:p>
            <a:pPr marL="0" indent="0">
              <a:buNone/>
            </a:pPr>
            <a:r>
              <a:rPr lang="ko-KR" altLang="en-US"/>
              <a:t>이웃 라우터로부터 라우팅 정보를 받은 인터페이스로 같은 정보를 보내면 루핑이 발생한다</a:t>
            </a:r>
            <a:r>
              <a:rPr lang="en-US" altLang="ko-KR"/>
              <a:t>. </a:t>
            </a:r>
          </a:p>
          <a:p>
            <a:pPr marL="0" indent="0">
              <a:buNone/>
            </a:pPr>
            <a:r>
              <a:rPr lang="en-US" altLang="ko-KR">
                <a:sym typeface="Wingdings" panose="05000000000000000000" pitchFamily="2" charset="2"/>
              </a:rPr>
              <a:t>  </a:t>
            </a:r>
            <a:r>
              <a:rPr lang="ko-KR" altLang="en-US">
                <a:sym typeface="Wingdings" panose="05000000000000000000" pitchFamily="2" charset="2"/>
              </a:rPr>
              <a:t>자동으로 </a:t>
            </a:r>
            <a:r>
              <a:rPr lang="en-US" altLang="ko-KR">
                <a:sym typeface="Wingdings" panose="05000000000000000000" pitchFamily="2" charset="2"/>
              </a:rPr>
              <a:t>split-horizon</a:t>
            </a:r>
            <a:r>
              <a:rPr lang="ko-KR" altLang="en-US">
                <a:sym typeface="Wingdings" panose="05000000000000000000" pitchFamily="2" charset="2"/>
              </a:rPr>
              <a:t>으로 차단되어있다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en-US"/>
              <a:t>꺼주는 명령어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Router(config-if)# no ip split-horizon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E8782E1-44E6-823C-A5E3-488AD2AAB182}"/>
              </a:ext>
            </a:extLst>
          </p:cNvPr>
          <p:cNvCxnSpPr>
            <a:cxnSpLocks/>
          </p:cNvCxnSpPr>
          <p:nvPr/>
        </p:nvCxnSpPr>
        <p:spPr>
          <a:xfrm>
            <a:off x="297255" y="1249957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543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549ECB-3CDA-E6D3-BBA4-C8DBC3FA1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8000" b="1"/>
              <a:t>테이블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E73380-57F0-2094-EEF5-39759777A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4800"/>
              <a:t>Topology Table</a:t>
            </a:r>
          </a:p>
          <a:p>
            <a:pPr marL="0" indent="0">
              <a:buNone/>
            </a:pPr>
            <a:r>
              <a:rPr lang="en-US" altLang="ko-KR" sz="4800"/>
              <a:t>Neighbor Table</a:t>
            </a:r>
          </a:p>
          <a:p>
            <a:pPr marL="0" indent="0">
              <a:buNone/>
            </a:pPr>
            <a:r>
              <a:rPr lang="en-US" altLang="ko-KR" sz="4800"/>
              <a:t>Routing Table</a:t>
            </a:r>
            <a:endParaRPr lang="ko-KR" altLang="en-US" sz="480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3F97860-6EF4-8F6A-2959-A83195EC2343}"/>
              </a:ext>
            </a:extLst>
          </p:cNvPr>
          <p:cNvCxnSpPr>
            <a:cxnSpLocks/>
          </p:cNvCxnSpPr>
          <p:nvPr/>
        </p:nvCxnSpPr>
        <p:spPr>
          <a:xfrm>
            <a:off x="297255" y="1728442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330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B2A626-AD4A-C6ED-1244-8FB596038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255" y="1064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6000" b="1"/>
              <a:t>설정 명령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4573E3E-B9AC-A13E-5AF7-08809106AD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0596618"/>
              </p:ext>
            </p:extLst>
          </p:nvPr>
        </p:nvGraphicFramePr>
        <p:xfrm>
          <a:off x="194510" y="1690688"/>
          <a:ext cx="11802980" cy="1623603"/>
        </p:xfrm>
        <a:graphic>
          <a:graphicData uri="http://schemas.openxmlformats.org/drawingml/2006/table">
            <a:tbl>
              <a:tblPr/>
              <a:tblGrid>
                <a:gridCol w="11802980">
                  <a:extLst>
                    <a:ext uri="{9D8B030D-6E8A-4147-A177-3AD203B41FA5}">
                      <a16:colId xmlns:a16="http://schemas.microsoft.com/office/drawing/2014/main" val="3292739576"/>
                    </a:ext>
                  </a:extLst>
                </a:gridCol>
              </a:tblGrid>
              <a:tr h="162360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32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Router(config)# router </a:t>
                      </a:r>
                      <a:r>
                        <a:rPr lang="en-US" sz="3200" b="0" i="0" u="none" strike="noStrike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eigrp</a:t>
                      </a:r>
                      <a:r>
                        <a:rPr lang="en-US" sz="32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 [AS-number]</a:t>
                      </a:r>
                      <a:br>
                        <a:rPr lang="en-US" sz="32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32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Router(config-router)#</a:t>
                      </a:r>
                      <a:r>
                        <a:rPr lang="en-US" sz="3200" b="0" i="0" u="none" strike="noStrike">
                          <a:solidFill>
                            <a:srgbClr val="FFFFAA"/>
                          </a:solidFill>
                          <a:effectLst/>
                          <a:latin typeface="Consolas" panose="020B0609020204030204" pitchFamily="49" charset="0"/>
                        </a:rPr>
                        <a:t> network </a:t>
                      </a:r>
                      <a:r>
                        <a:rPr lang="en-US" sz="32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3200" b="0" i="0" u="none" strike="noStrike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ip</a:t>
                      </a:r>
                      <a:r>
                        <a:rPr lang="en-US" sz="32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] [wildcard-mask]</a:t>
                      </a:r>
                      <a:br>
                        <a:rPr lang="en-US" sz="32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32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Router(config-router)# </a:t>
                      </a:r>
                      <a:r>
                        <a:rPr lang="en-US" sz="3200" b="0" i="0" u="none" strike="noStrike">
                          <a:solidFill>
                            <a:srgbClr val="FCC28C"/>
                          </a:solidFill>
                          <a:effectLst/>
                          <a:latin typeface="Consolas" panose="020B0609020204030204" pitchFamily="49" charset="0"/>
                        </a:rPr>
                        <a:t>no</a:t>
                      </a:r>
                      <a:r>
                        <a:rPr lang="en-US" sz="32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 auto-summary</a:t>
                      </a:r>
                      <a:endParaRPr lang="en-US" sz="320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841330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7C5D1B5-9154-D5DC-BF1C-FFABC736C732}"/>
              </a:ext>
            </a:extLst>
          </p:cNvPr>
          <p:cNvCxnSpPr>
            <a:cxnSpLocks/>
          </p:cNvCxnSpPr>
          <p:nvPr/>
        </p:nvCxnSpPr>
        <p:spPr>
          <a:xfrm>
            <a:off x="297255" y="1431988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3A943DBA-CFF3-872A-C86E-E3A1EC6CBC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2" t="7266" r="928" b="23236"/>
          <a:stretch>
            <a:fillRect/>
          </a:stretch>
        </p:blipFill>
        <p:spPr>
          <a:xfrm>
            <a:off x="194510" y="3390475"/>
            <a:ext cx="11818824" cy="336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246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A89FF7-8AA2-538D-30C9-F9530FFD9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6000" b="1"/>
              <a:t>Routing Table</a:t>
            </a:r>
            <a:endParaRPr lang="ko-KR" altLang="en-US" sz="6000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C4655C-B426-DE4B-18A4-DCE5FA58F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 </a:t>
            </a:r>
            <a:r>
              <a:rPr lang="ko-KR" altLang="en-US"/>
              <a:t>우리가 아는 그 라우팅 테이블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토폴로지 테이블을 참조하여 최종 선택된 경로만 저장</a:t>
            </a:r>
            <a:endParaRPr lang="en-US" altLang="ko-KR"/>
          </a:p>
          <a:p>
            <a:pPr marL="0" indent="0">
              <a:buNone/>
            </a:pPr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93CCAFA-03A4-051A-9CF7-2D21DC22A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28474"/>
              </p:ext>
            </p:extLst>
          </p:nvPr>
        </p:nvGraphicFramePr>
        <p:xfrm>
          <a:off x="644236" y="3429000"/>
          <a:ext cx="10515600" cy="9804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6753898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8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show</a:t>
                      </a:r>
                      <a:r>
                        <a:rPr lang="en-US" sz="2800" b="0" i="0" u="none" strike="noStrike">
                          <a:solidFill>
                            <a:srgbClr val="FFFFA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800" b="0" i="0" u="none" strike="noStrike" err="1">
                          <a:solidFill>
                            <a:srgbClr val="FFFFAA"/>
                          </a:solidFill>
                          <a:effectLst/>
                          <a:latin typeface="Consolas" panose="020B0609020204030204" pitchFamily="49" charset="0"/>
                        </a:rPr>
                        <a:t>ip</a:t>
                      </a:r>
                      <a:r>
                        <a:rPr lang="en-US" sz="2800" b="0" i="0" u="none" strike="noStrike">
                          <a:solidFill>
                            <a:srgbClr val="FFFFAA"/>
                          </a:solidFill>
                          <a:effectLst/>
                          <a:latin typeface="Consolas" panose="020B0609020204030204" pitchFamily="49" charset="0"/>
                        </a:rPr>
                        <a:t> route </a:t>
                      </a:r>
                      <a:r>
                        <a:rPr lang="en-US" sz="2800" b="0" i="0" u="none" strike="noStrike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eigrp</a:t>
                      </a:r>
                    </a:p>
                    <a:p>
                      <a:pPr rtl="0" fontAlgn="t">
                        <a:buNone/>
                      </a:pPr>
                      <a:r>
                        <a:rPr lang="en-US" sz="28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show</a:t>
                      </a:r>
                      <a:r>
                        <a:rPr lang="ko-KR" altLang="en-US" sz="28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2800" b="0" i="0" u="none" strike="noStrike">
                          <a:solidFill>
                            <a:srgbClr val="F5F5A4"/>
                          </a:solidFill>
                          <a:effectLst/>
                          <a:latin typeface="Consolas" panose="020B0609020204030204" pitchFamily="49" charset="0"/>
                        </a:rPr>
                        <a:t>ip</a:t>
                      </a:r>
                      <a:r>
                        <a:rPr lang="ko-KR" altLang="en-US" sz="2800" b="0" i="0" u="none" strike="noStrike">
                          <a:solidFill>
                            <a:srgbClr val="F5F5A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2800" b="0" i="0" u="none" strike="noStrike">
                          <a:solidFill>
                            <a:srgbClr val="F5F5A4"/>
                          </a:solidFill>
                          <a:effectLst/>
                          <a:latin typeface="Consolas" panose="020B0609020204030204" pitchFamily="49" charset="0"/>
                        </a:rPr>
                        <a:t>route</a:t>
                      </a:r>
                      <a:endParaRPr lang="en-US" sz="2800" b="0" i="0" u="none" strike="noStrike">
                        <a:solidFill>
                          <a:srgbClr val="F5F5A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973536"/>
                  </a:ext>
                </a:extLst>
              </a:tr>
            </a:tbl>
          </a:graphicData>
        </a:graphic>
      </p:graphicFrame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38B4194-5A58-D352-69B6-908FE0F83516}"/>
              </a:ext>
            </a:extLst>
          </p:cNvPr>
          <p:cNvCxnSpPr>
            <a:cxnSpLocks/>
          </p:cNvCxnSpPr>
          <p:nvPr/>
        </p:nvCxnSpPr>
        <p:spPr>
          <a:xfrm>
            <a:off x="297255" y="1594951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51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D0680-D14F-4D00-8E8F-6E56AD654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9D2792-C125-79D6-CD40-D09B8954B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255" y="7673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6000" b="1"/>
              <a:t>Neighbor Table(</a:t>
            </a:r>
            <a:r>
              <a:rPr lang="ko-KR" altLang="en-US" sz="6000" b="1"/>
              <a:t>이웃 목록</a:t>
            </a:r>
            <a:r>
              <a:rPr lang="en-US" altLang="ko-KR" sz="6000" b="1"/>
              <a:t>)</a:t>
            </a:r>
            <a:endParaRPr lang="ko-KR" altLang="en-US" sz="6000" b="1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8F4E07-5BFB-D144-326A-3428F75BE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255" y="1911906"/>
            <a:ext cx="10515600" cy="3750634"/>
          </a:xfrm>
        </p:spPr>
        <p:txBody>
          <a:bodyPr/>
          <a:lstStyle/>
          <a:p>
            <a:pPr marL="0" indent="0">
              <a:buNone/>
            </a:pPr>
            <a:r>
              <a:rPr lang="ko-KR" altLang="en-US" err="1"/>
              <a:t>헬로</a:t>
            </a:r>
            <a:r>
              <a:rPr lang="ko-KR" altLang="en-US"/>
              <a:t> 패킷으로 인접 라우터 자동 등록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이웃 </a:t>
            </a:r>
            <a:r>
              <a:rPr lang="ko-KR" altLang="en-US" err="1"/>
              <a:t>라우터끼리만</a:t>
            </a:r>
            <a:r>
              <a:rPr lang="ko-KR" altLang="en-US"/>
              <a:t> 라우팅 정보 교환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A000D9F-26E8-D359-F977-D49DE4908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552893"/>
              </p:ext>
            </p:extLst>
          </p:nvPr>
        </p:nvGraphicFramePr>
        <p:xfrm>
          <a:off x="297255" y="3510363"/>
          <a:ext cx="10515600" cy="5537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664116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8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show</a:t>
                      </a:r>
                      <a:r>
                        <a:rPr lang="en-US" sz="2800" b="0" i="0" u="none" strike="noStrike">
                          <a:solidFill>
                            <a:srgbClr val="FFFFA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800" b="0" i="0" u="none" strike="noStrike" err="1">
                          <a:solidFill>
                            <a:srgbClr val="FFFFAA"/>
                          </a:solidFill>
                          <a:effectLst/>
                          <a:latin typeface="Consolas" panose="020B0609020204030204" pitchFamily="49" charset="0"/>
                        </a:rPr>
                        <a:t>ip</a:t>
                      </a:r>
                      <a:r>
                        <a:rPr lang="en-US" sz="2800" b="0" i="0" u="none" strike="noStrike">
                          <a:solidFill>
                            <a:srgbClr val="FFFFA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800" b="0" i="0" u="none" strike="noStrike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eigrp</a:t>
                      </a:r>
                      <a:r>
                        <a:rPr lang="en-US" sz="28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 neighbors</a:t>
                      </a:r>
                      <a:endParaRPr lang="en-US" sz="280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243813"/>
                  </a:ext>
                </a:extLst>
              </a:tr>
            </a:tbl>
          </a:graphicData>
        </a:graphic>
      </p:graphicFrame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B43F0D7-89CF-004C-5EA0-10CE28C0DA25}"/>
              </a:ext>
            </a:extLst>
          </p:cNvPr>
          <p:cNvCxnSpPr>
            <a:cxnSpLocks/>
          </p:cNvCxnSpPr>
          <p:nvPr/>
        </p:nvCxnSpPr>
        <p:spPr>
          <a:xfrm>
            <a:off x="297255" y="1402299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14428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345BDE-6C90-6C2A-8B0D-AE41677AB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255" y="-11359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6000" b="1"/>
              <a:t>Neighbor Table(</a:t>
            </a:r>
            <a:r>
              <a:rPr lang="ko-KR" altLang="en-US" sz="6000" b="1"/>
              <a:t>이웃 목록</a:t>
            </a:r>
            <a:r>
              <a:rPr lang="en-US" altLang="ko-KR" sz="6000" b="1"/>
              <a:t>)</a:t>
            </a:r>
            <a:endParaRPr lang="ko-KR" altLang="en-US" sz="6000" b="1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FB92F6D-F0AB-669D-2D59-41D8B56FCC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647932"/>
              </p:ext>
            </p:extLst>
          </p:nvPr>
        </p:nvGraphicFramePr>
        <p:xfrm>
          <a:off x="297255" y="1327026"/>
          <a:ext cx="10515600" cy="5537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664116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8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show</a:t>
                      </a:r>
                      <a:r>
                        <a:rPr lang="en-US" sz="2800" b="0" i="0" u="none" strike="noStrike">
                          <a:solidFill>
                            <a:srgbClr val="FFFFA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800" b="0" i="0" u="none" strike="noStrike" err="1">
                          <a:solidFill>
                            <a:srgbClr val="FFFFAA"/>
                          </a:solidFill>
                          <a:effectLst/>
                          <a:latin typeface="Consolas" panose="020B0609020204030204" pitchFamily="49" charset="0"/>
                        </a:rPr>
                        <a:t>ip</a:t>
                      </a:r>
                      <a:r>
                        <a:rPr lang="en-US" sz="2800" b="0" i="0" u="none" strike="noStrike">
                          <a:solidFill>
                            <a:srgbClr val="FFFFA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800" b="0" i="0" u="none" strike="noStrike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eigrp</a:t>
                      </a:r>
                      <a:r>
                        <a:rPr lang="en-US" sz="28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 neighbors</a:t>
                      </a:r>
                      <a:endParaRPr lang="en-US" sz="280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243813"/>
                  </a:ext>
                </a:extLst>
              </a:tr>
            </a:tbl>
          </a:graphicData>
        </a:graphic>
      </p:graphicFrame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EACE0BE-72C0-D335-910B-7EF858E82830}"/>
              </a:ext>
            </a:extLst>
          </p:cNvPr>
          <p:cNvCxnSpPr>
            <a:cxnSpLocks/>
          </p:cNvCxnSpPr>
          <p:nvPr/>
        </p:nvCxnSpPr>
        <p:spPr>
          <a:xfrm>
            <a:off x="297255" y="1096735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BF41347-95B9-47BC-A61F-F2638A44251E}"/>
              </a:ext>
            </a:extLst>
          </p:cNvPr>
          <p:cNvSpPr txBox="1"/>
          <p:nvPr/>
        </p:nvSpPr>
        <p:spPr>
          <a:xfrm>
            <a:off x="297255" y="1995805"/>
            <a:ext cx="1105654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H : handle </a:t>
            </a:r>
            <a:r>
              <a:rPr lang="ko-KR" altLang="en-US"/>
              <a:t>번호 </a:t>
            </a:r>
            <a:r>
              <a:rPr lang="en-US" altLang="ko-KR"/>
              <a:t>/ neighbor </a:t>
            </a:r>
            <a:r>
              <a:rPr lang="ko-KR" altLang="en-US"/>
              <a:t>번호</a:t>
            </a:r>
          </a:p>
          <a:p>
            <a:endParaRPr lang="ko-KR" altLang="en-US"/>
          </a:p>
          <a:p>
            <a:r>
              <a:rPr lang="en-US" altLang="ko-KR"/>
              <a:t>address : </a:t>
            </a:r>
            <a:r>
              <a:rPr lang="ko-KR" altLang="en-US"/>
              <a:t>이웃 라우터의 주소</a:t>
            </a:r>
          </a:p>
          <a:p>
            <a:endParaRPr lang="ko-KR" altLang="en-US"/>
          </a:p>
          <a:p>
            <a:r>
              <a:rPr lang="en-US" altLang="ko-KR"/>
              <a:t>Interface: </a:t>
            </a:r>
            <a:r>
              <a:rPr lang="ko-KR" altLang="en-US"/>
              <a:t>그 라우터로 연결되는 인터페이스</a:t>
            </a:r>
          </a:p>
          <a:p>
            <a:endParaRPr lang="ko-KR" altLang="en-US"/>
          </a:p>
          <a:p>
            <a:r>
              <a:rPr lang="en-US" altLang="ko-KR"/>
              <a:t>Hold: </a:t>
            </a:r>
            <a:r>
              <a:rPr lang="ko-KR" altLang="en-US"/>
              <a:t>마지막으로 받은 </a:t>
            </a:r>
            <a:r>
              <a:rPr lang="en-US" altLang="ko-KR"/>
              <a:t>hello</a:t>
            </a:r>
            <a:r>
              <a:rPr lang="ko-KR" altLang="en-US"/>
              <a:t>패킷 이후로의 시간 초</a:t>
            </a:r>
          </a:p>
          <a:p>
            <a:endParaRPr lang="ko-KR" altLang="en-US"/>
          </a:p>
          <a:p>
            <a:r>
              <a:rPr lang="en-US" altLang="ko-KR"/>
              <a:t>Uptime: </a:t>
            </a:r>
            <a:r>
              <a:rPr lang="ko-KR" altLang="en-US"/>
              <a:t>이웃으로 등록된 후 유지시간</a:t>
            </a:r>
          </a:p>
          <a:p>
            <a:endParaRPr lang="ko-KR" altLang="en-US"/>
          </a:p>
          <a:p>
            <a:r>
              <a:rPr lang="en-US" altLang="ko-KR"/>
              <a:t>SRTT: </a:t>
            </a:r>
            <a:r>
              <a:rPr lang="ko-KR" altLang="en-US"/>
              <a:t>이웃에게 </a:t>
            </a:r>
            <a:r>
              <a:rPr lang="en-US" altLang="ko-KR"/>
              <a:t>Hello</a:t>
            </a:r>
            <a:r>
              <a:rPr lang="ko-KR" altLang="en-US"/>
              <a:t>패킷과 </a:t>
            </a:r>
            <a:r>
              <a:rPr lang="en-US" altLang="ko-KR"/>
              <a:t>Update </a:t>
            </a:r>
            <a:r>
              <a:rPr lang="ko-KR" altLang="en-US"/>
              <a:t>메시지를 주고 받는데 걸리는 시간</a:t>
            </a:r>
          </a:p>
          <a:p>
            <a:endParaRPr lang="ko-KR" altLang="en-US"/>
          </a:p>
          <a:p>
            <a:r>
              <a:rPr lang="en-US" altLang="ko-KR"/>
              <a:t>RTO: </a:t>
            </a:r>
            <a:r>
              <a:rPr lang="ko-KR" altLang="en-US"/>
              <a:t>재전송 타임아웃 시간</a:t>
            </a:r>
            <a:r>
              <a:rPr lang="en-US" altLang="ko-KR"/>
              <a:t>/ </a:t>
            </a:r>
            <a:r>
              <a:rPr lang="ko-KR" altLang="en-US"/>
              <a:t>이 시간 내로 </a:t>
            </a:r>
            <a:r>
              <a:rPr lang="en-US" altLang="ko-KR"/>
              <a:t>ACK</a:t>
            </a:r>
            <a:r>
              <a:rPr lang="ko-KR" altLang="en-US"/>
              <a:t>가 안오면 재전송 발생</a:t>
            </a:r>
          </a:p>
          <a:p>
            <a:endParaRPr lang="ko-KR" altLang="en-US"/>
          </a:p>
          <a:p>
            <a:r>
              <a:rPr lang="en-US" altLang="ko-KR"/>
              <a:t>Q: </a:t>
            </a:r>
            <a:r>
              <a:rPr lang="ko-KR" altLang="en-US"/>
              <a:t>이웃에게 아직 보내지지 않은 </a:t>
            </a:r>
            <a:r>
              <a:rPr lang="en-US" altLang="ko-KR"/>
              <a:t>eigrp </a:t>
            </a:r>
            <a:r>
              <a:rPr lang="ko-KR" altLang="en-US"/>
              <a:t>패킷 수</a:t>
            </a:r>
            <a:r>
              <a:rPr lang="en-US" altLang="ko-KR"/>
              <a:t>(0</a:t>
            </a:r>
            <a:r>
              <a:rPr lang="ko-KR" altLang="en-US"/>
              <a:t>이 정상</a:t>
            </a:r>
            <a:r>
              <a:rPr lang="en-US" altLang="ko-KR"/>
              <a:t>)</a:t>
            </a:r>
          </a:p>
          <a:p>
            <a:endParaRPr lang="en-US" altLang="ko-KR"/>
          </a:p>
          <a:p>
            <a:r>
              <a:rPr lang="en-US" altLang="ko-KR"/>
              <a:t>Seq Num: EIGRP </a:t>
            </a:r>
            <a:r>
              <a:rPr lang="ko-KR" altLang="en-US"/>
              <a:t>패킷 시퀀스 번호</a:t>
            </a:r>
            <a:r>
              <a:rPr lang="en-US" altLang="ko-KR"/>
              <a:t>. </a:t>
            </a:r>
            <a:r>
              <a:rPr lang="ko-KR" altLang="en-US"/>
              <a:t>패킷 순서 확인 및 중복 방지</a:t>
            </a:r>
            <a:r>
              <a:rPr lang="en-US" altLang="ko-KR"/>
              <a:t>/ </a:t>
            </a:r>
            <a:r>
              <a:rPr lang="ko-KR" altLang="en-US"/>
              <a:t>패킷 보낼 때마다 </a:t>
            </a:r>
            <a:r>
              <a:rPr lang="en-US" altLang="ko-KR"/>
              <a:t>1</a:t>
            </a:r>
            <a:r>
              <a:rPr lang="ko-KR" altLang="en-US"/>
              <a:t>증가</a:t>
            </a:r>
          </a:p>
        </p:txBody>
      </p:sp>
    </p:spTree>
    <p:extLst>
      <p:ext uri="{BB962C8B-B14F-4D97-AF65-F5344CB8AC3E}">
        <p14:creationId xmlns:p14="http://schemas.microsoft.com/office/powerpoint/2010/main" val="32702766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B963C7-0A1A-05BE-A2D9-6241A0EB6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61" y="104053"/>
            <a:ext cx="11713677" cy="748451"/>
          </a:xfrm>
        </p:spPr>
        <p:txBody>
          <a:bodyPr>
            <a:noAutofit/>
          </a:bodyPr>
          <a:lstStyle/>
          <a:p>
            <a:r>
              <a:rPr lang="en-US" altLang="ko-KR" sz="6000" b="1"/>
              <a:t>Topology Table </a:t>
            </a:r>
            <a:r>
              <a:rPr lang="ko-KR" altLang="en-US" sz="6000" b="1"/>
              <a:t>토폴로지 테이블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0A4A2E-62DC-AA3F-CB12-32E081CA8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069" y="1023596"/>
            <a:ext cx="11597490" cy="4981900"/>
          </a:xfrm>
        </p:spPr>
        <p:txBody>
          <a:bodyPr>
            <a:normAutofit fontScale="92500" lnSpcReduction="20000"/>
          </a:bodyPr>
          <a:lstStyle/>
          <a:p>
            <a:pPr marL="0" indent="0" fontAlgn="base">
              <a:lnSpc>
                <a:spcPct val="120000"/>
              </a:lnSpc>
              <a:buNone/>
            </a:pPr>
            <a:r>
              <a:rPr lang="ko-KR" altLang="en-US"/>
              <a:t>특정 목적지까지의 경로</a:t>
            </a:r>
            <a:r>
              <a:rPr lang="en-US" altLang="ko-KR"/>
              <a:t>. </a:t>
            </a:r>
            <a:r>
              <a:rPr lang="ko-KR" altLang="en-US" err="1"/>
              <a:t>비순환</a:t>
            </a:r>
            <a:r>
              <a:rPr lang="ko-KR" altLang="en-US"/>
              <a:t> 선형적 경로 </a:t>
            </a:r>
            <a:endParaRPr lang="en-US" altLang="ko-KR"/>
          </a:p>
          <a:p>
            <a:pPr marL="0" indent="0" fontAlgn="base">
              <a:lnSpc>
                <a:spcPct val="120000"/>
              </a:lnSpc>
              <a:buNone/>
            </a:pPr>
            <a:r>
              <a:rPr lang="en-US" altLang="ko-KR"/>
              <a:t>FD(Feasible Distance)</a:t>
            </a:r>
            <a:r>
              <a:rPr lang="ko-KR" altLang="en-US"/>
              <a:t>와 </a:t>
            </a:r>
            <a:r>
              <a:rPr lang="en-US" altLang="ko-KR"/>
              <a:t>AD(Advertised Distance=Reported Distance)</a:t>
            </a:r>
            <a:r>
              <a:rPr lang="ko-KR" altLang="en-US"/>
              <a:t>를 기록</a:t>
            </a:r>
            <a:endParaRPr lang="en-US" altLang="ko-KR"/>
          </a:p>
          <a:p>
            <a:pPr marL="0" indent="0" fontAlgn="base">
              <a:lnSpc>
                <a:spcPct val="120000"/>
              </a:lnSpc>
              <a:buNone/>
            </a:pPr>
            <a:endParaRPr lang="en-US" altLang="ko-KR"/>
          </a:p>
          <a:p>
            <a:pPr marL="0" indent="0" fontAlgn="base">
              <a:lnSpc>
                <a:spcPct val="120000"/>
              </a:lnSpc>
              <a:buNone/>
            </a:pPr>
            <a:r>
              <a:rPr lang="en-US" altLang="ko-KR" sz="2400"/>
              <a:t>FD = </a:t>
            </a:r>
            <a:r>
              <a:rPr lang="ko-KR" altLang="en-US" sz="2400"/>
              <a:t>자신 </a:t>
            </a:r>
            <a:r>
              <a:rPr lang="en-US" altLang="ko-KR" sz="2400"/>
              <a:t>~ </a:t>
            </a:r>
            <a:r>
              <a:rPr lang="ko-KR" altLang="en-US" sz="2400"/>
              <a:t>목적지 까지의 </a:t>
            </a:r>
            <a:r>
              <a:rPr lang="en-US" altLang="ko-KR" sz="2400"/>
              <a:t>Metric</a:t>
            </a:r>
          </a:p>
          <a:p>
            <a:pPr marL="0" indent="0" fontAlgn="base">
              <a:lnSpc>
                <a:spcPct val="120000"/>
              </a:lnSpc>
              <a:buNone/>
            </a:pPr>
            <a:r>
              <a:rPr lang="en-US" altLang="ko-KR" sz="2400"/>
              <a:t>AD = </a:t>
            </a:r>
            <a:r>
              <a:rPr lang="ko-KR" altLang="en-US" sz="2400"/>
              <a:t>자신의 다음 라우터 </a:t>
            </a:r>
            <a:r>
              <a:rPr lang="en-US" altLang="ko-KR" sz="2400"/>
              <a:t>(next hop) </a:t>
            </a:r>
            <a:r>
              <a:rPr lang="ko-KR" altLang="en-US" sz="2400"/>
              <a:t>로부터 목적지까지의 </a:t>
            </a:r>
            <a:r>
              <a:rPr lang="en-US" altLang="ko-KR" sz="2400"/>
              <a:t>Metric</a:t>
            </a:r>
          </a:p>
          <a:p>
            <a:pPr marL="0" indent="0" fontAlgn="base">
              <a:lnSpc>
                <a:spcPct val="120000"/>
              </a:lnSpc>
              <a:buNone/>
            </a:pPr>
            <a:r>
              <a:rPr lang="en-US" altLang="ko-KR" sz="2400"/>
              <a:t>Successor(</a:t>
            </a:r>
            <a:r>
              <a:rPr lang="ko-KR" altLang="en-US" sz="2400"/>
              <a:t>최적경로</a:t>
            </a:r>
            <a:r>
              <a:rPr lang="en-US" altLang="ko-KR" sz="2400"/>
              <a:t>) : FD</a:t>
            </a:r>
            <a:r>
              <a:rPr lang="ko-KR" altLang="en-US" sz="2400"/>
              <a:t>가 가장 낮음</a:t>
            </a:r>
            <a:r>
              <a:rPr lang="en-US" altLang="ko-KR" sz="2400"/>
              <a:t>. </a:t>
            </a:r>
            <a:r>
              <a:rPr lang="ko-KR" altLang="en-US" sz="2400"/>
              <a:t>라우팅 테이블에 올라갈 경로 </a:t>
            </a:r>
            <a:endParaRPr lang="en-US" altLang="ko-KR" sz="2400"/>
          </a:p>
          <a:p>
            <a:pPr marL="0" indent="0" fontAlgn="base">
              <a:lnSpc>
                <a:spcPct val="120000"/>
              </a:lnSpc>
              <a:buNone/>
            </a:pPr>
            <a:endParaRPr lang="en-US" altLang="ko-KR" sz="2400"/>
          </a:p>
          <a:p>
            <a:pPr marL="0" indent="0" fontAlgn="base">
              <a:lnSpc>
                <a:spcPct val="120000"/>
              </a:lnSpc>
              <a:buNone/>
            </a:pPr>
            <a:r>
              <a:rPr lang="en-US" altLang="ko-KR"/>
              <a:t>Feasible Successor(</a:t>
            </a:r>
            <a:r>
              <a:rPr lang="ko-KR" altLang="en-US"/>
              <a:t>백업경로</a:t>
            </a:r>
            <a:r>
              <a:rPr lang="en-US" altLang="ko-KR"/>
              <a:t>): AD &lt; Successor FD ⇒ </a:t>
            </a:r>
            <a:r>
              <a:rPr lang="ko-KR" altLang="en-US"/>
              <a:t>루프</a:t>
            </a:r>
            <a:r>
              <a:rPr lang="en-US" altLang="ko-KR"/>
              <a:t>X </a:t>
            </a:r>
            <a:r>
              <a:rPr lang="ko-KR" altLang="en-US"/>
              <a:t>보장</a:t>
            </a:r>
            <a:endParaRPr lang="en-US" altLang="ko-KR"/>
          </a:p>
          <a:p>
            <a:pPr marL="0" indent="0" fontAlgn="base">
              <a:lnSpc>
                <a:spcPct val="120000"/>
              </a:lnSpc>
              <a:buNone/>
            </a:pPr>
            <a:endParaRPr lang="ko-KR" altLang="en-US"/>
          </a:p>
          <a:p>
            <a:pPr marL="0" indent="0" fontAlgn="base">
              <a:lnSpc>
                <a:spcPct val="120000"/>
              </a:lnSpc>
              <a:buNone/>
            </a:pPr>
            <a:r>
              <a:rPr lang="en-US" altLang="ko-KR" sz="2400"/>
              <a:t>IP Routing Table</a:t>
            </a:r>
            <a:r>
              <a:rPr lang="ko-KR" altLang="en-US" sz="2400"/>
              <a:t>에 </a:t>
            </a:r>
            <a:r>
              <a:rPr lang="en-US" altLang="ko-KR" sz="2400"/>
              <a:t>Topology</a:t>
            </a:r>
            <a:r>
              <a:rPr lang="ko-KR" altLang="en-US" sz="2400"/>
              <a:t>를 참고하여 </a:t>
            </a:r>
            <a:r>
              <a:rPr lang="en-US" altLang="ko-KR" sz="2400"/>
              <a:t>Successor </a:t>
            </a:r>
            <a:r>
              <a:rPr lang="ko-KR" altLang="en-US" sz="2400"/>
              <a:t>경로를 라우팅 테이블에 올린다</a:t>
            </a:r>
            <a:r>
              <a:rPr lang="en-US" altLang="ko-KR"/>
              <a:t>.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3A9BB7F-D3A8-9B0A-DFDA-789BA9DE8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762547"/>
              </p:ext>
            </p:extLst>
          </p:nvPr>
        </p:nvGraphicFramePr>
        <p:xfrm>
          <a:off x="181069" y="6092320"/>
          <a:ext cx="11452634" cy="553720"/>
        </p:xfrm>
        <a:graphic>
          <a:graphicData uri="http://schemas.openxmlformats.org/drawingml/2006/table">
            <a:tbl>
              <a:tblPr/>
              <a:tblGrid>
                <a:gridCol w="11452634">
                  <a:extLst>
                    <a:ext uri="{9D8B030D-6E8A-4147-A177-3AD203B41FA5}">
                      <a16:colId xmlns:a16="http://schemas.microsoft.com/office/drawing/2014/main" val="513972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8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show</a:t>
                      </a:r>
                      <a:r>
                        <a:rPr lang="en-US" sz="2800" b="0" i="0" u="none" strike="noStrike">
                          <a:solidFill>
                            <a:srgbClr val="FFFFA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800" b="0" i="0" u="none" strike="noStrike" err="1">
                          <a:solidFill>
                            <a:srgbClr val="FFFFAA"/>
                          </a:solidFill>
                          <a:effectLst/>
                          <a:latin typeface="Consolas" panose="020B0609020204030204" pitchFamily="49" charset="0"/>
                        </a:rPr>
                        <a:t>ip</a:t>
                      </a:r>
                      <a:r>
                        <a:rPr lang="en-US" sz="2800" b="0" i="0" u="none" strike="noStrike">
                          <a:solidFill>
                            <a:srgbClr val="FFFFA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800" b="0" i="0" u="none" strike="noStrike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eigrp</a:t>
                      </a:r>
                      <a:r>
                        <a:rPr lang="en-US" sz="28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 topology</a:t>
                      </a:r>
                      <a:endParaRPr lang="en-US" sz="280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56256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8B600B1-7510-7187-F772-FB6FB4B49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6861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D12C6D6-0D62-DAA7-8329-056C11EF9CA1}"/>
              </a:ext>
            </a:extLst>
          </p:cNvPr>
          <p:cNvCxnSpPr>
            <a:cxnSpLocks/>
          </p:cNvCxnSpPr>
          <p:nvPr/>
        </p:nvCxnSpPr>
        <p:spPr>
          <a:xfrm>
            <a:off x="297255" y="1025136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8304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96523-D90D-A834-CE12-ADE018619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DAC236-E143-797F-1A0F-A6FA97E54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61" y="104053"/>
            <a:ext cx="11713677" cy="748451"/>
          </a:xfrm>
        </p:spPr>
        <p:txBody>
          <a:bodyPr>
            <a:noAutofit/>
          </a:bodyPr>
          <a:lstStyle/>
          <a:p>
            <a:r>
              <a:rPr lang="en-US" altLang="ko-KR" sz="6000" b="1"/>
              <a:t>Topology Table </a:t>
            </a:r>
            <a:r>
              <a:rPr lang="ko-KR" altLang="en-US" sz="6000" b="1"/>
              <a:t>토폴로지 테이블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263727A-F9B0-B6C5-2B75-7EA4454EB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925138"/>
              </p:ext>
            </p:extLst>
          </p:nvPr>
        </p:nvGraphicFramePr>
        <p:xfrm>
          <a:off x="239161" y="1197769"/>
          <a:ext cx="11452634" cy="553720"/>
        </p:xfrm>
        <a:graphic>
          <a:graphicData uri="http://schemas.openxmlformats.org/drawingml/2006/table">
            <a:tbl>
              <a:tblPr/>
              <a:tblGrid>
                <a:gridCol w="11452634">
                  <a:extLst>
                    <a:ext uri="{9D8B030D-6E8A-4147-A177-3AD203B41FA5}">
                      <a16:colId xmlns:a16="http://schemas.microsoft.com/office/drawing/2014/main" val="513972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8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show</a:t>
                      </a:r>
                      <a:r>
                        <a:rPr lang="en-US" sz="2800" b="0" i="0" u="none" strike="noStrike">
                          <a:solidFill>
                            <a:srgbClr val="FFFFA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800" b="0" i="0" u="none" strike="noStrike" err="1">
                          <a:solidFill>
                            <a:srgbClr val="FFFFAA"/>
                          </a:solidFill>
                          <a:effectLst/>
                          <a:latin typeface="Consolas" panose="020B0609020204030204" pitchFamily="49" charset="0"/>
                        </a:rPr>
                        <a:t>ip</a:t>
                      </a:r>
                      <a:r>
                        <a:rPr lang="en-US" sz="2800" b="0" i="0" u="none" strike="noStrike">
                          <a:solidFill>
                            <a:srgbClr val="FFFFAA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800" b="0" i="0" u="none" strike="noStrike" err="1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eigrp</a:t>
                      </a:r>
                      <a:r>
                        <a:rPr lang="en-US" sz="28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 topology</a:t>
                      </a:r>
                      <a:endParaRPr lang="en-US" sz="2800">
                        <a:effectLst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56256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F3883A4-D0E8-B8B8-D473-85159B765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6861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A73B1F0-53FC-2A6E-8ED9-6E4A6B8AB4B6}"/>
              </a:ext>
            </a:extLst>
          </p:cNvPr>
          <p:cNvCxnSpPr>
            <a:cxnSpLocks/>
          </p:cNvCxnSpPr>
          <p:nvPr/>
        </p:nvCxnSpPr>
        <p:spPr>
          <a:xfrm>
            <a:off x="297255" y="1025136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8D5624B-CB90-607F-FFD8-1FE6208E8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437023"/>
              </p:ext>
            </p:extLst>
          </p:nvPr>
        </p:nvGraphicFramePr>
        <p:xfrm>
          <a:off x="239160" y="1924120"/>
          <a:ext cx="11452633" cy="4573664"/>
        </p:xfrm>
        <a:graphic>
          <a:graphicData uri="http://schemas.openxmlformats.org/drawingml/2006/table">
            <a:tbl>
              <a:tblPr/>
              <a:tblGrid>
                <a:gridCol w="808305">
                  <a:extLst>
                    <a:ext uri="{9D8B030D-6E8A-4147-A177-3AD203B41FA5}">
                      <a16:colId xmlns:a16="http://schemas.microsoft.com/office/drawing/2014/main" val="1585612517"/>
                    </a:ext>
                  </a:extLst>
                </a:gridCol>
                <a:gridCol w="2025177">
                  <a:extLst>
                    <a:ext uri="{9D8B030D-6E8A-4147-A177-3AD203B41FA5}">
                      <a16:colId xmlns:a16="http://schemas.microsoft.com/office/drawing/2014/main" val="821190527"/>
                    </a:ext>
                  </a:extLst>
                </a:gridCol>
                <a:gridCol w="8619151">
                  <a:extLst>
                    <a:ext uri="{9D8B030D-6E8A-4147-A177-3AD203B41FA5}">
                      <a16:colId xmlns:a16="http://schemas.microsoft.com/office/drawing/2014/main" val="3019087721"/>
                    </a:ext>
                  </a:extLst>
                </a:gridCol>
              </a:tblGrid>
              <a:tr h="571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/>
                        <a:t>코드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/>
                        <a:t>의미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D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/>
                        <a:t>설명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534742"/>
                  </a:ext>
                </a:extLst>
              </a:tr>
              <a:tr h="571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2000" b="1"/>
                        <a:t>P</a:t>
                      </a:r>
                      <a:endParaRPr lang="af-ZA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2000" b="1"/>
                        <a:t>Passive</a:t>
                      </a:r>
                      <a:endParaRPr lang="af-ZA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/>
                        <a:t>정상 상태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경로 계산 완료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라우팅 정보 안정적임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978273"/>
                  </a:ext>
                </a:extLst>
              </a:tr>
              <a:tr h="571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2000" b="1"/>
                        <a:t>A</a:t>
                      </a:r>
                      <a:endParaRPr lang="af-ZA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2000" b="1"/>
                        <a:t>Active</a:t>
                      </a:r>
                      <a:endParaRPr lang="af-ZA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/>
                        <a:t>경로 재계산 중</a:t>
                      </a:r>
                      <a:r>
                        <a:rPr lang="en-US" altLang="ko-KR" sz="2000"/>
                        <a:t>, </a:t>
                      </a:r>
                      <a:r>
                        <a:rPr lang="ko-KR" altLang="en-US" sz="2000"/>
                        <a:t>이웃 라우터로부터 </a:t>
                      </a:r>
                      <a:r>
                        <a:rPr lang="en-US" altLang="ko-KR" sz="2000"/>
                        <a:t>reply</a:t>
                      </a:r>
                      <a:r>
                        <a:rPr lang="ko-KR" altLang="en-US" sz="2000"/>
                        <a:t> 대기 상태 </a:t>
                      </a:r>
                      <a:r>
                        <a:rPr lang="en-US" altLang="ko-KR" sz="2000"/>
                        <a:t>(</a:t>
                      </a:r>
                      <a:r>
                        <a:rPr lang="ko-KR" altLang="en-US" sz="2000"/>
                        <a:t>재탐색 중</a:t>
                      </a:r>
                      <a:r>
                        <a:rPr lang="en-US" altLang="ko-KR" sz="2000"/>
                        <a:t>)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116998"/>
                  </a:ext>
                </a:extLst>
              </a:tr>
              <a:tr h="571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2000" b="1"/>
                        <a:t>U</a:t>
                      </a:r>
                      <a:endParaRPr lang="af-ZA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2000" b="1"/>
                        <a:t>Update</a:t>
                      </a:r>
                      <a:endParaRPr lang="af-ZA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000"/>
                        <a:t>Update </a:t>
                      </a:r>
                      <a:r>
                        <a:rPr lang="ko-KR" altLang="en-US" sz="2000"/>
                        <a:t>메시지를 통해 경로 정보 갱신 중</a:t>
                      </a:r>
                      <a:endParaRPr lang="en-US" altLang="ko-KR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916132"/>
                  </a:ext>
                </a:extLst>
              </a:tr>
              <a:tr h="571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2000" b="1"/>
                        <a:t>Q</a:t>
                      </a:r>
                      <a:endParaRPr lang="af-ZA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2000" b="1"/>
                        <a:t>Query</a:t>
                      </a:r>
                      <a:endParaRPr lang="af-ZA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/>
                        <a:t>이웃에게 </a:t>
                      </a:r>
                      <a:r>
                        <a:rPr lang="en-US" altLang="ko-KR" sz="2000"/>
                        <a:t>Query </a:t>
                      </a:r>
                      <a:r>
                        <a:rPr lang="ko-KR" altLang="en-US" sz="2000"/>
                        <a:t>메시지 전송 중</a:t>
                      </a:r>
                      <a:endParaRPr lang="en-US" altLang="ko-KR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310169"/>
                  </a:ext>
                </a:extLst>
              </a:tr>
              <a:tr h="571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2000" b="1"/>
                        <a:t>R</a:t>
                      </a:r>
                      <a:endParaRPr lang="af-ZA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2000" b="1"/>
                        <a:t>Reply</a:t>
                      </a:r>
                      <a:endParaRPr lang="af-ZA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altLang="ko-KR" sz="2000"/>
                        <a:t>Neighbor</a:t>
                      </a:r>
                      <a:r>
                        <a:rPr lang="ko-KR" altLang="en-US" sz="2000"/>
                        <a:t>에게 </a:t>
                      </a:r>
                      <a:r>
                        <a:rPr lang="af-ZA" altLang="ko-KR" sz="2000"/>
                        <a:t>Reply </a:t>
                      </a:r>
                      <a:r>
                        <a:rPr lang="ko-KR" altLang="en-US" sz="2000"/>
                        <a:t>메시지 송신 중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833306"/>
                  </a:ext>
                </a:extLst>
              </a:tr>
              <a:tr h="571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2000" b="1"/>
                        <a:t>r</a:t>
                      </a:r>
                      <a:endParaRPr lang="af-ZA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2000" b="1"/>
                        <a:t>reply status</a:t>
                      </a:r>
                      <a:endParaRPr lang="af-ZA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000"/>
                        <a:t>Neighbor</a:t>
                      </a:r>
                      <a:r>
                        <a:rPr lang="ko-KR" altLang="en-US" sz="2000"/>
                        <a:t>로부터 </a:t>
                      </a:r>
                      <a:r>
                        <a:rPr lang="en-US" altLang="ko-KR" sz="2000"/>
                        <a:t>Reply</a:t>
                      </a:r>
                      <a:r>
                        <a:rPr lang="ko-KR" altLang="en-US" sz="2000"/>
                        <a:t>를 기다리는 상태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4140524"/>
                  </a:ext>
                </a:extLst>
              </a:tr>
              <a:tr h="571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2000" b="1"/>
                        <a:t>s</a:t>
                      </a:r>
                      <a:endParaRPr lang="af-ZA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sia status</a:t>
                      </a:r>
                      <a:endParaRPr lang="en-US" sz="200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000"/>
                        <a:t>SIA </a:t>
                      </a:r>
                      <a:r>
                        <a:rPr lang="ko-KR" altLang="en-US" sz="2000"/>
                        <a:t>상태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167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9604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61D324-B534-8249-B6C5-55470C35B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255" y="167492"/>
            <a:ext cx="10515600" cy="821555"/>
          </a:xfrm>
        </p:spPr>
        <p:txBody>
          <a:bodyPr>
            <a:noAutofit/>
          </a:bodyPr>
          <a:lstStyle/>
          <a:p>
            <a:r>
              <a:rPr lang="ko-KR" altLang="en-US" sz="6000" b="1"/>
              <a:t>이 완벽한 프로토콜의 한계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F885F9-36FD-2939-B2C5-57726BDE0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255" y="1222222"/>
            <a:ext cx="11597490" cy="54682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4000"/>
              <a:t>SIA : Stuck In Active  </a:t>
            </a:r>
          </a:p>
          <a:p>
            <a:pPr marL="0" indent="0">
              <a:buNone/>
            </a:pPr>
            <a:r>
              <a:rPr lang="ko-KR" altLang="en-US"/>
              <a:t>듀얼 알고리즘에서 빠져나오지 못하는 상태 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특정 경로가 </a:t>
            </a:r>
            <a:r>
              <a:rPr lang="en-US" altLang="ko-KR"/>
              <a:t>Active </a:t>
            </a:r>
            <a:r>
              <a:rPr lang="ko-KR" altLang="en-US"/>
              <a:t>상태 유지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en-US"/>
              <a:t>사라진 경로에 대한 </a:t>
            </a:r>
            <a:r>
              <a:rPr lang="en-US" altLang="ko-KR"/>
              <a:t>Query </a:t>
            </a:r>
            <a:r>
              <a:rPr lang="ko-KR" altLang="en-US"/>
              <a:t>패킷을 보낼 때 이웃 라우터의 네트워크 상황에 따라 </a:t>
            </a:r>
            <a:r>
              <a:rPr lang="en-US" altLang="ko-KR"/>
              <a:t>Reply</a:t>
            </a:r>
            <a:r>
              <a:rPr lang="ko-KR" altLang="en-US"/>
              <a:t>가 </a:t>
            </a:r>
            <a:r>
              <a:rPr lang="en-US" altLang="ko-KR"/>
              <a:t>180</a:t>
            </a:r>
            <a:r>
              <a:rPr lang="ko-KR" altLang="en-US"/>
              <a:t>초 안에 응답이 없으면 그 경로는 </a:t>
            </a:r>
            <a:r>
              <a:rPr lang="en-US" altLang="ko-KR"/>
              <a:t>Active</a:t>
            </a:r>
            <a:r>
              <a:rPr lang="ko-KR" altLang="en-US"/>
              <a:t> 상태에 갇히게 된다</a:t>
            </a:r>
            <a:r>
              <a:rPr lang="en-US" altLang="ko-KR"/>
              <a:t>.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en-US"/>
              <a:t>저속 회선</a:t>
            </a:r>
            <a:r>
              <a:rPr lang="en-US" altLang="ko-KR"/>
              <a:t>, </a:t>
            </a:r>
            <a:r>
              <a:rPr lang="ko-KR" altLang="en-US"/>
              <a:t>대규모 </a:t>
            </a:r>
            <a:r>
              <a:rPr lang="en-US" altLang="ko-KR"/>
              <a:t>EIGRP </a:t>
            </a:r>
            <a:r>
              <a:rPr lang="ko-KR" altLang="en-US"/>
              <a:t>도메인</a:t>
            </a:r>
            <a:r>
              <a:rPr lang="en-US" altLang="ko-KR"/>
              <a:t>, </a:t>
            </a:r>
            <a:r>
              <a:rPr lang="ko-KR" altLang="en-US"/>
              <a:t>라우터 트래픽 몰릴 때</a:t>
            </a:r>
            <a:r>
              <a:rPr lang="en-US" altLang="ko-KR"/>
              <a:t>,  Query</a:t>
            </a:r>
            <a:r>
              <a:rPr lang="ko-KR" altLang="en-US"/>
              <a:t>를 보냈는데 </a:t>
            </a:r>
            <a:r>
              <a:rPr lang="en-US" altLang="ko-KR"/>
              <a:t>Query Ack</a:t>
            </a:r>
            <a:r>
              <a:rPr lang="ko-KR" altLang="en-US"/>
              <a:t>를 보내지 않았을 때</a:t>
            </a:r>
            <a:r>
              <a:rPr lang="en-US" altLang="ko-KR"/>
              <a:t>(</a:t>
            </a:r>
            <a:r>
              <a:rPr lang="ko-KR" altLang="en-US"/>
              <a:t>수신 확인 안하면 재전송 하는데 </a:t>
            </a:r>
            <a:r>
              <a:rPr lang="en-US" altLang="ko-KR"/>
              <a:t>15</a:t>
            </a:r>
            <a:r>
              <a:rPr lang="ko-KR" altLang="en-US"/>
              <a:t>번 이상이면 이웃 관계 단절</a:t>
            </a:r>
            <a:r>
              <a:rPr lang="en-US" altLang="ko-KR"/>
              <a:t>)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1CC4100-0335-2630-E37C-54196AEF90C6}"/>
              </a:ext>
            </a:extLst>
          </p:cNvPr>
          <p:cNvCxnSpPr>
            <a:cxnSpLocks/>
          </p:cNvCxnSpPr>
          <p:nvPr/>
        </p:nvCxnSpPr>
        <p:spPr>
          <a:xfrm>
            <a:off x="297255" y="974700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53280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CFF346-27C7-78ED-7286-4854E8DCA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92" y="147843"/>
            <a:ext cx="10515600" cy="703184"/>
          </a:xfrm>
        </p:spPr>
        <p:txBody>
          <a:bodyPr>
            <a:noAutofit/>
          </a:bodyPr>
          <a:lstStyle/>
          <a:p>
            <a:r>
              <a:rPr lang="en-US" altLang="ko-KR" sz="6000" b="1"/>
              <a:t>SIA </a:t>
            </a:r>
            <a:r>
              <a:rPr lang="ko-KR" altLang="en-US" sz="6000" b="1"/>
              <a:t>해결하기</a:t>
            </a:r>
            <a:r>
              <a:rPr lang="en-US" altLang="ko-KR" sz="6000" b="1"/>
              <a:t>~</a:t>
            </a:r>
            <a:endParaRPr lang="ko-KR" altLang="en-US" sz="6000" b="1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DB56127-1629-7968-BE18-2E07A9BB179B}"/>
              </a:ext>
            </a:extLst>
          </p:cNvPr>
          <p:cNvCxnSpPr>
            <a:cxnSpLocks/>
          </p:cNvCxnSpPr>
          <p:nvPr/>
        </p:nvCxnSpPr>
        <p:spPr>
          <a:xfrm>
            <a:off x="294992" y="969300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4">
            <a:extLst>
              <a:ext uri="{FF2B5EF4-FFF2-40B4-BE49-F238E27FC236}">
                <a16:creationId xmlns:a16="http://schemas.microsoft.com/office/drawing/2014/main" id="{29B6843E-367D-9926-B34B-333F387887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4991" y="1087574"/>
            <a:ext cx="11597489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ko-KR" altLang="ko-KR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어느 이웃에서 문제 발생했는지 확인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show ip eigrp neighbors </a:t>
            </a:r>
            <a:endParaRPr kumimoji="0" lang="en-US" altLang="ko-K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show ip eigrp topology active</a:t>
            </a:r>
            <a:endParaRPr kumimoji="0" lang="en-US" altLang="ko-K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2000" b="1">
                <a:latin typeface="Arial" panose="020B0604020202020204" pitchFamily="34" charset="0"/>
              </a:rPr>
              <a:t>2. </a:t>
            </a:r>
            <a:r>
              <a:rPr lang="ko-KR" altLang="ko-KR" sz="2000" b="1">
                <a:latin typeface="Arial" panose="020B0604020202020204" pitchFamily="34" charset="0"/>
              </a:rPr>
              <a:t>문제 이웃만 초기화(가장 안전한 방법)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ko-KR" sz="2000">
                <a:latin typeface="Arial Unicode MS"/>
              </a:rPr>
              <a:t>clear ip eigrp neighbors &lt;IP&gt;</a:t>
            </a:r>
            <a:endParaRPr lang="en-US" altLang="ko-KR" sz="2000">
              <a:latin typeface="Arial Unicode MS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 sz="2000" b="1"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2000" b="1">
                <a:latin typeface="Arial" panose="020B0604020202020204" pitchFamily="34" charset="0"/>
              </a:rPr>
              <a:t>3. </a:t>
            </a:r>
            <a:r>
              <a:rPr lang="ko-KR" altLang="en-US" sz="2000" b="1">
                <a:latin typeface="Arial" panose="020B0604020202020204" pitchFamily="34" charset="0"/>
              </a:rPr>
              <a:t>그</a:t>
            </a:r>
            <a:r>
              <a:rPr lang="ko-KR" altLang="ko-KR" sz="2000" b="1">
                <a:latin typeface="Arial" panose="020B0604020202020204" pitchFamily="34" charset="0"/>
              </a:rPr>
              <a:t>래도 Active 유지되면 전체 neighbor 초기화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af-ZA" altLang="ko-KR" sz="2000">
                <a:latin typeface="Arial Unicode MS"/>
              </a:rPr>
              <a:t>c</a:t>
            </a:r>
            <a:r>
              <a:rPr lang="ko-KR" altLang="ko-KR" sz="2000">
                <a:latin typeface="Arial Unicode MS"/>
              </a:rPr>
              <a:t>lear ip</a:t>
            </a:r>
            <a:r>
              <a:rPr lang="en-US" altLang="ko-KR" sz="2000">
                <a:latin typeface="Arial Unicode MS"/>
              </a:rPr>
              <a:t> eigrp</a:t>
            </a:r>
            <a:r>
              <a:rPr lang="ko-KR" altLang="ko-KR" sz="2000">
                <a:latin typeface="Arial Unicode MS"/>
              </a:rPr>
              <a:t> neighbors</a:t>
            </a:r>
            <a:endParaRPr lang="ko-KR" altLang="ko-KR" sz="2000"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 sz="2000" b="1"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2000" b="1">
                <a:latin typeface="Arial" panose="020B0604020202020204" pitchFamily="34" charset="0"/>
              </a:rPr>
              <a:t>4. </a:t>
            </a:r>
            <a:r>
              <a:rPr lang="ko-KR" altLang="ko-KR" sz="2000" b="1">
                <a:latin typeface="Arial" panose="020B0604020202020204" pitchFamily="34" charset="0"/>
              </a:rPr>
              <a:t>여전히 SIA 발생하면 → EIGRP 프로세스 재시작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af-ZA" altLang="ko-KR" sz="2000">
                <a:latin typeface="Arial Unicode MS"/>
              </a:rPr>
              <a:t>c</a:t>
            </a:r>
            <a:r>
              <a:rPr lang="ko-KR" altLang="ko-KR" sz="2000">
                <a:latin typeface="Arial Unicode MS"/>
              </a:rPr>
              <a:t>lear ip </a:t>
            </a:r>
            <a:r>
              <a:rPr lang="en-US" altLang="ko-KR" sz="2000">
                <a:latin typeface="Arial Unicode MS"/>
              </a:rPr>
              <a:t>eigrp</a:t>
            </a:r>
            <a:r>
              <a:rPr lang="ko-KR" altLang="ko-KR" sz="2000">
                <a:latin typeface="Arial Unicode MS"/>
              </a:rPr>
              <a:t> process</a:t>
            </a:r>
            <a:endParaRPr lang="ko-KR" altLang="ko-KR" sz="2000"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 sz="2000" b="1"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2000" b="1">
                <a:latin typeface="Arial" panose="020B0604020202020204" pitchFamily="34" charset="0"/>
              </a:rPr>
              <a:t>5. </a:t>
            </a:r>
            <a:r>
              <a:rPr lang="ko-KR" altLang="ko-KR" sz="2000" b="1">
                <a:latin typeface="Arial" panose="020B0604020202020204" pitchFamily="34" charset="0"/>
              </a:rPr>
              <a:t>트래픽 큐/링크 문제로 인한 SIA → 인터페이스 소프트 리셋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af-ZA" altLang="ko-KR" sz="2000">
                <a:latin typeface="Arial Unicode MS"/>
              </a:rPr>
              <a:t>c</a:t>
            </a:r>
            <a:r>
              <a:rPr lang="ko-KR" altLang="ko-KR" sz="2000">
                <a:latin typeface="Arial Unicode MS"/>
              </a:rPr>
              <a:t>lear interface &lt;interface-name&gt;</a:t>
            </a:r>
            <a:endParaRPr lang="ko-KR" altLang="ko-KR" sz="2000"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 sz="2000" b="1">
              <a:latin typeface="Arial" panose="020B0604020202020204" pitchFamily="34" charset="0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2000" b="1">
                <a:latin typeface="Arial" panose="020B0604020202020204" pitchFamily="34" charset="0"/>
              </a:rPr>
              <a:t>6. </a:t>
            </a:r>
            <a:r>
              <a:rPr lang="ko-KR" altLang="ko-KR" sz="2000" b="1">
                <a:latin typeface="Arial" panose="020B0604020202020204" pitchFamily="34" charset="0"/>
              </a:rPr>
              <a:t>라우팅 테이블 갱신이 필요한 경우(재분배 문제 등)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ko-KR" sz="2000">
                <a:latin typeface="Arial Unicode MS"/>
              </a:rPr>
              <a:t>clear ip route *</a:t>
            </a:r>
            <a:endParaRPr lang="ko-KR" altLang="ko-KR" sz="2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42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1DB8B-426A-35E4-016E-B96A2CE3C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81A8FC-7C91-B541-0888-C0DDD43E6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255" y="105684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6000" b="1"/>
              <a:t>설정 명령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A0FACD1-638F-5ADF-3FFE-D59E70890328}"/>
              </a:ext>
            </a:extLst>
          </p:cNvPr>
          <p:cNvCxnSpPr>
            <a:cxnSpLocks/>
          </p:cNvCxnSpPr>
          <p:nvPr/>
        </p:nvCxnSpPr>
        <p:spPr>
          <a:xfrm>
            <a:off x="184960" y="1207399"/>
            <a:ext cx="11597490" cy="0"/>
          </a:xfrm>
          <a:prstGeom prst="line">
            <a:avLst/>
          </a:prstGeom>
          <a:ln w="63500">
            <a:solidFill>
              <a:srgbClr val="E65C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2E88BD2-A5B4-7577-ADEB-427F820AF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255" y="143124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3600"/>
              <a:t>설정 확인 명령어</a:t>
            </a:r>
            <a:endParaRPr lang="en-US" altLang="ko-KR" sz="3600"/>
          </a:p>
          <a:p>
            <a:pPr marL="0" indent="0">
              <a:buNone/>
            </a:pPr>
            <a:r>
              <a:rPr lang="en-US" altLang="ko-KR" sz="3600"/>
              <a:t> sh ip pro</a:t>
            </a:r>
          </a:p>
          <a:p>
            <a:pPr marL="0" indent="0">
              <a:buNone/>
            </a:pPr>
            <a:endParaRPr lang="en-US" altLang="ko-KR" sz="3600"/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600">
                <a:latin typeface="Arial" panose="020B0604020202020204" pitchFamily="34" charset="0"/>
              </a:rPr>
              <a:t>K1=1 → Bandwidth 사용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600">
                <a:latin typeface="Arial" panose="020B0604020202020204" pitchFamily="34" charset="0"/>
              </a:rPr>
              <a:t>K2=0 → Load 무시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600">
                <a:latin typeface="Arial" panose="020B0604020202020204" pitchFamily="34" charset="0"/>
              </a:rPr>
              <a:t>K3=1 → Delay 사용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3600">
                <a:latin typeface="Arial" panose="020B0604020202020204" pitchFamily="34" charset="0"/>
              </a:rPr>
              <a:t>K4=0, K5=0 → Reliability 무시</a:t>
            </a:r>
          </a:p>
          <a:p>
            <a:pPr marL="0" indent="0">
              <a:buNone/>
            </a:pPr>
            <a:endParaRPr lang="en-US" altLang="ko-KR" sz="3600"/>
          </a:p>
          <a:p>
            <a:pPr marL="0" indent="0">
              <a:buNone/>
            </a:pPr>
            <a:endParaRPr lang="ko-KR" altLang="en-US" sz="360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01D3A16-F68C-F8CC-7179-1A62C4085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59" y="5468215"/>
            <a:ext cx="11729521" cy="115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7751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20CA19-D44E-6BFD-8224-57DBF3A4FEDB}"/>
              </a:ext>
            </a:extLst>
          </p:cNvPr>
          <p:cNvSpPr txBox="1"/>
          <p:nvPr/>
        </p:nvSpPr>
        <p:spPr>
          <a:xfrm>
            <a:off x="795935" y="2613392"/>
            <a:ext cx="1060013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0"/>
              <a:t>😁</a:t>
            </a:r>
            <a:r>
              <a:rPr lang="ko-KR" altLang="en-US" sz="10000" err="1"/>
              <a:t>감사합니당</a:t>
            </a:r>
            <a:r>
              <a:rPr lang="ko-KR" altLang="en-US" sz="10000"/>
              <a:t> </a:t>
            </a:r>
            <a:r>
              <a:rPr lang="en-US" altLang="ko-KR" sz="10000"/>
              <a:t>^^</a:t>
            </a:r>
            <a:endParaRPr lang="ko-KR" altLang="en-US" sz="10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185F4C-BEB8-81EE-288C-1034F7C82EAF}"/>
              </a:ext>
            </a:extLst>
          </p:cNvPr>
          <p:cNvSpPr txBox="1"/>
          <p:nvPr/>
        </p:nvSpPr>
        <p:spPr>
          <a:xfrm>
            <a:off x="4516170" y="4244608"/>
            <a:ext cx="3159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Thank you for listening</a:t>
            </a:r>
            <a:r>
              <a:rPr lang="ko-KR" altLang="en-US"/>
              <a:t>😍</a:t>
            </a:r>
          </a:p>
        </p:txBody>
      </p:sp>
    </p:spTree>
    <p:extLst>
      <p:ext uri="{BB962C8B-B14F-4D97-AF65-F5344CB8AC3E}">
        <p14:creationId xmlns:p14="http://schemas.microsoft.com/office/powerpoint/2010/main" val="2442661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TM10237558[[fn=어린이 테마]]</Template>
  <TotalTime>4365</TotalTime>
  <Words>1336</Words>
  <Application>Microsoft Office PowerPoint</Application>
  <PresentationFormat>와이드스크린</PresentationFormat>
  <Paragraphs>268</Paragraphs>
  <Slides>28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4" baseType="lpstr">
      <vt:lpstr>Arial Unicode MS</vt:lpstr>
      <vt:lpstr>맑은 고딕</vt:lpstr>
      <vt:lpstr>Arial</vt:lpstr>
      <vt:lpstr>Consolas</vt:lpstr>
      <vt:lpstr>Wingdings</vt:lpstr>
      <vt:lpstr>Office 테마</vt:lpstr>
      <vt:lpstr>EIGRP</vt:lpstr>
      <vt:lpstr>PowerPoint 프레젠테이션</vt:lpstr>
      <vt:lpstr>EIGRP가 뭘까?</vt:lpstr>
      <vt:lpstr>RIP와 차이점</vt:lpstr>
      <vt:lpstr>특징                              </vt:lpstr>
      <vt:lpstr>하이브리드</vt:lpstr>
      <vt:lpstr>Metric</vt:lpstr>
      <vt:lpstr>AS number / PID</vt:lpstr>
      <vt:lpstr>한 라우터에서 여러 개 사용 이유</vt:lpstr>
      <vt:lpstr>패킷 종류</vt:lpstr>
      <vt:lpstr>Neighbor 자동 형성</vt:lpstr>
      <vt:lpstr>DUAL</vt:lpstr>
      <vt:lpstr>DUAL</vt:lpstr>
      <vt:lpstr>DUAL : Successor 선정 과정</vt:lpstr>
      <vt:lpstr>PowerPoint 프레젠테이션</vt:lpstr>
      <vt:lpstr>두 가지 업데이트 방식</vt:lpstr>
      <vt:lpstr>Split-horizon</vt:lpstr>
      <vt:lpstr>테이블</vt:lpstr>
      <vt:lpstr>설정 명령</vt:lpstr>
      <vt:lpstr>Routing Table</vt:lpstr>
      <vt:lpstr>Neighbor Table(이웃 목록)</vt:lpstr>
      <vt:lpstr>Neighbor Table(이웃 목록)</vt:lpstr>
      <vt:lpstr>Topology Table 토폴로지 테이블</vt:lpstr>
      <vt:lpstr>Topology Table 토폴로지 테이블</vt:lpstr>
      <vt:lpstr>이 완벽한 프로토콜의 한계</vt:lpstr>
      <vt:lpstr>SIA 해결하기~</vt:lpstr>
      <vt:lpstr>설정 명령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23</cp:revision>
  <dcterms:created xsi:type="dcterms:W3CDTF">2025-12-03T11:57:38Z</dcterms:created>
  <dcterms:modified xsi:type="dcterms:W3CDTF">2025-12-15T03:16:30Z</dcterms:modified>
</cp:coreProperties>
</file>